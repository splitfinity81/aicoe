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1285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customer's own AI ambition. Confirm who is in the room and tailor your emphasis (CIO/CDO = scaling, CFO = value gap, CEO = competitive position). Frame the next 30 minutes as: where Frontier organisations are, where you are, and how Microsoft helps you close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value-gap statistic that resonates most with this audience. Then land: 'The gap is not awareness. It is the operating model.' Pause — let it land. Ask: 'Where do you recognise yourselves on the right-hand side?' Sources are footnoted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things to communicate: (1) the 5+1 pillar framework — the structural model the customer adopts, with Microsoft and a specialist partner inside it as the +1 pillar; (2) Three AI surfaces — explains the breadth, M365 Copilot to Copilot Studio to Azure AI Foundry; (3) the Horizon journey — staged H0 to H3, every gate measurable. Ask: 'Which Horizon do you think you are at today?' Use the response to bridge to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five-phase journey — discover, design, build, realise, evolve — and emphasise that each phase has a defined exit before the next begins. Three teams deliver: a Microsoft architect team co-designs and governs; a Microsoft engineering team delivers the predictable foundation (a GenAI assistant MVP and an Azure landing zone) at no cost to the customer; a specialist partner brings industry depth and the differentiated build. Microsoft co-invests in envisioning and the early pilot — quote the funding only when the audience is ready to discuss commercials.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specific, time-bound ask: 'Run a half-day discovery workshop in the next four weeks. We will bring a Microsoft architect and your specialist partner shortlist. Walk out with a scored CoE readiness map and a named next gate.' Do not leave without a date in the calendar.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F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12191695" cy="73152"/>
          </a:xfrm>
          <a:prstGeom prst="rect">
            <a:avLst/>
          </a:prstGeom>
          <a:solidFill>
            <a:srgbClr val="C03BC4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0" y="5074920"/>
            <a:ext cx="3657509" cy="27432"/>
          </a:xfrm>
          <a:prstGeom prst="rect">
            <a:avLst/>
          </a:prstGeom>
          <a:solidFill>
            <a:srgbClr val="702573"/>
          </a:solidFill>
          <a:ln/>
        </p:spPr>
        <p:txBody>
          <a:bodyPr/>
          <a:lstStyle/>
          <a:p>
            <a:endParaRPr lang="en-ZA"/>
          </a:p>
        </p:txBody>
      </p:sp>
      <p:pic>
        <p:nvPicPr>
          <p:cNvPr id="4" name="Image 0" descr="assets/microsoft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029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502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C03B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YOUR LEADERSHIP TEAM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" y="16916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Centre of Excellence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22960" y="3108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5E6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Become a Frontier organisation.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3886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8C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AI ambition into governed, measurable business outcomes — with Microsoft and an Anchor Partner inside your operating model.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5623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South Africa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 executive briefing</a:t>
            </a:r>
            <a:endParaRPr lang="en-US" sz="1100" dirty="0"/>
          </a:p>
        </p:txBody>
      </p:sp>
      <p:sp>
        <p:nvSpPr>
          <p:cNvPr id="12" name="AICOE_GEO_ACCENT_Right Triangle 11"/>
          <p:cNvSpPr/>
          <p:nvPr/>
        </p:nvSpPr>
        <p:spPr>
          <a:xfrm>
            <a:off x="11369040" y="445770"/>
            <a:ext cx="822960" cy="82296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ICOE_GEO_ACCENT_Right Triangle 12"/>
          <p:cNvSpPr/>
          <p:nvPr/>
        </p:nvSpPr>
        <p:spPr>
          <a:xfrm rot="10800000">
            <a:off x="11369040" y="2160270"/>
            <a:ext cx="822960" cy="822960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ICOE_GEO_ACCENT_Right Triangle 13"/>
          <p:cNvSpPr/>
          <p:nvPr/>
        </p:nvSpPr>
        <p:spPr>
          <a:xfrm>
            <a:off x="11369040" y="3874770"/>
            <a:ext cx="822960" cy="822960"/>
          </a:xfrm>
          <a:prstGeom prst="rtTriangle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ICOE_GEO_ACCENT_Right Triangle 14"/>
          <p:cNvSpPr/>
          <p:nvPr/>
        </p:nvSpPr>
        <p:spPr>
          <a:xfrm rot="5400000">
            <a:off x="11369040" y="5589270"/>
            <a:ext cx="822960" cy="822960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ICOE_GEO_ACCENT_Rectangle 15"/>
          <p:cNvSpPr/>
          <p:nvPr/>
        </p:nvSpPr>
        <p:spPr>
          <a:xfrm>
            <a:off x="11295888" y="0"/>
            <a:ext cx="73152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Frontier organisations are pulling away.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09448" y="201168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609448" y="2011680"/>
            <a:ext cx="2606040" cy="7315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700888" y="237744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5×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792328" y="393192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revenue increases of peers achieved by future-built companies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8368" y="201168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Shape 8"/>
          <p:cNvSpPr/>
          <p:nvPr/>
        </p:nvSpPr>
        <p:spPr>
          <a:xfrm>
            <a:off x="3398368" y="2011680"/>
            <a:ext cx="2606040" cy="73152"/>
          </a:xfrm>
          <a:prstGeom prst="rect">
            <a:avLst/>
          </a:prstGeom>
          <a:solidFill>
            <a:srgbClr val="225B62"/>
          </a:solidFill>
          <a:ln w="12700">
            <a:solidFill>
              <a:srgbClr val="225B6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Text 9"/>
          <p:cNvSpPr/>
          <p:nvPr/>
        </p:nvSpPr>
        <p:spPr>
          <a:xfrm>
            <a:off x="3489808" y="237744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225B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3×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3581248" y="393192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cost reductions of peers achieved by future-built companies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7288" y="201168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Shape 12"/>
          <p:cNvSpPr/>
          <p:nvPr/>
        </p:nvSpPr>
        <p:spPr>
          <a:xfrm>
            <a:off x="6187288" y="2011680"/>
            <a:ext cx="2606040" cy="73152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6278728" y="237744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B9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⅔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6370168" y="393192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organisations have not yet begun scaling AI across the enterprise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76208" y="201168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8976208" y="2011680"/>
            <a:ext cx="2606040" cy="73152"/>
          </a:xfrm>
          <a:prstGeom prst="rect">
            <a:avLst/>
          </a:prstGeom>
          <a:solidFill>
            <a:srgbClr val="FF5C39"/>
          </a:solidFill>
          <a:ln w="12700">
            <a:solidFill>
              <a:srgbClr val="FF5C3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Text 17"/>
          <p:cNvSpPr/>
          <p:nvPr/>
        </p:nvSpPr>
        <p:spPr>
          <a:xfrm>
            <a:off x="9067648" y="2377440"/>
            <a:ext cx="2423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5C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6400" dirty="0"/>
          </a:p>
        </p:txBody>
      </p:sp>
      <p:sp>
        <p:nvSpPr>
          <p:cNvPr id="20" name="Text 18"/>
          <p:cNvSpPr/>
          <p:nvPr/>
        </p:nvSpPr>
        <p:spPr>
          <a:xfrm>
            <a:off x="9159088" y="3931920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reap hardly any material value despite substantial AI investment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777240" y="516636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 is not awareness — it is the operating model.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77240" y="55778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5E6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scales when business strategy, organisation, technology, and governance are designed to scale together. That is what an AI Centre of Excellence does.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08076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BCG · Build for the Future 2025 (Sep 2025, n=1,250) · McKinsey · The State of AI 2025 (Nov 2025, n=1,993)</a:t>
            </a:r>
            <a:endParaRPr lang="en-US" sz="900" dirty="0"/>
          </a:p>
        </p:txBody>
      </p:sp>
      <p:pic>
        <p:nvPicPr>
          <p:cNvPr id="25" name="Image 0" descr="assets/microsoft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492240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40080" y="6492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Confidential  ·  © 2026 Microsoft Corporation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094415" y="6492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5</a:t>
            </a:r>
            <a:endParaRPr lang="en-US" sz="900" dirty="0"/>
          </a:p>
        </p:txBody>
      </p:sp>
      <p:sp>
        <p:nvSpPr>
          <p:cNvPr id="28" name="AICOE_GEO_ACCENT_Right Triangle 27"/>
          <p:cNvSpPr/>
          <p:nvPr/>
        </p:nvSpPr>
        <p:spPr>
          <a:xfrm rot="5400000">
            <a:off x="11762232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ICOE_GEO_ACCENT_Right Triangle 28"/>
          <p:cNvSpPr/>
          <p:nvPr/>
        </p:nvSpPr>
        <p:spPr>
          <a:xfrm rot="5400000">
            <a:off x="11874246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GET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Frontier-built AI Centre of Excellence.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4160520"/>
          </a:xfrm>
          <a:prstGeom prst="roundRect">
            <a:avLst>
              <a:gd name="adj" fmla="val 2637"/>
            </a:avLst>
          </a:prstGeom>
          <a:solidFill>
            <a:srgbClr val="FFF8F5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5+1 PILLAR FRAMEWORK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your CoE is structured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2606040"/>
            <a:ext cx="438912" cy="384048"/>
          </a:xfrm>
          <a:prstGeom prst="hexagon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Text 7"/>
          <p:cNvSpPr/>
          <p:nvPr/>
        </p:nvSpPr>
        <p:spPr>
          <a:xfrm>
            <a:off x="841248" y="2606040"/>
            <a:ext cx="438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25877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Strategy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3108960"/>
            <a:ext cx="438912" cy="384048"/>
          </a:xfrm>
          <a:prstGeom prst="hexagon">
            <a:avLst/>
          </a:prstGeom>
          <a:solidFill>
            <a:srgbClr val="0057B8"/>
          </a:solidFill>
          <a:ln w="12700">
            <a:solidFill>
              <a:srgbClr val="0057B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841248" y="3108960"/>
            <a:ext cx="438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30906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Organisation &amp; Culture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41248" y="3611880"/>
            <a:ext cx="438912" cy="384048"/>
          </a:xfrm>
          <a:prstGeom prst="hexagon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841248" y="3611880"/>
            <a:ext cx="438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359359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Strategy &amp; Experience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1248" y="4114800"/>
            <a:ext cx="438912" cy="384048"/>
          </a:xfrm>
          <a:prstGeom prst="hexagon">
            <a:avLst/>
          </a:prstGeom>
          <a:solidFill>
            <a:srgbClr val="225B62"/>
          </a:solidFill>
          <a:ln w="12700">
            <a:solidFill>
              <a:srgbClr val="225B6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841248" y="4114800"/>
            <a:ext cx="438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09651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&amp; Data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1248" y="4617720"/>
            <a:ext cx="438912" cy="384048"/>
          </a:xfrm>
          <a:prstGeom prst="hexag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841248" y="4617720"/>
            <a:ext cx="438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371600" y="459943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&amp; Security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1248" y="5120640"/>
            <a:ext cx="438912" cy="384048"/>
          </a:xfrm>
          <a:prstGeom prst="hexagon">
            <a:avLst/>
          </a:prstGeom>
          <a:solidFill>
            <a:srgbClr val="FF5C39"/>
          </a:solidFill>
          <a:ln w="12700">
            <a:solidFill>
              <a:srgbClr val="FF5C3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Text 22"/>
          <p:cNvSpPr/>
          <p:nvPr/>
        </p:nvSpPr>
        <p:spPr>
          <a:xfrm>
            <a:off x="841248" y="5120640"/>
            <a:ext cx="438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51023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+ Anchor Partner inside your CoE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Text 25"/>
          <p:cNvSpPr/>
          <p:nvPr/>
        </p:nvSpPr>
        <p:spPr>
          <a:xfrm>
            <a:off x="6492240" y="18288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03B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AI SURFACES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21031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coverage across the enterprise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256032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Text 28"/>
          <p:cNvSpPr/>
          <p:nvPr/>
        </p:nvSpPr>
        <p:spPr>
          <a:xfrm>
            <a:off x="6583680" y="2606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M365 Copilot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0" y="29260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E6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Productivity in Outlook, Teams, Word, Excel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247888" y="256032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Text 31"/>
          <p:cNvSpPr/>
          <p:nvPr/>
        </p:nvSpPr>
        <p:spPr>
          <a:xfrm>
            <a:off x="8339328" y="2606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Studio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39328" y="29260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E6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agents over your data and workflows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003536" y="256032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Text 34"/>
          <p:cNvSpPr/>
          <p:nvPr/>
        </p:nvSpPr>
        <p:spPr>
          <a:xfrm>
            <a:off x="10094976" y="26060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Foundry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094976" y="29260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E6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Bespoke models and agentic builds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63640" y="384048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6492240" y="39502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HORIZON JOURNEY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9224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staged path with measurable gates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92240" y="4617720"/>
            <a:ext cx="1207008" cy="777240"/>
          </a:xfrm>
          <a:prstGeom prst="roundRect">
            <a:avLst>
              <a:gd name="adj" fmla="val 7059"/>
            </a:avLst>
          </a:prstGeom>
          <a:solidFill>
            <a:srgbClr val="9AA8B7"/>
          </a:solidFill>
          <a:ln w="12700">
            <a:solidFill>
              <a:srgbClr val="9AA8B7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Text 40"/>
          <p:cNvSpPr/>
          <p:nvPr/>
        </p:nvSpPr>
        <p:spPr>
          <a:xfrm>
            <a:off x="6492240" y="4663440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H0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492240" y="5029200"/>
            <a:ext cx="120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Pre-deploy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690104" y="4846320"/>
            <a:ext cx="64008" cy="320040"/>
          </a:xfrm>
          <a:prstGeom prst="chevron">
            <a:avLst/>
          </a:prstGeom>
          <a:solidFill>
            <a:srgbClr val="8A94A6"/>
          </a:solidFill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Shape 43"/>
          <p:cNvSpPr/>
          <p:nvPr/>
        </p:nvSpPr>
        <p:spPr>
          <a:xfrm>
            <a:off x="7744968" y="4617720"/>
            <a:ext cx="1207008" cy="777240"/>
          </a:xfrm>
          <a:prstGeom prst="roundRect">
            <a:avLst>
              <a:gd name="adj" fmla="val 7059"/>
            </a:avLst>
          </a:prstGeom>
          <a:solidFill>
            <a:srgbClr val="5A8FBD"/>
          </a:solidFill>
          <a:ln w="12700">
            <a:solidFill>
              <a:srgbClr val="5A8FBD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Text 44"/>
          <p:cNvSpPr/>
          <p:nvPr/>
        </p:nvSpPr>
        <p:spPr>
          <a:xfrm>
            <a:off x="7744968" y="4663440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H1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7744968" y="5029200"/>
            <a:ext cx="120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Initial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942832" y="4846320"/>
            <a:ext cx="64008" cy="320040"/>
          </a:xfrm>
          <a:prstGeom prst="chevron">
            <a:avLst/>
          </a:prstGeom>
          <a:solidFill>
            <a:srgbClr val="8A94A6"/>
          </a:solidFill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Shape 47"/>
          <p:cNvSpPr/>
          <p:nvPr/>
        </p:nvSpPr>
        <p:spPr>
          <a:xfrm>
            <a:off x="8997696" y="4617720"/>
            <a:ext cx="1207008" cy="777240"/>
          </a:xfrm>
          <a:prstGeom prst="roundRect">
            <a:avLst>
              <a:gd name="adj" fmla="val 7059"/>
            </a:avLst>
          </a:prstGeom>
          <a:solidFill>
            <a:srgbClr val="1E6FB8"/>
          </a:solidFill>
          <a:ln w="12700">
            <a:solidFill>
              <a:srgbClr val="1E6FB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H2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8997696" y="5029200"/>
            <a:ext cx="120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Departmental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195560" y="4846320"/>
            <a:ext cx="64008" cy="320040"/>
          </a:xfrm>
          <a:prstGeom prst="chevron">
            <a:avLst/>
          </a:prstGeom>
          <a:solidFill>
            <a:srgbClr val="8A94A6"/>
          </a:solidFill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3" name="Shape 51"/>
          <p:cNvSpPr/>
          <p:nvPr/>
        </p:nvSpPr>
        <p:spPr>
          <a:xfrm>
            <a:off x="10250424" y="4617720"/>
            <a:ext cx="1207008" cy="777240"/>
          </a:xfrm>
          <a:prstGeom prst="roundRect">
            <a:avLst>
              <a:gd name="adj" fmla="val 7059"/>
            </a:avLst>
          </a:prstGeom>
          <a:solidFill>
            <a:srgbClr val="0B3D7A"/>
          </a:solidFill>
          <a:ln w="12700">
            <a:solidFill>
              <a:srgbClr val="0B3D7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Text 52"/>
          <p:cNvSpPr/>
          <p:nvPr/>
        </p:nvSpPr>
        <p:spPr>
          <a:xfrm>
            <a:off x="10250424" y="4663440"/>
            <a:ext cx="1207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H3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10250424" y="5029200"/>
            <a:ext cx="1207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92240" y="54864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scores you today; we co-design the next gate to clear.</a:t>
            </a:r>
            <a:endParaRPr lang="en-US" sz="1000" dirty="0"/>
          </a:p>
        </p:txBody>
      </p:sp>
      <p:pic>
        <p:nvPicPr>
          <p:cNvPr id="57" name="Image 0" descr="assets/microsoft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492240"/>
            <a:ext cx="201168" cy="201168"/>
          </a:xfrm>
          <a:prstGeom prst="rect">
            <a:avLst/>
          </a:prstGeom>
        </p:spPr>
      </p:pic>
      <p:sp>
        <p:nvSpPr>
          <p:cNvPr id="58" name="Text 55"/>
          <p:cNvSpPr/>
          <p:nvPr/>
        </p:nvSpPr>
        <p:spPr>
          <a:xfrm>
            <a:off x="640080" y="6492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Confidential  ·  © 2026 Microsoft Corporation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11094415" y="6492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5</a:t>
            </a:r>
            <a:endParaRPr lang="en-US" sz="900" dirty="0"/>
          </a:p>
        </p:txBody>
      </p:sp>
      <p:sp>
        <p:nvSpPr>
          <p:cNvPr id="60" name="AICOE_GEO_ACCENT_Right Triangle 59"/>
          <p:cNvSpPr/>
          <p:nvPr/>
        </p:nvSpPr>
        <p:spPr>
          <a:xfrm rot="5400000">
            <a:off x="11762232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ICOE_GEO_ACCENT_Right Triangle 60"/>
          <p:cNvSpPr/>
          <p:nvPr/>
        </p:nvSpPr>
        <p:spPr>
          <a:xfrm rot="5400000">
            <a:off x="11874246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DELIVER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journey · One team · Microsoft co-invested.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54584" y="178308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737464" y="1947672"/>
            <a:ext cx="50292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737464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31824" y="1965960"/>
            <a:ext cx="1252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7464" y="256032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readiness · name sponsor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39416" y="2372868"/>
            <a:ext cx="210312" cy="237744"/>
          </a:xfrm>
          <a:prstGeom prst="chevron">
            <a:avLst/>
          </a:prstGeom>
          <a:solidFill>
            <a:srgbClr val="8A94A6"/>
          </a:solidFill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Shape 9"/>
          <p:cNvSpPr/>
          <p:nvPr/>
        </p:nvSpPr>
        <p:spPr>
          <a:xfrm>
            <a:off x="2794864" y="178308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Shape 10"/>
          <p:cNvSpPr/>
          <p:nvPr/>
        </p:nvSpPr>
        <p:spPr>
          <a:xfrm>
            <a:off x="2977744" y="1947672"/>
            <a:ext cx="502920" cy="502920"/>
          </a:xfrm>
          <a:prstGeom prst="ellipse">
            <a:avLst/>
          </a:prstGeom>
          <a:solidFill>
            <a:srgbClr val="0057B8"/>
          </a:solidFill>
          <a:ln w="12700">
            <a:solidFill>
              <a:srgbClr val="0057B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Text 11"/>
          <p:cNvSpPr/>
          <p:nvPr/>
        </p:nvSpPr>
        <p:spPr>
          <a:xfrm>
            <a:off x="2977744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72104" y="1965960"/>
            <a:ext cx="1252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77744" y="256032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Charter · prioritise use cases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79696" y="2372868"/>
            <a:ext cx="210312" cy="237744"/>
          </a:xfrm>
          <a:prstGeom prst="chevron">
            <a:avLst/>
          </a:prstGeom>
          <a:solidFill>
            <a:srgbClr val="8A94A6"/>
          </a:solidFill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5035144" y="178308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5218024" y="1947672"/>
            <a:ext cx="502920" cy="502920"/>
          </a:xfrm>
          <a:prstGeom prst="ellipse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Text 17"/>
          <p:cNvSpPr/>
          <p:nvPr/>
        </p:nvSpPr>
        <p:spPr>
          <a:xfrm>
            <a:off x="5218024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12384" y="1965960"/>
            <a:ext cx="1252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18024" y="256032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zone · first pilot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9976" y="2372868"/>
            <a:ext cx="210312" cy="237744"/>
          </a:xfrm>
          <a:prstGeom prst="chevron">
            <a:avLst/>
          </a:prstGeom>
          <a:solidFill>
            <a:srgbClr val="8A94A6"/>
          </a:solidFill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Shape 21"/>
          <p:cNvSpPr/>
          <p:nvPr/>
        </p:nvSpPr>
        <p:spPr>
          <a:xfrm>
            <a:off x="7275424" y="178308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Shape 22"/>
          <p:cNvSpPr/>
          <p:nvPr/>
        </p:nvSpPr>
        <p:spPr>
          <a:xfrm>
            <a:off x="7458304" y="1947672"/>
            <a:ext cx="502920" cy="502920"/>
          </a:xfrm>
          <a:prstGeom prst="ellipse">
            <a:avLst/>
          </a:prstGeom>
          <a:solidFill>
            <a:srgbClr val="225B62"/>
          </a:solidFill>
          <a:ln w="12700">
            <a:solidFill>
              <a:srgbClr val="225B6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Text 23"/>
          <p:cNvSpPr/>
          <p:nvPr/>
        </p:nvSpPr>
        <p:spPr>
          <a:xfrm>
            <a:off x="7458304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052664" y="1965960"/>
            <a:ext cx="1252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Realise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58304" y="256032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scale · KPIs · adoption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360256" y="2372868"/>
            <a:ext cx="210312" cy="237744"/>
          </a:xfrm>
          <a:prstGeom prst="chevron">
            <a:avLst/>
          </a:prstGeom>
          <a:solidFill>
            <a:srgbClr val="8A94A6"/>
          </a:solidFill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Shape 27"/>
          <p:cNvSpPr/>
          <p:nvPr/>
        </p:nvSpPr>
        <p:spPr>
          <a:xfrm>
            <a:off x="9515704" y="178308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Shape 28"/>
          <p:cNvSpPr/>
          <p:nvPr/>
        </p:nvSpPr>
        <p:spPr>
          <a:xfrm>
            <a:off x="9698584" y="1947672"/>
            <a:ext cx="502920" cy="5029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9698584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292944" y="1965960"/>
            <a:ext cx="1252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Evolve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698584" y="2560320"/>
            <a:ext cx="175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CoE · expansion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4856" y="352044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Shape 33"/>
          <p:cNvSpPr/>
          <p:nvPr/>
        </p:nvSpPr>
        <p:spPr>
          <a:xfrm>
            <a:off x="444856" y="3520440"/>
            <a:ext cx="3657600" cy="7315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Text 34"/>
          <p:cNvSpPr/>
          <p:nvPr/>
        </p:nvSpPr>
        <p:spPr>
          <a:xfrm>
            <a:off x="673456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Architects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3456" y="4069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 + delivery oversight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3456" y="43891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Co-design your CoE, govern delivery, and own the value-realisation cadence with you.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267048" y="352044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0" name="Shape 38"/>
          <p:cNvSpPr/>
          <p:nvPr/>
        </p:nvSpPr>
        <p:spPr>
          <a:xfrm>
            <a:off x="4267048" y="3520440"/>
            <a:ext cx="3657600" cy="73152"/>
          </a:xfrm>
          <a:prstGeom prst="rect">
            <a:avLst/>
          </a:prstGeom>
          <a:solidFill>
            <a:srgbClr val="225B62"/>
          </a:solidFill>
          <a:ln w="12700">
            <a:solidFill>
              <a:srgbClr val="225B6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Text 39"/>
          <p:cNvSpPr/>
          <p:nvPr/>
        </p:nvSpPr>
        <p:spPr>
          <a:xfrm>
            <a:off x="4495648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Engineering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495648" y="4069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225B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Foundation · $0 to you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495648" y="43891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Delivers your GenAI assistant MVP and Azure landing zone foundation at no cost to you.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089240" y="352044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Shape 43"/>
          <p:cNvSpPr/>
          <p:nvPr/>
        </p:nvSpPr>
        <p:spPr>
          <a:xfrm>
            <a:off x="8089240" y="3520440"/>
            <a:ext cx="3657600" cy="73152"/>
          </a:xfrm>
          <a:prstGeom prst="rect">
            <a:avLst/>
          </a:prstGeom>
          <a:solidFill>
            <a:srgbClr val="FF5C39"/>
          </a:solidFill>
          <a:ln w="12700">
            <a:solidFill>
              <a:srgbClr val="FF5C3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Text 44"/>
          <p:cNvSpPr/>
          <p:nvPr/>
        </p:nvSpPr>
        <p:spPr>
          <a:xfrm>
            <a:off x="831784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Partner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317840" y="4069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5C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Differentiated build + run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317840" y="43891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Industry depth, differentiated build, and long-term run inside one joint plan.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Text 48"/>
          <p:cNvSpPr/>
          <p:nvPr/>
        </p:nvSpPr>
        <p:spPr>
          <a:xfrm>
            <a:off x="777240" y="55321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B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co-invests alongside you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7724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Funded envisioning to scope your CoE  ·  funded foundation build  ·  shared investment in your first pilot to value</a:t>
            </a:r>
            <a:endParaRPr lang="en-US" sz="1200" dirty="0"/>
          </a:p>
        </p:txBody>
      </p:sp>
      <p:pic>
        <p:nvPicPr>
          <p:cNvPr id="52" name="Image 0" descr="assets/microsoft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492240"/>
            <a:ext cx="201168" cy="201168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640080" y="6492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Confidential  ·  © 2026 Microsoft Corporation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1094415" y="6492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5</a:t>
            </a:r>
            <a:endParaRPr lang="en-US" sz="900" dirty="0"/>
          </a:p>
        </p:txBody>
      </p:sp>
      <p:sp>
        <p:nvSpPr>
          <p:cNvPr id="55" name="AICOE_GEO_ACCENT_Right Triangle 54"/>
          <p:cNvSpPr/>
          <p:nvPr/>
        </p:nvSpPr>
        <p:spPr>
          <a:xfrm rot="5400000">
            <a:off x="11762232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AICOE_GEO_ACCENT_Right Triangle 55"/>
          <p:cNvSpPr/>
          <p:nvPr/>
        </p:nvSpPr>
        <p:spPr>
          <a:xfrm rot="5400000">
            <a:off x="11874246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OUTCOMES &amp; 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success looks like — and where we start.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858000" cy="4160520"/>
          </a:xfrm>
          <a:prstGeom prst="roundRect">
            <a:avLst>
              <a:gd name="adj" fmla="val 2637"/>
            </a:avLst>
          </a:prstGeom>
          <a:solidFill>
            <a:srgbClr val="FFF8F5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MEASURE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+ lagging indicators, agreed before the build phase begins.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225B6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— CoE health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109728" cy="109728"/>
          </a:xfrm>
          <a:prstGeom prst="ellipse">
            <a:avLst/>
          </a:prstGeom>
          <a:solidFill>
            <a:srgbClr val="225B62"/>
          </a:solidFill>
          <a:ln w="12700">
            <a:solidFill>
              <a:srgbClr val="225B6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1097280" y="290779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cadence (RAI reviews held)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355848"/>
            <a:ext cx="109728" cy="109728"/>
          </a:xfrm>
          <a:prstGeom prst="ellipse">
            <a:avLst/>
          </a:prstGeom>
          <a:solidFill>
            <a:srgbClr val="225B62"/>
          </a:solidFill>
          <a:ln w="12700">
            <a:solidFill>
              <a:srgbClr val="225B6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Skilling completions vs plan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3739896"/>
            <a:ext cx="109728" cy="109728"/>
          </a:xfrm>
          <a:prstGeom prst="ellipse">
            <a:avLst/>
          </a:prstGeom>
          <a:solidFill>
            <a:srgbClr val="225B62"/>
          </a:solidFill>
          <a:ln w="12700">
            <a:solidFill>
              <a:srgbClr val="225B6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1097280" y="367588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Use-case pipeline by stage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4123944"/>
            <a:ext cx="109728" cy="109728"/>
          </a:xfrm>
          <a:prstGeom prst="ellipse">
            <a:avLst/>
          </a:prstGeom>
          <a:solidFill>
            <a:srgbClr val="225B62"/>
          </a:solidFill>
          <a:ln w="12700">
            <a:solidFill>
              <a:srgbClr val="225B6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1097280" y="405993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Champion network active in target LoBs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6052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5C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LAGGING — Business impact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06240" y="2971800"/>
            <a:ext cx="109728" cy="109728"/>
          </a:xfrm>
          <a:prstGeom prst="ellipse">
            <a:avLst/>
          </a:prstGeom>
          <a:solidFill>
            <a:srgbClr val="FF5C39"/>
          </a:solidFill>
          <a:ln w="12700">
            <a:solidFill>
              <a:srgbClr val="FF5C3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Text 17"/>
          <p:cNvSpPr/>
          <p:nvPr/>
        </p:nvSpPr>
        <p:spPr>
          <a:xfrm>
            <a:off x="4389120" y="290779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AI workloads in service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06240" y="3355848"/>
            <a:ext cx="109728" cy="109728"/>
          </a:xfrm>
          <a:prstGeom prst="ellipse">
            <a:avLst/>
          </a:prstGeom>
          <a:solidFill>
            <a:srgbClr val="FF5C39"/>
          </a:solidFill>
          <a:ln w="12700">
            <a:solidFill>
              <a:srgbClr val="FF5C3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4389120" y="32918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 (MAU) in priority workflows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06240" y="3739896"/>
            <a:ext cx="109728" cy="109728"/>
          </a:xfrm>
          <a:prstGeom prst="ellipse">
            <a:avLst/>
          </a:prstGeom>
          <a:solidFill>
            <a:srgbClr val="FF5C39"/>
          </a:solidFill>
          <a:ln w="12700">
            <a:solidFill>
              <a:srgbClr val="FF5C3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4389120" y="367588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Cost-out / revenue-up per use case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06240" y="4123944"/>
            <a:ext cx="109728" cy="109728"/>
          </a:xfrm>
          <a:prstGeom prst="ellipse">
            <a:avLst/>
          </a:prstGeom>
          <a:solidFill>
            <a:srgbClr val="FF5C39"/>
          </a:solidFill>
          <a:ln w="12700">
            <a:solidFill>
              <a:srgbClr val="FF5C3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Text 23"/>
          <p:cNvSpPr/>
          <p:nvPr/>
        </p:nvSpPr>
        <p:spPr>
          <a:xfrm>
            <a:off x="4389120" y="405993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1F2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Employee NSAT and time-saved metrics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4709160"/>
            <a:ext cx="6400800" cy="18288"/>
          </a:xfrm>
          <a:prstGeom prst="rect">
            <a:avLst/>
          </a:prstGeom>
          <a:solidFill>
            <a:srgbClr val="E8DDD1"/>
          </a:solidFill>
          <a:ln w="12700">
            <a:solidFill>
              <a:srgbClr val="E8DDD1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Text 25"/>
          <p:cNvSpPr/>
          <p:nvPr/>
        </p:nvSpPr>
        <p:spPr>
          <a:xfrm>
            <a:off x="777240" y="48463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B55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in a Power BI value-realisation dashboard, reviewed at every CoE steering committee.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" y="53492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Horizon position — one number, jointly tracked by your team and ours.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35240" y="1691640"/>
            <a:ext cx="4023360" cy="4160520"/>
          </a:xfrm>
          <a:prstGeom prst="roundRect">
            <a:avLst>
              <a:gd name="adj" fmla="val 272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Text 28"/>
          <p:cNvSpPr/>
          <p:nvPr/>
        </p:nvSpPr>
        <p:spPr>
          <a:xfrm>
            <a:off x="7863840" y="18288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03B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START HERE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863840" y="21488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half-day discovery workshop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7863840" y="3154680"/>
            <a:ext cx="164592" cy="164592"/>
          </a:xfrm>
          <a:prstGeom prst="ellipse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Text 31"/>
          <p:cNvSpPr/>
          <p:nvPr/>
        </p:nvSpPr>
        <p:spPr>
          <a:xfrm>
            <a:off x="8092440" y="308152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your CoE Readiness across the 5+1 pillars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863840" y="3520440"/>
            <a:ext cx="164592" cy="164592"/>
          </a:xfrm>
          <a:prstGeom prst="ellipse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8092440" y="344728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Place you on the Horizon ladder — H0 to H3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863840" y="3886200"/>
            <a:ext cx="164592" cy="164592"/>
          </a:xfrm>
          <a:prstGeom prst="ellipse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Text 35"/>
          <p:cNvSpPr/>
          <p:nvPr/>
        </p:nvSpPr>
        <p:spPr>
          <a:xfrm>
            <a:off x="8092440" y="381304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next gate to clear in the next 90 days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863840" y="4251960"/>
            <a:ext cx="164592" cy="164592"/>
          </a:xfrm>
          <a:prstGeom prst="ellipse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8092440" y="417880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Microsoft co-investment available for envisioning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863840" y="4617720"/>
            <a:ext cx="164592" cy="164592"/>
          </a:xfrm>
          <a:prstGeom prst="ellipse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Text 39"/>
          <p:cNvSpPr/>
          <p:nvPr/>
        </p:nvSpPr>
        <p:spPr>
          <a:xfrm>
            <a:off x="8092440" y="454456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Anchor Partner shortlist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863840" y="5120640"/>
            <a:ext cx="3566160" cy="18288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Text 41"/>
          <p:cNvSpPr/>
          <p:nvPr/>
        </p:nvSpPr>
        <p:spPr>
          <a:xfrm>
            <a:off x="7863840" y="52578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B9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funded.  Outcome anchored.  4 weeks to start.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863840" y="56235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E6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Yuri Baijnath  ·  SR CSA Manager  ·  Microsoft South Africa</a:t>
            </a:r>
            <a:endParaRPr lang="en-US" sz="900" dirty="0"/>
          </a:p>
        </p:txBody>
      </p:sp>
      <p:pic>
        <p:nvPicPr>
          <p:cNvPr id="45" name="Image 0" descr="assets/microsoft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492240"/>
            <a:ext cx="201168" cy="201168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640080" y="6492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 ·  Confidential  ·  © 2026 Microsoft Corporation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11094415" y="6492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5</a:t>
            </a:r>
            <a:endParaRPr lang="en-US" sz="900" dirty="0"/>
          </a:p>
        </p:txBody>
      </p:sp>
      <p:sp>
        <p:nvSpPr>
          <p:cNvPr id="48" name="AICOE_GEO_ACCENT_Right Triangle 47"/>
          <p:cNvSpPr/>
          <p:nvPr/>
        </p:nvSpPr>
        <p:spPr>
          <a:xfrm rot="5400000">
            <a:off x="11762232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AICOE_GEO_ACCENT_Right Triangle 48"/>
          <p:cNvSpPr/>
          <p:nvPr/>
        </p:nvSpPr>
        <p:spPr>
          <a:xfrm rot="5400000">
            <a:off x="11874246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1006</Words>
  <Application>Microsoft Office PowerPoint</Application>
  <PresentationFormat>Widescreen</PresentationFormat>
  <Paragraphs>126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Centre of Excellence — Customer Briefing</dc:title>
  <dc:subject>PptxGenJS Presentation</dc:subject>
  <dc:creator>Yuri Baijnath</dc:creator>
  <cp:lastModifiedBy>Yuri Baijnath</cp:lastModifiedBy>
  <cp:revision>2</cp:revision>
  <dcterms:created xsi:type="dcterms:W3CDTF">2026-05-12T06:09:50Z</dcterms:created>
  <dcterms:modified xsi:type="dcterms:W3CDTF">2026-05-12T07:09:34Z</dcterms:modified>
</cp:coreProperties>
</file>