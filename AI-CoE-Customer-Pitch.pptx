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28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customer's own AI ambition. Confirm who is in the room and tailor your emphasis (CIO/CDO = scaling, CFO = value gap, CEO = competitive position). Frame the next 30 minutes as: where Frontier organisations are, where you are, and how Microsoft helps you close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value-gap statistic that resonates most with this audience. Then land: 'The gap is not awareness. It is the operating model.' Pause — let it land. Ask: 'Where do you recognise yourselves on the right-hand side?' Sources are footnoted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to communicate: (1) the 5+1 pillar framework — the structural model the customer adopts, with Microsoft and a specialist partner inside it as the +1 pillar; (2) Three AI surfaces — explains the breadth, M365 Copilot to Copilot Studio to Azure AI Foundry; (3) the Horizon journey — staged H0 to H3, every gate measurable. Ask: 'Which Horizon do you think you are at today?' Use the response to bridge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five-phase journey — discover, design, build, realise, evolve — and emphasise that each phase has a defined exit before the next begins. Three teams deliver: a Microsoft architect team co-designs and governs; a Microsoft engineering team delivers the predictable foundation (a GenAI assistant MVP and an Azure landing zone) at no cost to the customer; a specialist partner brings industry depth and the differentiated build. Microsoft co-invests in envisioning and the early pilot — quote the funding only when the audience is ready to discuss commercials.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specific, time-bound ask: 'Run a half-day discovery workshop in the next four weeks. We will bring a Microsoft architect and your specialist partner shortlist. Walk out with a scored CoE readiness map and a named next gate.' Do not leave without a date in the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12191695" cy="73152"/>
          </a:xfrm>
          <a:prstGeom prst="rect">
            <a:avLst/>
          </a:prstGeom>
          <a:solidFill>
            <a:srgbClr val="C03BC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3657509" cy="27432"/>
          </a:xfrm>
          <a:prstGeom prst="rect">
            <a:avLst/>
          </a:prstGeom>
          <a:solidFill>
            <a:srgbClr val="702573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assets/microsoft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2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03B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YOUR LEADERSHIP TEAM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Centre of Excellence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5E6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Become a Frontier organisation.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C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AI ambition into governed, measurable business outcomes — with Microsoft and an Anchor Partner inside your operating model.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623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South Africa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for executive briefing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Frontier organisations are pulling away.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448" y="20116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609448" y="2011680"/>
            <a:ext cx="260604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700888" y="23774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5×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92328" y="39319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revenue increases of peers achieved by future-built companies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8368" y="20116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398368" y="2011680"/>
            <a:ext cx="2606040" cy="73152"/>
          </a:xfrm>
          <a:prstGeom prst="rect">
            <a:avLst/>
          </a:prstGeom>
          <a:solidFill>
            <a:srgbClr val="225B62"/>
          </a:solidFill>
          <a:ln w="12700">
            <a:solidFill>
              <a:srgbClr val="225B6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489808" y="23774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5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581248" y="39319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 reductions of peers achieved by future-built companies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7288" y="20116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6187288" y="2011680"/>
            <a:ext cx="2606040" cy="7315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278728" y="23774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⅔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370168" y="39319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organisations have not yet begun scaling AI across the enterprise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76208" y="20116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8976208" y="2011680"/>
            <a:ext cx="2606040" cy="73152"/>
          </a:xfrm>
          <a:prstGeom prst="rect">
            <a:avLst/>
          </a:prstGeom>
          <a:solidFill>
            <a:srgbClr val="FF5C39"/>
          </a:solidFill>
          <a:ln w="12700">
            <a:solidFill>
              <a:srgbClr val="FF5C3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067648" y="23774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5C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9159088" y="39319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reap hardly any material value despite substantial AI investment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 is not awareness — it is the operating model.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5577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E6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scales when business strategy, organisation, technology, and governance are designed to scale together. That is what an AI Centre of Excellence does.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BCG · Build for the Future 2025 (Sep 2025, n=1,250) · McKinsey · The State of AI 2025 (Nov 2025, n=1,993)</a:t>
            </a:r>
            <a:endParaRPr lang="en-US" sz="900" dirty="0"/>
          </a:p>
        </p:txBody>
      </p:sp>
      <p:pic>
        <p:nvPicPr>
          <p:cNvPr id="25" name="Image 0" descr="assets/microsoft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92240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Confidential  ·  © 2026 Microsoft Corporation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94415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Frontier-built AI Centre of Excellence.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8F5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5+1 PILLAR 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your CoE is structured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2606040"/>
            <a:ext cx="438912" cy="384048"/>
          </a:xfrm>
          <a:prstGeom prst="hexag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841248" y="260604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5877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Strategy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" y="3108960"/>
            <a:ext cx="438912" cy="384048"/>
          </a:xfrm>
          <a:prstGeom prst="hexagon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41248" y="310896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0906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 &amp; Culture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3611880"/>
            <a:ext cx="438912" cy="384048"/>
          </a:xfrm>
          <a:prstGeom prst="hexagon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841248" y="361188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5935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Strategy &amp; Experience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1248" y="4114800"/>
            <a:ext cx="438912" cy="384048"/>
          </a:xfrm>
          <a:prstGeom prst="hexagon">
            <a:avLst/>
          </a:prstGeom>
          <a:solidFill>
            <a:srgbClr val="225B62"/>
          </a:solidFill>
          <a:ln w="12700">
            <a:solidFill>
              <a:srgbClr val="225B6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841248" y="411480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0965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&amp; Data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" y="4617720"/>
            <a:ext cx="438912" cy="384048"/>
          </a:xfrm>
          <a:prstGeom prst="hexag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841248" y="461772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5994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&amp; Security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1248" y="5120640"/>
            <a:ext cx="438912" cy="384048"/>
          </a:xfrm>
          <a:prstGeom prst="hexagon">
            <a:avLst/>
          </a:prstGeom>
          <a:solidFill>
            <a:srgbClr val="FF5C39"/>
          </a:solidFill>
          <a:ln w="12700">
            <a:solidFill>
              <a:srgbClr val="FF5C3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841248" y="512064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51023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+ Anchor Partner inside your CoE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169164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6492240" y="1828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3B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AI SURFACES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103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coverage across the enterprise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256032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0057B8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583680" y="2606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M365 Copilot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2926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6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Productivity in Outlook, Teams, Word, Excel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47888" y="256032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0057B8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8339328" y="2606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39328" y="2926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6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agents over your data and workflows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003536" y="256032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0057B8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10094976" y="2606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94976" y="2926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6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Bespoke models and agentic builds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6492240" y="39502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HORIZON JOURNEY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4206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staged path with measurable gates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92240" y="4617720"/>
            <a:ext cx="1207008" cy="777240"/>
          </a:xfrm>
          <a:prstGeom prst="roundRect">
            <a:avLst>
              <a:gd name="adj" fmla="val 7059"/>
            </a:avLst>
          </a:prstGeom>
          <a:solidFill>
            <a:srgbClr val="9AA8B7"/>
          </a:solidFill>
          <a:ln w="12700">
            <a:solidFill>
              <a:srgbClr val="9AA8B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6492240" y="466344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492240" y="502920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Pre-deploy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90104" y="4846320"/>
            <a:ext cx="64008" cy="320040"/>
          </a:xfrm>
          <a:prstGeom prst="chevron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Shape 43"/>
          <p:cNvSpPr/>
          <p:nvPr/>
        </p:nvSpPr>
        <p:spPr>
          <a:xfrm>
            <a:off x="7744968" y="4617720"/>
            <a:ext cx="1207008" cy="777240"/>
          </a:xfrm>
          <a:prstGeom prst="roundRect">
            <a:avLst>
              <a:gd name="adj" fmla="val 7059"/>
            </a:avLst>
          </a:prstGeom>
          <a:solidFill>
            <a:srgbClr val="5A8FBD"/>
          </a:solidFill>
          <a:ln w="12700">
            <a:solidFill>
              <a:srgbClr val="5A8FB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7744968" y="466344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H1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744968" y="502920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942832" y="4846320"/>
            <a:ext cx="64008" cy="320040"/>
          </a:xfrm>
          <a:prstGeom prst="chevron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Shape 47"/>
          <p:cNvSpPr/>
          <p:nvPr/>
        </p:nvSpPr>
        <p:spPr>
          <a:xfrm>
            <a:off x="8997696" y="4617720"/>
            <a:ext cx="1207008" cy="777240"/>
          </a:xfrm>
          <a:prstGeom prst="roundRect">
            <a:avLst>
              <a:gd name="adj" fmla="val 7059"/>
            </a:avLst>
          </a:prstGeom>
          <a:solidFill>
            <a:srgbClr val="1E6FB8"/>
          </a:solidFill>
          <a:ln w="12700">
            <a:solidFill>
              <a:srgbClr val="1E6FB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8997696" y="466344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H2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997696" y="502920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195560" y="4846320"/>
            <a:ext cx="64008" cy="320040"/>
          </a:xfrm>
          <a:prstGeom prst="chevron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Shape 51"/>
          <p:cNvSpPr/>
          <p:nvPr/>
        </p:nvSpPr>
        <p:spPr>
          <a:xfrm>
            <a:off x="10250424" y="4617720"/>
            <a:ext cx="1207008" cy="777240"/>
          </a:xfrm>
          <a:prstGeom prst="roundRect">
            <a:avLst>
              <a:gd name="adj" fmla="val 7059"/>
            </a:avLst>
          </a:prstGeom>
          <a:solidFill>
            <a:srgbClr val="0B3D7A"/>
          </a:solidFill>
          <a:ln w="12700">
            <a:solidFill>
              <a:srgbClr val="0B3D7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10250424" y="466344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H3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0250424" y="502920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92240" y="5486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scores you today; we co-design the next gate to clear.</a:t>
            </a:r>
            <a:endParaRPr lang="en-US" sz="1000" dirty="0"/>
          </a:p>
        </p:txBody>
      </p:sp>
      <p:pic>
        <p:nvPicPr>
          <p:cNvPr id="57" name="Image 0" descr="assets/microsoft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92240"/>
            <a:ext cx="201168" cy="20116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Confidential  ·  © 2026 Microsoft Corporation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1094415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DELIVER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journey · One team · Microsoft co-invested.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54584" y="178308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37464" y="1947672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737464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31824" y="1965960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7464" y="256032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readiness · name sponsor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9416" y="2372868"/>
            <a:ext cx="210312" cy="237744"/>
          </a:xfrm>
          <a:prstGeom prst="chevron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2794864" y="178308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2977744" y="1947672"/>
            <a:ext cx="502920" cy="502920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2977744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72104" y="1965960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7744" y="256032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Charter · prioritise use cases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79696" y="2372868"/>
            <a:ext cx="210312" cy="237744"/>
          </a:xfrm>
          <a:prstGeom prst="chevron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5035144" y="178308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5218024" y="1947672"/>
            <a:ext cx="502920" cy="502920"/>
          </a:xfrm>
          <a:prstGeom prst="ellipse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218024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12384" y="1965960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8024" y="256032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zone · first pilot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19976" y="2372868"/>
            <a:ext cx="210312" cy="237744"/>
          </a:xfrm>
          <a:prstGeom prst="chevron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7275424" y="178308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7458304" y="1947672"/>
            <a:ext cx="502920" cy="502920"/>
          </a:xfrm>
          <a:prstGeom prst="ellipse">
            <a:avLst/>
          </a:prstGeom>
          <a:solidFill>
            <a:srgbClr val="225B62"/>
          </a:solidFill>
          <a:ln w="12700">
            <a:solidFill>
              <a:srgbClr val="225B6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7458304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52664" y="1965960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8304" y="256032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scale · KPIs · adoption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60256" y="2372868"/>
            <a:ext cx="210312" cy="237744"/>
          </a:xfrm>
          <a:prstGeom prst="chevron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9515704" y="178308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9698584" y="1947672"/>
            <a:ext cx="502920" cy="5029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9698584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292944" y="1965960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98584" y="256032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Federated CoE · expansion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4856" y="352044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444856" y="3520440"/>
            <a:ext cx="36576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673456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Architects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3456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+ delivery oversight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3456" y="4389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Co-design your CoE, govern delivery, and own the value-realisation cadence with you.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67048" y="352044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4267048" y="3520440"/>
            <a:ext cx="3657600" cy="73152"/>
          </a:xfrm>
          <a:prstGeom prst="rect">
            <a:avLst/>
          </a:prstGeom>
          <a:solidFill>
            <a:srgbClr val="225B62"/>
          </a:solidFill>
          <a:ln w="12700">
            <a:solidFill>
              <a:srgbClr val="225B6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4495648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Engineering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495648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5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 · $0 to you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95648" y="4389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Delivers your GenAI assistant MVP and Azure landing zone foundation at no cost to you.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89240" y="352044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Shape 43"/>
          <p:cNvSpPr/>
          <p:nvPr/>
        </p:nvSpPr>
        <p:spPr>
          <a:xfrm>
            <a:off x="8089240" y="3520440"/>
            <a:ext cx="3657600" cy="73152"/>
          </a:xfrm>
          <a:prstGeom prst="rect">
            <a:avLst/>
          </a:prstGeom>
          <a:solidFill>
            <a:srgbClr val="FF5C39"/>
          </a:solidFill>
          <a:ln w="12700">
            <a:solidFill>
              <a:srgbClr val="FF5C3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831784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Partner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31784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5C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Differentiated build + run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317840" y="4389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 depth, differentiated build, and long-term run inside one joint plan.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777240" y="5532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B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co-invests alongside you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72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Funded envisioning to scope your CoE  ·  funded foundation build  ·  shared investment in your first pilot to value</a:t>
            </a:r>
            <a:endParaRPr lang="en-US" sz="1200" dirty="0"/>
          </a:p>
        </p:txBody>
      </p:sp>
      <p:pic>
        <p:nvPicPr>
          <p:cNvPr id="52" name="Image 0" descr="assets/microsoft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92240"/>
            <a:ext cx="201168" cy="201168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Confidential  ·  © 2026 Microsoft Corporation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094415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 &amp; 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success looks like — and where we start.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858000" cy="4160520"/>
          </a:xfrm>
          <a:prstGeom prst="roundRect">
            <a:avLst>
              <a:gd name="adj" fmla="val 2637"/>
            </a:avLst>
          </a:prstGeom>
          <a:solidFill>
            <a:srgbClr val="FFF8F5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MEASURE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+ lagging indicators, agreed before the build phase begins.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5B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— CoE health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109728" cy="109728"/>
          </a:xfrm>
          <a:prstGeom prst="ellipse">
            <a:avLst/>
          </a:prstGeom>
          <a:solidFill>
            <a:srgbClr val="225B62"/>
          </a:solidFill>
          <a:ln w="12700">
            <a:solidFill>
              <a:srgbClr val="225B6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097280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cadence (RAI reviews held)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355848"/>
            <a:ext cx="109728" cy="109728"/>
          </a:xfrm>
          <a:prstGeom prst="ellipse">
            <a:avLst/>
          </a:prstGeom>
          <a:solidFill>
            <a:srgbClr val="225B62"/>
          </a:solidFill>
          <a:ln w="12700">
            <a:solidFill>
              <a:srgbClr val="225B6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Skilling completions vs plan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739896"/>
            <a:ext cx="109728" cy="109728"/>
          </a:xfrm>
          <a:prstGeom prst="ellipse">
            <a:avLst/>
          </a:prstGeom>
          <a:solidFill>
            <a:srgbClr val="225B62"/>
          </a:solidFill>
          <a:ln w="12700">
            <a:solidFill>
              <a:srgbClr val="225B6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1097280" y="3675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Use-case pipeline by stage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4123944"/>
            <a:ext cx="109728" cy="109728"/>
          </a:xfrm>
          <a:prstGeom prst="ellipse">
            <a:avLst/>
          </a:prstGeom>
          <a:solidFill>
            <a:srgbClr val="225B62"/>
          </a:solidFill>
          <a:ln w="12700">
            <a:solidFill>
              <a:srgbClr val="225B6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1097280" y="40599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Champion network active in target LoBs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5C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LAGGING — Business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2971800"/>
            <a:ext cx="109728" cy="109728"/>
          </a:xfrm>
          <a:prstGeom prst="ellipse">
            <a:avLst/>
          </a:prstGeom>
          <a:solidFill>
            <a:srgbClr val="FF5C39"/>
          </a:solidFill>
          <a:ln w="12700">
            <a:solidFill>
              <a:srgbClr val="FF5C3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389120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AI workloads in service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3355848"/>
            <a:ext cx="109728" cy="109728"/>
          </a:xfrm>
          <a:prstGeom prst="ellipse">
            <a:avLst/>
          </a:prstGeom>
          <a:solidFill>
            <a:srgbClr val="FF5C39"/>
          </a:solidFill>
          <a:ln w="12700">
            <a:solidFill>
              <a:srgbClr val="FF5C3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4389120" y="3291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(MAU) in priority workflows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3739896"/>
            <a:ext cx="109728" cy="109728"/>
          </a:xfrm>
          <a:prstGeom prst="ellipse">
            <a:avLst/>
          </a:prstGeom>
          <a:solidFill>
            <a:srgbClr val="FF5C39"/>
          </a:solidFill>
          <a:ln w="12700">
            <a:solidFill>
              <a:srgbClr val="FF5C3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389120" y="3675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Cost-out / revenue-up per use case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4123944"/>
            <a:ext cx="109728" cy="109728"/>
          </a:xfrm>
          <a:prstGeom prst="ellipse">
            <a:avLst/>
          </a:prstGeom>
          <a:solidFill>
            <a:srgbClr val="FF5C39"/>
          </a:solidFill>
          <a:ln w="12700">
            <a:solidFill>
              <a:srgbClr val="FF5C3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389120" y="40599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NSAT and time-saved metrics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709160"/>
            <a:ext cx="6400800" cy="18288"/>
          </a:xfrm>
          <a:prstGeom prst="rect">
            <a:avLst/>
          </a:prstGeom>
          <a:solidFill>
            <a:srgbClr val="E8DDD1"/>
          </a:solidFill>
          <a:ln w="1270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777240" y="4846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in a Power BI value-realisation dashboard, reviewed at every CoE steering committee.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349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Horizon position — one number, jointly tracked by your team and ours.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35240" y="169164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786384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3B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START HERE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0" y="21488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half-day discovery workshop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863840" y="3154680"/>
            <a:ext cx="164592" cy="164592"/>
          </a:xfrm>
          <a:prstGeom prst="ellipse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8092440" y="30815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your CoE Readiness across the 5+1 pillars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63840" y="3520440"/>
            <a:ext cx="164592" cy="164592"/>
          </a:xfrm>
          <a:prstGeom prst="ellipse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8092440" y="34472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 you on the Horizon ladder — H0 to H3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63840" y="3886200"/>
            <a:ext cx="164592" cy="164592"/>
          </a:xfrm>
          <a:prstGeom prst="ellipse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8092440" y="38130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next gate to clear in the next 90 days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63840" y="4251960"/>
            <a:ext cx="164592" cy="164592"/>
          </a:xfrm>
          <a:prstGeom prst="ellipse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8092440" y="41788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Microsoft co-investment available for envisioning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3840" y="4617720"/>
            <a:ext cx="164592" cy="164592"/>
          </a:xfrm>
          <a:prstGeom prst="ellipse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8092440" y="45445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Anchor Partner shortlist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863840" y="5120640"/>
            <a:ext cx="3566160" cy="18288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7863840" y="5257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funded.  Outcome anchored.  4 weeks to start.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63840" y="5623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E6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Yuri Baijnath  ·  SR CSA Manager  ·  Microsoft South Africa</a:t>
            </a:r>
            <a:endParaRPr lang="en-US" sz="900" dirty="0"/>
          </a:p>
        </p:txBody>
      </p:sp>
      <p:pic>
        <p:nvPicPr>
          <p:cNvPr id="45" name="Image 0" descr="assets/microsoft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92240"/>
            <a:ext cx="201168" cy="20116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Confidential  ·  © 2026 Microsoft Corporation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094415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Microsoft Office PowerPoint</Application>
  <PresentationFormat>Widescreen</PresentationFormat>
  <Paragraphs>126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Centre of Excellence — Customer Briefing</dc:title>
  <dc:subject>PptxGenJS Presentation</dc:subject>
  <dc:creator>Yuri Baijnath</dc:creator>
  <cp:lastModifiedBy>Yuri Baijnath</cp:lastModifiedBy>
  <cp:revision>2</cp:revision>
  <dcterms:created xsi:type="dcterms:W3CDTF">2026-05-12T06:09:50Z</dcterms:created>
  <dcterms:modified xsi:type="dcterms:W3CDTF">2026-05-12T07:09:34Z</dcterms:modified>
</cp:coreProperties>
</file>