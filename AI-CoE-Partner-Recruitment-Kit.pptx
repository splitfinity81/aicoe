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5" d="100"/>
          <a:sy n="95" d="100"/>
        </p:scale>
        <p:origin x="178"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5464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is an invitation, not a sales pitch. Frame it that way from the opening.
Key message: We have built the framework, the assets, and the commercial model. We are selecting 4–6 Anchor Partners in RSA — and this partner is being considered.
Pre-meeting check: confirm you have reviewed the qualification scorecard and this partner is at Develop tier or better (15/30 minimum). Anchor-tier candidates score 25+; Qualified partners score 21–24; Develop partners score 15–20 and enter with a skilling plan.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$3–5 pull-through stat. It is the most compelling commercial argument for a partner CFO or CEO.
• ⅔ not yet scaling (McKinsey 2025): validates market demand — every customer this partner serves still has this problem.
• 4–6 partners targeted: creates urgency and exclusivity. This is not open to the whole ecosystem.
• 5× revenue lift (BCG 2025): 'future-built' firms outperform peers by 5× on revenue from AI and 3× on cost reductions. Frame this as the commercial gap your customers are falling into without a partner-led CoE.
Pause after 'You bring industry depth. We bring the platform, the framework, and the co-invest.' Let the partnership framing land.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each card as a risk-reducer for the partner.
1. Turnkey asset pack: they do not need to build CoE IP from scratch. Five published Frontier modules, ready to use.
2. Technical wingman: Microsoft CSAs share delivery risk. The partner is not alone on a complex engagement.
3. Commercial levers: MAICPP, ESI, and MCI reduce the partner's cost of entry.
4. Co-sell motion: Partner Center referrals give them pipeline they did not have to source themselves.
5. Branded enablement: Training days and workshops are Microsoft-funded.
6. Repeatable IP: every engagement builds assets the partner can reuse on the next account.
Overall message: being an Anchor Partner de-risks their AI practice build.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Pillar +1 explicitly: 'This is where you sit — embedded inside the customer's CoE alongside Microsoft, not positioned as an external vendor responding to a tender.'
This is the key structural difference from a standard partner arrangement. The partner co-designs the customer's operating model alongside MCAPS.
If the partner has their own AI framework, discuss alignment here. The 5+1 model is flexible — pillar names can adapt to customer vocabulary without changing the underlying structure.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partners should enter at Tier 1. It is:
• Low-risk for the customer: fixed price, 2–6 weeks, tangible output (CoE blueprint).
• Low-risk for the partner: proves delivery capability before committing to a larger SOW.
• A natural commercial gateway to Tier 2.
For partners with an existing customer relationship: they may enter at Tier 2 directly — but run a Tier 1 maturity assessment as the first sprint.
Tier 3 is the prize: recurring MSP revenue linked to Azure consumption incentives is the most durable commercial outcome.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about the thresholds — do not soften them. The partner will respect clarity more than diplomacy.
Ask the partner to self-score each criterion as you walk through the table. This makes qualification collaborative and surfaces gaps the partner already knows about.
If the partner scores below threshold on Criterion 2 (Certified AI consultants): reference the ESI skilling funds and MAICPP training programme on the next slide as the structured path to close the gap.
The footnote matters: partners scoring 15–20 are not rejected — they are Develop-tier, pointed at MAICPP skilling to qualify in the next cycle.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$1:$3–5 stat anchors the entire commercial conversation. Repeat it if needed.
Co-investment stack:
1. MAICPP: partner receives Launch, Success Core, or Success Expanded packages based on their tier.
2. ESI: Microsoft-funded skilling for the partner's customers — reduces the partner's delivery cost.
3. AMM (Azure Migrate and Modernize): co-funding for landing zones and migrations that precede AI workloads.
4. AI offers: POC co-funding and solution assessments reduce partner risk on early pilots.
5. Marketplace: transactable IP unlocks Marketplace revenue and potential IP Co-sell Featured status.
Key message: Microsoft is investing in this partner's success, not just the customer outcome.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 2 ('You don't own Azure commercial') is the most common question from partner leadership.
Direct answer: MACC, ACR, and Copilot seat procurement remain Microsoft-primed. Partner margin is on services (Tier 1/2) and CSP resale (Tier 3). This is standard co-sell architecture.
Rule 3 (Responsible AI jointly owned): frame this as protection for the partner — joint accountability means they are never alone if a governance issue arises.
Rule 4 (One face to the customer): joint account plans prevent the partner from being outflanked by a competing partner or by Microsoft direct. This is a structural guarantee.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partner's most sensitive question up front: 'Does Factory take work away from me?' The honest answer is no — Factory takes the predictable, low-margin foundation work off your SOW so you can focus on the differentiated build the customer actually pays a premium for.
Framing order:
1. Lead with $0 to customer/partner — funded by Azure Migrate &amp; Modernize / Innovate / Accelerate.
2. Walk the anchor bundle — F1 GenAI Assistant MVP + F2 Azure Landing Zone — the default Stage-2 nomination on every CoE engagement.
3. Land the SOW shift narrative: your services revenue does NOT shrink when Factory is in the picture; the scope shifts to differentiated build, business logic, agentic Copilot Studio work, vertical IP, managed run.
4. Reinforce out-of-scope: M365 Copilot rollout, Copilot Studio agent build, custom architecture, in-country sovereign — these all stay with the partner.
Key commercial point: $1 partner services → $3–5 Azure ACR multiplier compounds when Factory is added — because Factory accelerates the foundation, the partner reaches Tier 2 build faster, and ACR ramps earlier in the FY.
Partner trust commitment: PDM informs the partner before any Factory nomination is filed against an account they're working. No surprise nominations.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commitments are non-negotiable in substance — but flexible in timing.
Most important commitment: Item 6 (Lighthouse customer). A partner without a named lighthouse account within 6 months is not converting the programme into pipeline. Agree on the target account name before leaving this meeting.
Item 1 (Named account sponsor): ask the partner to name the executive sponsor here in the room — or commit to naming one within 5 business days.
Item 4 (MCEM alignment): if the partner is not yet active in Partner Center co-sell, offer a Partner Center activation session as part of Week 3–4 onboarding.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as a shared calendar, not a Microsoft-imposed schedule. Ask the partner to put approximate dates against each milestone as you go.
Three milestones to lock in this meeting:
1. Week 1: scorecard completion call date.
2. Week 2: charter signing target date.
3. Week 7–10: first envisioning — target customer name.
If the partner hesitates on the first envisioning target, offer to co-qualify an account from the MCAPS account list using the CoE readiness scorecard. This gives the partner a warm introduction rather than a cold start.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NTT DATA and Capgemini are the two largest global Microsoft partners actively running CoEs on this framework today.
Both quotes are from published Microsoft partner press releases — fully verifiable.
If the partner recognises these organisations: 'We can connect you with their CoE practice leads. Would that be useful?'
Use these proof points to counter the 'we are not sure this model works in practice' objection. The answer is: it works at global scale, today.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commercial clincher. Lead with the headline: 100+ accounts already running ATO see 15% higher MoM AI ACR. This is not a forecast — it is operational data.
For the partner, ATO is the funded delivery structure inside every CoE engagement. The three components align to the MCEM stages the partner already knows: Component 1 maps to Envision + Assess (MCEM 1–2); Component 2 is the landing zone build (MCEM 3); Component 3 is the Agent Factory co-build and production scale (MCEM 3–4).
The funding envelope is what partners care about most: up to $50k pre-sales ECIF (1:5 ROI) plus up to $1M post-sales ($500k ECIF + $500k ACO, each at 1:2). The post-sales envelope is gated on AI Foundry plus Fabric or Databases attach — which is also where the highest partner margin lives. Design architecture choices accordingly from day one.
Key partner message: the Anchor Partner delivers ATO Components 2 and 3 under Microsoft orchestration. This is how partner services revenue compounds alongside Azure ACR.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proactively — do not wait for the partner to ask. Channel transparency is how we build trust.
Key message: In a small number of accounts (sovereign, regulated, customer-demanded Microsoft-led), ISD — Microsoft's paid delivery arm — will prime the SoW. Partner margin is preserved through subcontract terms, and the Partner PDM is informed before the customer is.
The three-model clarity:
• Default (Stream 3) — partner primes the SoW. This is the bulk of the motion.
• Model B (ISD-led + Partner) — ISD primes, partner subcontracts. Used when customer wants Microsoft accountability + partner brings vertical IP or capacity.
• Model C (ISD + ICSU + Partner) — flagship regulated accounts. Three-party governance, one SoW, partner still wins defined delivery scope.
What partners get in B/C:
• Named subcontract scope with defined margin.
• Access to MACC/Unified funding they otherwise wouldn't pursue.
• Reference value + pipeline credit for the account.
Handle the objection honestly: 'Why not just partner-only?' Because some customers explicitly ask for Microsoft badge — and in those moments we'd rather bring you with us than leave you out. Never surprise the partner — PDM conversation precedes the customer.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specific dates, not open-ended follow-up.
Ideal meeting outcome — four commitments before the partner leaves:
01: Scorecard call date set for this week.
02: Charter signing target date agreed within 2 weeks of scorecard review.
03: Three RSA target customer names identified and noted.
04: First envisioning target account named.
Do not leave without calendar invites sent. Momentum built in this meeting evaporates within 48 hours without a booked next step.</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1F2C"/>
        </a:solidFill>
        <a:effectLst/>
      </p:bgPr>
    </p:bg>
    <p:spTree>
      <p:nvGrpSpPr>
        <p:cNvPr id="1" name=""/>
        <p:cNvGrpSpPr/>
        <p:nvPr/>
      </p:nvGrpSpPr>
      <p:grpSpPr>
        <a:xfrm>
          <a:off x="0" y="0"/>
          <a:ext cx="0" cy="0"/>
          <a:chOff x="0" y="0"/>
          <a:chExt cx="0" cy="0"/>
        </a:xfrm>
      </p:grpSpPr>
      <p:sp>
        <p:nvSpPr>
          <p:cNvPr id="2" name="Shape 0"/>
          <p:cNvSpPr/>
          <p:nvPr/>
        </p:nvSpPr>
        <p:spPr>
          <a:xfrm>
            <a:off x="0" y="4937760"/>
            <a:ext cx="12191695" cy="73152"/>
          </a:xfrm>
          <a:prstGeom prst="rect">
            <a:avLst/>
          </a:prstGeom>
          <a:solidFill>
            <a:srgbClr val="C03BC4"/>
          </a:solidFill>
          <a:ln/>
        </p:spPr>
        <p:txBody>
          <a:bodyPr/>
          <a:lstStyle/>
          <a:p>
            <a:endParaRPr lang="en-ZA"/>
          </a:p>
        </p:txBody>
      </p:sp>
      <p:sp>
        <p:nvSpPr>
          <p:cNvPr id="3" name="Shape 1"/>
          <p:cNvSpPr/>
          <p:nvPr/>
        </p:nvSpPr>
        <p:spPr>
          <a:xfrm>
            <a:off x="0" y="5074920"/>
            <a:ext cx="3047924" cy="27432"/>
          </a:xfrm>
          <a:prstGeom prst="rect">
            <a:avLst/>
          </a:prstGeom>
          <a:solidFill>
            <a:srgbClr val="702573"/>
          </a:solidFill>
          <a:ln/>
        </p:spPr>
        <p:txBody>
          <a:bodyPr/>
          <a:lstStyle/>
          <a:p>
            <a:endParaRPr lang="en-ZA"/>
          </a:p>
        </p:txBody>
      </p:sp>
      <p:pic>
        <p:nvPicPr>
          <p:cNvPr id="4" name="Image 0" descr="assets/microsoft-mark.png"/>
          <p:cNvPicPr>
            <a:picLocks noChangeAspect="1"/>
          </p:cNvPicPr>
          <p:nvPr/>
        </p:nvPicPr>
        <p:blipFill>
          <a:blip r:embed="rId3"/>
          <a:stretch>
            <a:fillRect/>
          </a:stretch>
        </p:blipFill>
        <p:spPr>
          <a:xfrm>
            <a:off x="822960" y="457200"/>
            <a:ext cx="457200" cy="457200"/>
          </a:xfrm>
          <a:prstGeom prst="rect">
            <a:avLst/>
          </a:prstGeom>
        </p:spPr>
      </p:pic>
      <p:sp>
        <p:nvSpPr>
          <p:cNvPr id="5" name="Text 2"/>
          <p:cNvSpPr/>
          <p:nvPr/>
        </p:nvSpPr>
        <p:spPr>
          <a:xfrm>
            <a:off x="1371600" y="457200"/>
            <a:ext cx="2743200" cy="457200"/>
          </a:xfrm>
          <a:prstGeom prst="rect">
            <a:avLst/>
          </a:prstGeom>
          <a:noFill/>
          <a:ln/>
        </p:spPr>
        <p:txBody>
          <a:bodyPr wrap="square" rtlCol="0" anchor="ctr"/>
          <a:lstStyle/>
          <a:p>
            <a:pPr marL="0" indent="0">
              <a:buNone/>
            </a:pPr>
            <a:r>
              <a:rPr lang="en-US" sz="2200" b="1" dirty="0">
                <a:solidFill>
                  <a:srgbClr val="FFFFFF"/>
                </a:solidFill>
                <a:latin typeface="Segoe UI" pitchFamily="34" charset="0"/>
                <a:ea typeface="Segoe UI" pitchFamily="34" charset="-122"/>
                <a:cs typeface="Segoe UI" pitchFamily="34" charset="-120"/>
              </a:rPr>
              <a:t>Microsoft</a:t>
            </a:r>
            <a:endParaRPr lang="en-US" sz="2200" dirty="0"/>
          </a:p>
        </p:txBody>
      </p:sp>
      <p:sp>
        <p:nvSpPr>
          <p:cNvPr id="6" name="Text 3"/>
          <p:cNvSpPr/>
          <p:nvPr/>
        </p:nvSpPr>
        <p:spPr>
          <a:xfrm>
            <a:off x="822960" y="1051560"/>
            <a:ext cx="10058400" cy="320040"/>
          </a:xfrm>
          <a:prstGeom prst="rect">
            <a:avLst/>
          </a:prstGeom>
          <a:noFill/>
          <a:ln/>
        </p:spPr>
        <p:txBody>
          <a:bodyPr wrap="square" rtlCol="0" anchor="ctr"/>
          <a:lstStyle/>
          <a:p>
            <a:pPr marL="0" indent="0">
              <a:buNone/>
            </a:pPr>
            <a:r>
              <a:rPr lang="en-US" sz="1200" b="1" kern="0" spc="600" dirty="0">
                <a:solidFill>
                  <a:srgbClr val="C03BC4"/>
                </a:solidFill>
                <a:latin typeface="Segoe UI" pitchFamily="34" charset="0"/>
                <a:ea typeface="Segoe UI" pitchFamily="34" charset="-122"/>
                <a:cs typeface="Segoe UI" pitchFamily="34" charset="-120"/>
              </a:rPr>
              <a:t>MCAPS  ·  RSA  ·  PARTNER INVITATION</a:t>
            </a:r>
            <a:endParaRPr lang="en-US" sz="1200" dirty="0"/>
          </a:p>
        </p:txBody>
      </p:sp>
      <p:sp>
        <p:nvSpPr>
          <p:cNvPr id="7" name="Text 4"/>
          <p:cNvSpPr/>
          <p:nvPr/>
        </p:nvSpPr>
        <p:spPr>
          <a:xfrm>
            <a:off x="822960" y="1554480"/>
            <a:ext cx="10515600" cy="1097280"/>
          </a:xfrm>
          <a:prstGeom prst="rect">
            <a:avLst/>
          </a:prstGeom>
          <a:noFill/>
          <a:ln/>
        </p:spPr>
        <p:txBody>
          <a:bodyPr wrap="square" rtlCol="0" anchor="ctr"/>
          <a:lstStyle/>
          <a:p>
            <a:pPr marL="0" indent="0">
              <a:buNone/>
            </a:pPr>
            <a:r>
              <a:rPr lang="en-US" sz="5400" b="1" dirty="0">
                <a:solidFill>
                  <a:srgbClr val="FFFFFF"/>
                </a:solidFill>
                <a:latin typeface="Segoe UI" pitchFamily="34" charset="0"/>
                <a:ea typeface="Segoe UI" pitchFamily="34" charset="-122"/>
                <a:cs typeface="Segoe UI" pitchFamily="34" charset="-120"/>
              </a:rPr>
              <a:t>Become an AI CoE</a:t>
            </a:r>
            <a:endParaRPr lang="en-US" sz="5400" dirty="0"/>
          </a:p>
        </p:txBody>
      </p:sp>
      <p:sp>
        <p:nvSpPr>
          <p:cNvPr id="8" name="Text 5"/>
          <p:cNvSpPr/>
          <p:nvPr/>
        </p:nvSpPr>
        <p:spPr>
          <a:xfrm>
            <a:off x="822960" y="2560320"/>
            <a:ext cx="10515600" cy="1097280"/>
          </a:xfrm>
          <a:prstGeom prst="rect">
            <a:avLst/>
          </a:prstGeom>
          <a:noFill/>
          <a:ln/>
        </p:spPr>
        <p:txBody>
          <a:bodyPr wrap="square" rtlCol="0" anchor="ctr"/>
          <a:lstStyle/>
          <a:p>
            <a:pPr marL="0" indent="0">
              <a:buNone/>
            </a:pPr>
            <a:r>
              <a:rPr lang="en-US" sz="5400" b="1" dirty="0">
                <a:solidFill>
                  <a:srgbClr val="FFB900"/>
                </a:solidFill>
                <a:latin typeface="Segoe UI" pitchFamily="34" charset="0"/>
                <a:ea typeface="Segoe UI" pitchFamily="34" charset="-122"/>
                <a:cs typeface="Segoe UI" pitchFamily="34" charset="-120"/>
              </a:rPr>
              <a:t>Anchor Partner</a:t>
            </a:r>
            <a:endParaRPr lang="en-US" sz="5400" dirty="0"/>
          </a:p>
        </p:txBody>
      </p:sp>
      <p:sp>
        <p:nvSpPr>
          <p:cNvPr id="9" name="Text 6"/>
          <p:cNvSpPr/>
          <p:nvPr/>
        </p:nvSpPr>
        <p:spPr>
          <a:xfrm>
            <a:off x="822960" y="3749040"/>
            <a:ext cx="10058400" cy="731520"/>
          </a:xfrm>
          <a:prstGeom prst="rect">
            <a:avLst/>
          </a:prstGeom>
          <a:noFill/>
          <a:ln/>
        </p:spPr>
        <p:txBody>
          <a:bodyPr wrap="square" rtlCol="0" anchor="ctr"/>
          <a:lstStyle/>
          <a:p>
            <a:pPr marL="0" indent="0">
              <a:buNone/>
            </a:pPr>
            <a:r>
              <a:rPr lang="en-US" sz="1800" i="1" dirty="0">
                <a:solidFill>
                  <a:srgbClr val="F5E6F0"/>
                </a:solidFill>
                <a:latin typeface="Segoe UI" pitchFamily="34" charset="0"/>
                <a:ea typeface="Segoe UI" pitchFamily="34" charset="-122"/>
                <a:cs typeface="Segoe UI" pitchFamily="34" charset="-120"/>
              </a:rPr>
              <a:t>Build a repeatable, high-margin AI transformation practice — co-selling AI Centres of Excellence with Microsoft.</a:t>
            </a:r>
            <a:endParaRPr lang="en-US" sz="1800" dirty="0"/>
          </a:p>
        </p:txBody>
      </p:sp>
      <p:sp>
        <p:nvSpPr>
          <p:cNvPr id="10" name="Text 7"/>
          <p:cNvSpPr/>
          <p:nvPr/>
        </p:nvSpPr>
        <p:spPr>
          <a:xfrm>
            <a:off x="822960" y="5486400"/>
            <a:ext cx="5486400" cy="274320"/>
          </a:xfrm>
          <a:prstGeom prst="rect">
            <a:avLst/>
          </a:prstGeom>
          <a:noFill/>
          <a:ln/>
        </p:spPr>
        <p:txBody>
          <a:bodyPr wrap="square" rtlCol="0" anchor="ctr"/>
          <a:lstStyle/>
          <a:p>
            <a:pPr marL="0" indent="0">
              <a:buNone/>
            </a:pPr>
            <a:r>
              <a:rPr lang="en-US" sz="1200" b="1" dirty="0">
                <a:solidFill>
                  <a:srgbClr val="FFFFFF"/>
                </a:solidFill>
                <a:latin typeface="Segoe UI" pitchFamily="34" charset="0"/>
                <a:ea typeface="Segoe UI" pitchFamily="34" charset="-122"/>
                <a:cs typeface="Segoe UI" pitchFamily="34" charset="-120"/>
              </a:rPr>
              <a:t>Yuri Baijnath</a:t>
            </a:r>
            <a:endParaRPr lang="en-US" sz="1200" dirty="0"/>
          </a:p>
        </p:txBody>
      </p:sp>
      <p:sp>
        <p:nvSpPr>
          <p:cNvPr id="11" name="Text 8"/>
          <p:cNvSpPr/>
          <p:nvPr/>
        </p:nvSpPr>
        <p:spPr>
          <a:xfrm>
            <a:off x="822960" y="5760720"/>
            <a:ext cx="7315200" cy="274320"/>
          </a:xfrm>
          <a:prstGeom prst="rect">
            <a:avLst/>
          </a:prstGeom>
          <a:noFill/>
          <a:ln/>
        </p:spPr>
        <p:txBody>
          <a:bodyPr wrap="square" rtlCol="0" anchor="ctr"/>
          <a:lstStyle/>
          <a:p>
            <a:pPr marL="0" indent="0">
              <a:buNone/>
            </a:pPr>
            <a:r>
              <a:rPr lang="en-US" sz="1100" dirty="0">
                <a:solidFill>
                  <a:srgbClr val="F5E6F0"/>
                </a:solidFill>
                <a:latin typeface="Segoe UI" pitchFamily="34" charset="0"/>
                <a:ea typeface="Segoe UI" pitchFamily="34" charset="-122"/>
                <a:cs typeface="Segoe UI" pitchFamily="34" charset="-120"/>
              </a:rPr>
              <a:t>SR CSA Manager · MCAPS RSA CSU · Microsoft South Africa</a:t>
            </a:r>
            <a:endParaRPr lang="en-US" sz="1100" dirty="0"/>
          </a:p>
        </p:txBody>
      </p:sp>
      <p:sp>
        <p:nvSpPr>
          <p:cNvPr id="12" name="Text 9"/>
          <p:cNvSpPr/>
          <p:nvPr/>
        </p:nvSpPr>
        <p:spPr>
          <a:xfrm>
            <a:off x="822960" y="6035040"/>
            <a:ext cx="7315200" cy="274320"/>
          </a:xfrm>
          <a:prstGeom prst="rect">
            <a:avLst/>
          </a:prstGeom>
          <a:noFill/>
          <a:ln/>
        </p:spPr>
        <p:txBody>
          <a:bodyPr wrap="square" rtlCol="0" anchor="ctr"/>
          <a:lstStyle/>
          <a:p>
            <a:pPr marL="0" indent="0">
              <a:buNone/>
            </a:pPr>
            <a:r>
              <a:rPr lang="en-US" sz="1100" dirty="0">
                <a:solidFill>
                  <a:srgbClr val="8A94A6"/>
                </a:solidFill>
                <a:latin typeface="Segoe UI" pitchFamily="34" charset="0"/>
                <a:ea typeface="Segoe UI" pitchFamily="34" charset="-122"/>
                <a:cs typeface="Segoe UI" pitchFamily="34" charset="-120"/>
              </a:rPr>
              <a:t>Yuri.Baijnath@microsoft.com</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THE OPPORTUNITY</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Every customer wants AI. They need a partner to deliver it.</a:t>
            </a:r>
            <a:endParaRPr lang="en-US" sz="3200" dirty="0"/>
          </a:p>
        </p:txBody>
      </p:sp>
      <p:sp>
        <p:nvSpPr>
          <p:cNvPr id="5" name="Shape 3"/>
          <p:cNvSpPr/>
          <p:nvPr/>
        </p:nvSpPr>
        <p:spPr>
          <a:xfrm>
            <a:off x="609448" y="2103120"/>
            <a:ext cx="2606040" cy="2834640"/>
          </a:xfrm>
          <a:prstGeom prst="roundRect">
            <a:avLst>
              <a:gd name="adj" fmla="val 3509"/>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609448" y="2103120"/>
            <a:ext cx="2606040" cy="73152"/>
          </a:xfrm>
          <a:prstGeom prst="rect">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00888" y="2468880"/>
            <a:ext cx="2423160" cy="1463040"/>
          </a:xfrm>
          <a:prstGeom prst="rect">
            <a:avLst/>
          </a:prstGeom>
          <a:noFill/>
          <a:ln/>
        </p:spPr>
        <p:txBody>
          <a:bodyPr wrap="square" rtlCol="0" anchor="ctr"/>
          <a:lstStyle/>
          <a:p>
            <a:pPr marL="0" indent="0" algn="ctr">
              <a:buNone/>
            </a:pPr>
            <a:r>
              <a:rPr lang="en-US" sz="5400" b="1" dirty="0">
                <a:solidFill>
                  <a:srgbClr val="0078D4"/>
                </a:solidFill>
                <a:latin typeface="Segoe UI" pitchFamily="34" charset="0"/>
                <a:ea typeface="Segoe UI" pitchFamily="34" charset="-122"/>
                <a:cs typeface="Segoe UI" pitchFamily="34" charset="-120"/>
              </a:rPr>
              <a:t>⅔</a:t>
            </a:r>
            <a:endParaRPr lang="en-US" sz="5400" dirty="0"/>
          </a:p>
        </p:txBody>
      </p:sp>
      <p:sp>
        <p:nvSpPr>
          <p:cNvPr id="8" name="Text 6"/>
          <p:cNvSpPr/>
          <p:nvPr/>
        </p:nvSpPr>
        <p:spPr>
          <a:xfrm>
            <a:off x="792328" y="3977640"/>
            <a:ext cx="2240280" cy="914400"/>
          </a:xfrm>
          <a:prstGeom prst="rect">
            <a:avLst/>
          </a:prstGeom>
          <a:noFill/>
          <a:ln/>
        </p:spPr>
        <p:txBody>
          <a:bodyPr wrap="square" rtlCol="0" anchor="ctr"/>
          <a:lstStyle/>
          <a:p>
            <a:pPr marL="0" indent="0" algn="ctr">
              <a:buNone/>
            </a:pPr>
            <a:r>
              <a:rPr lang="en-US" sz="1300" dirty="0">
                <a:solidFill>
                  <a:srgbClr val="091F2C"/>
                </a:solidFill>
                <a:latin typeface="Segoe UI" pitchFamily="34" charset="0"/>
                <a:ea typeface="Segoe UI" pitchFamily="34" charset="-122"/>
                <a:cs typeface="Segoe UI" pitchFamily="34" charset="-120"/>
              </a:rPr>
              <a:t>have not yet begun scaling AI across the enterprise (McKinsey 2025)</a:t>
            </a:r>
            <a:endParaRPr lang="en-US" sz="1300" dirty="0"/>
          </a:p>
        </p:txBody>
      </p:sp>
      <p:sp>
        <p:nvSpPr>
          <p:cNvPr id="9" name="Shape 7"/>
          <p:cNvSpPr/>
          <p:nvPr/>
        </p:nvSpPr>
        <p:spPr>
          <a:xfrm>
            <a:off x="3398368" y="2103120"/>
            <a:ext cx="2606040" cy="2834640"/>
          </a:xfrm>
          <a:prstGeom prst="roundRect">
            <a:avLst>
              <a:gd name="adj" fmla="val 3509"/>
            </a:avLst>
          </a:prstGeom>
          <a:solidFill>
            <a:srgbClr val="FFFFFF"/>
          </a:solidFill>
          <a:ln w="12700">
            <a:solidFill>
              <a:srgbClr val="E1E6EF"/>
            </a:solidFill>
            <a:prstDash val="solid"/>
          </a:ln>
        </p:spPr>
        <p:txBody>
          <a:bodyPr/>
          <a:lstStyle/>
          <a:p>
            <a:endParaRPr lang="en-ZA"/>
          </a:p>
        </p:txBody>
      </p:sp>
      <p:sp>
        <p:nvSpPr>
          <p:cNvPr id="10" name="Shape 8"/>
          <p:cNvSpPr/>
          <p:nvPr/>
        </p:nvSpPr>
        <p:spPr>
          <a:xfrm>
            <a:off x="3398368" y="2103120"/>
            <a:ext cx="2606040" cy="73152"/>
          </a:xfrm>
          <a:prstGeom prst="rect">
            <a:avLst/>
          </a:prstGeom>
          <a:solidFill>
            <a:srgbClr val="C03BC4"/>
          </a:solidFill>
          <a:ln w="12700">
            <a:solidFill>
              <a:srgbClr val="C03BC4"/>
            </a:solidFill>
            <a:prstDash val="solid"/>
          </a:ln>
        </p:spPr>
        <p:txBody>
          <a:bodyPr/>
          <a:lstStyle/>
          <a:p>
            <a:endParaRPr lang="en-ZA"/>
          </a:p>
        </p:txBody>
      </p:sp>
      <p:sp>
        <p:nvSpPr>
          <p:cNvPr id="11" name="Text 9"/>
          <p:cNvSpPr/>
          <p:nvPr/>
        </p:nvSpPr>
        <p:spPr>
          <a:xfrm>
            <a:off x="3489808" y="2468880"/>
            <a:ext cx="2423160" cy="1463040"/>
          </a:xfrm>
          <a:prstGeom prst="rect">
            <a:avLst/>
          </a:prstGeom>
          <a:noFill/>
          <a:ln/>
        </p:spPr>
        <p:txBody>
          <a:bodyPr wrap="square" rtlCol="0" anchor="ctr"/>
          <a:lstStyle/>
          <a:p>
            <a:pPr marL="0" indent="0" algn="ctr">
              <a:buNone/>
            </a:pPr>
            <a:r>
              <a:rPr lang="en-US" sz="5400" b="1" dirty="0">
                <a:solidFill>
                  <a:srgbClr val="C03BC4"/>
                </a:solidFill>
                <a:latin typeface="Segoe UI" pitchFamily="34" charset="0"/>
                <a:ea typeface="Segoe UI" pitchFamily="34" charset="-122"/>
                <a:cs typeface="Segoe UI" pitchFamily="34" charset="-120"/>
              </a:rPr>
              <a:t>$3–5</a:t>
            </a:r>
            <a:endParaRPr lang="en-US" sz="5400" dirty="0"/>
          </a:p>
        </p:txBody>
      </p:sp>
      <p:sp>
        <p:nvSpPr>
          <p:cNvPr id="12" name="Text 10"/>
          <p:cNvSpPr/>
          <p:nvPr/>
        </p:nvSpPr>
        <p:spPr>
          <a:xfrm>
            <a:off x="3581248" y="3977640"/>
            <a:ext cx="2240280" cy="914400"/>
          </a:xfrm>
          <a:prstGeom prst="rect">
            <a:avLst/>
          </a:prstGeom>
          <a:noFill/>
          <a:ln/>
        </p:spPr>
        <p:txBody>
          <a:bodyPr wrap="square" rtlCol="0" anchor="ctr"/>
          <a:lstStyle/>
          <a:p>
            <a:pPr marL="0" indent="0" algn="ctr">
              <a:buNone/>
            </a:pPr>
            <a:r>
              <a:rPr lang="en-US" sz="1300" dirty="0">
                <a:solidFill>
                  <a:srgbClr val="091F2C"/>
                </a:solidFill>
                <a:latin typeface="Segoe UI" pitchFamily="34" charset="0"/>
                <a:ea typeface="Segoe UI" pitchFamily="34" charset="-122"/>
                <a:cs typeface="Segoe UI" pitchFamily="34" charset="-120"/>
              </a:rPr>
              <a:t>Azure pull-through per $1 partner services</a:t>
            </a:r>
            <a:endParaRPr lang="en-US" sz="1300" dirty="0"/>
          </a:p>
        </p:txBody>
      </p:sp>
      <p:sp>
        <p:nvSpPr>
          <p:cNvPr id="13" name="Shape 11"/>
          <p:cNvSpPr/>
          <p:nvPr/>
        </p:nvSpPr>
        <p:spPr>
          <a:xfrm>
            <a:off x="6187288" y="2103120"/>
            <a:ext cx="2606040" cy="2834640"/>
          </a:xfrm>
          <a:prstGeom prst="roundRect">
            <a:avLst>
              <a:gd name="adj" fmla="val 3509"/>
            </a:avLst>
          </a:prstGeom>
          <a:solidFill>
            <a:srgbClr val="FFFFFF"/>
          </a:solidFill>
          <a:ln w="12700">
            <a:solidFill>
              <a:srgbClr val="E1E6EF"/>
            </a:solidFill>
            <a:prstDash val="solid"/>
          </a:ln>
        </p:spPr>
        <p:txBody>
          <a:bodyPr/>
          <a:lstStyle/>
          <a:p>
            <a:endParaRPr lang="en-ZA"/>
          </a:p>
        </p:txBody>
      </p:sp>
      <p:sp>
        <p:nvSpPr>
          <p:cNvPr id="14" name="Shape 12"/>
          <p:cNvSpPr/>
          <p:nvPr/>
        </p:nvSpPr>
        <p:spPr>
          <a:xfrm>
            <a:off x="6187288" y="2103120"/>
            <a:ext cx="2606040" cy="73152"/>
          </a:xfrm>
          <a:prstGeom prst="rect">
            <a:avLst/>
          </a:prstGeom>
          <a:solidFill>
            <a:srgbClr val="FFB900"/>
          </a:solidFill>
          <a:ln w="12700">
            <a:solidFill>
              <a:srgbClr val="FFB900"/>
            </a:solidFill>
            <a:prstDash val="solid"/>
          </a:ln>
        </p:spPr>
        <p:txBody>
          <a:bodyPr/>
          <a:lstStyle/>
          <a:p>
            <a:endParaRPr lang="en-ZA"/>
          </a:p>
        </p:txBody>
      </p:sp>
      <p:sp>
        <p:nvSpPr>
          <p:cNvPr id="15" name="Text 13"/>
          <p:cNvSpPr/>
          <p:nvPr/>
        </p:nvSpPr>
        <p:spPr>
          <a:xfrm>
            <a:off x="6278728" y="2468880"/>
            <a:ext cx="2423160" cy="1463040"/>
          </a:xfrm>
          <a:prstGeom prst="rect">
            <a:avLst/>
          </a:prstGeom>
          <a:noFill/>
          <a:ln/>
        </p:spPr>
        <p:txBody>
          <a:bodyPr wrap="square" rtlCol="0" anchor="ctr"/>
          <a:lstStyle/>
          <a:p>
            <a:pPr marL="0" indent="0" algn="ctr">
              <a:buNone/>
            </a:pPr>
            <a:r>
              <a:rPr lang="en-US" sz="5400" b="1" dirty="0">
                <a:solidFill>
                  <a:srgbClr val="FFB900"/>
                </a:solidFill>
                <a:latin typeface="Segoe UI" pitchFamily="34" charset="0"/>
                <a:ea typeface="Segoe UI" pitchFamily="34" charset="-122"/>
                <a:cs typeface="Segoe UI" pitchFamily="34" charset="-120"/>
              </a:rPr>
              <a:t>4–6</a:t>
            </a:r>
            <a:endParaRPr lang="en-US" sz="5400" dirty="0"/>
          </a:p>
        </p:txBody>
      </p:sp>
      <p:sp>
        <p:nvSpPr>
          <p:cNvPr id="16" name="Text 14"/>
          <p:cNvSpPr/>
          <p:nvPr/>
        </p:nvSpPr>
        <p:spPr>
          <a:xfrm>
            <a:off x="6370168" y="3977640"/>
            <a:ext cx="2240280" cy="914400"/>
          </a:xfrm>
          <a:prstGeom prst="rect">
            <a:avLst/>
          </a:prstGeom>
          <a:noFill/>
          <a:ln/>
        </p:spPr>
        <p:txBody>
          <a:bodyPr wrap="square" rtlCol="0" anchor="ctr"/>
          <a:lstStyle/>
          <a:p>
            <a:pPr marL="0" indent="0" algn="ctr">
              <a:buNone/>
            </a:pPr>
            <a:r>
              <a:rPr lang="en-US" sz="1300" dirty="0">
                <a:solidFill>
                  <a:srgbClr val="091F2C"/>
                </a:solidFill>
                <a:latin typeface="Segoe UI" pitchFamily="34" charset="0"/>
                <a:ea typeface="Segoe UI" pitchFamily="34" charset="-122"/>
                <a:cs typeface="Segoe UI" pitchFamily="34" charset="-120"/>
              </a:rPr>
              <a:t>Anchor Partners targeted in RSA for H1</a:t>
            </a:r>
            <a:endParaRPr lang="en-US" sz="1300" dirty="0"/>
          </a:p>
        </p:txBody>
      </p:sp>
      <p:sp>
        <p:nvSpPr>
          <p:cNvPr id="17" name="Shape 15"/>
          <p:cNvSpPr/>
          <p:nvPr/>
        </p:nvSpPr>
        <p:spPr>
          <a:xfrm>
            <a:off x="8976208" y="2103120"/>
            <a:ext cx="2606040" cy="2834640"/>
          </a:xfrm>
          <a:prstGeom prst="roundRect">
            <a:avLst>
              <a:gd name="adj" fmla="val 3509"/>
            </a:avLst>
          </a:prstGeom>
          <a:solidFill>
            <a:srgbClr val="FFFFFF"/>
          </a:solidFill>
          <a:ln w="12700">
            <a:solidFill>
              <a:srgbClr val="E1E6EF"/>
            </a:solidFill>
            <a:prstDash val="solid"/>
          </a:ln>
        </p:spPr>
        <p:txBody>
          <a:bodyPr/>
          <a:lstStyle/>
          <a:p>
            <a:endParaRPr lang="en-ZA"/>
          </a:p>
        </p:txBody>
      </p:sp>
      <p:sp>
        <p:nvSpPr>
          <p:cNvPr id="18" name="Shape 16"/>
          <p:cNvSpPr/>
          <p:nvPr/>
        </p:nvSpPr>
        <p:spPr>
          <a:xfrm>
            <a:off x="8976208" y="2103120"/>
            <a:ext cx="2606040" cy="73152"/>
          </a:xfrm>
          <a:prstGeom prst="rect">
            <a:avLst/>
          </a:prstGeom>
          <a:solidFill>
            <a:srgbClr val="FF5C39"/>
          </a:solidFill>
          <a:ln w="12700">
            <a:solidFill>
              <a:srgbClr val="FF5C39"/>
            </a:solidFill>
            <a:prstDash val="solid"/>
          </a:ln>
        </p:spPr>
        <p:txBody>
          <a:bodyPr/>
          <a:lstStyle/>
          <a:p>
            <a:endParaRPr lang="en-ZA"/>
          </a:p>
        </p:txBody>
      </p:sp>
      <p:sp>
        <p:nvSpPr>
          <p:cNvPr id="19" name="Text 17"/>
          <p:cNvSpPr/>
          <p:nvPr/>
        </p:nvSpPr>
        <p:spPr>
          <a:xfrm>
            <a:off x="9067648" y="2468880"/>
            <a:ext cx="2423160" cy="1463040"/>
          </a:xfrm>
          <a:prstGeom prst="rect">
            <a:avLst/>
          </a:prstGeom>
          <a:noFill/>
          <a:ln/>
        </p:spPr>
        <p:txBody>
          <a:bodyPr wrap="square" rtlCol="0" anchor="ctr"/>
          <a:lstStyle/>
          <a:p>
            <a:pPr marL="0" indent="0" algn="ctr">
              <a:buNone/>
            </a:pPr>
            <a:r>
              <a:rPr lang="en-US" sz="5400" b="1" dirty="0">
                <a:solidFill>
                  <a:srgbClr val="FF5C39"/>
                </a:solidFill>
                <a:latin typeface="Segoe UI" pitchFamily="34" charset="0"/>
                <a:ea typeface="Segoe UI" pitchFamily="34" charset="-122"/>
                <a:cs typeface="Segoe UI" pitchFamily="34" charset="-120"/>
              </a:rPr>
              <a:t>5×</a:t>
            </a:r>
            <a:endParaRPr lang="en-US" sz="5400" dirty="0"/>
          </a:p>
        </p:txBody>
      </p:sp>
      <p:sp>
        <p:nvSpPr>
          <p:cNvPr id="20" name="Text 18"/>
          <p:cNvSpPr/>
          <p:nvPr/>
        </p:nvSpPr>
        <p:spPr>
          <a:xfrm>
            <a:off x="9159088" y="3977640"/>
            <a:ext cx="2240280" cy="914400"/>
          </a:xfrm>
          <a:prstGeom prst="rect">
            <a:avLst/>
          </a:prstGeom>
          <a:noFill/>
          <a:ln/>
        </p:spPr>
        <p:txBody>
          <a:bodyPr wrap="square" rtlCol="0" anchor="ctr"/>
          <a:lstStyle/>
          <a:p>
            <a:pPr marL="0" indent="0" algn="ctr">
              <a:buNone/>
            </a:pPr>
            <a:r>
              <a:rPr lang="en-US" sz="1300" dirty="0">
                <a:solidFill>
                  <a:srgbClr val="091F2C"/>
                </a:solidFill>
                <a:latin typeface="Segoe UI" pitchFamily="34" charset="0"/>
                <a:ea typeface="Segoe UI" pitchFamily="34" charset="-122"/>
                <a:cs typeface="Segoe UI" pitchFamily="34" charset="-120"/>
              </a:rPr>
              <a:t>revenue lift for "future-built" firms vs. peers (BCG 2025)</a:t>
            </a:r>
            <a:endParaRPr lang="en-US" sz="1300" dirty="0"/>
          </a:p>
        </p:txBody>
      </p:sp>
      <p:sp>
        <p:nvSpPr>
          <p:cNvPr id="21" name="Text 19"/>
          <p:cNvSpPr/>
          <p:nvPr/>
        </p:nvSpPr>
        <p:spPr>
          <a:xfrm>
            <a:off x="548640" y="5669280"/>
            <a:ext cx="11155680" cy="274320"/>
          </a:xfrm>
          <a:prstGeom prst="rect">
            <a:avLst/>
          </a:prstGeom>
          <a:noFill/>
          <a:ln/>
        </p:spPr>
        <p:txBody>
          <a:bodyPr wrap="square" rtlCol="0" anchor="ctr"/>
          <a:lstStyle/>
          <a:p>
            <a:pPr marL="0" indent="0">
              <a:buNone/>
            </a:pPr>
            <a:r>
              <a:rPr lang="en-US" sz="900" i="1" dirty="0">
                <a:solidFill>
                  <a:srgbClr val="8A94A6"/>
                </a:solidFill>
                <a:latin typeface="Segoe UI" pitchFamily="34" charset="0"/>
                <a:ea typeface="Segoe UI" pitchFamily="34" charset="-122"/>
                <a:cs typeface="Segoe UI" pitchFamily="34" charset="-120"/>
              </a:rPr>
              <a:t>Sources: McKinsey State of AI 2025 · BCG Build for the Future 2025 · MAICPP programme data</a:t>
            </a:r>
            <a:endParaRPr lang="en-US" sz="900" dirty="0"/>
          </a:p>
        </p:txBody>
      </p:sp>
      <p:sp>
        <p:nvSpPr>
          <p:cNvPr id="22" name="Text 20"/>
          <p:cNvSpPr/>
          <p:nvPr/>
        </p:nvSpPr>
        <p:spPr>
          <a:xfrm>
            <a:off x="548640" y="5989320"/>
            <a:ext cx="11155680" cy="365760"/>
          </a:xfrm>
          <a:prstGeom prst="rect">
            <a:avLst/>
          </a:prstGeom>
          <a:noFill/>
          <a:ln/>
        </p:spPr>
        <p:txBody>
          <a:bodyPr wrap="square" rtlCol="0" anchor="ctr"/>
          <a:lstStyle/>
          <a:p>
            <a:pPr marL="0" indent="0">
              <a:buNone/>
            </a:pPr>
            <a:r>
              <a:rPr lang="en-US" sz="1400" b="1" dirty="0">
                <a:solidFill>
                  <a:srgbClr val="0078D4"/>
                </a:solidFill>
                <a:latin typeface="Segoe UI" pitchFamily="34" charset="0"/>
                <a:ea typeface="Segoe UI" pitchFamily="34" charset="-122"/>
                <a:cs typeface="Segoe UI" pitchFamily="34" charset="-120"/>
              </a:rPr>
              <a:t>You bring industry depth. We bring the platform, the framework, and the co-invest.</a:t>
            </a:r>
            <a:endParaRPr lang="en-US" sz="1400" dirty="0"/>
          </a:p>
        </p:txBody>
      </p:sp>
      <p:pic>
        <p:nvPicPr>
          <p:cNvPr id="23"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4" name="Text 21"/>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5" name="Text 22"/>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2 / 15</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THE OFFER</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What Anchor Partners receive</a:t>
            </a:r>
            <a:endParaRPr lang="en-US" sz="3200" dirty="0"/>
          </a:p>
        </p:txBody>
      </p:sp>
      <p:sp>
        <p:nvSpPr>
          <p:cNvPr id="5" name="Shape 3"/>
          <p:cNvSpPr/>
          <p:nvPr/>
        </p:nvSpPr>
        <p:spPr>
          <a:xfrm>
            <a:off x="548640" y="182880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6" name="Shape 4"/>
          <p:cNvSpPr/>
          <p:nvPr/>
        </p:nvSpPr>
        <p:spPr>
          <a:xfrm>
            <a:off x="731520" y="2057400"/>
            <a:ext cx="457200" cy="457200"/>
          </a:xfrm>
          <a:prstGeom prst="ellipse">
            <a:avLst/>
          </a:prstGeom>
          <a:solidFill>
            <a:srgbClr val="C03BC4"/>
          </a:solidFill>
          <a:ln w="12700">
            <a:solidFill>
              <a:srgbClr val="C03BC4"/>
            </a:solidFill>
            <a:prstDash val="solid"/>
          </a:ln>
        </p:spPr>
        <p:txBody>
          <a:bodyPr/>
          <a:lstStyle/>
          <a:p>
            <a:endParaRPr lang="en-ZA"/>
          </a:p>
        </p:txBody>
      </p:sp>
      <p:sp>
        <p:nvSpPr>
          <p:cNvPr id="7" name="Text 5"/>
          <p:cNvSpPr/>
          <p:nvPr/>
        </p:nvSpPr>
        <p:spPr>
          <a:xfrm>
            <a:off x="731520" y="205740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1</a:t>
            </a:r>
            <a:endParaRPr lang="en-US" sz="1600" dirty="0"/>
          </a:p>
        </p:txBody>
      </p:sp>
      <p:sp>
        <p:nvSpPr>
          <p:cNvPr id="8" name="Text 6"/>
          <p:cNvSpPr/>
          <p:nvPr/>
        </p:nvSpPr>
        <p:spPr>
          <a:xfrm>
            <a:off x="1325880" y="2057400"/>
            <a:ext cx="26974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Turnkey asset pack</a:t>
            </a:r>
            <a:endParaRPr lang="en-US" sz="1500" dirty="0"/>
          </a:p>
        </p:txBody>
      </p:sp>
      <p:sp>
        <p:nvSpPr>
          <p:cNvPr id="9" name="Text 7"/>
          <p:cNvSpPr/>
          <p:nvPr/>
        </p:nvSpPr>
        <p:spPr>
          <a:xfrm>
            <a:off x="822960" y="2651760"/>
            <a:ext cx="3154680" cy="8686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Frontier CoE decks — five published modules covering Business Strategy, Organization &amp; Culture, AI Strategy &amp; Experience, Technology &amp; Data, Governance &amp; Security</a:t>
            </a:r>
            <a:endParaRPr lang="en-US" sz="1100" dirty="0"/>
          </a:p>
        </p:txBody>
      </p:sp>
      <p:sp>
        <p:nvSpPr>
          <p:cNvPr id="10" name="Shape 8"/>
          <p:cNvSpPr/>
          <p:nvPr/>
        </p:nvSpPr>
        <p:spPr>
          <a:xfrm>
            <a:off x="4297680" y="182880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11" name="Shape 9"/>
          <p:cNvSpPr/>
          <p:nvPr/>
        </p:nvSpPr>
        <p:spPr>
          <a:xfrm>
            <a:off x="4480560" y="2057400"/>
            <a:ext cx="457200" cy="457200"/>
          </a:xfrm>
          <a:prstGeom prst="ellipse">
            <a:avLst/>
          </a:prstGeom>
          <a:solidFill>
            <a:srgbClr val="C03BC4"/>
          </a:solidFill>
          <a:ln w="12700">
            <a:solidFill>
              <a:srgbClr val="C03BC4"/>
            </a:solidFill>
            <a:prstDash val="solid"/>
          </a:ln>
        </p:spPr>
        <p:txBody>
          <a:bodyPr/>
          <a:lstStyle/>
          <a:p>
            <a:endParaRPr lang="en-ZA"/>
          </a:p>
        </p:txBody>
      </p:sp>
      <p:sp>
        <p:nvSpPr>
          <p:cNvPr id="12" name="Text 10"/>
          <p:cNvSpPr/>
          <p:nvPr/>
        </p:nvSpPr>
        <p:spPr>
          <a:xfrm>
            <a:off x="4480560" y="205740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2</a:t>
            </a:r>
            <a:endParaRPr lang="en-US" sz="1600" dirty="0"/>
          </a:p>
        </p:txBody>
      </p:sp>
      <p:sp>
        <p:nvSpPr>
          <p:cNvPr id="13" name="Text 11"/>
          <p:cNvSpPr/>
          <p:nvPr/>
        </p:nvSpPr>
        <p:spPr>
          <a:xfrm>
            <a:off x="5074920" y="2057400"/>
            <a:ext cx="26974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Technical wingman</a:t>
            </a:r>
            <a:endParaRPr lang="en-US" sz="1500" dirty="0"/>
          </a:p>
        </p:txBody>
      </p:sp>
      <p:sp>
        <p:nvSpPr>
          <p:cNvPr id="14" name="Text 12"/>
          <p:cNvSpPr/>
          <p:nvPr/>
        </p:nvSpPr>
        <p:spPr>
          <a:xfrm>
            <a:off x="4572000" y="2651760"/>
            <a:ext cx="3154680" cy="8686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Microsoft CSAs embedded in your delivery for architecture and production scale</a:t>
            </a:r>
            <a:endParaRPr lang="en-US" sz="1100" dirty="0"/>
          </a:p>
        </p:txBody>
      </p:sp>
      <p:sp>
        <p:nvSpPr>
          <p:cNvPr id="15" name="Shape 13"/>
          <p:cNvSpPr/>
          <p:nvPr/>
        </p:nvSpPr>
        <p:spPr>
          <a:xfrm>
            <a:off x="8046720" y="182880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16" name="Shape 14"/>
          <p:cNvSpPr/>
          <p:nvPr/>
        </p:nvSpPr>
        <p:spPr>
          <a:xfrm>
            <a:off x="8229600" y="2057400"/>
            <a:ext cx="457200" cy="457200"/>
          </a:xfrm>
          <a:prstGeom prst="ellipse">
            <a:avLst/>
          </a:prstGeom>
          <a:solidFill>
            <a:srgbClr val="C03BC4"/>
          </a:solidFill>
          <a:ln w="12700">
            <a:solidFill>
              <a:srgbClr val="C03BC4"/>
            </a:solidFill>
            <a:prstDash val="solid"/>
          </a:ln>
        </p:spPr>
        <p:txBody>
          <a:bodyPr/>
          <a:lstStyle/>
          <a:p>
            <a:endParaRPr lang="en-ZA"/>
          </a:p>
        </p:txBody>
      </p:sp>
      <p:sp>
        <p:nvSpPr>
          <p:cNvPr id="17" name="Text 15"/>
          <p:cNvSpPr/>
          <p:nvPr/>
        </p:nvSpPr>
        <p:spPr>
          <a:xfrm>
            <a:off x="8229600" y="205740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3</a:t>
            </a:r>
            <a:endParaRPr lang="en-US" sz="1600" dirty="0"/>
          </a:p>
        </p:txBody>
      </p:sp>
      <p:sp>
        <p:nvSpPr>
          <p:cNvPr id="18" name="Text 16"/>
          <p:cNvSpPr/>
          <p:nvPr/>
        </p:nvSpPr>
        <p:spPr>
          <a:xfrm>
            <a:off x="8823960" y="2057400"/>
            <a:ext cx="26974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Commercial levers</a:t>
            </a:r>
            <a:endParaRPr lang="en-US" sz="1500" dirty="0"/>
          </a:p>
        </p:txBody>
      </p:sp>
      <p:sp>
        <p:nvSpPr>
          <p:cNvPr id="19" name="Text 17"/>
          <p:cNvSpPr/>
          <p:nvPr/>
        </p:nvSpPr>
        <p:spPr>
          <a:xfrm>
            <a:off x="8321040" y="2651760"/>
            <a:ext cx="3154680" cy="8686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MAICPP benefits, ESI skilling funds, AMM and AI co-investment stack</a:t>
            </a:r>
            <a:endParaRPr lang="en-US" sz="1100" dirty="0"/>
          </a:p>
        </p:txBody>
      </p:sp>
      <p:sp>
        <p:nvSpPr>
          <p:cNvPr id="20" name="Shape 18"/>
          <p:cNvSpPr/>
          <p:nvPr/>
        </p:nvSpPr>
        <p:spPr>
          <a:xfrm>
            <a:off x="548640" y="379476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21" name="Shape 19"/>
          <p:cNvSpPr/>
          <p:nvPr/>
        </p:nvSpPr>
        <p:spPr>
          <a:xfrm>
            <a:off x="731520" y="4023360"/>
            <a:ext cx="457200" cy="457200"/>
          </a:xfrm>
          <a:prstGeom prst="ellipse">
            <a:avLst/>
          </a:prstGeom>
          <a:solidFill>
            <a:srgbClr val="C03BC4"/>
          </a:solidFill>
          <a:ln w="12700">
            <a:solidFill>
              <a:srgbClr val="C03BC4"/>
            </a:solidFill>
            <a:prstDash val="solid"/>
          </a:ln>
        </p:spPr>
        <p:txBody>
          <a:bodyPr/>
          <a:lstStyle/>
          <a:p>
            <a:endParaRPr lang="en-ZA"/>
          </a:p>
        </p:txBody>
      </p:sp>
      <p:sp>
        <p:nvSpPr>
          <p:cNvPr id="22" name="Text 20"/>
          <p:cNvSpPr/>
          <p:nvPr/>
        </p:nvSpPr>
        <p:spPr>
          <a:xfrm>
            <a:off x="731520" y="402336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4</a:t>
            </a:r>
            <a:endParaRPr lang="en-US" sz="1600" dirty="0"/>
          </a:p>
        </p:txBody>
      </p:sp>
      <p:sp>
        <p:nvSpPr>
          <p:cNvPr id="23" name="Text 21"/>
          <p:cNvSpPr/>
          <p:nvPr/>
        </p:nvSpPr>
        <p:spPr>
          <a:xfrm>
            <a:off x="1325880" y="4023360"/>
            <a:ext cx="26974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Co-sell motion</a:t>
            </a:r>
            <a:endParaRPr lang="en-US" sz="1500" dirty="0"/>
          </a:p>
        </p:txBody>
      </p:sp>
      <p:sp>
        <p:nvSpPr>
          <p:cNvPr id="24" name="Text 22"/>
          <p:cNvSpPr/>
          <p:nvPr/>
        </p:nvSpPr>
        <p:spPr>
          <a:xfrm>
            <a:off x="822960" y="4617720"/>
            <a:ext cx="3154680" cy="8686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Microsoft Customer Engagement Methodology (MCEM) for Partners · Partner Center referrals · joint account plans</a:t>
            </a:r>
            <a:endParaRPr lang="en-US" sz="1100" dirty="0"/>
          </a:p>
        </p:txBody>
      </p:sp>
      <p:sp>
        <p:nvSpPr>
          <p:cNvPr id="25" name="Shape 23"/>
          <p:cNvSpPr/>
          <p:nvPr/>
        </p:nvSpPr>
        <p:spPr>
          <a:xfrm>
            <a:off x="4297680" y="379476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26" name="Shape 24"/>
          <p:cNvSpPr/>
          <p:nvPr/>
        </p:nvSpPr>
        <p:spPr>
          <a:xfrm>
            <a:off x="4480560" y="4023360"/>
            <a:ext cx="457200" cy="457200"/>
          </a:xfrm>
          <a:prstGeom prst="ellipse">
            <a:avLst/>
          </a:prstGeom>
          <a:solidFill>
            <a:srgbClr val="C03BC4"/>
          </a:solidFill>
          <a:ln w="12700">
            <a:solidFill>
              <a:srgbClr val="C03BC4"/>
            </a:solidFill>
            <a:prstDash val="solid"/>
          </a:ln>
        </p:spPr>
        <p:txBody>
          <a:bodyPr/>
          <a:lstStyle/>
          <a:p>
            <a:endParaRPr lang="en-ZA"/>
          </a:p>
        </p:txBody>
      </p:sp>
      <p:sp>
        <p:nvSpPr>
          <p:cNvPr id="27" name="Text 25"/>
          <p:cNvSpPr/>
          <p:nvPr/>
        </p:nvSpPr>
        <p:spPr>
          <a:xfrm>
            <a:off x="4480560" y="402336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5</a:t>
            </a:r>
            <a:endParaRPr lang="en-US" sz="1600" dirty="0"/>
          </a:p>
        </p:txBody>
      </p:sp>
      <p:sp>
        <p:nvSpPr>
          <p:cNvPr id="28" name="Text 26"/>
          <p:cNvSpPr/>
          <p:nvPr/>
        </p:nvSpPr>
        <p:spPr>
          <a:xfrm>
            <a:off x="5074920" y="4023360"/>
            <a:ext cx="26974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Branded enablement</a:t>
            </a:r>
            <a:endParaRPr lang="en-US" sz="1500" dirty="0"/>
          </a:p>
        </p:txBody>
      </p:sp>
      <p:sp>
        <p:nvSpPr>
          <p:cNvPr id="29" name="Text 27"/>
          <p:cNvSpPr/>
          <p:nvPr/>
        </p:nvSpPr>
        <p:spPr>
          <a:xfrm>
            <a:off x="4572000" y="4617720"/>
            <a:ext cx="3154680" cy="8686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Access to AI Partner Training Days, Project Ready Workshops, Agent Factory programme</a:t>
            </a:r>
            <a:endParaRPr lang="en-US" sz="1100" dirty="0"/>
          </a:p>
        </p:txBody>
      </p:sp>
      <p:sp>
        <p:nvSpPr>
          <p:cNvPr id="30" name="Shape 28"/>
          <p:cNvSpPr/>
          <p:nvPr/>
        </p:nvSpPr>
        <p:spPr>
          <a:xfrm>
            <a:off x="8046720" y="379476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31" name="Shape 29"/>
          <p:cNvSpPr/>
          <p:nvPr/>
        </p:nvSpPr>
        <p:spPr>
          <a:xfrm>
            <a:off x="8229600" y="4023360"/>
            <a:ext cx="457200" cy="457200"/>
          </a:xfrm>
          <a:prstGeom prst="ellipse">
            <a:avLst/>
          </a:prstGeom>
          <a:solidFill>
            <a:srgbClr val="C03BC4"/>
          </a:solidFill>
          <a:ln w="12700">
            <a:solidFill>
              <a:srgbClr val="C03BC4"/>
            </a:solidFill>
            <a:prstDash val="solid"/>
          </a:ln>
        </p:spPr>
        <p:txBody>
          <a:bodyPr/>
          <a:lstStyle/>
          <a:p>
            <a:endParaRPr lang="en-ZA"/>
          </a:p>
        </p:txBody>
      </p:sp>
      <p:sp>
        <p:nvSpPr>
          <p:cNvPr id="32" name="Text 30"/>
          <p:cNvSpPr/>
          <p:nvPr/>
        </p:nvSpPr>
        <p:spPr>
          <a:xfrm>
            <a:off x="8229600" y="4023360"/>
            <a:ext cx="457200" cy="457200"/>
          </a:xfrm>
          <a:prstGeom prst="rect">
            <a:avLst/>
          </a:prstGeom>
          <a:noFill/>
          <a:ln/>
        </p:spPr>
        <p:txBody>
          <a:bodyPr wrap="square" rtlCol="0" anchor="ctr"/>
          <a:lstStyle/>
          <a:p>
            <a:pPr marL="0" indent="0" algn="ctr">
              <a:buNone/>
            </a:pPr>
            <a:r>
              <a:rPr lang="en-US" sz="1600" b="1" dirty="0">
                <a:solidFill>
                  <a:srgbClr val="FFFFFF"/>
                </a:solidFill>
                <a:latin typeface="Segoe UI" pitchFamily="34" charset="0"/>
                <a:ea typeface="Segoe UI" pitchFamily="34" charset="-122"/>
                <a:cs typeface="Segoe UI" pitchFamily="34" charset="-120"/>
              </a:rPr>
              <a:t>6</a:t>
            </a:r>
            <a:endParaRPr lang="en-US" sz="1600" dirty="0"/>
          </a:p>
        </p:txBody>
      </p:sp>
      <p:sp>
        <p:nvSpPr>
          <p:cNvPr id="33" name="Text 31"/>
          <p:cNvSpPr/>
          <p:nvPr/>
        </p:nvSpPr>
        <p:spPr>
          <a:xfrm>
            <a:off x="8823960" y="4023360"/>
            <a:ext cx="26974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Repeatable IP</a:t>
            </a:r>
            <a:endParaRPr lang="en-US" sz="1500" dirty="0"/>
          </a:p>
        </p:txBody>
      </p:sp>
      <p:sp>
        <p:nvSpPr>
          <p:cNvPr id="34" name="Text 32"/>
          <p:cNvSpPr/>
          <p:nvPr/>
        </p:nvSpPr>
        <p:spPr>
          <a:xfrm>
            <a:off x="8321040" y="4617720"/>
            <a:ext cx="3154680" cy="8686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Accelerators, landing zone templates, Responsible AI policy pack — ready to re-use</a:t>
            </a:r>
            <a:endParaRPr lang="en-US" sz="1100" dirty="0"/>
          </a:p>
        </p:txBody>
      </p:sp>
      <p:pic>
        <p:nvPicPr>
          <p:cNvPr id="35"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6" name="Text 33"/>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7" name="Text 34"/>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3 / 15</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THE FRAMEWORK</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The 5+1 Pillar AI CoE Model</a:t>
            </a:r>
            <a:endParaRPr lang="en-US" sz="3200" dirty="0"/>
          </a:p>
        </p:txBody>
      </p:sp>
      <p:sp>
        <p:nvSpPr>
          <p:cNvPr id="5" name="Shape 3"/>
          <p:cNvSpPr/>
          <p:nvPr/>
        </p:nvSpPr>
        <p:spPr>
          <a:xfrm>
            <a:off x="548640" y="182880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777240" y="2148840"/>
            <a:ext cx="822960" cy="822960"/>
          </a:xfrm>
          <a:prstGeom prst="ellipse">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77240" y="2148840"/>
            <a:ext cx="822960" cy="8229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8" name="Text 6"/>
          <p:cNvSpPr/>
          <p:nvPr/>
        </p:nvSpPr>
        <p:spPr>
          <a:xfrm>
            <a:off x="1737360" y="2148840"/>
            <a:ext cx="2240280" cy="4572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Business Strategy</a:t>
            </a:r>
            <a:endParaRPr lang="en-US" sz="1500" dirty="0"/>
          </a:p>
        </p:txBody>
      </p:sp>
      <p:sp>
        <p:nvSpPr>
          <p:cNvPr id="9" name="Text 7"/>
          <p:cNvSpPr/>
          <p:nvPr/>
        </p:nvSpPr>
        <p:spPr>
          <a:xfrm>
            <a:off x="1737360" y="260604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Vision · Metrics · Use-case prioritisation · Investment portfolio</a:t>
            </a:r>
            <a:endParaRPr lang="en-US" sz="1100" dirty="0"/>
          </a:p>
        </p:txBody>
      </p:sp>
      <p:sp>
        <p:nvSpPr>
          <p:cNvPr id="10" name="Shape 8"/>
          <p:cNvSpPr/>
          <p:nvPr/>
        </p:nvSpPr>
        <p:spPr>
          <a:xfrm>
            <a:off x="4297680" y="182880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11" name="Shape 9"/>
          <p:cNvSpPr/>
          <p:nvPr/>
        </p:nvSpPr>
        <p:spPr>
          <a:xfrm>
            <a:off x="4526280" y="2148840"/>
            <a:ext cx="822960" cy="822960"/>
          </a:xfrm>
          <a:prstGeom prst="ellipse">
            <a:avLst/>
          </a:prstGeom>
          <a:solidFill>
            <a:srgbClr val="225B62"/>
          </a:solidFill>
          <a:ln w="12700">
            <a:solidFill>
              <a:srgbClr val="225B62"/>
            </a:solidFill>
            <a:prstDash val="solid"/>
          </a:ln>
        </p:spPr>
        <p:txBody>
          <a:bodyPr/>
          <a:lstStyle/>
          <a:p>
            <a:endParaRPr lang="en-ZA"/>
          </a:p>
        </p:txBody>
      </p:sp>
      <p:sp>
        <p:nvSpPr>
          <p:cNvPr id="12" name="Text 10"/>
          <p:cNvSpPr/>
          <p:nvPr/>
        </p:nvSpPr>
        <p:spPr>
          <a:xfrm>
            <a:off x="4526280" y="2148840"/>
            <a:ext cx="822960" cy="8229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3" name="Text 11"/>
          <p:cNvSpPr/>
          <p:nvPr/>
        </p:nvSpPr>
        <p:spPr>
          <a:xfrm>
            <a:off x="5486400" y="2148840"/>
            <a:ext cx="2240280" cy="4572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Organization &amp; Culture</a:t>
            </a:r>
            <a:endParaRPr lang="en-US" sz="1500" dirty="0"/>
          </a:p>
        </p:txBody>
      </p:sp>
      <p:sp>
        <p:nvSpPr>
          <p:cNvPr id="14" name="Text 12"/>
          <p:cNvSpPr/>
          <p:nvPr/>
        </p:nvSpPr>
        <p:spPr>
          <a:xfrm>
            <a:off x="5486400" y="260604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AI CoE · Change · Upskilling · Agentic AI culture</a:t>
            </a:r>
            <a:endParaRPr lang="en-US" sz="1100" dirty="0"/>
          </a:p>
        </p:txBody>
      </p:sp>
      <p:sp>
        <p:nvSpPr>
          <p:cNvPr id="15" name="Shape 13"/>
          <p:cNvSpPr/>
          <p:nvPr/>
        </p:nvSpPr>
        <p:spPr>
          <a:xfrm>
            <a:off x="8046720" y="182880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16" name="Shape 14"/>
          <p:cNvSpPr/>
          <p:nvPr/>
        </p:nvSpPr>
        <p:spPr>
          <a:xfrm>
            <a:off x="8275320" y="2148840"/>
            <a:ext cx="822960" cy="822960"/>
          </a:xfrm>
          <a:prstGeom prst="ellipse">
            <a:avLst/>
          </a:prstGeom>
          <a:solidFill>
            <a:srgbClr val="C03BC4"/>
          </a:solidFill>
          <a:ln w="12700">
            <a:solidFill>
              <a:srgbClr val="C03BC4"/>
            </a:solidFill>
            <a:prstDash val="solid"/>
          </a:ln>
        </p:spPr>
        <p:txBody>
          <a:bodyPr/>
          <a:lstStyle/>
          <a:p>
            <a:endParaRPr lang="en-ZA"/>
          </a:p>
        </p:txBody>
      </p:sp>
      <p:sp>
        <p:nvSpPr>
          <p:cNvPr id="17" name="Text 15"/>
          <p:cNvSpPr/>
          <p:nvPr/>
        </p:nvSpPr>
        <p:spPr>
          <a:xfrm>
            <a:off x="8275320" y="2148840"/>
            <a:ext cx="822960" cy="8229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8" name="Text 16"/>
          <p:cNvSpPr/>
          <p:nvPr/>
        </p:nvSpPr>
        <p:spPr>
          <a:xfrm>
            <a:off x="9235440" y="2148840"/>
            <a:ext cx="2240280" cy="4572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AI Strategy &amp; Experience</a:t>
            </a:r>
            <a:endParaRPr lang="en-US" sz="1500" dirty="0"/>
          </a:p>
        </p:txBody>
      </p:sp>
      <p:sp>
        <p:nvSpPr>
          <p:cNvPr id="19" name="Text 17"/>
          <p:cNvSpPr/>
          <p:nvPr/>
        </p:nvSpPr>
        <p:spPr>
          <a:xfrm>
            <a:off x="9235440" y="260604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Cross-functional teams · Agile experimentation · Reusable assets</a:t>
            </a:r>
            <a:endParaRPr lang="en-US" sz="1100" dirty="0"/>
          </a:p>
        </p:txBody>
      </p:sp>
      <p:sp>
        <p:nvSpPr>
          <p:cNvPr id="20" name="Shape 18"/>
          <p:cNvSpPr/>
          <p:nvPr/>
        </p:nvSpPr>
        <p:spPr>
          <a:xfrm>
            <a:off x="548640" y="379476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21" name="Shape 19"/>
          <p:cNvSpPr/>
          <p:nvPr/>
        </p:nvSpPr>
        <p:spPr>
          <a:xfrm>
            <a:off x="777240" y="4114800"/>
            <a:ext cx="822960" cy="822960"/>
          </a:xfrm>
          <a:prstGeom prst="ellipse">
            <a:avLst/>
          </a:prstGeom>
          <a:solidFill>
            <a:srgbClr val="107C10"/>
          </a:solidFill>
          <a:ln w="12700">
            <a:solidFill>
              <a:srgbClr val="107C10"/>
            </a:solidFill>
            <a:prstDash val="solid"/>
          </a:ln>
        </p:spPr>
        <p:txBody>
          <a:bodyPr/>
          <a:lstStyle/>
          <a:p>
            <a:endParaRPr lang="en-ZA"/>
          </a:p>
        </p:txBody>
      </p:sp>
      <p:sp>
        <p:nvSpPr>
          <p:cNvPr id="22" name="Text 20"/>
          <p:cNvSpPr/>
          <p:nvPr/>
        </p:nvSpPr>
        <p:spPr>
          <a:xfrm>
            <a:off x="777240" y="4114800"/>
            <a:ext cx="822960" cy="8229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3" name="Text 21"/>
          <p:cNvSpPr/>
          <p:nvPr/>
        </p:nvSpPr>
        <p:spPr>
          <a:xfrm>
            <a:off x="1737360" y="4114800"/>
            <a:ext cx="2240280" cy="4572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Technology &amp; Data Strategy</a:t>
            </a:r>
            <a:endParaRPr lang="en-US" sz="1500" dirty="0"/>
          </a:p>
        </p:txBody>
      </p:sp>
      <p:sp>
        <p:nvSpPr>
          <p:cNvPr id="24" name="Text 22"/>
          <p:cNvSpPr/>
          <p:nvPr/>
        </p:nvSpPr>
        <p:spPr>
          <a:xfrm>
            <a:off x="1737360" y="457200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Data readiness · Scalable infra · Buy/Extend/Build · Optimisation</a:t>
            </a:r>
            <a:endParaRPr lang="en-US" sz="1100" dirty="0"/>
          </a:p>
        </p:txBody>
      </p:sp>
      <p:sp>
        <p:nvSpPr>
          <p:cNvPr id="25" name="Shape 23"/>
          <p:cNvSpPr/>
          <p:nvPr/>
        </p:nvSpPr>
        <p:spPr>
          <a:xfrm>
            <a:off x="4297680" y="379476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26" name="Shape 24"/>
          <p:cNvSpPr/>
          <p:nvPr/>
        </p:nvSpPr>
        <p:spPr>
          <a:xfrm>
            <a:off x="4526280" y="4114800"/>
            <a:ext cx="822960" cy="822960"/>
          </a:xfrm>
          <a:prstGeom prst="ellipse">
            <a:avLst/>
          </a:prstGeom>
          <a:solidFill>
            <a:srgbClr val="FFB900"/>
          </a:solidFill>
          <a:ln w="12700">
            <a:solidFill>
              <a:srgbClr val="FFB900"/>
            </a:solidFill>
            <a:prstDash val="solid"/>
          </a:ln>
        </p:spPr>
        <p:txBody>
          <a:bodyPr/>
          <a:lstStyle/>
          <a:p>
            <a:endParaRPr lang="en-ZA"/>
          </a:p>
        </p:txBody>
      </p:sp>
      <p:sp>
        <p:nvSpPr>
          <p:cNvPr id="27" name="Text 25"/>
          <p:cNvSpPr/>
          <p:nvPr/>
        </p:nvSpPr>
        <p:spPr>
          <a:xfrm>
            <a:off x="4526280" y="4114800"/>
            <a:ext cx="822960" cy="8229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5</a:t>
            </a:r>
            <a:endParaRPr lang="en-US" sz="2000" dirty="0"/>
          </a:p>
        </p:txBody>
      </p:sp>
      <p:sp>
        <p:nvSpPr>
          <p:cNvPr id="28" name="Text 26"/>
          <p:cNvSpPr/>
          <p:nvPr/>
        </p:nvSpPr>
        <p:spPr>
          <a:xfrm>
            <a:off x="5486400" y="4114800"/>
            <a:ext cx="2240280" cy="4572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AI Governance &amp; Security</a:t>
            </a:r>
            <a:endParaRPr lang="en-US" sz="1500" dirty="0"/>
          </a:p>
        </p:txBody>
      </p:sp>
      <p:sp>
        <p:nvSpPr>
          <p:cNvPr id="29" name="Text 27"/>
          <p:cNvSpPr/>
          <p:nvPr/>
        </p:nvSpPr>
        <p:spPr>
          <a:xfrm>
            <a:off x="5486400" y="457200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Responsible AI · Governance · AI security · Privacy &amp; compliance</a:t>
            </a:r>
            <a:endParaRPr lang="en-US" sz="1100" dirty="0"/>
          </a:p>
        </p:txBody>
      </p:sp>
      <p:sp>
        <p:nvSpPr>
          <p:cNvPr id="30" name="Shape 28"/>
          <p:cNvSpPr/>
          <p:nvPr/>
        </p:nvSpPr>
        <p:spPr>
          <a:xfrm>
            <a:off x="8046720" y="3794760"/>
            <a:ext cx="3611880" cy="1783080"/>
          </a:xfrm>
          <a:prstGeom prst="roundRect">
            <a:avLst>
              <a:gd name="adj" fmla="val 5128"/>
            </a:avLst>
          </a:prstGeom>
          <a:solidFill>
            <a:srgbClr val="FFFFFF"/>
          </a:solidFill>
          <a:ln w="12700">
            <a:solidFill>
              <a:srgbClr val="E1E6EF"/>
            </a:solidFill>
            <a:prstDash val="solid"/>
          </a:ln>
        </p:spPr>
        <p:txBody>
          <a:bodyPr/>
          <a:lstStyle/>
          <a:p>
            <a:endParaRPr lang="en-ZA"/>
          </a:p>
        </p:txBody>
      </p:sp>
      <p:sp>
        <p:nvSpPr>
          <p:cNvPr id="31" name="Shape 29"/>
          <p:cNvSpPr/>
          <p:nvPr/>
        </p:nvSpPr>
        <p:spPr>
          <a:xfrm>
            <a:off x="8275320" y="4114800"/>
            <a:ext cx="822960" cy="822960"/>
          </a:xfrm>
          <a:prstGeom prst="ellipse">
            <a:avLst/>
          </a:prstGeom>
          <a:solidFill>
            <a:srgbClr val="FF5C39"/>
          </a:solidFill>
          <a:ln w="12700">
            <a:solidFill>
              <a:srgbClr val="FF5C39"/>
            </a:solidFill>
            <a:prstDash val="solid"/>
          </a:ln>
        </p:spPr>
        <p:txBody>
          <a:bodyPr/>
          <a:lstStyle/>
          <a:p>
            <a:endParaRPr lang="en-ZA"/>
          </a:p>
        </p:txBody>
      </p:sp>
      <p:sp>
        <p:nvSpPr>
          <p:cNvPr id="32" name="Text 30"/>
          <p:cNvSpPr/>
          <p:nvPr/>
        </p:nvSpPr>
        <p:spPr>
          <a:xfrm>
            <a:off x="8275320" y="4114800"/>
            <a:ext cx="822960" cy="8229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33" name="Text 31"/>
          <p:cNvSpPr/>
          <p:nvPr/>
        </p:nvSpPr>
        <p:spPr>
          <a:xfrm>
            <a:off x="9235440" y="4114800"/>
            <a:ext cx="2240280" cy="45720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Co-sell &amp; Partner</a:t>
            </a:r>
            <a:endParaRPr lang="en-US" sz="1500" dirty="0"/>
          </a:p>
        </p:txBody>
      </p:sp>
      <p:sp>
        <p:nvSpPr>
          <p:cNvPr id="34" name="Text 32"/>
          <p:cNvSpPr/>
          <p:nvPr/>
        </p:nvSpPr>
        <p:spPr>
          <a:xfrm>
            <a:off x="9235440" y="4572000"/>
            <a:ext cx="2240280" cy="91440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You sit here — embedded with MCAPS inside the CoE</a:t>
            </a:r>
            <a:endParaRPr lang="en-US" sz="1100" dirty="0"/>
          </a:p>
        </p:txBody>
      </p:sp>
      <p:sp>
        <p:nvSpPr>
          <p:cNvPr id="35" name="Text 33"/>
          <p:cNvSpPr/>
          <p:nvPr/>
        </p:nvSpPr>
        <p:spPr>
          <a:xfrm>
            <a:off x="548640" y="5943600"/>
            <a:ext cx="11155680" cy="365760"/>
          </a:xfrm>
          <a:prstGeom prst="rect">
            <a:avLst/>
          </a:prstGeom>
          <a:noFill/>
          <a:ln/>
        </p:spPr>
        <p:txBody>
          <a:bodyPr wrap="square" rtlCol="0" anchor="ctr"/>
          <a:lstStyle/>
          <a:p>
            <a:pPr marL="0" indent="0">
              <a:buNone/>
            </a:pPr>
            <a:r>
              <a:rPr lang="en-US" sz="1100" i="1" dirty="0">
                <a:solidFill>
                  <a:srgbClr val="0078D4"/>
                </a:solidFill>
                <a:latin typeface="Segoe UI" pitchFamily="34" charset="0"/>
                <a:ea typeface="Segoe UI" pitchFamily="34" charset="-122"/>
                <a:cs typeface="Segoe UI" pitchFamily="34" charset="-120"/>
              </a:rPr>
              <a:t>Sub-pillars mirror Microsoft's Frontier AI CoE framework. Pillar +1 is where Anchor Partners live — embedded inside the customer's CoE alongside Microsoft.</a:t>
            </a:r>
            <a:endParaRPr lang="en-US" sz="1100" dirty="0"/>
          </a:p>
        </p:txBody>
      </p:sp>
      <p:pic>
        <p:nvPicPr>
          <p:cNvPr id="36"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7" name="Text 34"/>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8" name="Text 35"/>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4 / 15</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YOUR LADDER</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Enter at any tier · upsell the next</a:t>
            </a:r>
            <a:endParaRPr lang="en-US" sz="3200" dirty="0"/>
          </a:p>
        </p:txBody>
      </p:sp>
      <p:sp>
        <p:nvSpPr>
          <p:cNvPr id="5" name="Shape 3"/>
          <p:cNvSpPr/>
          <p:nvPr/>
        </p:nvSpPr>
        <p:spPr>
          <a:xfrm>
            <a:off x="548640" y="1920240"/>
            <a:ext cx="1645920" cy="1188720"/>
          </a:xfrm>
          <a:prstGeom prst="rect">
            <a:avLst/>
          </a:prstGeom>
          <a:solidFill>
            <a:srgbClr val="C03BC4"/>
          </a:solidFill>
          <a:ln w="12700">
            <a:solidFill>
              <a:srgbClr val="C03BC4"/>
            </a:solidFill>
            <a:prstDash val="solid"/>
          </a:ln>
        </p:spPr>
        <p:txBody>
          <a:bodyPr/>
          <a:lstStyle/>
          <a:p>
            <a:endParaRPr lang="en-ZA"/>
          </a:p>
        </p:txBody>
      </p:sp>
      <p:sp>
        <p:nvSpPr>
          <p:cNvPr id="6" name="Text 4"/>
          <p:cNvSpPr/>
          <p:nvPr/>
        </p:nvSpPr>
        <p:spPr>
          <a:xfrm>
            <a:off x="548640" y="2011680"/>
            <a:ext cx="1645920" cy="320040"/>
          </a:xfrm>
          <a:prstGeom prst="rect">
            <a:avLst/>
          </a:prstGeom>
          <a:noFill/>
          <a:ln/>
        </p:spPr>
        <p:txBody>
          <a:bodyPr wrap="square" rtlCol="0" anchor="ctr"/>
          <a:lstStyle/>
          <a:p>
            <a:pPr marL="0" indent="0" algn="ctr">
              <a:buNone/>
            </a:pPr>
            <a:r>
              <a:rPr lang="en-US" sz="1200" b="1" kern="0" spc="400" dirty="0">
                <a:solidFill>
                  <a:srgbClr val="FFFFFF"/>
                </a:solidFill>
                <a:latin typeface="Segoe UI" pitchFamily="34" charset="0"/>
                <a:ea typeface="Segoe UI" pitchFamily="34" charset="-122"/>
                <a:cs typeface="Segoe UI" pitchFamily="34" charset="-120"/>
              </a:rPr>
              <a:t>TIER 1</a:t>
            </a:r>
            <a:endParaRPr lang="en-US" sz="1200" dirty="0"/>
          </a:p>
        </p:txBody>
      </p:sp>
      <p:sp>
        <p:nvSpPr>
          <p:cNvPr id="7" name="Text 5"/>
          <p:cNvSpPr/>
          <p:nvPr/>
        </p:nvSpPr>
        <p:spPr>
          <a:xfrm>
            <a:off x="548640" y="2377440"/>
            <a:ext cx="1645920" cy="64008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2–6 wk</a:t>
            </a:r>
            <a:endParaRPr lang="en-US" sz="1800" dirty="0"/>
          </a:p>
        </p:txBody>
      </p:sp>
      <p:sp>
        <p:nvSpPr>
          <p:cNvPr id="8" name="Shape 6"/>
          <p:cNvSpPr/>
          <p:nvPr/>
        </p:nvSpPr>
        <p:spPr>
          <a:xfrm>
            <a:off x="2194560" y="1920240"/>
            <a:ext cx="9464040" cy="1188720"/>
          </a:xfrm>
          <a:prstGeom prst="rect">
            <a:avLst/>
          </a:prstGeom>
          <a:solidFill>
            <a:srgbClr val="FFF8F5"/>
          </a:solidFill>
          <a:ln w="12700">
            <a:solidFill>
              <a:srgbClr val="E1E6EF"/>
            </a:solidFill>
            <a:prstDash val="solid"/>
          </a:ln>
        </p:spPr>
        <p:txBody>
          <a:bodyPr/>
          <a:lstStyle/>
          <a:p>
            <a:endParaRPr lang="en-ZA"/>
          </a:p>
        </p:txBody>
      </p:sp>
      <p:sp>
        <p:nvSpPr>
          <p:cNvPr id="9" name="Text 7"/>
          <p:cNvSpPr/>
          <p:nvPr/>
        </p:nvSpPr>
        <p:spPr>
          <a:xfrm>
            <a:off x="2377440" y="2057400"/>
            <a:ext cx="9144000" cy="41148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CoE Envisioning &amp; Blueprint</a:t>
            </a:r>
            <a:endParaRPr lang="en-US" sz="1800" dirty="0"/>
          </a:p>
        </p:txBody>
      </p:sp>
      <p:sp>
        <p:nvSpPr>
          <p:cNvPr id="10" name="Text 8"/>
          <p:cNvSpPr/>
          <p:nvPr/>
        </p:nvSpPr>
        <p:spPr>
          <a:xfrm>
            <a:off x="2377440" y="2514600"/>
            <a:ext cx="8686800" cy="45720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Maturity assessment · Charter · Use-case prioritisation</a:t>
            </a:r>
            <a:endParaRPr lang="en-US" sz="1200" dirty="0"/>
          </a:p>
        </p:txBody>
      </p:sp>
      <p:sp>
        <p:nvSpPr>
          <p:cNvPr id="11" name="Text 9"/>
          <p:cNvSpPr/>
          <p:nvPr/>
        </p:nvSpPr>
        <p:spPr>
          <a:xfrm>
            <a:off x="10881360" y="2194560"/>
            <a:ext cx="731520" cy="640080"/>
          </a:xfrm>
          <a:prstGeom prst="rect">
            <a:avLst/>
          </a:prstGeom>
          <a:noFill/>
          <a:ln/>
        </p:spPr>
        <p:txBody>
          <a:bodyPr wrap="square" rtlCol="0" anchor="ctr"/>
          <a:lstStyle/>
          <a:p>
            <a:pPr marL="0" indent="0" algn="ctr">
              <a:buNone/>
            </a:pPr>
            <a:r>
              <a:rPr lang="en-US" sz="3200" b="1" dirty="0">
                <a:solidFill>
                  <a:srgbClr val="C03BC4"/>
                </a:solidFill>
                <a:latin typeface="Segoe UI" pitchFamily="34" charset="0"/>
                <a:ea typeface="Segoe UI" pitchFamily="34" charset="-122"/>
                <a:cs typeface="Segoe UI" pitchFamily="34" charset="-120"/>
              </a:rPr>
              <a:t>→</a:t>
            </a:r>
            <a:endParaRPr lang="en-US" sz="3200" dirty="0"/>
          </a:p>
        </p:txBody>
      </p:sp>
      <p:sp>
        <p:nvSpPr>
          <p:cNvPr id="12" name="Shape 10"/>
          <p:cNvSpPr/>
          <p:nvPr/>
        </p:nvSpPr>
        <p:spPr>
          <a:xfrm>
            <a:off x="548640" y="3246120"/>
            <a:ext cx="1645920" cy="1188720"/>
          </a:xfrm>
          <a:prstGeom prst="rect">
            <a:avLst/>
          </a:prstGeom>
          <a:solidFill>
            <a:srgbClr val="0078D4"/>
          </a:solidFill>
          <a:ln w="12700">
            <a:solidFill>
              <a:srgbClr val="0078D4"/>
            </a:solidFill>
            <a:prstDash val="solid"/>
          </a:ln>
        </p:spPr>
        <p:txBody>
          <a:bodyPr/>
          <a:lstStyle/>
          <a:p>
            <a:endParaRPr lang="en-ZA"/>
          </a:p>
        </p:txBody>
      </p:sp>
      <p:sp>
        <p:nvSpPr>
          <p:cNvPr id="13" name="Text 11"/>
          <p:cNvSpPr/>
          <p:nvPr/>
        </p:nvSpPr>
        <p:spPr>
          <a:xfrm>
            <a:off x="548640" y="3337560"/>
            <a:ext cx="1645920" cy="320040"/>
          </a:xfrm>
          <a:prstGeom prst="rect">
            <a:avLst/>
          </a:prstGeom>
          <a:noFill/>
          <a:ln/>
        </p:spPr>
        <p:txBody>
          <a:bodyPr wrap="square" rtlCol="0" anchor="ctr"/>
          <a:lstStyle/>
          <a:p>
            <a:pPr marL="0" indent="0" algn="ctr">
              <a:buNone/>
            </a:pPr>
            <a:r>
              <a:rPr lang="en-US" sz="1200" b="1" kern="0" spc="400" dirty="0">
                <a:solidFill>
                  <a:srgbClr val="FFFFFF"/>
                </a:solidFill>
                <a:latin typeface="Segoe UI" pitchFamily="34" charset="0"/>
                <a:ea typeface="Segoe UI" pitchFamily="34" charset="-122"/>
                <a:cs typeface="Segoe UI" pitchFamily="34" charset="-120"/>
              </a:rPr>
              <a:t>TIER 2</a:t>
            </a:r>
            <a:endParaRPr lang="en-US" sz="1200" dirty="0"/>
          </a:p>
        </p:txBody>
      </p:sp>
      <p:sp>
        <p:nvSpPr>
          <p:cNvPr id="14" name="Text 12"/>
          <p:cNvSpPr/>
          <p:nvPr/>
        </p:nvSpPr>
        <p:spPr>
          <a:xfrm>
            <a:off x="548640" y="3703320"/>
            <a:ext cx="1645920" cy="64008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3–9 mo</a:t>
            </a:r>
            <a:endParaRPr lang="en-US" sz="1800" dirty="0"/>
          </a:p>
        </p:txBody>
      </p:sp>
      <p:sp>
        <p:nvSpPr>
          <p:cNvPr id="15" name="Shape 13"/>
          <p:cNvSpPr/>
          <p:nvPr/>
        </p:nvSpPr>
        <p:spPr>
          <a:xfrm>
            <a:off x="2194560" y="3246120"/>
            <a:ext cx="9464040" cy="1188720"/>
          </a:xfrm>
          <a:prstGeom prst="rect">
            <a:avLst/>
          </a:prstGeom>
          <a:solidFill>
            <a:srgbClr val="FFF8F5"/>
          </a:solidFill>
          <a:ln w="12700">
            <a:solidFill>
              <a:srgbClr val="E1E6EF"/>
            </a:solidFill>
            <a:prstDash val="solid"/>
          </a:ln>
        </p:spPr>
        <p:txBody>
          <a:bodyPr/>
          <a:lstStyle/>
          <a:p>
            <a:endParaRPr lang="en-ZA"/>
          </a:p>
        </p:txBody>
      </p:sp>
      <p:sp>
        <p:nvSpPr>
          <p:cNvPr id="16" name="Text 14"/>
          <p:cNvSpPr/>
          <p:nvPr/>
        </p:nvSpPr>
        <p:spPr>
          <a:xfrm>
            <a:off x="2377440" y="3383280"/>
            <a:ext cx="9144000" cy="41148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CoE Build &amp; First Wave</a:t>
            </a:r>
            <a:endParaRPr lang="en-US" sz="1800" dirty="0"/>
          </a:p>
        </p:txBody>
      </p:sp>
      <p:sp>
        <p:nvSpPr>
          <p:cNvPr id="17" name="Text 15"/>
          <p:cNvSpPr/>
          <p:nvPr/>
        </p:nvSpPr>
        <p:spPr>
          <a:xfrm>
            <a:off x="2377440" y="3840480"/>
            <a:ext cx="8686800" cy="45720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Governance · Landing zone · 2–3 pilots to production</a:t>
            </a:r>
            <a:endParaRPr lang="en-US" sz="1200" dirty="0"/>
          </a:p>
        </p:txBody>
      </p:sp>
      <p:sp>
        <p:nvSpPr>
          <p:cNvPr id="18" name="Text 16"/>
          <p:cNvSpPr/>
          <p:nvPr/>
        </p:nvSpPr>
        <p:spPr>
          <a:xfrm>
            <a:off x="10881360" y="3520440"/>
            <a:ext cx="731520" cy="640080"/>
          </a:xfrm>
          <a:prstGeom prst="rect">
            <a:avLst/>
          </a:prstGeom>
          <a:noFill/>
          <a:ln/>
        </p:spPr>
        <p:txBody>
          <a:bodyPr wrap="square" rtlCol="0" anchor="ctr"/>
          <a:lstStyle/>
          <a:p>
            <a:pPr marL="0" indent="0" algn="ctr">
              <a:buNone/>
            </a:pPr>
            <a:r>
              <a:rPr lang="en-US" sz="3200" b="1" dirty="0">
                <a:solidFill>
                  <a:srgbClr val="0078D4"/>
                </a:solidFill>
                <a:latin typeface="Segoe UI" pitchFamily="34" charset="0"/>
                <a:ea typeface="Segoe UI" pitchFamily="34" charset="-122"/>
                <a:cs typeface="Segoe UI" pitchFamily="34" charset="-120"/>
              </a:rPr>
              <a:t>→</a:t>
            </a:r>
            <a:endParaRPr lang="en-US" sz="3200" dirty="0"/>
          </a:p>
        </p:txBody>
      </p:sp>
      <p:sp>
        <p:nvSpPr>
          <p:cNvPr id="19" name="Shape 17"/>
          <p:cNvSpPr/>
          <p:nvPr/>
        </p:nvSpPr>
        <p:spPr>
          <a:xfrm>
            <a:off x="548640" y="4572000"/>
            <a:ext cx="1645920" cy="1188720"/>
          </a:xfrm>
          <a:prstGeom prst="rect">
            <a:avLst/>
          </a:prstGeom>
          <a:solidFill>
            <a:srgbClr val="091F2C"/>
          </a:solidFill>
          <a:ln w="12700">
            <a:solidFill>
              <a:srgbClr val="091F2C"/>
            </a:solidFill>
            <a:prstDash val="solid"/>
          </a:ln>
        </p:spPr>
        <p:txBody>
          <a:bodyPr/>
          <a:lstStyle/>
          <a:p>
            <a:endParaRPr lang="en-ZA"/>
          </a:p>
        </p:txBody>
      </p:sp>
      <p:sp>
        <p:nvSpPr>
          <p:cNvPr id="20" name="Text 18"/>
          <p:cNvSpPr/>
          <p:nvPr/>
        </p:nvSpPr>
        <p:spPr>
          <a:xfrm>
            <a:off x="548640" y="4663440"/>
            <a:ext cx="1645920" cy="320040"/>
          </a:xfrm>
          <a:prstGeom prst="rect">
            <a:avLst/>
          </a:prstGeom>
          <a:noFill/>
          <a:ln/>
        </p:spPr>
        <p:txBody>
          <a:bodyPr wrap="square" rtlCol="0" anchor="ctr"/>
          <a:lstStyle/>
          <a:p>
            <a:pPr marL="0" indent="0" algn="ctr">
              <a:buNone/>
            </a:pPr>
            <a:r>
              <a:rPr lang="en-US" sz="1200" b="1" kern="0" spc="400" dirty="0">
                <a:solidFill>
                  <a:srgbClr val="FFFFFF"/>
                </a:solidFill>
                <a:latin typeface="Segoe UI" pitchFamily="34" charset="0"/>
                <a:ea typeface="Segoe UI" pitchFamily="34" charset="-122"/>
                <a:cs typeface="Segoe UI" pitchFamily="34" charset="-120"/>
              </a:rPr>
              <a:t>TIER 3</a:t>
            </a:r>
            <a:endParaRPr lang="en-US" sz="1200" dirty="0"/>
          </a:p>
        </p:txBody>
      </p:sp>
      <p:sp>
        <p:nvSpPr>
          <p:cNvPr id="21" name="Text 19"/>
          <p:cNvSpPr/>
          <p:nvPr/>
        </p:nvSpPr>
        <p:spPr>
          <a:xfrm>
            <a:off x="548640" y="5029200"/>
            <a:ext cx="1645920" cy="640080"/>
          </a:xfrm>
          <a:prstGeom prst="rect">
            <a:avLst/>
          </a:prstGeom>
          <a:noFill/>
          <a:ln/>
        </p:spPr>
        <p:txBody>
          <a:bodyPr wrap="square" rtlCol="0" anchor="ctr"/>
          <a:lstStyle/>
          <a:p>
            <a:pPr marL="0" indent="0" algn="ctr">
              <a:buNone/>
            </a:pPr>
            <a:r>
              <a:rPr lang="en-US" sz="1800" b="1" dirty="0">
                <a:solidFill>
                  <a:srgbClr val="FFFFFF"/>
                </a:solidFill>
                <a:latin typeface="Segoe UI" pitchFamily="34" charset="0"/>
                <a:ea typeface="Segoe UI" pitchFamily="34" charset="-122"/>
                <a:cs typeface="Segoe UI" pitchFamily="34" charset="-120"/>
              </a:rPr>
              <a:t>12–36 mo</a:t>
            </a:r>
            <a:endParaRPr lang="en-US" sz="1800" dirty="0"/>
          </a:p>
        </p:txBody>
      </p:sp>
      <p:sp>
        <p:nvSpPr>
          <p:cNvPr id="22" name="Shape 20"/>
          <p:cNvSpPr/>
          <p:nvPr/>
        </p:nvSpPr>
        <p:spPr>
          <a:xfrm>
            <a:off x="2194560" y="4572000"/>
            <a:ext cx="9464040" cy="1188720"/>
          </a:xfrm>
          <a:prstGeom prst="rect">
            <a:avLst/>
          </a:prstGeom>
          <a:solidFill>
            <a:srgbClr val="FFF8F5"/>
          </a:solidFill>
          <a:ln w="12700">
            <a:solidFill>
              <a:srgbClr val="E1E6EF"/>
            </a:solidFill>
            <a:prstDash val="solid"/>
          </a:ln>
        </p:spPr>
        <p:txBody>
          <a:bodyPr/>
          <a:lstStyle/>
          <a:p>
            <a:endParaRPr lang="en-ZA"/>
          </a:p>
        </p:txBody>
      </p:sp>
      <p:sp>
        <p:nvSpPr>
          <p:cNvPr id="23" name="Text 21"/>
          <p:cNvSpPr/>
          <p:nvPr/>
        </p:nvSpPr>
        <p:spPr>
          <a:xfrm>
            <a:off x="2377440" y="4709160"/>
            <a:ext cx="9144000" cy="41148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CoE-as-a-Managed-Service</a:t>
            </a:r>
            <a:endParaRPr lang="en-US" sz="1800" dirty="0"/>
          </a:p>
        </p:txBody>
      </p:sp>
      <p:sp>
        <p:nvSpPr>
          <p:cNvPr id="24" name="Text 22"/>
          <p:cNvSpPr/>
          <p:nvPr/>
        </p:nvSpPr>
        <p:spPr>
          <a:xfrm>
            <a:off x="2377440" y="5166360"/>
            <a:ext cx="8686800" cy="45720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Ongoing governance · FinOps · Use-case factory · renewal</a:t>
            </a:r>
            <a:endParaRPr lang="en-US" sz="1200" dirty="0"/>
          </a:p>
        </p:txBody>
      </p:sp>
      <p:sp>
        <p:nvSpPr>
          <p:cNvPr id="25" name="Text 23"/>
          <p:cNvSpPr/>
          <p:nvPr/>
        </p:nvSpPr>
        <p:spPr>
          <a:xfrm>
            <a:off x="10881360" y="4846320"/>
            <a:ext cx="731520" cy="640080"/>
          </a:xfrm>
          <a:prstGeom prst="rect">
            <a:avLst/>
          </a:prstGeom>
          <a:noFill/>
          <a:ln/>
        </p:spPr>
        <p:txBody>
          <a:bodyPr wrap="square" rtlCol="0" anchor="ctr"/>
          <a:lstStyle/>
          <a:p>
            <a:pPr marL="0" indent="0" algn="ctr">
              <a:buNone/>
            </a:pPr>
            <a:r>
              <a:rPr lang="en-US" sz="3200" b="1" dirty="0">
                <a:solidFill>
                  <a:srgbClr val="091F2C"/>
                </a:solidFill>
                <a:latin typeface="Segoe UI" pitchFamily="34" charset="0"/>
                <a:ea typeface="Segoe UI" pitchFamily="34" charset="-122"/>
                <a:cs typeface="Segoe UI" pitchFamily="34" charset="-120"/>
              </a:rPr>
              <a:t>→</a:t>
            </a:r>
            <a:endParaRPr lang="en-US" sz="3200" dirty="0"/>
          </a:p>
        </p:txBody>
      </p:sp>
      <p:sp>
        <p:nvSpPr>
          <p:cNvPr id="26" name="Text 24"/>
          <p:cNvSpPr/>
          <p:nvPr/>
        </p:nvSpPr>
        <p:spPr>
          <a:xfrm>
            <a:off x="548640" y="6126480"/>
            <a:ext cx="11155680" cy="320040"/>
          </a:xfrm>
          <a:prstGeom prst="rect">
            <a:avLst/>
          </a:prstGeom>
          <a:noFill/>
          <a:ln/>
        </p:spPr>
        <p:txBody>
          <a:bodyPr wrap="square" rtlCol="0" anchor="ctr"/>
          <a:lstStyle/>
          <a:p>
            <a:pPr marL="0" indent="0">
              <a:buNone/>
            </a:pPr>
            <a:r>
              <a:rPr lang="en-US" sz="1200" i="1" dirty="0">
                <a:solidFill>
                  <a:srgbClr val="091F2C"/>
                </a:solidFill>
                <a:latin typeface="Segoe UI" pitchFamily="34" charset="0"/>
                <a:ea typeface="Segoe UI" pitchFamily="34" charset="-122"/>
                <a:cs typeface="Segoe UI" pitchFamily="34" charset="-120"/>
              </a:rPr>
              <a:t>Enter light in Tier 1 to earn credibility. Mature into Tier 2 to anchor delivery. Lock in Tier 3 for recurring revenue.</a:t>
            </a:r>
            <a:endParaRPr lang="en-US" sz="1200" dirty="0"/>
          </a:p>
        </p:txBody>
      </p:sp>
      <p:pic>
        <p:nvPicPr>
          <p:cNvPr id="27"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8" name="Text 25"/>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9" name="Text 26"/>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5 / 15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QUALIFICATION</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Are you ready to be an Anchor Partner?</a:t>
            </a:r>
            <a:endParaRPr lang="en-US" sz="3200" dirty="0"/>
          </a:p>
        </p:txBody>
      </p:sp>
      <p:sp>
        <p:nvSpPr>
          <p:cNvPr id="5" name="Shape 3"/>
          <p:cNvSpPr/>
          <p:nvPr/>
        </p:nvSpPr>
        <p:spPr>
          <a:xfrm>
            <a:off x="548640" y="1691640"/>
            <a:ext cx="4389120" cy="576072"/>
          </a:xfrm>
          <a:prstGeom prst="rect">
            <a:avLst/>
          </a:prstGeom>
          <a:solidFill>
            <a:srgbClr val="091F2C"/>
          </a:solidFill>
          <a:ln w="12700">
            <a:solidFill>
              <a:srgbClr val="091F2C"/>
            </a:solidFill>
            <a:prstDash val="solid"/>
          </a:ln>
        </p:spPr>
        <p:txBody>
          <a:bodyPr/>
          <a:lstStyle/>
          <a:p>
            <a:endParaRPr lang="en-ZA"/>
          </a:p>
        </p:txBody>
      </p:sp>
      <p:sp>
        <p:nvSpPr>
          <p:cNvPr id="6" name="Shape 4"/>
          <p:cNvSpPr/>
          <p:nvPr/>
        </p:nvSpPr>
        <p:spPr>
          <a:xfrm>
            <a:off x="4937760" y="1691640"/>
            <a:ext cx="6720840" cy="576072"/>
          </a:xfrm>
          <a:prstGeom prst="rect">
            <a:avLst/>
          </a:prstGeom>
          <a:solidFill>
            <a:srgbClr val="091F2C"/>
          </a:solidFill>
          <a:ln w="12700">
            <a:solidFill>
              <a:srgbClr val="091F2C"/>
            </a:solidFill>
            <a:prstDash val="solid"/>
          </a:ln>
        </p:spPr>
        <p:txBody>
          <a:bodyPr/>
          <a:lstStyle/>
          <a:p>
            <a:endParaRPr lang="en-ZA"/>
          </a:p>
        </p:txBody>
      </p:sp>
      <p:sp>
        <p:nvSpPr>
          <p:cNvPr id="7" name="Text 5"/>
          <p:cNvSpPr/>
          <p:nvPr/>
        </p:nvSpPr>
        <p:spPr>
          <a:xfrm>
            <a:off x="548640" y="1691640"/>
            <a:ext cx="4389120" cy="576072"/>
          </a:xfrm>
          <a:prstGeom prst="rect">
            <a:avLst/>
          </a:prstGeom>
          <a:noFill/>
          <a:ln/>
        </p:spPr>
        <p:txBody>
          <a:bodyPr wrap="square" lIns="127000" tIns="127000" rIns="127000" bIns="127000"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Criterion</a:t>
            </a:r>
            <a:endParaRPr lang="en-US" sz="1400" dirty="0"/>
          </a:p>
        </p:txBody>
      </p:sp>
      <p:sp>
        <p:nvSpPr>
          <p:cNvPr id="8" name="Text 6"/>
          <p:cNvSpPr/>
          <p:nvPr/>
        </p:nvSpPr>
        <p:spPr>
          <a:xfrm>
            <a:off x="4937760" y="1691640"/>
            <a:ext cx="6720840" cy="576072"/>
          </a:xfrm>
          <a:prstGeom prst="rect">
            <a:avLst/>
          </a:prstGeom>
          <a:noFill/>
          <a:ln/>
        </p:spPr>
        <p:txBody>
          <a:bodyPr wrap="square" lIns="127000" tIns="127000" rIns="127000" bIns="127000"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Threshold</a:t>
            </a:r>
            <a:endParaRPr lang="en-US" sz="1400" dirty="0"/>
          </a:p>
        </p:txBody>
      </p:sp>
      <p:sp>
        <p:nvSpPr>
          <p:cNvPr id="9" name="Shape 7"/>
          <p:cNvSpPr/>
          <p:nvPr/>
        </p:nvSpPr>
        <p:spPr>
          <a:xfrm>
            <a:off x="548640" y="2267712"/>
            <a:ext cx="4389120" cy="576072"/>
          </a:xfrm>
          <a:prstGeom prst="rect">
            <a:avLst/>
          </a:prstGeom>
          <a:solidFill>
            <a:srgbClr val="FFFFFF"/>
          </a:solidFill>
          <a:ln w="12700">
            <a:solidFill>
              <a:srgbClr val="E1E6EF"/>
            </a:solidFill>
            <a:prstDash val="solid"/>
          </a:ln>
        </p:spPr>
        <p:txBody>
          <a:bodyPr/>
          <a:lstStyle/>
          <a:p>
            <a:endParaRPr lang="en-ZA"/>
          </a:p>
        </p:txBody>
      </p:sp>
      <p:sp>
        <p:nvSpPr>
          <p:cNvPr id="10" name="Shape 8"/>
          <p:cNvSpPr/>
          <p:nvPr/>
        </p:nvSpPr>
        <p:spPr>
          <a:xfrm>
            <a:off x="4937760" y="2267712"/>
            <a:ext cx="6720840" cy="576072"/>
          </a:xfrm>
          <a:prstGeom prst="rect">
            <a:avLst/>
          </a:prstGeom>
          <a:solidFill>
            <a:srgbClr val="FFFFFF"/>
          </a:solidFill>
          <a:ln w="12700">
            <a:solidFill>
              <a:srgbClr val="E1E6EF"/>
            </a:solidFill>
            <a:prstDash val="solid"/>
          </a:ln>
        </p:spPr>
        <p:txBody>
          <a:bodyPr/>
          <a:lstStyle/>
          <a:p>
            <a:endParaRPr lang="en-ZA"/>
          </a:p>
        </p:txBody>
      </p:sp>
      <p:sp>
        <p:nvSpPr>
          <p:cNvPr id="11" name="Text 9"/>
          <p:cNvSpPr/>
          <p:nvPr/>
        </p:nvSpPr>
        <p:spPr>
          <a:xfrm>
            <a:off x="548640" y="2267712"/>
            <a:ext cx="4389120" cy="576072"/>
          </a:xfrm>
          <a:prstGeom prst="rect">
            <a:avLst/>
          </a:prstGeom>
          <a:noFill/>
          <a:ln/>
        </p:spPr>
        <p:txBody>
          <a:bodyPr wrap="square" lIns="127000" tIns="127000" rIns="127000" bIns="127000"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Solutions Partner designation</a:t>
            </a:r>
            <a:endParaRPr lang="en-US" sz="1300" dirty="0"/>
          </a:p>
        </p:txBody>
      </p:sp>
      <p:sp>
        <p:nvSpPr>
          <p:cNvPr id="12" name="Text 10"/>
          <p:cNvSpPr/>
          <p:nvPr/>
        </p:nvSpPr>
        <p:spPr>
          <a:xfrm>
            <a:off x="4937760" y="2267712"/>
            <a:ext cx="6720840" cy="576072"/>
          </a:xfrm>
          <a:prstGeom prst="rect">
            <a:avLst/>
          </a:prstGeom>
          <a:noFill/>
          <a:ln/>
        </p:spPr>
        <p:txBody>
          <a:bodyPr wrap="square" lIns="127000" tIns="127000" rIns="127000" bIns="127000" rtlCol="0" anchor="ctr"/>
          <a:lstStyle/>
          <a:p>
            <a:pPr marL="0" indent="0">
              <a:buNone/>
            </a:pPr>
            <a:r>
              <a:rPr lang="en-US" sz="1300" dirty="0">
                <a:solidFill>
                  <a:srgbClr val="4B5563"/>
                </a:solidFill>
                <a:latin typeface="Segoe UI" pitchFamily="34" charset="0"/>
                <a:ea typeface="Segoe UI" pitchFamily="34" charset="-122"/>
                <a:cs typeface="Segoe UI" pitchFamily="34" charset="-120"/>
              </a:rPr>
              <a:t>Data &amp; AI or Digital &amp; App Innovation — minimum</a:t>
            </a:r>
            <a:endParaRPr lang="en-US" sz="1300" dirty="0"/>
          </a:p>
        </p:txBody>
      </p:sp>
      <p:sp>
        <p:nvSpPr>
          <p:cNvPr id="13" name="Shape 11"/>
          <p:cNvSpPr/>
          <p:nvPr/>
        </p:nvSpPr>
        <p:spPr>
          <a:xfrm>
            <a:off x="548640" y="2843784"/>
            <a:ext cx="4389120" cy="576072"/>
          </a:xfrm>
          <a:prstGeom prst="rect">
            <a:avLst/>
          </a:prstGeom>
          <a:solidFill>
            <a:srgbClr val="FFF8F5"/>
          </a:solidFill>
          <a:ln w="12700">
            <a:solidFill>
              <a:srgbClr val="E1E6EF"/>
            </a:solidFill>
            <a:prstDash val="solid"/>
          </a:ln>
        </p:spPr>
        <p:txBody>
          <a:bodyPr/>
          <a:lstStyle/>
          <a:p>
            <a:endParaRPr lang="en-ZA"/>
          </a:p>
        </p:txBody>
      </p:sp>
      <p:sp>
        <p:nvSpPr>
          <p:cNvPr id="14" name="Shape 12"/>
          <p:cNvSpPr/>
          <p:nvPr/>
        </p:nvSpPr>
        <p:spPr>
          <a:xfrm>
            <a:off x="4937760" y="2843784"/>
            <a:ext cx="6720840" cy="576072"/>
          </a:xfrm>
          <a:prstGeom prst="rect">
            <a:avLst/>
          </a:prstGeom>
          <a:solidFill>
            <a:srgbClr val="FFF8F5"/>
          </a:solidFill>
          <a:ln w="12700">
            <a:solidFill>
              <a:srgbClr val="E1E6EF"/>
            </a:solidFill>
            <a:prstDash val="solid"/>
          </a:ln>
        </p:spPr>
        <p:txBody>
          <a:bodyPr/>
          <a:lstStyle/>
          <a:p>
            <a:endParaRPr lang="en-ZA"/>
          </a:p>
        </p:txBody>
      </p:sp>
      <p:sp>
        <p:nvSpPr>
          <p:cNvPr id="15" name="Text 13"/>
          <p:cNvSpPr/>
          <p:nvPr/>
        </p:nvSpPr>
        <p:spPr>
          <a:xfrm>
            <a:off x="548640" y="2843784"/>
            <a:ext cx="4389120" cy="576072"/>
          </a:xfrm>
          <a:prstGeom prst="rect">
            <a:avLst/>
          </a:prstGeom>
          <a:noFill/>
          <a:ln/>
        </p:spPr>
        <p:txBody>
          <a:bodyPr wrap="square" lIns="127000" tIns="127000" rIns="127000" bIns="127000"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Certified AI consultants</a:t>
            </a:r>
            <a:endParaRPr lang="en-US" sz="1300" dirty="0"/>
          </a:p>
        </p:txBody>
      </p:sp>
      <p:sp>
        <p:nvSpPr>
          <p:cNvPr id="16" name="Text 14"/>
          <p:cNvSpPr/>
          <p:nvPr/>
        </p:nvSpPr>
        <p:spPr>
          <a:xfrm>
            <a:off x="4937760" y="2843784"/>
            <a:ext cx="6720840" cy="576072"/>
          </a:xfrm>
          <a:prstGeom prst="rect">
            <a:avLst/>
          </a:prstGeom>
          <a:noFill/>
          <a:ln/>
        </p:spPr>
        <p:txBody>
          <a:bodyPr wrap="square" lIns="127000" tIns="127000" rIns="127000" bIns="127000" rtlCol="0" anchor="ctr"/>
          <a:lstStyle/>
          <a:p>
            <a:pPr marL="0" indent="0">
              <a:buNone/>
            </a:pPr>
            <a:r>
              <a:rPr lang="en-US" sz="1300" dirty="0">
                <a:solidFill>
                  <a:srgbClr val="4B5563"/>
                </a:solidFill>
                <a:latin typeface="Segoe UI" pitchFamily="34" charset="0"/>
                <a:ea typeface="Segoe UI" pitchFamily="34" charset="-122"/>
                <a:cs typeface="Segoe UI" pitchFamily="34" charset="-120"/>
              </a:rPr>
              <a:t>≥10 AI-102 / AI Engineer certified</a:t>
            </a:r>
            <a:endParaRPr lang="en-US" sz="1300" dirty="0"/>
          </a:p>
        </p:txBody>
      </p:sp>
      <p:sp>
        <p:nvSpPr>
          <p:cNvPr id="17" name="Shape 15"/>
          <p:cNvSpPr/>
          <p:nvPr/>
        </p:nvSpPr>
        <p:spPr>
          <a:xfrm>
            <a:off x="548640" y="3419856"/>
            <a:ext cx="4389120" cy="576072"/>
          </a:xfrm>
          <a:prstGeom prst="rect">
            <a:avLst/>
          </a:prstGeom>
          <a:solidFill>
            <a:srgbClr val="FFFFFF"/>
          </a:solidFill>
          <a:ln w="12700">
            <a:solidFill>
              <a:srgbClr val="E1E6EF"/>
            </a:solidFill>
            <a:prstDash val="solid"/>
          </a:ln>
        </p:spPr>
        <p:txBody>
          <a:bodyPr/>
          <a:lstStyle/>
          <a:p>
            <a:endParaRPr lang="en-ZA"/>
          </a:p>
        </p:txBody>
      </p:sp>
      <p:sp>
        <p:nvSpPr>
          <p:cNvPr id="18" name="Shape 16"/>
          <p:cNvSpPr/>
          <p:nvPr/>
        </p:nvSpPr>
        <p:spPr>
          <a:xfrm>
            <a:off x="4937760" y="3419856"/>
            <a:ext cx="6720840" cy="576072"/>
          </a:xfrm>
          <a:prstGeom prst="rect">
            <a:avLst/>
          </a:prstGeom>
          <a:solidFill>
            <a:srgbClr val="FFFFFF"/>
          </a:solidFill>
          <a:ln w="12700">
            <a:solidFill>
              <a:srgbClr val="E1E6EF"/>
            </a:solidFill>
            <a:prstDash val="solid"/>
          </a:ln>
        </p:spPr>
        <p:txBody>
          <a:bodyPr/>
          <a:lstStyle/>
          <a:p>
            <a:endParaRPr lang="en-ZA"/>
          </a:p>
        </p:txBody>
      </p:sp>
      <p:sp>
        <p:nvSpPr>
          <p:cNvPr id="19" name="Text 17"/>
          <p:cNvSpPr/>
          <p:nvPr/>
        </p:nvSpPr>
        <p:spPr>
          <a:xfrm>
            <a:off x="548640" y="3419856"/>
            <a:ext cx="4389120" cy="576072"/>
          </a:xfrm>
          <a:prstGeom prst="rect">
            <a:avLst/>
          </a:prstGeom>
          <a:noFill/>
          <a:ln/>
        </p:spPr>
        <p:txBody>
          <a:bodyPr wrap="square" lIns="127000" tIns="127000" rIns="127000" bIns="127000"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Delivered Azure AI references</a:t>
            </a:r>
            <a:endParaRPr lang="en-US" sz="1300" dirty="0"/>
          </a:p>
        </p:txBody>
      </p:sp>
      <p:sp>
        <p:nvSpPr>
          <p:cNvPr id="20" name="Text 18"/>
          <p:cNvSpPr/>
          <p:nvPr/>
        </p:nvSpPr>
        <p:spPr>
          <a:xfrm>
            <a:off x="4937760" y="3419856"/>
            <a:ext cx="6720840" cy="576072"/>
          </a:xfrm>
          <a:prstGeom prst="rect">
            <a:avLst/>
          </a:prstGeom>
          <a:noFill/>
          <a:ln/>
        </p:spPr>
        <p:txBody>
          <a:bodyPr wrap="square" lIns="127000" tIns="127000" rIns="127000" bIns="127000" rtlCol="0" anchor="ctr"/>
          <a:lstStyle/>
          <a:p>
            <a:pPr marL="0" indent="0">
              <a:buNone/>
            </a:pPr>
            <a:r>
              <a:rPr lang="en-US" sz="1300" dirty="0">
                <a:solidFill>
                  <a:srgbClr val="4B5563"/>
                </a:solidFill>
                <a:latin typeface="Segoe UI" pitchFamily="34" charset="0"/>
                <a:ea typeface="Segoe UI" pitchFamily="34" charset="-122"/>
                <a:cs typeface="Segoe UI" pitchFamily="34" charset="-120"/>
              </a:rPr>
              <a:t>≥3 Azure AI production deployments</a:t>
            </a:r>
            <a:endParaRPr lang="en-US" sz="1300" dirty="0"/>
          </a:p>
        </p:txBody>
      </p:sp>
      <p:sp>
        <p:nvSpPr>
          <p:cNvPr id="21" name="Shape 19"/>
          <p:cNvSpPr/>
          <p:nvPr/>
        </p:nvSpPr>
        <p:spPr>
          <a:xfrm>
            <a:off x="548640" y="3995928"/>
            <a:ext cx="4389120" cy="576072"/>
          </a:xfrm>
          <a:prstGeom prst="rect">
            <a:avLst/>
          </a:prstGeom>
          <a:solidFill>
            <a:srgbClr val="FFF8F5"/>
          </a:solidFill>
          <a:ln w="12700">
            <a:solidFill>
              <a:srgbClr val="E1E6EF"/>
            </a:solidFill>
            <a:prstDash val="solid"/>
          </a:ln>
        </p:spPr>
        <p:txBody>
          <a:bodyPr/>
          <a:lstStyle/>
          <a:p>
            <a:endParaRPr lang="en-ZA"/>
          </a:p>
        </p:txBody>
      </p:sp>
      <p:sp>
        <p:nvSpPr>
          <p:cNvPr id="22" name="Shape 20"/>
          <p:cNvSpPr/>
          <p:nvPr/>
        </p:nvSpPr>
        <p:spPr>
          <a:xfrm>
            <a:off x="4937760" y="3995928"/>
            <a:ext cx="6720840" cy="576072"/>
          </a:xfrm>
          <a:prstGeom prst="rect">
            <a:avLst/>
          </a:prstGeom>
          <a:solidFill>
            <a:srgbClr val="FFF8F5"/>
          </a:solidFill>
          <a:ln w="12700">
            <a:solidFill>
              <a:srgbClr val="E1E6EF"/>
            </a:solidFill>
            <a:prstDash val="solid"/>
          </a:ln>
        </p:spPr>
        <p:txBody>
          <a:bodyPr/>
          <a:lstStyle/>
          <a:p>
            <a:endParaRPr lang="en-ZA"/>
          </a:p>
        </p:txBody>
      </p:sp>
      <p:sp>
        <p:nvSpPr>
          <p:cNvPr id="23" name="Text 21"/>
          <p:cNvSpPr/>
          <p:nvPr/>
        </p:nvSpPr>
        <p:spPr>
          <a:xfrm>
            <a:off x="548640" y="3995928"/>
            <a:ext cx="4389120" cy="576072"/>
          </a:xfrm>
          <a:prstGeom prst="rect">
            <a:avLst/>
          </a:prstGeom>
          <a:noFill/>
          <a:ln/>
        </p:spPr>
        <p:txBody>
          <a:bodyPr wrap="square" lIns="127000" tIns="127000" rIns="127000" bIns="127000"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Industry depth</a:t>
            </a:r>
            <a:endParaRPr lang="en-US" sz="1300" dirty="0"/>
          </a:p>
        </p:txBody>
      </p:sp>
      <p:sp>
        <p:nvSpPr>
          <p:cNvPr id="24" name="Text 22"/>
          <p:cNvSpPr/>
          <p:nvPr/>
        </p:nvSpPr>
        <p:spPr>
          <a:xfrm>
            <a:off x="4937760" y="3995928"/>
            <a:ext cx="6720840" cy="576072"/>
          </a:xfrm>
          <a:prstGeom prst="rect">
            <a:avLst/>
          </a:prstGeom>
          <a:noFill/>
          <a:ln/>
        </p:spPr>
        <p:txBody>
          <a:bodyPr wrap="square" lIns="127000" tIns="127000" rIns="127000" bIns="127000" rtlCol="0" anchor="ctr"/>
          <a:lstStyle/>
          <a:p>
            <a:pPr marL="0" indent="0">
              <a:buNone/>
            </a:pPr>
            <a:r>
              <a:rPr lang="en-US" sz="1300" dirty="0">
                <a:solidFill>
                  <a:srgbClr val="4B5563"/>
                </a:solidFill>
                <a:latin typeface="Segoe UI" pitchFamily="34" charset="0"/>
                <a:ea typeface="Segoe UI" pitchFamily="34" charset="-122"/>
                <a:cs typeface="Segoe UI" pitchFamily="34" charset="-120"/>
              </a:rPr>
              <a:t>Demonstrated vertical expertise (FSI, Health, Public Sector, etc.)</a:t>
            </a:r>
            <a:endParaRPr lang="en-US" sz="1300" dirty="0"/>
          </a:p>
        </p:txBody>
      </p:sp>
      <p:sp>
        <p:nvSpPr>
          <p:cNvPr id="25" name="Shape 23"/>
          <p:cNvSpPr/>
          <p:nvPr/>
        </p:nvSpPr>
        <p:spPr>
          <a:xfrm>
            <a:off x="548640" y="4572000"/>
            <a:ext cx="4389120" cy="576072"/>
          </a:xfrm>
          <a:prstGeom prst="rect">
            <a:avLst/>
          </a:prstGeom>
          <a:solidFill>
            <a:srgbClr val="FFFFFF"/>
          </a:solidFill>
          <a:ln w="12700">
            <a:solidFill>
              <a:srgbClr val="E1E6EF"/>
            </a:solidFill>
            <a:prstDash val="solid"/>
          </a:ln>
        </p:spPr>
        <p:txBody>
          <a:bodyPr/>
          <a:lstStyle/>
          <a:p>
            <a:endParaRPr lang="en-ZA"/>
          </a:p>
        </p:txBody>
      </p:sp>
      <p:sp>
        <p:nvSpPr>
          <p:cNvPr id="26" name="Shape 24"/>
          <p:cNvSpPr/>
          <p:nvPr/>
        </p:nvSpPr>
        <p:spPr>
          <a:xfrm>
            <a:off x="4937760" y="4572000"/>
            <a:ext cx="6720840" cy="576072"/>
          </a:xfrm>
          <a:prstGeom prst="rect">
            <a:avLst/>
          </a:prstGeom>
          <a:solidFill>
            <a:srgbClr val="FFFFFF"/>
          </a:solidFill>
          <a:ln w="12700">
            <a:solidFill>
              <a:srgbClr val="E1E6EF"/>
            </a:solidFill>
            <a:prstDash val="solid"/>
          </a:ln>
        </p:spPr>
        <p:txBody>
          <a:bodyPr/>
          <a:lstStyle/>
          <a:p>
            <a:endParaRPr lang="en-ZA"/>
          </a:p>
        </p:txBody>
      </p:sp>
      <p:sp>
        <p:nvSpPr>
          <p:cNvPr id="27" name="Text 25"/>
          <p:cNvSpPr/>
          <p:nvPr/>
        </p:nvSpPr>
        <p:spPr>
          <a:xfrm>
            <a:off x="548640" y="4572000"/>
            <a:ext cx="4389120" cy="576072"/>
          </a:xfrm>
          <a:prstGeom prst="rect">
            <a:avLst/>
          </a:prstGeom>
          <a:noFill/>
          <a:ln/>
        </p:spPr>
        <p:txBody>
          <a:bodyPr wrap="square" lIns="127000" tIns="127000" rIns="127000" bIns="127000"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Responsible AI commitment</a:t>
            </a:r>
            <a:endParaRPr lang="en-US" sz="1300" dirty="0"/>
          </a:p>
        </p:txBody>
      </p:sp>
      <p:sp>
        <p:nvSpPr>
          <p:cNvPr id="28" name="Text 26"/>
          <p:cNvSpPr/>
          <p:nvPr/>
        </p:nvSpPr>
        <p:spPr>
          <a:xfrm>
            <a:off x="4937760" y="4572000"/>
            <a:ext cx="6720840" cy="576072"/>
          </a:xfrm>
          <a:prstGeom prst="rect">
            <a:avLst/>
          </a:prstGeom>
          <a:noFill/>
          <a:ln/>
        </p:spPr>
        <p:txBody>
          <a:bodyPr wrap="square" lIns="127000" tIns="127000" rIns="127000" bIns="127000" rtlCol="0" anchor="ctr"/>
          <a:lstStyle/>
          <a:p>
            <a:pPr marL="0" indent="0">
              <a:buNone/>
            </a:pPr>
            <a:r>
              <a:rPr lang="en-US" sz="1300" dirty="0">
                <a:solidFill>
                  <a:srgbClr val="4B5563"/>
                </a:solidFill>
                <a:latin typeface="Segoe UI" pitchFamily="34" charset="0"/>
                <a:ea typeface="Segoe UI" pitchFamily="34" charset="-122"/>
                <a:cs typeface="Segoe UI" pitchFamily="34" charset="-120"/>
              </a:rPr>
              <a:t>Signed Microsoft Responsible AI principles</a:t>
            </a:r>
            <a:endParaRPr lang="en-US" sz="1300" dirty="0"/>
          </a:p>
        </p:txBody>
      </p:sp>
      <p:sp>
        <p:nvSpPr>
          <p:cNvPr id="29" name="Shape 27"/>
          <p:cNvSpPr/>
          <p:nvPr/>
        </p:nvSpPr>
        <p:spPr>
          <a:xfrm>
            <a:off x="548640" y="5148072"/>
            <a:ext cx="4389120" cy="576072"/>
          </a:xfrm>
          <a:prstGeom prst="rect">
            <a:avLst/>
          </a:prstGeom>
          <a:solidFill>
            <a:srgbClr val="FFF8F5"/>
          </a:solidFill>
          <a:ln w="12700">
            <a:solidFill>
              <a:srgbClr val="E1E6EF"/>
            </a:solidFill>
            <a:prstDash val="solid"/>
          </a:ln>
        </p:spPr>
        <p:txBody>
          <a:bodyPr/>
          <a:lstStyle/>
          <a:p>
            <a:endParaRPr lang="en-ZA"/>
          </a:p>
        </p:txBody>
      </p:sp>
      <p:sp>
        <p:nvSpPr>
          <p:cNvPr id="30" name="Shape 28"/>
          <p:cNvSpPr/>
          <p:nvPr/>
        </p:nvSpPr>
        <p:spPr>
          <a:xfrm>
            <a:off x="4937760" y="5148072"/>
            <a:ext cx="6720840" cy="576072"/>
          </a:xfrm>
          <a:prstGeom prst="rect">
            <a:avLst/>
          </a:prstGeom>
          <a:solidFill>
            <a:srgbClr val="FFF8F5"/>
          </a:solidFill>
          <a:ln w="12700">
            <a:solidFill>
              <a:srgbClr val="E1E6EF"/>
            </a:solidFill>
            <a:prstDash val="solid"/>
          </a:ln>
        </p:spPr>
        <p:txBody>
          <a:bodyPr/>
          <a:lstStyle/>
          <a:p>
            <a:endParaRPr lang="en-ZA"/>
          </a:p>
        </p:txBody>
      </p:sp>
      <p:sp>
        <p:nvSpPr>
          <p:cNvPr id="31" name="Text 29"/>
          <p:cNvSpPr/>
          <p:nvPr/>
        </p:nvSpPr>
        <p:spPr>
          <a:xfrm>
            <a:off x="548640" y="5148072"/>
            <a:ext cx="4389120" cy="576072"/>
          </a:xfrm>
          <a:prstGeom prst="rect">
            <a:avLst/>
          </a:prstGeom>
          <a:noFill/>
          <a:ln/>
        </p:spPr>
        <p:txBody>
          <a:bodyPr wrap="square" lIns="127000" tIns="127000" rIns="127000" bIns="127000"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Co-sell history</a:t>
            </a:r>
            <a:endParaRPr lang="en-US" sz="1300" dirty="0"/>
          </a:p>
        </p:txBody>
      </p:sp>
      <p:sp>
        <p:nvSpPr>
          <p:cNvPr id="32" name="Text 30"/>
          <p:cNvSpPr/>
          <p:nvPr/>
        </p:nvSpPr>
        <p:spPr>
          <a:xfrm>
            <a:off x="4937760" y="5148072"/>
            <a:ext cx="6720840" cy="576072"/>
          </a:xfrm>
          <a:prstGeom prst="rect">
            <a:avLst/>
          </a:prstGeom>
          <a:noFill/>
          <a:ln/>
        </p:spPr>
        <p:txBody>
          <a:bodyPr wrap="square" lIns="127000" tIns="127000" rIns="127000" bIns="127000" rtlCol="0" anchor="ctr"/>
          <a:lstStyle/>
          <a:p>
            <a:pPr marL="0" indent="0">
              <a:buNone/>
            </a:pPr>
            <a:r>
              <a:rPr lang="en-US" sz="1300" dirty="0">
                <a:solidFill>
                  <a:srgbClr val="4B5563"/>
                </a:solidFill>
                <a:latin typeface="Segoe UI" pitchFamily="34" charset="0"/>
                <a:ea typeface="Segoe UI" pitchFamily="34" charset="-122"/>
                <a:cs typeface="Segoe UI" pitchFamily="34" charset="-120"/>
              </a:rPr>
              <a:t>Active engagement in Partner Center referrals</a:t>
            </a:r>
            <a:endParaRPr lang="en-US" sz="1300" dirty="0"/>
          </a:p>
        </p:txBody>
      </p:sp>
      <p:sp>
        <p:nvSpPr>
          <p:cNvPr id="33" name="Text 31"/>
          <p:cNvSpPr/>
          <p:nvPr/>
        </p:nvSpPr>
        <p:spPr>
          <a:xfrm>
            <a:off x="548640" y="5806440"/>
            <a:ext cx="11155680" cy="32004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Four tiers: Anchor (≥25), Qualified (21–24), Develop (15–20 — MAICPP skilling path), Do Not Engage (&lt;15).</a:t>
            </a:r>
            <a:endParaRPr lang="en-US" sz="1200" dirty="0"/>
          </a:p>
        </p:txBody>
      </p:sp>
      <p:pic>
        <p:nvPicPr>
          <p:cNvPr id="34"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5" name="Text 32"/>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6" name="Text 33"/>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6 / 15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THE ECONOMICS</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How you make money · how we co-invest</a:t>
            </a:r>
            <a:endParaRPr lang="en-US" sz="3200" dirty="0"/>
          </a:p>
        </p:txBody>
      </p:sp>
      <p:sp>
        <p:nvSpPr>
          <p:cNvPr id="5" name="Shape 3"/>
          <p:cNvSpPr/>
          <p:nvPr/>
        </p:nvSpPr>
        <p:spPr>
          <a:xfrm>
            <a:off x="548640" y="1828800"/>
            <a:ext cx="4754880" cy="4297680"/>
          </a:xfrm>
          <a:prstGeom prst="roundRect">
            <a:avLst>
              <a:gd name="adj" fmla="val 2553"/>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31520" y="2194560"/>
            <a:ext cx="4389120" cy="1463040"/>
          </a:xfrm>
          <a:prstGeom prst="rect">
            <a:avLst/>
          </a:prstGeom>
          <a:noFill/>
          <a:ln/>
        </p:spPr>
        <p:txBody>
          <a:bodyPr wrap="square" rtlCol="0" anchor="ctr"/>
          <a:lstStyle/>
          <a:p>
            <a:pPr marL="0" indent="0" algn="ctr">
              <a:buNone/>
            </a:pPr>
            <a:r>
              <a:rPr lang="en-US" sz="5400" b="1" dirty="0">
                <a:solidFill>
                  <a:srgbClr val="FFB900"/>
                </a:solidFill>
                <a:latin typeface="Segoe UI" pitchFamily="34" charset="0"/>
                <a:ea typeface="Segoe UI" pitchFamily="34" charset="-122"/>
                <a:cs typeface="Segoe UI" pitchFamily="34" charset="-120"/>
              </a:rPr>
              <a:t>$1 : $3–5</a:t>
            </a:r>
            <a:endParaRPr lang="en-US" sz="5400" dirty="0"/>
          </a:p>
        </p:txBody>
      </p:sp>
      <p:sp>
        <p:nvSpPr>
          <p:cNvPr id="7" name="Text 5"/>
          <p:cNvSpPr/>
          <p:nvPr/>
        </p:nvSpPr>
        <p:spPr>
          <a:xfrm>
            <a:off x="731520" y="3794760"/>
            <a:ext cx="4389120" cy="457200"/>
          </a:xfrm>
          <a:prstGeom prst="rect">
            <a:avLst/>
          </a:prstGeom>
          <a:noFill/>
          <a:ln/>
        </p:spPr>
        <p:txBody>
          <a:bodyPr wrap="square" rtlCol="0" anchor="ctr"/>
          <a:lstStyle/>
          <a:p>
            <a:pPr marL="0" indent="0" algn="ctr">
              <a:buNone/>
            </a:pPr>
            <a:r>
              <a:rPr lang="en-US" sz="1500" b="1" dirty="0">
                <a:solidFill>
                  <a:srgbClr val="FFFFFF"/>
                </a:solidFill>
                <a:latin typeface="Segoe UI" pitchFamily="34" charset="0"/>
                <a:ea typeface="Segoe UI" pitchFamily="34" charset="-122"/>
                <a:cs typeface="Segoe UI" pitchFamily="34" charset="-120"/>
              </a:rPr>
              <a:t>Partner services → Azure pull-through</a:t>
            </a:r>
            <a:endParaRPr lang="en-US" sz="1500" dirty="0"/>
          </a:p>
        </p:txBody>
      </p:sp>
      <p:sp>
        <p:nvSpPr>
          <p:cNvPr id="8" name="Text 6"/>
          <p:cNvSpPr/>
          <p:nvPr/>
        </p:nvSpPr>
        <p:spPr>
          <a:xfrm>
            <a:off x="822960" y="4343400"/>
            <a:ext cx="4206240" cy="1554480"/>
          </a:xfrm>
          <a:prstGeom prst="rect">
            <a:avLst/>
          </a:prstGeom>
          <a:noFill/>
          <a:ln/>
        </p:spPr>
        <p:txBody>
          <a:bodyPr wrap="square" rtlCol="0" anchor="ctr"/>
          <a:lstStyle/>
          <a:p>
            <a:pPr marL="0" indent="0" algn="ctr">
              <a:buNone/>
            </a:pPr>
            <a:r>
              <a:rPr lang="en-US" sz="1200" dirty="0">
                <a:solidFill>
                  <a:srgbClr val="F5E6F0"/>
                </a:solidFill>
                <a:latin typeface="Segoe UI" pitchFamily="34" charset="0"/>
                <a:ea typeface="Segoe UI" pitchFamily="34" charset="-122"/>
                <a:cs typeface="Segoe UI" pitchFamily="34" charset="-120"/>
              </a:rPr>
              <a:t>Every $1 of services you sell anchored in a CoE typically pulls through $3–5 of Azure consumption — funding Microsoft's co-invest back into your engagement.</a:t>
            </a:r>
            <a:endParaRPr lang="en-US" sz="1200" dirty="0"/>
          </a:p>
        </p:txBody>
      </p:sp>
      <p:sp>
        <p:nvSpPr>
          <p:cNvPr id="9" name="Text 7"/>
          <p:cNvSpPr/>
          <p:nvPr/>
        </p:nvSpPr>
        <p:spPr>
          <a:xfrm>
            <a:off x="5486400" y="1828800"/>
            <a:ext cx="5943600" cy="457200"/>
          </a:xfrm>
          <a:prstGeom prst="rect">
            <a:avLst/>
          </a:prstGeom>
          <a:noFill/>
          <a:ln/>
        </p:spPr>
        <p:txBody>
          <a:bodyPr wrap="square" rtlCol="0" anchor="ctr"/>
          <a:lstStyle/>
          <a:p>
            <a:pPr marL="0" indent="0">
              <a:buNone/>
            </a:pPr>
            <a:r>
              <a:rPr lang="en-US" sz="1800" b="1" dirty="0">
                <a:solidFill>
                  <a:srgbClr val="091F2C"/>
                </a:solidFill>
                <a:latin typeface="Segoe UI" pitchFamily="34" charset="0"/>
                <a:ea typeface="Segoe UI" pitchFamily="34" charset="-122"/>
                <a:cs typeface="Segoe UI" pitchFamily="34" charset="-120"/>
              </a:rPr>
              <a:t>The co-investment stack</a:t>
            </a:r>
            <a:endParaRPr lang="en-US" sz="1800" dirty="0"/>
          </a:p>
        </p:txBody>
      </p:sp>
      <p:sp>
        <p:nvSpPr>
          <p:cNvPr id="10" name="Shape 8"/>
          <p:cNvSpPr/>
          <p:nvPr/>
        </p:nvSpPr>
        <p:spPr>
          <a:xfrm>
            <a:off x="5577840" y="2560320"/>
            <a:ext cx="365760" cy="365760"/>
          </a:xfrm>
          <a:prstGeom prst="ellipse">
            <a:avLst/>
          </a:prstGeom>
          <a:solidFill>
            <a:srgbClr val="C03BC4"/>
          </a:solidFill>
          <a:ln w="12700">
            <a:solidFill>
              <a:srgbClr val="C03BC4"/>
            </a:solidFill>
            <a:prstDash val="solid"/>
          </a:ln>
        </p:spPr>
        <p:txBody>
          <a:bodyPr/>
          <a:lstStyle/>
          <a:p>
            <a:endParaRPr lang="en-ZA"/>
          </a:p>
        </p:txBody>
      </p:sp>
      <p:sp>
        <p:nvSpPr>
          <p:cNvPr id="11" name="Text 9"/>
          <p:cNvSpPr/>
          <p:nvPr/>
        </p:nvSpPr>
        <p:spPr>
          <a:xfrm>
            <a:off x="5577840" y="2560320"/>
            <a:ext cx="365760" cy="3657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a:t>
            </a:r>
            <a:endParaRPr lang="en-US" sz="2000" dirty="0"/>
          </a:p>
        </p:txBody>
      </p:sp>
      <p:sp>
        <p:nvSpPr>
          <p:cNvPr id="12" name="Text 10"/>
          <p:cNvSpPr/>
          <p:nvPr/>
        </p:nvSpPr>
        <p:spPr>
          <a:xfrm>
            <a:off x="6080760" y="2468880"/>
            <a:ext cx="5577840" cy="32004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MAICPP benefits</a:t>
            </a:r>
            <a:endParaRPr lang="en-US" sz="1400" dirty="0"/>
          </a:p>
        </p:txBody>
      </p:sp>
      <p:sp>
        <p:nvSpPr>
          <p:cNvPr id="13" name="Text 11"/>
          <p:cNvSpPr/>
          <p:nvPr/>
        </p:nvSpPr>
        <p:spPr>
          <a:xfrm>
            <a:off x="6080760" y="2788920"/>
            <a:ext cx="557784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Partner Launch · Success Core · Success Expanded packages</a:t>
            </a:r>
            <a:endParaRPr lang="en-US" sz="1100" dirty="0"/>
          </a:p>
        </p:txBody>
      </p:sp>
      <p:sp>
        <p:nvSpPr>
          <p:cNvPr id="14" name="Shape 12"/>
          <p:cNvSpPr/>
          <p:nvPr/>
        </p:nvSpPr>
        <p:spPr>
          <a:xfrm>
            <a:off x="5577840" y="3291840"/>
            <a:ext cx="365760" cy="365760"/>
          </a:xfrm>
          <a:prstGeom prst="ellipse">
            <a:avLst/>
          </a:prstGeom>
          <a:solidFill>
            <a:srgbClr val="C03BC4"/>
          </a:solidFill>
          <a:ln w="12700">
            <a:solidFill>
              <a:srgbClr val="C03BC4"/>
            </a:solidFill>
            <a:prstDash val="solid"/>
          </a:ln>
        </p:spPr>
        <p:txBody>
          <a:bodyPr/>
          <a:lstStyle/>
          <a:p>
            <a:endParaRPr lang="en-ZA"/>
          </a:p>
        </p:txBody>
      </p:sp>
      <p:sp>
        <p:nvSpPr>
          <p:cNvPr id="15" name="Text 13"/>
          <p:cNvSpPr/>
          <p:nvPr/>
        </p:nvSpPr>
        <p:spPr>
          <a:xfrm>
            <a:off x="5577840" y="3291840"/>
            <a:ext cx="365760" cy="3657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a:t>
            </a:r>
            <a:endParaRPr lang="en-US" sz="2000" dirty="0"/>
          </a:p>
        </p:txBody>
      </p:sp>
      <p:sp>
        <p:nvSpPr>
          <p:cNvPr id="16" name="Text 14"/>
          <p:cNvSpPr/>
          <p:nvPr/>
        </p:nvSpPr>
        <p:spPr>
          <a:xfrm>
            <a:off x="6080760" y="3200400"/>
            <a:ext cx="5577840" cy="32004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ESI skilling funds</a:t>
            </a:r>
            <a:endParaRPr lang="en-US" sz="1400" dirty="0"/>
          </a:p>
        </p:txBody>
      </p:sp>
      <p:sp>
        <p:nvSpPr>
          <p:cNvPr id="17" name="Text 15"/>
          <p:cNvSpPr/>
          <p:nvPr/>
        </p:nvSpPr>
        <p:spPr>
          <a:xfrm>
            <a:off x="6080760" y="3520440"/>
            <a:ext cx="557784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Enterprise Skilling Initiative to close your customer skills gap</a:t>
            </a:r>
            <a:endParaRPr lang="en-US" sz="1100" dirty="0"/>
          </a:p>
        </p:txBody>
      </p:sp>
      <p:sp>
        <p:nvSpPr>
          <p:cNvPr id="18" name="Shape 16"/>
          <p:cNvSpPr/>
          <p:nvPr/>
        </p:nvSpPr>
        <p:spPr>
          <a:xfrm>
            <a:off x="5577840" y="4023360"/>
            <a:ext cx="365760" cy="365760"/>
          </a:xfrm>
          <a:prstGeom prst="ellipse">
            <a:avLst/>
          </a:prstGeom>
          <a:solidFill>
            <a:srgbClr val="C03BC4"/>
          </a:solidFill>
          <a:ln w="12700">
            <a:solidFill>
              <a:srgbClr val="C03BC4"/>
            </a:solidFill>
            <a:prstDash val="solid"/>
          </a:ln>
        </p:spPr>
        <p:txBody>
          <a:bodyPr/>
          <a:lstStyle/>
          <a:p>
            <a:endParaRPr lang="en-ZA"/>
          </a:p>
        </p:txBody>
      </p:sp>
      <p:sp>
        <p:nvSpPr>
          <p:cNvPr id="19" name="Text 17"/>
          <p:cNvSpPr/>
          <p:nvPr/>
        </p:nvSpPr>
        <p:spPr>
          <a:xfrm>
            <a:off x="5577840" y="4023360"/>
            <a:ext cx="365760" cy="3657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a:t>
            </a:r>
            <a:endParaRPr lang="en-US" sz="2000" dirty="0"/>
          </a:p>
        </p:txBody>
      </p:sp>
      <p:sp>
        <p:nvSpPr>
          <p:cNvPr id="20" name="Text 18"/>
          <p:cNvSpPr/>
          <p:nvPr/>
        </p:nvSpPr>
        <p:spPr>
          <a:xfrm>
            <a:off x="6080760" y="3931920"/>
            <a:ext cx="5577840" cy="32004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AMM · Azure Migrate and Modernize</a:t>
            </a:r>
            <a:endParaRPr lang="en-US" sz="1400" dirty="0"/>
          </a:p>
        </p:txBody>
      </p:sp>
      <p:sp>
        <p:nvSpPr>
          <p:cNvPr id="21" name="Text 19"/>
          <p:cNvSpPr/>
          <p:nvPr/>
        </p:nvSpPr>
        <p:spPr>
          <a:xfrm>
            <a:off x="6080760" y="4251960"/>
            <a:ext cx="557784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Co-funding for landing zones and migrations</a:t>
            </a:r>
            <a:endParaRPr lang="en-US" sz="1100" dirty="0"/>
          </a:p>
        </p:txBody>
      </p:sp>
      <p:sp>
        <p:nvSpPr>
          <p:cNvPr id="22" name="Shape 20"/>
          <p:cNvSpPr/>
          <p:nvPr/>
        </p:nvSpPr>
        <p:spPr>
          <a:xfrm>
            <a:off x="5577840" y="4754880"/>
            <a:ext cx="365760" cy="365760"/>
          </a:xfrm>
          <a:prstGeom prst="ellipse">
            <a:avLst/>
          </a:prstGeom>
          <a:solidFill>
            <a:srgbClr val="C03BC4"/>
          </a:solidFill>
          <a:ln w="12700">
            <a:solidFill>
              <a:srgbClr val="C03BC4"/>
            </a:solidFill>
            <a:prstDash val="solid"/>
          </a:ln>
        </p:spPr>
        <p:txBody>
          <a:bodyPr/>
          <a:lstStyle/>
          <a:p>
            <a:endParaRPr lang="en-ZA"/>
          </a:p>
        </p:txBody>
      </p:sp>
      <p:sp>
        <p:nvSpPr>
          <p:cNvPr id="23" name="Text 21"/>
          <p:cNvSpPr/>
          <p:nvPr/>
        </p:nvSpPr>
        <p:spPr>
          <a:xfrm>
            <a:off x="5577840" y="4754880"/>
            <a:ext cx="365760" cy="3657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a:t>
            </a:r>
            <a:endParaRPr lang="en-US" sz="2000" dirty="0"/>
          </a:p>
        </p:txBody>
      </p:sp>
      <p:sp>
        <p:nvSpPr>
          <p:cNvPr id="24" name="Text 22"/>
          <p:cNvSpPr/>
          <p:nvPr/>
        </p:nvSpPr>
        <p:spPr>
          <a:xfrm>
            <a:off x="6080760" y="4663440"/>
            <a:ext cx="5577840" cy="32004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AI-specific offers</a:t>
            </a:r>
            <a:endParaRPr lang="en-US" sz="1400" dirty="0"/>
          </a:p>
        </p:txBody>
      </p:sp>
      <p:sp>
        <p:nvSpPr>
          <p:cNvPr id="25" name="Text 23"/>
          <p:cNvSpPr/>
          <p:nvPr/>
        </p:nvSpPr>
        <p:spPr>
          <a:xfrm>
            <a:off x="6080760" y="4983480"/>
            <a:ext cx="557784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Solution Assessments, POC co-funding, agent factory programme</a:t>
            </a:r>
            <a:endParaRPr lang="en-US" sz="1100" dirty="0"/>
          </a:p>
        </p:txBody>
      </p:sp>
      <p:sp>
        <p:nvSpPr>
          <p:cNvPr id="26" name="Shape 24"/>
          <p:cNvSpPr/>
          <p:nvPr/>
        </p:nvSpPr>
        <p:spPr>
          <a:xfrm>
            <a:off x="5577840" y="5486400"/>
            <a:ext cx="365760" cy="365760"/>
          </a:xfrm>
          <a:prstGeom prst="ellipse">
            <a:avLst/>
          </a:prstGeom>
          <a:solidFill>
            <a:srgbClr val="C03BC4"/>
          </a:solidFill>
          <a:ln w="12700">
            <a:solidFill>
              <a:srgbClr val="C03BC4"/>
            </a:solidFill>
            <a:prstDash val="solid"/>
          </a:ln>
        </p:spPr>
        <p:txBody>
          <a:bodyPr/>
          <a:lstStyle/>
          <a:p>
            <a:endParaRPr lang="en-ZA"/>
          </a:p>
        </p:txBody>
      </p:sp>
      <p:sp>
        <p:nvSpPr>
          <p:cNvPr id="27" name="Text 25"/>
          <p:cNvSpPr/>
          <p:nvPr/>
        </p:nvSpPr>
        <p:spPr>
          <a:xfrm>
            <a:off x="5577840" y="5486400"/>
            <a:ext cx="365760" cy="36576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a:t>
            </a:r>
            <a:endParaRPr lang="en-US" sz="2000" dirty="0"/>
          </a:p>
        </p:txBody>
      </p:sp>
      <p:sp>
        <p:nvSpPr>
          <p:cNvPr id="28" name="Text 26"/>
          <p:cNvSpPr/>
          <p:nvPr/>
        </p:nvSpPr>
        <p:spPr>
          <a:xfrm>
            <a:off x="6080760" y="5394960"/>
            <a:ext cx="5577840" cy="32004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Commercial marketplace</a:t>
            </a:r>
            <a:endParaRPr lang="en-US" sz="1400" dirty="0"/>
          </a:p>
        </p:txBody>
      </p:sp>
      <p:sp>
        <p:nvSpPr>
          <p:cNvPr id="29" name="Text 27"/>
          <p:cNvSpPr/>
          <p:nvPr/>
        </p:nvSpPr>
        <p:spPr>
          <a:xfrm>
            <a:off x="6080760" y="5715000"/>
            <a:ext cx="5577840" cy="32004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Transactable IP co-sell · IP Co-sell Ready / Featured status</a:t>
            </a:r>
            <a:endParaRPr lang="en-US" sz="1100" dirty="0"/>
          </a:p>
        </p:txBody>
      </p:sp>
      <p:pic>
        <p:nvPicPr>
          <p:cNvPr id="30"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1" name="Text 28"/>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2" name="Text 29"/>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7 / 15</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RULES OF ENGAGEMENT</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How we work together · no surprises</a:t>
            </a:r>
            <a:endParaRPr lang="en-US" sz="3200" dirty="0"/>
          </a:p>
        </p:txBody>
      </p:sp>
      <p:sp>
        <p:nvSpPr>
          <p:cNvPr id="5" name="Shape 3"/>
          <p:cNvSpPr/>
          <p:nvPr/>
        </p:nvSpPr>
        <p:spPr>
          <a:xfrm>
            <a:off x="548640" y="1920240"/>
            <a:ext cx="11064240" cy="914400"/>
          </a:xfrm>
          <a:prstGeom prst="roundRect">
            <a:avLst>
              <a:gd name="adj" fmla="val 8000"/>
            </a:avLst>
          </a:prstGeom>
          <a:solidFill>
            <a:srgbClr val="FFFFFF"/>
          </a:solidFill>
          <a:ln w="12700">
            <a:solidFill>
              <a:srgbClr val="E1E6EF"/>
            </a:solidFill>
            <a:prstDash val="solid"/>
          </a:ln>
        </p:spPr>
        <p:txBody>
          <a:bodyPr/>
          <a:lstStyle/>
          <a:p>
            <a:endParaRPr lang="en-ZA"/>
          </a:p>
        </p:txBody>
      </p:sp>
      <p:sp>
        <p:nvSpPr>
          <p:cNvPr id="6" name="Shape 4"/>
          <p:cNvSpPr/>
          <p:nvPr/>
        </p:nvSpPr>
        <p:spPr>
          <a:xfrm>
            <a:off x="731520" y="2103120"/>
            <a:ext cx="548640" cy="548640"/>
          </a:xfrm>
          <a:prstGeom prst="ellipse">
            <a:avLst/>
          </a:prstGeom>
          <a:solidFill>
            <a:srgbClr val="0078D4"/>
          </a:solidFill>
          <a:ln w="12700">
            <a:solidFill>
              <a:srgbClr val="0078D4"/>
            </a:solidFill>
            <a:prstDash val="solid"/>
          </a:ln>
        </p:spPr>
        <p:txBody>
          <a:bodyPr/>
          <a:lstStyle/>
          <a:p>
            <a:endParaRPr lang="en-ZA"/>
          </a:p>
        </p:txBody>
      </p:sp>
      <p:sp>
        <p:nvSpPr>
          <p:cNvPr id="7" name="Text 5"/>
          <p:cNvSpPr/>
          <p:nvPr/>
        </p:nvSpPr>
        <p:spPr>
          <a:xfrm>
            <a:off x="731520" y="2103120"/>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sp>
        <p:nvSpPr>
          <p:cNvPr id="8" name="Text 6"/>
          <p:cNvSpPr/>
          <p:nvPr/>
        </p:nvSpPr>
        <p:spPr>
          <a:xfrm>
            <a:off x="1463040" y="2011680"/>
            <a:ext cx="9875520" cy="41148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Microsoft enables · you deliver</a:t>
            </a:r>
            <a:endParaRPr lang="en-US" sz="1600" dirty="0"/>
          </a:p>
        </p:txBody>
      </p:sp>
      <p:sp>
        <p:nvSpPr>
          <p:cNvPr id="9" name="Text 7"/>
          <p:cNvSpPr/>
          <p:nvPr/>
        </p:nvSpPr>
        <p:spPr>
          <a:xfrm>
            <a:off x="1463040" y="2377440"/>
            <a:ext cx="9875520" cy="41148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We architect, govern, steward consumption. You execute build and run.</a:t>
            </a:r>
            <a:endParaRPr lang="en-US" sz="1200" dirty="0"/>
          </a:p>
        </p:txBody>
      </p:sp>
      <p:sp>
        <p:nvSpPr>
          <p:cNvPr id="10" name="Shape 8"/>
          <p:cNvSpPr/>
          <p:nvPr/>
        </p:nvSpPr>
        <p:spPr>
          <a:xfrm>
            <a:off x="548640" y="2971800"/>
            <a:ext cx="11064240" cy="914400"/>
          </a:xfrm>
          <a:prstGeom prst="roundRect">
            <a:avLst>
              <a:gd name="adj" fmla="val 8000"/>
            </a:avLst>
          </a:prstGeom>
          <a:solidFill>
            <a:srgbClr val="FFFFFF"/>
          </a:solidFill>
          <a:ln w="12700">
            <a:solidFill>
              <a:srgbClr val="E1E6EF"/>
            </a:solidFill>
            <a:prstDash val="solid"/>
          </a:ln>
        </p:spPr>
        <p:txBody>
          <a:bodyPr/>
          <a:lstStyle/>
          <a:p>
            <a:endParaRPr lang="en-ZA"/>
          </a:p>
        </p:txBody>
      </p:sp>
      <p:sp>
        <p:nvSpPr>
          <p:cNvPr id="11" name="Shape 9"/>
          <p:cNvSpPr/>
          <p:nvPr/>
        </p:nvSpPr>
        <p:spPr>
          <a:xfrm>
            <a:off x="731520" y="3154680"/>
            <a:ext cx="548640" cy="548640"/>
          </a:xfrm>
          <a:prstGeom prst="ellipse">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731520" y="3154680"/>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sp>
        <p:nvSpPr>
          <p:cNvPr id="13" name="Text 11"/>
          <p:cNvSpPr/>
          <p:nvPr/>
        </p:nvSpPr>
        <p:spPr>
          <a:xfrm>
            <a:off x="1463040" y="3063240"/>
            <a:ext cx="9875520" cy="41148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You don't own Azure commercial</a:t>
            </a:r>
            <a:endParaRPr lang="en-US" sz="1600" dirty="0"/>
          </a:p>
        </p:txBody>
      </p:sp>
      <p:sp>
        <p:nvSpPr>
          <p:cNvPr id="14" name="Text 12"/>
          <p:cNvSpPr/>
          <p:nvPr/>
        </p:nvSpPr>
        <p:spPr>
          <a:xfrm>
            <a:off x="1463040" y="3429000"/>
            <a:ext cx="9875520" cy="41148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MACC, ACR, and Copilot seats remain Microsoft-primed. Your margin is on services and Azure CSP resale.</a:t>
            </a:r>
            <a:endParaRPr lang="en-US" sz="1200" dirty="0"/>
          </a:p>
        </p:txBody>
      </p:sp>
      <p:sp>
        <p:nvSpPr>
          <p:cNvPr id="15" name="Shape 13"/>
          <p:cNvSpPr/>
          <p:nvPr/>
        </p:nvSpPr>
        <p:spPr>
          <a:xfrm>
            <a:off x="548640" y="4023360"/>
            <a:ext cx="11064240" cy="914400"/>
          </a:xfrm>
          <a:prstGeom prst="roundRect">
            <a:avLst>
              <a:gd name="adj" fmla="val 8000"/>
            </a:avLst>
          </a:prstGeom>
          <a:solidFill>
            <a:srgbClr val="FFFFFF"/>
          </a:solidFill>
          <a:ln w="12700">
            <a:solidFill>
              <a:srgbClr val="E1E6EF"/>
            </a:solidFill>
            <a:prstDash val="solid"/>
          </a:ln>
        </p:spPr>
        <p:txBody>
          <a:bodyPr/>
          <a:lstStyle/>
          <a:p>
            <a:endParaRPr lang="en-ZA"/>
          </a:p>
        </p:txBody>
      </p:sp>
      <p:sp>
        <p:nvSpPr>
          <p:cNvPr id="16" name="Shape 14"/>
          <p:cNvSpPr/>
          <p:nvPr/>
        </p:nvSpPr>
        <p:spPr>
          <a:xfrm>
            <a:off x="731520" y="4206240"/>
            <a:ext cx="548640" cy="548640"/>
          </a:xfrm>
          <a:prstGeom prst="ellipse">
            <a:avLst/>
          </a:prstGeom>
          <a:solidFill>
            <a:srgbClr val="0078D4"/>
          </a:solidFill>
          <a:ln w="12700">
            <a:solidFill>
              <a:srgbClr val="0078D4"/>
            </a:solidFill>
            <a:prstDash val="solid"/>
          </a:ln>
        </p:spPr>
        <p:txBody>
          <a:bodyPr/>
          <a:lstStyle/>
          <a:p>
            <a:endParaRPr lang="en-ZA"/>
          </a:p>
        </p:txBody>
      </p:sp>
      <p:sp>
        <p:nvSpPr>
          <p:cNvPr id="17" name="Text 15"/>
          <p:cNvSpPr/>
          <p:nvPr/>
        </p:nvSpPr>
        <p:spPr>
          <a:xfrm>
            <a:off x="731520" y="4206240"/>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sp>
        <p:nvSpPr>
          <p:cNvPr id="18" name="Text 16"/>
          <p:cNvSpPr/>
          <p:nvPr/>
        </p:nvSpPr>
        <p:spPr>
          <a:xfrm>
            <a:off x="1463040" y="4114800"/>
            <a:ext cx="9875520" cy="41148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Responsible AI is jointly owned</a:t>
            </a:r>
            <a:endParaRPr lang="en-US" sz="1600" dirty="0"/>
          </a:p>
        </p:txBody>
      </p:sp>
      <p:sp>
        <p:nvSpPr>
          <p:cNvPr id="19" name="Text 17"/>
          <p:cNvSpPr/>
          <p:nvPr/>
        </p:nvSpPr>
        <p:spPr>
          <a:xfrm>
            <a:off x="1463040" y="4480560"/>
            <a:ext cx="9875520" cy="41148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Non-negotiable. Every pilot, every workload — both sides enforce governance.</a:t>
            </a:r>
            <a:endParaRPr lang="en-US" sz="1200" dirty="0"/>
          </a:p>
        </p:txBody>
      </p:sp>
      <p:sp>
        <p:nvSpPr>
          <p:cNvPr id="20" name="Shape 18"/>
          <p:cNvSpPr/>
          <p:nvPr/>
        </p:nvSpPr>
        <p:spPr>
          <a:xfrm>
            <a:off x="548640" y="5074920"/>
            <a:ext cx="11064240" cy="914400"/>
          </a:xfrm>
          <a:prstGeom prst="roundRect">
            <a:avLst>
              <a:gd name="adj" fmla="val 8000"/>
            </a:avLst>
          </a:prstGeom>
          <a:solidFill>
            <a:srgbClr val="FFFFFF"/>
          </a:solidFill>
          <a:ln w="12700">
            <a:solidFill>
              <a:srgbClr val="E1E6EF"/>
            </a:solidFill>
            <a:prstDash val="solid"/>
          </a:ln>
        </p:spPr>
        <p:txBody>
          <a:bodyPr/>
          <a:lstStyle/>
          <a:p>
            <a:endParaRPr lang="en-ZA"/>
          </a:p>
        </p:txBody>
      </p:sp>
      <p:sp>
        <p:nvSpPr>
          <p:cNvPr id="21" name="Shape 19"/>
          <p:cNvSpPr/>
          <p:nvPr/>
        </p:nvSpPr>
        <p:spPr>
          <a:xfrm>
            <a:off x="731520" y="5257800"/>
            <a:ext cx="548640" cy="548640"/>
          </a:xfrm>
          <a:prstGeom prst="ellipse">
            <a:avLst/>
          </a:prstGeom>
          <a:solidFill>
            <a:srgbClr val="0078D4"/>
          </a:solidFill>
          <a:ln w="12700">
            <a:solidFill>
              <a:srgbClr val="0078D4"/>
            </a:solidFill>
            <a:prstDash val="solid"/>
          </a:ln>
        </p:spPr>
        <p:txBody>
          <a:bodyPr/>
          <a:lstStyle/>
          <a:p>
            <a:endParaRPr lang="en-ZA"/>
          </a:p>
        </p:txBody>
      </p:sp>
      <p:sp>
        <p:nvSpPr>
          <p:cNvPr id="22" name="Text 20"/>
          <p:cNvSpPr/>
          <p:nvPr/>
        </p:nvSpPr>
        <p:spPr>
          <a:xfrm>
            <a:off x="731520" y="5257800"/>
            <a:ext cx="548640" cy="548640"/>
          </a:xfrm>
          <a:prstGeom prst="rect">
            <a:avLst/>
          </a:prstGeom>
          <a:noFill/>
          <a:ln/>
        </p:spPr>
        <p:txBody>
          <a:bodyPr wrap="square"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sp>
        <p:nvSpPr>
          <p:cNvPr id="23" name="Text 21"/>
          <p:cNvSpPr/>
          <p:nvPr/>
        </p:nvSpPr>
        <p:spPr>
          <a:xfrm>
            <a:off x="1463040" y="5166360"/>
            <a:ext cx="9875520" cy="411480"/>
          </a:xfrm>
          <a:prstGeom prst="rect">
            <a:avLst/>
          </a:prstGeom>
          <a:noFill/>
          <a:ln/>
        </p:spPr>
        <p:txBody>
          <a:bodyPr wrap="square" rtlCol="0" anchor="ctr"/>
          <a:lstStyle/>
          <a:p>
            <a:pPr marL="0" indent="0">
              <a:buNone/>
            </a:pPr>
            <a:r>
              <a:rPr lang="en-US" sz="1600" b="1" dirty="0">
                <a:solidFill>
                  <a:srgbClr val="091F2C"/>
                </a:solidFill>
                <a:latin typeface="Segoe UI" pitchFamily="34" charset="0"/>
                <a:ea typeface="Segoe UI" pitchFamily="34" charset="-122"/>
                <a:cs typeface="Segoe UI" pitchFamily="34" charset="-120"/>
              </a:rPr>
              <a:t>One face to the customer</a:t>
            </a:r>
            <a:endParaRPr lang="en-US" sz="1600" dirty="0"/>
          </a:p>
        </p:txBody>
      </p:sp>
      <p:sp>
        <p:nvSpPr>
          <p:cNvPr id="24" name="Text 22"/>
          <p:cNvSpPr/>
          <p:nvPr/>
        </p:nvSpPr>
        <p:spPr>
          <a:xfrm>
            <a:off x="1463040" y="5532120"/>
            <a:ext cx="9875520" cy="411480"/>
          </a:xfrm>
          <a:prstGeom prst="rect">
            <a:avLst/>
          </a:prstGeom>
          <a:noFill/>
          <a:ln/>
        </p:spPr>
        <p:txBody>
          <a:bodyPr wrap="square" rtlCol="0" anchor="ctr"/>
          <a:lstStyle/>
          <a:p>
            <a:pPr marL="0" indent="0">
              <a:buNone/>
            </a:pPr>
            <a:r>
              <a:rPr lang="en-US" sz="1200" dirty="0">
                <a:solidFill>
                  <a:srgbClr val="4B5563"/>
                </a:solidFill>
                <a:latin typeface="Segoe UI" pitchFamily="34" charset="0"/>
                <a:ea typeface="Segoe UI" pitchFamily="34" charset="-122"/>
                <a:cs typeface="Segoe UI" pitchFamily="34" charset="-120"/>
              </a:rPr>
              <a:t>Joint account plans, joint steerco, shared pipeline. No duplicate discovery, no conflicting designs.</a:t>
            </a:r>
            <a:endParaRPr lang="en-US" sz="1200" dirty="0"/>
          </a:p>
        </p:txBody>
      </p:sp>
      <p:pic>
        <p:nvPicPr>
          <p:cNvPr id="25"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6" name="Text 23"/>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7" name="Text 24"/>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8 / 15</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225B62"/>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225B62"/>
                </a:solidFill>
                <a:latin typeface="Segoe UI" pitchFamily="34" charset="0"/>
                <a:ea typeface="Segoe UI" pitchFamily="34" charset="-122"/>
                <a:cs typeface="Segoe UI" pitchFamily="34" charset="-120"/>
              </a:rPr>
              <a:t>CLOUD ACCELERATE FACTORY</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Zero-cost CSU delivery that frees your SOW for higher-margin scope</a:t>
            </a:r>
            <a:endParaRPr lang="en-US" sz="3200" dirty="0"/>
          </a:p>
        </p:txBody>
      </p:sp>
      <p:sp>
        <p:nvSpPr>
          <p:cNvPr id="5" name="Shape 3"/>
          <p:cNvSpPr/>
          <p:nvPr/>
        </p:nvSpPr>
        <p:spPr>
          <a:xfrm>
            <a:off x="548640" y="1691640"/>
            <a:ext cx="11064240" cy="777240"/>
          </a:xfrm>
          <a:prstGeom prst="roundRect">
            <a:avLst>
              <a:gd name="adj" fmla="val 9412"/>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37360"/>
            <a:ext cx="1097280" cy="685800"/>
          </a:xfrm>
          <a:prstGeom prst="rect">
            <a:avLst/>
          </a:prstGeom>
          <a:noFill/>
          <a:ln/>
        </p:spPr>
        <p:txBody>
          <a:bodyPr wrap="square" rtlCol="0" anchor="ctr"/>
          <a:lstStyle/>
          <a:p>
            <a:pPr marL="0" indent="0">
              <a:buNone/>
            </a:pPr>
            <a:r>
              <a:rPr lang="en-US" sz="3400" b="1" dirty="0">
                <a:solidFill>
                  <a:srgbClr val="C03BC4"/>
                </a:solidFill>
                <a:latin typeface="Segoe UI" pitchFamily="34" charset="0"/>
                <a:ea typeface="Segoe UI" pitchFamily="34" charset="-122"/>
                <a:cs typeface="Segoe UI" pitchFamily="34" charset="-120"/>
              </a:rPr>
              <a:t>$0</a:t>
            </a:r>
            <a:endParaRPr lang="en-US" sz="3400" dirty="0"/>
          </a:p>
        </p:txBody>
      </p:sp>
      <p:sp>
        <p:nvSpPr>
          <p:cNvPr id="7" name="Text 5"/>
          <p:cNvSpPr/>
          <p:nvPr/>
        </p:nvSpPr>
        <p:spPr>
          <a:xfrm>
            <a:off x="1920240" y="1737360"/>
            <a:ext cx="5852160" cy="6858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to customer &amp; partner — funded by Azure Migrate &amp; Modernize / Innovate / Accelerate</a:t>
            </a:r>
            <a:endParaRPr lang="en-US" sz="1200" dirty="0"/>
          </a:p>
        </p:txBody>
      </p:sp>
      <p:sp>
        <p:nvSpPr>
          <p:cNvPr id="8" name="Text 6"/>
          <p:cNvSpPr/>
          <p:nvPr/>
        </p:nvSpPr>
        <p:spPr>
          <a:xfrm>
            <a:off x="7863840" y="1737360"/>
            <a:ext cx="1371600" cy="685800"/>
          </a:xfrm>
          <a:prstGeom prst="rect">
            <a:avLst/>
          </a:prstGeom>
          <a:noFill/>
          <a:ln/>
        </p:spPr>
        <p:txBody>
          <a:bodyPr wrap="square" rtlCol="0" anchor="ctr"/>
          <a:lstStyle/>
          <a:p>
            <a:pPr marL="0" indent="0">
              <a:buNone/>
            </a:pPr>
            <a:r>
              <a:rPr lang="en-US" sz="1800" b="1" dirty="0">
                <a:solidFill>
                  <a:srgbClr val="FFB900"/>
                </a:solidFill>
                <a:latin typeface="Segoe UI" pitchFamily="34" charset="0"/>
                <a:ea typeface="Segoe UI" pitchFamily="34" charset="-122"/>
                <a:cs typeface="Segoe UI" pitchFamily="34" charset="-120"/>
              </a:rPr>
              <a:t>~2 weeks</a:t>
            </a:r>
            <a:endParaRPr lang="en-US" sz="1800" dirty="0"/>
          </a:p>
        </p:txBody>
      </p:sp>
      <p:sp>
        <p:nvSpPr>
          <p:cNvPr id="9" name="Text 7"/>
          <p:cNvSpPr/>
          <p:nvPr/>
        </p:nvSpPr>
        <p:spPr>
          <a:xfrm>
            <a:off x="9144000" y="1737360"/>
            <a:ext cx="2468880" cy="6858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nomination to delivery start</a:t>
            </a:r>
            <a:endParaRPr lang="en-US" sz="1200" dirty="0"/>
          </a:p>
        </p:txBody>
      </p:sp>
      <p:sp>
        <p:nvSpPr>
          <p:cNvPr id="10" name="Shape 8"/>
          <p:cNvSpPr/>
          <p:nvPr/>
        </p:nvSpPr>
        <p:spPr>
          <a:xfrm>
            <a:off x="548640" y="2697480"/>
            <a:ext cx="5486400" cy="3108960"/>
          </a:xfrm>
          <a:prstGeom prst="roundRect">
            <a:avLst>
              <a:gd name="adj" fmla="val 2941"/>
            </a:avLst>
          </a:prstGeom>
          <a:solidFill>
            <a:srgbClr val="FFF8F5"/>
          </a:solidFill>
          <a:ln w="12700">
            <a:solidFill>
              <a:srgbClr val="E1E6EF"/>
            </a:solidFill>
            <a:prstDash val="solid"/>
          </a:ln>
        </p:spPr>
        <p:txBody>
          <a:bodyPr/>
          <a:lstStyle/>
          <a:p>
            <a:endParaRPr lang="en-ZA"/>
          </a:p>
        </p:txBody>
      </p:sp>
      <p:sp>
        <p:nvSpPr>
          <p:cNvPr id="11" name="Text 9"/>
          <p:cNvSpPr/>
          <p:nvPr/>
        </p:nvSpPr>
        <p:spPr>
          <a:xfrm>
            <a:off x="777240" y="2788920"/>
            <a:ext cx="5029200" cy="274320"/>
          </a:xfrm>
          <a:prstGeom prst="rect">
            <a:avLst/>
          </a:prstGeom>
          <a:noFill/>
          <a:ln/>
        </p:spPr>
        <p:txBody>
          <a:bodyPr wrap="square" rtlCol="0" anchor="ctr"/>
          <a:lstStyle/>
          <a:p>
            <a:pPr marL="0" indent="0">
              <a:buNone/>
            </a:pPr>
            <a:r>
              <a:rPr lang="en-US" sz="1100" b="1" kern="0" spc="300" dirty="0">
                <a:solidFill>
                  <a:srgbClr val="225B62"/>
                </a:solidFill>
                <a:latin typeface="Segoe UI" pitchFamily="34" charset="0"/>
                <a:ea typeface="Segoe UI" pitchFamily="34" charset="-122"/>
                <a:cs typeface="Segoe UI" pitchFamily="34" charset="-120"/>
              </a:rPr>
              <a:t>FACTORY ABSORBS</a:t>
            </a:r>
            <a:endParaRPr lang="en-US" sz="1100" dirty="0"/>
          </a:p>
        </p:txBody>
      </p:sp>
      <p:sp>
        <p:nvSpPr>
          <p:cNvPr id="12" name="Text 10"/>
          <p:cNvSpPr/>
          <p:nvPr/>
        </p:nvSpPr>
        <p:spPr>
          <a:xfrm>
            <a:off x="777240" y="3035808"/>
            <a:ext cx="5029200" cy="365760"/>
          </a:xfrm>
          <a:prstGeom prst="rect">
            <a:avLst/>
          </a:prstGeom>
          <a:noFill/>
          <a:ln/>
        </p:spPr>
        <p:txBody>
          <a:bodyPr wrap="square" rtlCol="0" anchor="ctr"/>
          <a:lstStyle/>
          <a:p>
            <a:pPr marL="0" indent="0">
              <a:buNone/>
            </a:pPr>
            <a:r>
              <a:rPr lang="en-US" sz="1300" b="1" dirty="0">
                <a:solidFill>
                  <a:srgbClr val="091F2C"/>
                </a:solidFill>
                <a:latin typeface="Segoe UI" pitchFamily="34" charset="0"/>
                <a:ea typeface="Segoe UI" pitchFamily="34" charset="-122"/>
                <a:cs typeface="Segoe UI" pitchFamily="34" charset="-120"/>
              </a:rPr>
              <a:t>Predictable foundation work — at zero cost</a:t>
            </a:r>
            <a:endParaRPr lang="en-US" sz="1300" dirty="0"/>
          </a:p>
        </p:txBody>
      </p:sp>
      <p:sp>
        <p:nvSpPr>
          <p:cNvPr id="13" name="Shape 11"/>
          <p:cNvSpPr/>
          <p:nvPr/>
        </p:nvSpPr>
        <p:spPr>
          <a:xfrm>
            <a:off x="868680" y="3520440"/>
            <a:ext cx="128016" cy="128016"/>
          </a:xfrm>
          <a:prstGeom prst="ellipse">
            <a:avLst/>
          </a:prstGeom>
          <a:solidFill>
            <a:srgbClr val="225B62"/>
          </a:solidFill>
          <a:ln w="12700">
            <a:solidFill>
              <a:srgbClr val="225B62"/>
            </a:solidFill>
            <a:prstDash val="solid"/>
          </a:ln>
        </p:spPr>
        <p:txBody>
          <a:bodyPr/>
          <a:lstStyle/>
          <a:p>
            <a:endParaRPr lang="en-ZA"/>
          </a:p>
        </p:txBody>
      </p:sp>
      <p:sp>
        <p:nvSpPr>
          <p:cNvPr id="14" name="Text 12"/>
          <p:cNvSpPr/>
          <p:nvPr/>
        </p:nvSpPr>
        <p:spPr>
          <a:xfrm>
            <a:off x="1097280" y="3456432"/>
            <a:ext cx="4754880" cy="292608"/>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F1 · GenAI Assistant MVP on Azure OpenAI</a:t>
            </a:r>
            <a:endParaRPr lang="en-US" sz="1100" dirty="0"/>
          </a:p>
        </p:txBody>
      </p:sp>
      <p:sp>
        <p:nvSpPr>
          <p:cNvPr id="15" name="Shape 13"/>
          <p:cNvSpPr/>
          <p:nvPr/>
        </p:nvSpPr>
        <p:spPr>
          <a:xfrm>
            <a:off x="868680" y="3867912"/>
            <a:ext cx="128016" cy="128016"/>
          </a:xfrm>
          <a:prstGeom prst="ellipse">
            <a:avLst/>
          </a:prstGeom>
          <a:solidFill>
            <a:srgbClr val="225B62"/>
          </a:solidFill>
          <a:ln w="12700">
            <a:solidFill>
              <a:srgbClr val="225B62"/>
            </a:solidFill>
            <a:prstDash val="solid"/>
          </a:ln>
        </p:spPr>
        <p:txBody>
          <a:bodyPr/>
          <a:lstStyle/>
          <a:p>
            <a:endParaRPr lang="en-ZA"/>
          </a:p>
        </p:txBody>
      </p:sp>
      <p:sp>
        <p:nvSpPr>
          <p:cNvPr id="16" name="Text 14"/>
          <p:cNvSpPr/>
          <p:nvPr/>
        </p:nvSpPr>
        <p:spPr>
          <a:xfrm>
            <a:off x="1097280" y="3803904"/>
            <a:ext cx="4754880" cy="292608"/>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F2 · Azure Landing Zone (anchor of every CoE)</a:t>
            </a:r>
            <a:endParaRPr lang="en-US" sz="1100" dirty="0"/>
          </a:p>
        </p:txBody>
      </p:sp>
      <p:sp>
        <p:nvSpPr>
          <p:cNvPr id="17" name="Shape 15"/>
          <p:cNvSpPr/>
          <p:nvPr/>
        </p:nvSpPr>
        <p:spPr>
          <a:xfrm>
            <a:off x="868680" y="4215384"/>
            <a:ext cx="128016" cy="128016"/>
          </a:xfrm>
          <a:prstGeom prst="ellipse">
            <a:avLst/>
          </a:prstGeom>
          <a:solidFill>
            <a:srgbClr val="225B62"/>
          </a:solidFill>
          <a:ln w="12700">
            <a:solidFill>
              <a:srgbClr val="225B62"/>
            </a:solidFill>
            <a:prstDash val="solid"/>
          </a:ln>
        </p:spPr>
        <p:txBody>
          <a:bodyPr/>
          <a:lstStyle/>
          <a:p>
            <a:endParaRPr lang="en-ZA"/>
          </a:p>
        </p:txBody>
      </p:sp>
      <p:sp>
        <p:nvSpPr>
          <p:cNvPr id="18" name="Text 16"/>
          <p:cNvSpPr/>
          <p:nvPr/>
        </p:nvSpPr>
        <p:spPr>
          <a:xfrm>
            <a:off x="1097280" y="4151376"/>
            <a:ext cx="4754880" cy="292608"/>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F3–F4 · Real-time Intelligence · Lakehouse + DW</a:t>
            </a:r>
            <a:endParaRPr lang="en-US" sz="1100" dirty="0"/>
          </a:p>
        </p:txBody>
      </p:sp>
      <p:sp>
        <p:nvSpPr>
          <p:cNvPr id="19" name="Shape 17"/>
          <p:cNvSpPr/>
          <p:nvPr/>
        </p:nvSpPr>
        <p:spPr>
          <a:xfrm>
            <a:off x="868680" y="4562856"/>
            <a:ext cx="128016" cy="128016"/>
          </a:xfrm>
          <a:prstGeom prst="ellipse">
            <a:avLst/>
          </a:prstGeom>
          <a:solidFill>
            <a:srgbClr val="225B62"/>
          </a:solidFill>
          <a:ln w="12700">
            <a:solidFill>
              <a:srgbClr val="225B62"/>
            </a:solidFill>
            <a:prstDash val="solid"/>
          </a:ln>
        </p:spPr>
        <p:txBody>
          <a:bodyPr/>
          <a:lstStyle/>
          <a:p>
            <a:endParaRPr lang="en-ZA"/>
          </a:p>
        </p:txBody>
      </p:sp>
      <p:sp>
        <p:nvSpPr>
          <p:cNvPr id="20" name="Text 18"/>
          <p:cNvSpPr/>
          <p:nvPr/>
        </p:nvSpPr>
        <p:spPr>
          <a:xfrm>
            <a:off x="1097280" y="4498848"/>
            <a:ext cx="4754880" cy="292608"/>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F5 · Power BI to Fabric migration</a:t>
            </a:r>
            <a:endParaRPr lang="en-US" sz="1100" dirty="0"/>
          </a:p>
        </p:txBody>
      </p:sp>
      <p:sp>
        <p:nvSpPr>
          <p:cNvPr id="21" name="Shape 19"/>
          <p:cNvSpPr/>
          <p:nvPr/>
        </p:nvSpPr>
        <p:spPr>
          <a:xfrm>
            <a:off x="868680" y="4910328"/>
            <a:ext cx="128016" cy="128016"/>
          </a:xfrm>
          <a:prstGeom prst="ellipse">
            <a:avLst/>
          </a:prstGeom>
          <a:solidFill>
            <a:srgbClr val="225B62"/>
          </a:solidFill>
          <a:ln w="12700">
            <a:solidFill>
              <a:srgbClr val="225B62"/>
            </a:solidFill>
            <a:prstDash val="solid"/>
          </a:ln>
        </p:spPr>
        <p:txBody>
          <a:bodyPr/>
          <a:lstStyle/>
          <a:p>
            <a:endParaRPr lang="en-ZA"/>
          </a:p>
        </p:txBody>
      </p:sp>
      <p:sp>
        <p:nvSpPr>
          <p:cNvPr id="22" name="Text 20"/>
          <p:cNvSpPr/>
          <p:nvPr/>
        </p:nvSpPr>
        <p:spPr>
          <a:xfrm>
            <a:off x="1097280" y="4846320"/>
            <a:ext cx="4754880" cy="292608"/>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F6 · Arc enablement for hybrid AI</a:t>
            </a:r>
            <a:endParaRPr lang="en-US" sz="1100" dirty="0"/>
          </a:p>
        </p:txBody>
      </p:sp>
      <p:sp>
        <p:nvSpPr>
          <p:cNvPr id="23" name="Shape 21"/>
          <p:cNvSpPr/>
          <p:nvPr/>
        </p:nvSpPr>
        <p:spPr>
          <a:xfrm>
            <a:off x="868680" y="5257800"/>
            <a:ext cx="128016" cy="128016"/>
          </a:xfrm>
          <a:prstGeom prst="ellipse">
            <a:avLst/>
          </a:prstGeom>
          <a:solidFill>
            <a:srgbClr val="225B62"/>
          </a:solidFill>
          <a:ln w="12700">
            <a:solidFill>
              <a:srgbClr val="225B62"/>
            </a:solidFill>
            <a:prstDash val="solid"/>
          </a:ln>
        </p:spPr>
        <p:txBody>
          <a:bodyPr/>
          <a:lstStyle/>
          <a:p>
            <a:endParaRPr lang="en-ZA"/>
          </a:p>
        </p:txBody>
      </p:sp>
      <p:sp>
        <p:nvSpPr>
          <p:cNvPr id="24" name="Text 22"/>
          <p:cNvSpPr/>
          <p:nvPr/>
        </p:nvSpPr>
        <p:spPr>
          <a:xfrm>
            <a:off x="1097280" y="5193792"/>
            <a:ext cx="4754880" cy="292608"/>
          </a:xfrm>
          <a:prstGeom prst="rect">
            <a:avLst/>
          </a:prstGeom>
          <a:noFill/>
          <a:ln/>
        </p:spPr>
        <p:txBody>
          <a:bodyPr wrap="square" rtlCol="0" anchor="ctr"/>
          <a:lstStyle/>
          <a:p>
            <a:pPr marL="0" indent="0">
              <a:buNone/>
            </a:pPr>
            <a:r>
              <a:rPr lang="en-US" sz="1100" dirty="0">
                <a:solidFill>
                  <a:srgbClr val="091F2C"/>
                </a:solidFill>
                <a:latin typeface="Segoe UI" pitchFamily="34" charset="0"/>
                <a:ea typeface="Segoe UI" pitchFamily="34" charset="-122"/>
                <a:cs typeface="Segoe UI" pitchFamily="34" charset="-120"/>
              </a:rPr>
              <a:t>F7–F10 · App / Defender / Sentinel / Infra &amp; DB</a:t>
            </a:r>
            <a:endParaRPr lang="en-US" sz="1100" dirty="0"/>
          </a:p>
        </p:txBody>
      </p:sp>
      <p:sp>
        <p:nvSpPr>
          <p:cNvPr id="25" name="Shape 23"/>
          <p:cNvSpPr/>
          <p:nvPr/>
        </p:nvSpPr>
        <p:spPr>
          <a:xfrm>
            <a:off x="6172200" y="2697480"/>
            <a:ext cx="5486400" cy="3108960"/>
          </a:xfrm>
          <a:prstGeom prst="roundRect">
            <a:avLst>
              <a:gd name="adj" fmla="val 2941"/>
            </a:avLst>
          </a:prstGeom>
          <a:solidFill>
            <a:srgbClr val="091F2C"/>
          </a:solidFill>
          <a:ln w="12700">
            <a:solidFill>
              <a:srgbClr val="091F2C"/>
            </a:solidFill>
            <a:prstDash val="solid"/>
          </a:ln>
        </p:spPr>
        <p:txBody>
          <a:bodyPr/>
          <a:lstStyle/>
          <a:p>
            <a:endParaRPr lang="en-ZA"/>
          </a:p>
        </p:txBody>
      </p:sp>
      <p:sp>
        <p:nvSpPr>
          <p:cNvPr id="26" name="Text 24"/>
          <p:cNvSpPr/>
          <p:nvPr/>
        </p:nvSpPr>
        <p:spPr>
          <a:xfrm>
            <a:off x="6400800" y="2788920"/>
            <a:ext cx="5029200" cy="274320"/>
          </a:xfrm>
          <a:prstGeom prst="rect">
            <a:avLst/>
          </a:prstGeom>
          <a:noFill/>
          <a:ln/>
        </p:spPr>
        <p:txBody>
          <a:bodyPr wrap="square" rtlCol="0" anchor="ctr"/>
          <a:lstStyle/>
          <a:p>
            <a:pPr marL="0" indent="0">
              <a:buNone/>
            </a:pPr>
            <a:r>
              <a:rPr lang="en-US" sz="1100" b="1" kern="0" spc="300" dirty="0">
                <a:solidFill>
                  <a:srgbClr val="FFB900"/>
                </a:solidFill>
                <a:latin typeface="Segoe UI" pitchFamily="34" charset="0"/>
                <a:ea typeface="Segoe UI" pitchFamily="34" charset="-122"/>
                <a:cs typeface="Segoe UI" pitchFamily="34" charset="-120"/>
              </a:rPr>
              <a:t>YOU KEEP</a:t>
            </a:r>
            <a:endParaRPr lang="en-US" sz="1100" dirty="0"/>
          </a:p>
        </p:txBody>
      </p:sp>
      <p:sp>
        <p:nvSpPr>
          <p:cNvPr id="27" name="Text 25"/>
          <p:cNvSpPr/>
          <p:nvPr/>
        </p:nvSpPr>
        <p:spPr>
          <a:xfrm>
            <a:off x="6400800" y="3035808"/>
            <a:ext cx="5029200" cy="365760"/>
          </a:xfrm>
          <a:prstGeom prst="rect">
            <a:avLst/>
          </a:prstGeom>
          <a:noFill/>
          <a:ln/>
        </p:spPr>
        <p:txBody>
          <a:bodyPr wrap="square"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The differentiated, high-margin scope</a:t>
            </a:r>
            <a:endParaRPr lang="en-US" sz="1300" dirty="0"/>
          </a:p>
        </p:txBody>
      </p:sp>
      <p:sp>
        <p:nvSpPr>
          <p:cNvPr id="28" name="Shape 26"/>
          <p:cNvSpPr/>
          <p:nvPr/>
        </p:nvSpPr>
        <p:spPr>
          <a:xfrm>
            <a:off x="6492240" y="3520440"/>
            <a:ext cx="128016" cy="128016"/>
          </a:xfrm>
          <a:prstGeom prst="ellipse">
            <a:avLst/>
          </a:prstGeom>
          <a:solidFill>
            <a:srgbClr val="FFB900"/>
          </a:solidFill>
          <a:ln w="12700">
            <a:solidFill>
              <a:srgbClr val="FFB900"/>
            </a:solidFill>
            <a:prstDash val="solid"/>
          </a:ln>
        </p:spPr>
        <p:txBody>
          <a:bodyPr/>
          <a:lstStyle/>
          <a:p>
            <a:endParaRPr lang="en-ZA"/>
          </a:p>
        </p:txBody>
      </p:sp>
      <p:sp>
        <p:nvSpPr>
          <p:cNvPr id="29" name="Text 27"/>
          <p:cNvSpPr/>
          <p:nvPr/>
        </p:nvSpPr>
        <p:spPr>
          <a:xfrm>
            <a:off x="6720840" y="3456432"/>
            <a:ext cx="4754880" cy="292608"/>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Custom architecture &amp; business logic build</a:t>
            </a:r>
            <a:endParaRPr lang="en-US" sz="1100" dirty="0"/>
          </a:p>
        </p:txBody>
      </p:sp>
      <p:sp>
        <p:nvSpPr>
          <p:cNvPr id="30" name="Shape 28"/>
          <p:cNvSpPr/>
          <p:nvPr/>
        </p:nvSpPr>
        <p:spPr>
          <a:xfrm>
            <a:off x="6492240" y="3867912"/>
            <a:ext cx="128016" cy="128016"/>
          </a:xfrm>
          <a:prstGeom prst="ellipse">
            <a:avLst/>
          </a:prstGeom>
          <a:solidFill>
            <a:srgbClr val="FFB900"/>
          </a:solidFill>
          <a:ln w="12700">
            <a:solidFill>
              <a:srgbClr val="FFB900"/>
            </a:solidFill>
            <a:prstDash val="solid"/>
          </a:ln>
        </p:spPr>
        <p:txBody>
          <a:bodyPr/>
          <a:lstStyle/>
          <a:p>
            <a:endParaRPr lang="en-ZA"/>
          </a:p>
        </p:txBody>
      </p:sp>
      <p:sp>
        <p:nvSpPr>
          <p:cNvPr id="31" name="Text 29"/>
          <p:cNvSpPr/>
          <p:nvPr/>
        </p:nvSpPr>
        <p:spPr>
          <a:xfrm>
            <a:off x="6720840" y="3803904"/>
            <a:ext cx="4754880" cy="292608"/>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M365 Copilot rollout &amp; adoption (out of Factory scope)</a:t>
            </a:r>
            <a:endParaRPr lang="en-US" sz="1100" dirty="0"/>
          </a:p>
        </p:txBody>
      </p:sp>
      <p:sp>
        <p:nvSpPr>
          <p:cNvPr id="32" name="Shape 30"/>
          <p:cNvSpPr/>
          <p:nvPr/>
        </p:nvSpPr>
        <p:spPr>
          <a:xfrm>
            <a:off x="6492240" y="4215384"/>
            <a:ext cx="128016" cy="128016"/>
          </a:xfrm>
          <a:prstGeom prst="ellipse">
            <a:avLst/>
          </a:prstGeom>
          <a:solidFill>
            <a:srgbClr val="FFB900"/>
          </a:solidFill>
          <a:ln w="12700">
            <a:solidFill>
              <a:srgbClr val="FFB900"/>
            </a:solidFill>
            <a:prstDash val="solid"/>
          </a:ln>
        </p:spPr>
        <p:txBody>
          <a:bodyPr/>
          <a:lstStyle/>
          <a:p>
            <a:endParaRPr lang="en-ZA"/>
          </a:p>
        </p:txBody>
      </p:sp>
      <p:sp>
        <p:nvSpPr>
          <p:cNvPr id="33" name="Text 31"/>
          <p:cNvSpPr/>
          <p:nvPr/>
        </p:nvSpPr>
        <p:spPr>
          <a:xfrm>
            <a:off x="6720840" y="4151376"/>
            <a:ext cx="4754880" cy="292608"/>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Copilot Studio agent build (out of Factory scope)</a:t>
            </a:r>
            <a:endParaRPr lang="en-US" sz="1100" dirty="0"/>
          </a:p>
        </p:txBody>
      </p:sp>
      <p:sp>
        <p:nvSpPr>
          <p:cNvPr id="34" name="Shape 32"/>
          <p:cNvSpPr/>
          <p:nvPr/>
        </p:nvSpPr>
        <p:spPr>
          <a:xfrm>
            <a:off x="6492240" y="4562856"/>
            <a:ext cx="128016" cy="128016"/>
          </a:xfrm>
          <a:prstGeom prst="ellipse">
            <a:avLst/>
          </a:prstGeom>
          <a:solidFill>
            <a:srgbClr val="FFB900"/>
          </a:solidFill>
          <a:ln w="12700">
            <a:solidFill>
              <a:srgbClr val="FFB900"/>
            </a:solidFill>
            <a:prstDash val="solid"/>
          </a:ln>
        </p:spPr>
        <p:txBody>
          <a:bodyPr/>
          <a:lstStyle/>
          <a:p>
            <a:endParaRPr lang="en-ZA"/>
          </a:p>
        </p:txBody>
      </p:sp>
      <p:sp>
        <p:nvSpPr>
          <p:cNvPr id="35" name="Text 33"/>
          <p:cNvSpPr/>
          <p:nvPr/>
        </p:nvSpPr>
        <p:spPr>
          <a:xfrm>
            <a:off x="6720840" y="4498848"/>
            <a:ext cx="4754880" cy="292608"/>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Industry IP, vertical accelerators, ISV solutions</a:t>
            </a:r>
            <a:endParaRPr lang="en-US" sz="1100" dirty="0"/>
          </a:p>
        </p:txBody>
      </p:sp>
      <p:sp>
        <p:nvSpPr>
          <p:cNvPr id="36" name="Shape 34"/>
          <p:cNvSpPr/>
          <p:nvPr/>
        </p:nvSpPr>
        <p:spPr>
          <a:xfrm>
            <a:off x="6492240" y="4910328"/>
            <a:ext cx="128016" cy="128016"/>
          </a:xfrm>
          <a:prstGeom prst="ellipse">
            <a:avLst/>
          </a:prstGeom>
          <a:solidFill>
            <a:srgbClr val="FFB900"/>
          </a:solidFill>
          <a:ln w="12700">
            <a:solidFill>
              <a:srgbClr val="FFB900"/>
            </a:solidFill>
            <a:prstDash val="solid"/>
          </a:ln>
        </p:spPr>
        <p:txBody>
          <a:bodyPr/>
          <a:lstStyle/>
          <a:p>
            <a:endParaRPr lang="en-ZA"/>
          </a:p>
        </p:txBody>
      </p:sp>
      <p:sp>
        <p:nvSpPr>
          <p:cNvPr id="37" name="Text 35"/>
          <p:cNvSpPr/>
          <p:nvPr/>
        </p:nvSpPr>
        <p:spPr>
          <a:xfrm>
            <a:off x="6720840" y="4846320"/>
            <a:ext cx="4754880" cy="292608"/>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Tier 3 managed run · FinOps · use-case factory</a:t>
            </a:r>
            <a:endParaRPr lang="en-US" sz="1100" dirty="0"/>
          </a:p>
        </p:txBody>
      </p:sp>
      <p:sp>
        <p:nvSpPr>
          <p:cNvPr id="38" name="Shape 36"/>
          <p:cNvSpPr/>
          <p:nvPr/>
        </p:nvSpPr>
        <p:spPr>
          <a:xfrm>
            <a:off x="6492240" y="5257800"/>
            <a:ext cx="128016" cy="128016"/>
          </a:xfrm>
          <a:prstGeom prst="ellipse">
            <a:avLst/>
          </a:prstGeom>
          <a:solidFill>
            <a:srgbClr val="FFB900"/>
          </a:solidFill>
          <a:ln w="12700">
            <a:solidFill>
              <a:srgbClr val="FFB900"/>
            </a:solidFill>
            <a:prstDash val="solid"/>
          </a:ln>
        </p:spPr>
        <p:txBody>
          <a:bodyPr/>
          <a:lstStyle/>
          <a:p>
            <a:endParaRPr lang="en-ZA"/>
          </a:p>
        </p:txBody>
      </p:sp>
      <p:sp>
        <p:nvSpPr>
          <p:cNvPr id="39" name="Text 37"/>
          <p:cNvSpPr/>
          <p:nvPr/>
        </p:nvSpPr>
        <p:spPr>
          <a:xfrm>
            <a:off x="6720840" y="5193792"/>
            <a:ext cx="4754880" cy="292608"/>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In-country sovereign / regulated delivery</a:t>
            </a:r>
            <a:endParaRPr lang="en-US" sz="1100" dirty="0"/>
          </a:p>
        </p:txBody>
      </p:sp>
      <p:sp>
        <p:nvSpPr>
          <p:cNvPr id="40" name="Shape 38"/>
          <p:cNvSpPr/>
          <p:nvPr/>
        </p:nvSpPr>
        <p:spPr>
          <a:xfrm>
            <a:off x="548640" y="5989320"/>
            <a:ext cx="11064240" cy="457200"/>
          </a:xfrm>
          <a:prstGeom prst="roundRect">
            <a:avLst>
              <a:gd name="adj" fmla="val 16000"/>
            </a:avLst>
          </a:prstGeom>
          <a:solidFill>
            <a:srgbClr val="225B62"/>
          </a:solidFill>
          <a:ln w="12700">
            <a:solidFill>
              <a:srgbClr val="225B62"/>
            </a:solidFill>
            <a:prstDash val="solid"/>
          </a:ln>
        </p:spPr>
        <p:txBody>
          <a:bodyPr/>
          <a:lstStyle/>
          <a:p>
            <a:endParaRPr lang="en-ZA"/>
          </a:p>
        </p:txBody>
      </p:sp>
      <p:sp>
        <p:nvSpPr>
          <p:cNvPr id="41" name="Text 39"/>
          <p:cNvSpPr/>
          <p:nvPr/>
        </p:nvSpPr>
        <p:spPr>
          <a:xfrm>
            <a:off x="777240" y="5989320"/>
            <a:ext cx="1828800" cy="457200"/>
          </a:xfrm>
          <a:prstGeom prst="rect">
            <a:avLst/>
          </a:prstGeom>
          <a:noFill/>
          <a:ln/>
        </p:spPr>
        <p:txBody>
          <a:bodyPr wrap="square" rtlCol="0" anchor="ctr"/>
          <a:lstStyle/>
          <a:p>
            <a:pPr marL="0" indent="0">
              <a:buNone/>
            </a:pPr>
            <a:r>
              <a:rPr lang="en-US" sz="1200" b="1" dirty="0">
                <a:solidFill>
                  <a:srgbClr val="FFB900"/>
                </a:solidFill>
                <a:latin typeface="Segoe UI" pitchFamily="34" charset="0"/>
                <a:ea typeface="Segoe UI" pitchFamily="34" charset="-122"/>
                <a:cs typeface="Segoe UI" pitchFamily="34" charset="-120"/>
              </a:rPr>
              <a:t>Anchor bundle:</a:t>
            </a:r>
            <a:endParaRPr lang="en-US" sz="1200" dirty="0"/>
          </a:p>
        </p:txBody>
      </p:sp>
      <p:sp>
        <p:nvSpPr>
          <p:cNvPr id="42" name="Text 40"/>
          <p:cNvSpPr/>
          <p:nvPr/>
        </p:nvSpPr>
        <p:spPr>
          <a:xfrm>
            <a:off x="2468880" y="5989320"/>
            <a:ext cx="9052560" cy="457200"/>
          </a:xfrm>
          <a:prstGeom prst="rect">
            <a:avLst/>
          </a:prstGeom>
          <a:noFill/>
          <a:ln/>
        </p:spPr>
        <p:txBody>
          <a:bodyPr wrap="square" rtlCol="0" anchor="ctr"/>
          <a:lstStyle/>
          <a:p>
            <a:pPr marL="0" indent="0">
              <a:buNone/>
            </a:pPr>
            <a:r>
              <a:rPr lang="en-US" sz="1100" dirty="0">
                <a:solidFill>
                  <a:srgbClr val="FFFFFF"/>
                </a:solidFill>
                <a:latin typeface="Segoe UI" pitchFamily="34" charset="0"/>
                <a:ea typeface="Segoe UI" pitchFamily="34" charset="-122"/>
                <a:cs typeface="Segoe UI" pitchFamily="34" charset="-120"/>
              </a:rPr>
              <a:t>F1 + F2 = default Stage-2 nomination · your SOW shifts to higher-value scope · PDM informs you before any nomination</a:t>
            </a:r>
            <a:endParaRPr lang="en-US" sz="1100" dirty="0"/>
          </a:p>
        </p:txBody>
      </p:sp>
      <p:pic>
        <p:nvPicPr>
          <p:cNvPr id="43"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44" name="Text 41"/>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45" name="Text 42"/>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9 / 15</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YOUR COMMITMENT</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What we ask of Anchor Partners</a:t>
            </a:r>
            <a:endParaRPr lang="en-US" sz="3200" dirty="0"/>
          </a:p>
        </p:txBody>
      </p:sp>
      <p:sp>
        <p:nvSpPr>
          <p:cNvPr id="5" name="Shape 3"/>
          <p:cNvSpPr/>
          <p:nvPr/>
        </p:nvSpPr>
        <p:spPr>
          <a:xfrm>
            <a:off x="548640" y="182880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6" name="Text 4"/>
          <p:cNvSpPr/>
          <p:nvPr/>
        </p:nvSpPr>
        <p:spPr>
          <a:xfrm>
            <a:off x="777240" y="2011680"/>
            <a:ext cx="1097280" cy="457200"/>
          </a:xfrm>
          <a:prstGeom prst="rect">
            <a:avLst/>
          </a:prstGeom>
          <a:noFill/>
          <a:ln/>
        </p:spPr>
        <p:txBody>
          <a:bodyPr wrap="square" rtlCol="0" anchor="ctr"/>
          <a:lstStyle/>
          <a:p>
            <a:pPr marL="0" indent="0">
              <a:buNone/>
            </a:pPr>
            <a:r>
              <a:rPr lang="en-US" sz="2200" b="1" dirty="0">
                <a:solidFill>
                  <a:srgbClr val="FFB900"/>
                </a:solidFill>
                <a:latin typeface="Segoe UI" pitchFamily="34" charset="0"/>
                <a:ea typeface="Segoe UI" pitchFamily="34" charset="-122"/>
                <a:cs typeface="Segoe UI" pitchFamily="34" charset="-120"/>
              </a:rPr>
              <a:t>01</a:t>
            </a:r>
            <a:endParaRPr lang="en-US" sz="2200" dirty="0"/>
          </a:p>
        </p:txBody>
      </p:sp>
      <p:sp>
        <p:nvSpPr>
          <p:cNvPr id="7" name="Text 5"/>
          <p:cNvSpPr/>
          <p:nvPr/>
        </p:nvSpPr>
        <p:spPr>
          <a:xfrm>
            <a:off x="777240" y="2514600"/>
            <a:ext cx="31546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Named account sponsor</a:t>
            </a:r>
            <a:endParaRPr lang="en-US" sz="1500" dirty="0"/>
          </a:p>
        </p:txBody>
      </p:sp>
      <p:sp>
        <p:nvSpPr>
          <p:cNvPr id="8" name="Text 6"/>
          <p:cNvSpPr/>
          <p:nvPr/>
        </p:nvSpPr>
        <p:spPr>
          <a:xfrm>
            <a:off x="777240" y="2926080"/>
            <a:ext cx="3154680" cy="6400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 partner exec who owns the joint CoE pipeline end-to-end</a:t>
            </a:r>
            <a:endParaRPr lang="en-US" sz="1100" dirty="0"/>
          </a:p>
        </p:txBody>
      </p:sp>
      <p:sp>
        <p:nvSpPr>
          <p:cNvPr id="9" name="Shape 7"/>
          <p:cNvSpPr/>
          <p:nvPr/>
        </p:nvSpPr>
        <p:spPr>
          <a:xfrm>
            <a:off x="4297680" y="182880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10" name="Text 8"/>
          <p:cNvSpPr/>
          <p:nvPr/>
        </p:nvSpPr>
        <p:spPr>
          <a:xfrm>
            <a:off x="4526280" y="2011680"/>
            <a:ext cx="1097280" cy="457200"/>
          </a:xfrm>
          <a:prstGeom prst="rect">
            <a:avLst/>
          </a:prstGeom>
          <a:noFill/>
          <a:ln/>
        </p:spPr>
        <p:txBody>
          <a:bodyPr wrap="square" rtlCol="0" anchor="ctr"/>
          <a:lstStyle/>
          <a:p>
            <a:pPr marL="0" indent="0">
              <a:buNone/>
            </a:pPr>
            <a:r>
              <a:rPr lang="en-US" sz="2200" b="1" dirty="0">
                <a:solidFill>
                  <a:srgbClr val="FFB900"/>
                </a:solidFill>
                <a:latin typeface="Segoe UI" pitchFamily="34" charset="0"/>
                <a:ea typeface="Segoe UI" pitchFamily="34" charset="-122"/>
                <a:cs typeface="Segoe UI" pitchFamily="34" charset="-120"/>
              </a:rPr>
              <a:t>02</a:t>
            </a:r>
            <a:endParaRPr lang="en-US" sz="2200" dirty="0"/>
          </a:p>
        </p:txBody>
      </p:sp>
      <p:sp>
        <p:nvSpPr>
          <p:cNvPr id="11" name="Text 9"/>
          <p:cNvSpPr/>
          <p:nvPr/>
        </p:nvSpPr>
        <p:spPr>
          <a:xfrm>
            <a:off x="4526280" y="2514600"/>
            <a:ext cx="31546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Dedicated delivery bench</a:t>
            </a:r>
            <a:endParaRPr lang="en-US" sz="1500" dirty="0"/>
          </a:p>
        </p:txBody>
      </p:sp>
      <p:sp>
        <p:nvSpPr>
          <p:cNvPr id="12" name="Text 10"/>
          <p:cNvSpPr/>
          <p:nvPr/>
        </p:nvSpPr>
        <p:spPr>
          <a:xfrm>
            <a:off x="4526280" y="2926080"/>
            <a:ext cx="3154680" cy="6400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 ring-fenced team of AI-102 / AI Engineer certified consultants</a:t>
            </a:r>
            <a:endParaRPr lang="en-US" sz="1100" dirty="0"/>
          </a:p>
        </p:txBody>
      </p:sp>
      <p:sp>
        <p:nvSpPr>
          <p:cNvPr id="13" name="Shape 11"/>
          <p:cNvSpPr/>
          <p:nvPr/>
        </p:nvSpPr>
        <p:spPr>
          <a:xfrm>
            <a:off x="8046720" y="182880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14" name="Text 12"/>
          <p:cNvSpPr/>
          <p:nvPr/>
        </p:nvSpPr>
        <p:spPr>
          <a:xfrm>
            <a:off x="8275320" y="2011680"/>
            <a:ext cx="1097280" cy="457200"/>
          </a:xfrm>
          <a:prstGeom prst="rect">
            <a:avLst/>
          </a:prstGeom>
          <a:noFill/>
          <a:ln/>
        </p:spPr>
        <p:txBody>
          <a:bodyPr wrap="square" rtlCol="0" anchor="ctr"/>
          <a:lstStyle/>
          <a:p>
            <a:pPr marL="0" indent="0">
              <a:buNone/>
            </a:pPr>
            <a:r>
              <a:rPr lang="en-US" sz="2200" b="1" dirty="0">
                <a:solidFill>
                  <a:srgbClr val="FFB900"/>
                </a:solidFill>
                <a:latin typeface="Segoe UI" pitchFamily="34" charset="0"/>
                <a:ea typeface="Segoe UI" pitchFamily="34" charset="-122"/>
                <a:cs typeface="Segoe UI" pitchFamily="34" charset="-120"/>
              </a:rPr>
              <a:t>03</a:t>
            </a:r>
            <a:endParaRPr lang="en-US" sz="2200" dirty="0"/>
          </a:p>
        </p:txBody>
      </p:sp>
      <p:sp>
        <p:nvSpPr>
          <p:cNvPr id="15" name="Text 13"/>
          <p:cNvSpPr/>
          <p:nvPr/>
        </p:nvSpPr>
        <p:spPr>
          <a:xfrm>
            <a:off x="8275320" y="2514600"/>
            <a:ext cx="31546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Responsible AI alignment</a:t>
            </a:r>
            <a:endParaRPr lang="en-US" sz="1500" dirty="0"/>
          </a:p>
        </p:txBody>
      </p:sp>
      <p:sp>
        <p:nvSpPr>
          <p:cNvPr id="16" name="Text 14"/>
          <p:cNvSpPr/>
          <p:nvPr/>
        </p:nvSpPr>
        <p:spPr>
          <a:xfrm>
            <a:off x="8275320" y="2926080"/>
            <a:ext cx="3154680" cy="6400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Sign and operationalise Microsoft's Responsible AI principles</a:t>
            </a:r>
            <a:endParaRPr lang="en-US" sz="1100" dirty="0"/>
          </a:p>
        </p:txBody>
      </p:sp>
      <p:sp>
        <p:nvSpPr>
          <p:cNvPr id="17" name="Shape 15"/>
          <p:cNvSpPr/>
          <p:nvPr/>
        </p:nvSpPr>
        <p:spPr>
          <a:xfrm>
            <a:off x="548640" y="379476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18" name="Text 16"/>
          <p:cNvSpPr/>
          <p:nvPr/>
        </p:nvSpPr>
        <p:spPr>
          <a:xfrm>
            <a:off x="777240" y="3977640"/>
            <a:ext cx="1097280" cy="457200"/>
          </a:xfrm>
          <a:prstGeom prst="rect">
            <a:avLst/>
          </a:prstGeom>
          <a:noFill/>
          <a:ln/>
        </p:spPr>
        <p:txBody>
          <a:bodyPr wrap="square" rtlCol="0" anchor="ctr"/>
          <a:lstStyle/>
          <a:p>
            <a:pPr marL="0" indent="0">
              <a:buNone/>
            </a:pPr>
            <a:r>
              <a:rPr lang="en-US" sz="2200" b="1" dirty="0">
                <a:solidFill>
                  <a:srgbClr val="FFB900"/>
                </a:solidFill>
                <a:latin typeface="Segoe UI" pitchFamily="34" charset="0"/>
                <a:ea typeface="Segoe UI" pitchFamily="34" charset="-122"/>
                <a:cs typeface="Segoe UI" pitchFamily="34" charset="-120"/>
              </a:rPr>
              <a:t>04</a:t>
            </a:r>
            <a:endParaRPr lang="en-US" sz="2200" dirty="0"/>
          </a:p>
        </p:txBody>
      </p:sp>
      <p:sp>
        <p:nvSpPr>
          <p:cNvPr id="19" name="Text 17"/>
          <p:cNvSpPr/>
          <p:nvPr/>
        </p:nvSpPr>
        <p:spPr>
          <a:xfrm>
            <a:off x="777240" y="4480560"/>
            <a:ext cx="31546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MCEM alignment</a:t>
            </a:r>
            <a:endParaRPr lang="en-US" sz="1500" dirty="0"/>
          </a:p>
        </p:txBody>
      </p:sp>
      <p:sp>
        <p:nvSpPr>
          <p:cNvPr id="20" name="Text 18"/>
          <p:cNvSpPr/>
          <p:nvPr/>
        </p:nvSpPr>
        <p:spPr>
          <a:xfrm>
            <a:off x="777240" y="4892040"/>
            <a:ext cx="3154680" cy="6400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Co-sell through Partner Center; MSX transparency; joint QBR</a:t>
            </a:r>
            <a:endParaRPr lang="en-US" sz="1100" dirty="0"/>
          </a:p>
        </p:txBody>
      </p:sp>
      <p:sp>
        <p:nvSpPr>
          <p:cNvPr id="21" name="Shape 19"/>
          <p:cNvSpPr/>
          <p:nvPr/>
        </p:nvSpPr>
        <p:spPr>
          <a:xfrm>
            <a:off x="4297680" y="379476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22" name="Text 20"/>
          <p:cNvSpPr/>
          <p:nvPr/>
        </p:nvSpPr>
        <p:spPr>
          <a:xfrm>
            <a:off x="4526280" y="3977640"/>
            <a:ext cx="1097280" cy="457200"/>
          </a:xfrm>
          <a:prstGeom prst="rect">
            <a:avLst/>
          </a:prstGeom>
          <a:noFill/>
          <a:ln/>
        </p:spPr>
        <p:txBody>
          <a:bodyPr wrap="square" rtlCol="0" anchor="ctr"/>
          <a:lstStyle/>
          <a:p>
            <a:pPr marL="0" indent="0">
              <a:buNone/>
            </a:pPr>
            <a:r>
              <a:rPr lang="en-US" sz="2200" b="1" dirty="0">
                <a:solidFill>
                  <a:srgbClr val="FFB900"/>
                </a:solidFill>
                <a:latin typeface="Segoe UI" pitchFamily="34" charset="0"/>
                <a:ea typeface="Segoe UI" pitchFamily="34" charset="-122"/>
                <a:cs typeface="Segoe UI" pitchFamily="34" charset="-120"/>
              </a:rPr>
              <a:t>05</a:t>
            </a:r>
            <a:endParaRPr lang="en-US" sz="2200" dirty="0"/>
          </a:p>
        </p:txBody>
      </p:sp>
      <p:sp>
        <p:nvSpPr>
          <p:cNvPr id="23" name="Text 21"/>
          <p:cNvSpPr/>
          <p:nvPr/>
        </p:nvSpPr>
        <p:spPr>
          <a:xfrm>
            <a:off x="4526280" y="4480560"/>
            <a:ext cx="31546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Quarterly measurement</a:t>
            </a:r>
            <a:endParaRPr lang="en-US" sz="1500" dirty="0"/>
          </a:p>
        </p:txBody>
      </p:sp>
      <p:sp>
        <p:nvSpPr>
          <p:cNvPr id="24" name="Text 22"/>
          <p:cNvSpPr/>
          <p:nvPr/>
        </p:nvSpPr>
        <p:spPr>
          <a:xfrm>
            <a:off x="4526280" y="4892040"/>
            <a:ext cx="3154680" cy="6400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Shared scorecard: pipeline, wins, ACR, NSAT, references</a:t>
            </a:r>
            <a:endParaRPr lang="en-US" sz="1100" dirty="0"/>
          </a:p>
        </p:txBody>
      </p:sp>
      <p:sp>
        <p:nvSpPr>
          <p:cNvPr id="25" name="Shape 23"/>
          <p:cNvSpPr/>
          <p:nvPr/>
        </p:nvSpPr>
        <p:spPr>
          <a:xfrm>
            <a:off x="8046720" y="3794760"/>
            <a:ext cx="3611880" cy="1783080"/>
          </a:xfrm>
          <a:prstGeom prst="roundRect">
            <a:avLst>
              <a:gd name="adj" fmla="val 5128"/>
            </a:avLst>
          </a:prstGeom>
          <a:solidFill>
            <a:srgbClr val="FFF8F5"/>
          </a:solidFill>
          <a:ln w="12700">
            <a:solidFill>
              <a:srgbClr val="E1E6EF"/>
            </a:solidFill>
            <a:prstDash val="solid"/>
          </a:ln>
        </p:spPr>
        <p:txBody>
          <a:bodyPr/>
          <a:lstStyle/>
          <a:p>
            <a:endParaRPr lang="en-ZA"/>
          </a:p>
        </p:txBody>
      </p:sp>
      <p:sp>
        <p:nvSpPr>
          <p:cNvPr id="26" name="Text 24"/>
          <p:cNvSpPr/>
          <p:nvPr/>
        </p:nvSpPr>
        <p:spPr>
          <a:xfrm>
            <a:off x="8275320" y="3977640"/>
            <a:ext cx="1097280" cy="457200"/>
          </a:xfrm>
          <a:prstGeom prst="rect">
            <a:avLst/>
          </a:prstGeom>
          <a:noFill/>
          <a:ln/>
        </p:spPr>
        <p:txBody>
          <a:bodyPr wrap="square" rtlCol="0" anchor="ctr"/>
          <a:lstStyle/>
          <a:p>
            <a:pPr marL="0" indent="0">
              <a:buNone/>
            </a:pPr>
            <a:r>
              <a:rPr lang="en-US" sz="2200" b="1" dirty="0">
                <a:solidFill>
                  <a:srgbClr val="FFB900"/>
                </a:solidFill>
                <a:latin typeface="Segoe UI" pitchFamily="34" charset="0"/>
                <a:ea typeface="Segoe UI" pitchFamily="34" charset="-122"/>
                <a:cs typeface="Segoe UI" pitchFamily="34" charset="-120"/>
              </a:rPr>
              <a:t>06</a:t>
            </a:r>
            <a:endParaRPr lang="en-US" sz="2200" dirty="0"/>
          </a:p>
        </p:txBody>
      </p:sp>
      <p:sp>
        <p:nvSpPr>
          <p:cNvPr id="27" name="Text 25"/>
          <p:cNvSpPr/>
          <p:nvPr/>
        </p:nvSpPr>
        <p:spPr>
          <a:xfrm>
            <a:off x="8275320" y="4480560"/>
            <a:ext cx="3154680" cy="411480"/>
          </a:xfrm>
          <a:prstGeom prst="rect">
            <a:avLst/>
          </a:prstGeom>
          <a:noFill/>
          <a:ln/>
        </p:spPr>
        <p:txBody>
          <a:bodyPr wrap="square" rtlCol="0" anchor="ctr"/>
          <a:lstStyle/>
          <a:p>
            <a:pPr marL="0" indent="0">
              <a:buNone/>
            </a:pPr>
            <a:r>
              <a:rPr lang="en-US" sz="1500" b="1" dirty="0">
                <a:solidFill>
                  <a:srgbClr val="091F2C"/>
                </a:solidFill>
                <a:latin typeface="Segoe UI" pitchFamily="34" charset="0"/>
                <a:ea typeface="Segoe UI" pitchFamily="34" charset="-122"/>
                <a:cs typeface="Segoe UI" pitchFamily="34" charset="-120"/>
              </a:rPr>
              <a:t>Lighthouse customer</a:t>
            </a:r>
            <a:endParaRPr lang="en-US" sz="1500" dirty="0"/>
          </a:p>
        </p:txBody>
      </p:sp>
      <p:sp>
        <p:nvSpPr>
          <p:cNvPr id="28" name="Text 26"/>
          <p:cNvSpPr/>
          <p:nvPr/>
        </p:nvSpPr>
        <p:spPr>
          <a:xfrm>
            <a:off x="8275320" y="4892040"/>
            <a:ext cx="3154680" cy="6400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At least one lighthouse reference within first 6 months</a:t>
            </a:r>
            <a:endParaRPr lang="en-US" sz="1100" dirty="0"/>
          </a:p>
        </p:txBody>
      </p:sp>
      <p:pic>
        <p:nvPicPr>
          <p:cNvPr id="29"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0" name="Text 27"/>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1" name="Text 28"/>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10 / 15</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ONBOARDING</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From invitation to first joint win</a:t>
            </a:r>
            <a:endParaRPr lang="en-US" sz="3200" dirty="0"/>
          </a:p>
        </p:txBody>
      </p:sp>
      <p:sp>
        <p:nvSpPr>
          <p:cNvPr id="5" name="Shape 3"/>
          <p:cNvSpPr/>
          <p:nvPr/>
        </p:nvSpPr>
        <p:spPr>
          <a:xfrm>
            <a:off x="380848" y="1920240"/>
            <a:ext cx="1828800" cy="594360"/>
          </a:xfrm>
          <a:prstGeom prst="rect">
            <a:avLst/>
          </a:prstGeom>
          <a:solidFill>
            <a:srgbClr val="0078D4"/>
          </a:solidFill>
          <a:ln w="12700">
            <a:solidFill>
              <a:srgbClr val="0078D4"/>
            </a:solidFill>
            <a:prstDash val="solid"/>
          </a:ln>
        </p:spPr>
        <p:txBody>
          <a:bodyPr/>
          <a:lstStyle/>
          <a:p>
            <a:endParaRPr lang="en-ZA"/>
          </a:p>
        </p:txBody>
      </p:sp>
      <p:sp>
        <p:nvSpPr>
          <p:cNvPr id="6" name="Text 4"/>
          <p:cNvSpPr/>
          <p:nvPr/>
        </p:nvSpPr>
        <p:spPr>
          <a:xfrm>
            <a:off x="380848" y="1920240"/>
            <a:ext cx="182880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Wk 1</a:t>
            </a:r>
            <a:endParaRPr lang="en-US" sz="1400" dirty="0"/>
          </a:p>
        </p:txBody>
      </p:sp>
      <p:sp>
        <p:nvSpPr>
          <p:cNvPr id="7" name="Shape 5"/>
          <p:cNvSpPr/>
          <p:nvPr/>
        </p:nvSpPr>
        <p:spPr>
          <a:xfrm>
            <a:off x="380848" y="2514600"/>
            <a:ext cx="1828800" cy="2331720"/>
          </a:xfrm>
          <a:prstGeom prst="rect">
            <a:avLst/>
          </a:prstGeom>
          <a:solidFill>
            <a:srgbClr val="FFFFFF"/>
          </a:solidFill>
          <a:ln w="12700">
            <a:solidFill>
              <a:srgbClr val="E1E6EF"/>
            </a:solidFill>
            <a:prstDash val="solid"/>
          </a:ln>
        </p:spPr>
        <p:txBody>
          <a:bodyPr/>
          <a:lstStyle/>
          <a:p>
            <a:endParaRPr lang="en-ZA"/>
          </a:p>
        </p:txBody>
      </p:sp>
      <p:sp>
        <p:nvSpPr>
          <p:cNvPr id="8" name="Text 6"/>
          <p:cNvSpPr/>
          <p:nvPr/>
        </p:nvSpPr>
        <p:spPr>
          <a:xfrm>
            <a:off x="472288" y="2651760"/>
            <a:ext cx="1645920" cy="640080"/>
          </a:xfrm>
          <a:prstGeom prst="rect">
            <a:avLst/>
          </a:prstGeom>
          <a:noFill/>
          <a:ln/>
        </p:spPr>
        <p:txBody>
          <a:bodyPr wrap="square" rtlCol="0" anchor="ctr"/>
          <a:lstStyle/>
          <a:p>
            <a:pPr marL="0" indent="0" algn="ctr">
              <a:buNone/>
            </a:pPr>
            <a:r>
              <a:rPr lang="en-US" sz="1400" b="1" dirty="0">
                <a:solidFill>
                  <a:srgbClr val="091F2C"/>
                </a:solidFill>
                <a:latin typeface="Segoe UI" pitchFamily="34" charset="0"/>
                <a:ea typeface="Segoe UI" pitchFamily="34" charset="-122"/>
                <a:cs typeface="Segoe UI" pitchFamily="34" charset="-120"/>
              </a:rPr>
              <a:t>Invitation + Scorecard</a:t>
            </a:r>
            <a:endParaRPr lang="en-US" sz="1400" dirty="0"/>
          </a:p>
        </p:txBody>
      </p:sp>
      <p:sp>
        <p:nvSpPr>
          <p:cNvPr id="9" name="Text 7"/>
          <p:cNvSpPr/>
          <p:nvPr/>
        </p:nvSpPr>
        <p:spPr>
          <a:xfrm>
            <a:off x="518008" y="3337560"/>
            <a:ext cx="1554480" cy="1371600"/>
          </a:xfrm>
          <a:prstGeom prst="rect">
            <a:avLst/>
          </a:prstGeom>
          <a:noFill/>
          <a:ln/>
        </p:spPr>
        <p:txBody>
          <a:bodyPr wrap="square" rtlCol="0" anchor="ctr"/>
          <a:lstStyle/>
          <a:p>
            <a:pPr marL="0" indent="0" algn="ctr">
              <a:buNone/>
            </a:pPr>
            <a:r>
              <a:rPr lang="en-US" sz="1000" dirty="0">
                <a:solidFill>
                  <a:srgbClr val="4B5563"/>
                </a:solidFill>
                <a:latin typeface="Segoe UI" pitchFamily="34" charset="0"/>
                <a:ea typeface="Segoe UI" pitchFamily="34" charset="-122"/>
                <a:cs typeface="Segoe UI" pitchFamily="34" charset="-120"/>
              </a:rPr>
              <a:t>Complete the qualification scorecard · joint review</a:t>
            </a:r>
            <a:endParaRPr lang="en-US" sz="1000" dirty="0"/>
          </a:p>
        </p:txBody>
      </p:sp>
      <p:sp>
        <p:nvSpPr>
          <p:cNvPr id="10" name="Shape 8"/>
          <p:cNvSpPr/>
          <p:nvPr/>
        </p:nvSpPr>
        <p:spPr>
          <a:xfrm>
            <a:off x="2301088" y="1920240"/>
            <a:ext cx="1828800" cy="594360"/>
          </a:xfrm>
          <a:prstGeom prst="rect">
            <a:avLst/>
          </a:prstGeom>
          <a:solidFill>
            <a:srgbClr val="225B62"/>
          </a:solidFill>
          <a:ln w="12700">
            <a:solidFill>
              <a:srgbClr val="225B62"/>
            </a:solidFill>
            <a:prstDash val="solid"/>
          </a:ln>
        </p:spPr>
        <p:txBody>
          <a:bodyPr/>
          <a:lstStyle/>
          <a:p>
            <a:endParaRPr lang="en-ZA"/>
          </a:p>
        </p:txBody>
      </p:sp>
      <p:sp>
        <p:nvSpPr>
          <p:cNvPr id="11" name="Text 9"/>
          <p:cNvSpPr/>
          <p:nvPr/>
        </p:nvSpPr>
        <p:spPr>
          <a:xfrm>
            <a:off x="2301088" y="1920240"/>
            <a:ext cx="182880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Wk 2</a:t>
            </a:r>
            <a:endParaRPr lang="en-US" sz="1400" dirty="0"/>
          </a:p>
        </p:txBody>
      </p:sp>
      <p:sp>
        <p:nvSpPr>
          <p:cNvPr id="12" name="Shape 10"/>
          <p:cNvSpPr/>
          <p:nvPr/>
        </p:nvSpPr>
        <p:spPr>
          <a:xfrm>
            <a:off x="2301088" y="2514600"/>
            <a:ext cx="1828800" cy="2331720"/>
          </a:xfrm>
          <a:prstGeom prst="rect">
            <a:avLst/>
          </a:prstGeom>
          <a:solidFill>
            <a:srgbClr val="FFFFFF"/>
          </a:solidFill>
          <a:ln w="12700">
            <a:solidFill>
              <a:srgbClr val="E1E6EF"/>
            </a:solidFill>
            <a:prstDash val="solid"/>
          </a:ln>
        </p:spPr>
        <p:txBody>
          <a:bodyPr/>
          <a:lstStyle/>
          <a:p>
            <a:endParaRPr lang="en-ZA"/>
          </a:p>
        </p:txBody>
      </p:sp>
      <p:sp>
        <p:nvSpPr>
          <p:cNvPr id="13" name="Text 11"/>
          <p:cNvSpPr/>
          <p:nvPr/>
        </p:nvSpPr>
        <p:spPr>
          <a:xfrm>
            <a:off x="2392528" y="2651760"/>
            <a:ext cx="1645920" cy="640080"/>
          </a:xfrm>
          <a:prstGeom prst="rect">
            <a:avLst/>
          </a:prstGeom>
          <a:noFill/>
          <a:ln/>
        </p:spPr>
        <p:txBody>
          <a:bodyPr wrap="square" rtlCol="0" anchor="ctr"/>
          <a:lstStyle/>
          <a:p>
            <a:pPr marL="0" indent="0" algn="ctr">
              <a:buNone/>
            </a:pPr>
            <a:r>
              <a:rPr lang="en-US" sz="1400" b="1" dirty="0">
                <a:solidFill>
                  <a:srgbClr val="091F2C"/>
                </a:solidFill>
                <a:latin typeface="Segoe UI" pitchFamily="34" charset="0"/>
                <a:ea typeface="Segoe UI" pitchFamily="34" charset="-122"/>
                <a:cs typeface="Segoe UI" pitchFamily="34" charset="-120"/>
              </a:rPr>
              <a:t>Anchor confirmation</a:t>
            </a:r>
            <a:endParaRPr lang="en-US" sz="1400" dirty="0"/>
          </a:p>
        </p:txBody>
      </p:sp>
      <p:sp>
        <p:nvSpPr>
          <p:cNvPr id="14" name="Text 12"/>
          <p:cNvSpPr/>
          <p:nvPr/>
        </p:nvSpPr>
        <p:spPr>
          <a:xfrm>
            <a:off x="2438248" y="3337560"/>
            <a:ext cx="1554480" cy="1371600"/>
          </a:xfrm>
          <a:prstGeom prst="rect">
            <a:avLst/>
          </a:prstGeom>
          <a:noFill/>
          <a:ln/>
        </p:spPr>
        <p:txBody>
          <a:bodyPr wrap="square" rtlCol="0" anchor="ctr"/>
          <a:lstStyle/>
          <a:p>
            <a:pPr marL="0" indent="0" algn="ctr">
              <a:buNone/>
            </a:pPr>
            <a:r>
              <a:rPr lang="en-US" sz="1000" dirty="0">
                <a:solidFill>
                  <a:srgbClr val="4B5563"/>
                </a:solidFill>
                <a:latin typeface="Segoe UI" pitchFamily="34" charset="0"/>
                <a:ea typeface="Segoe UI" pitchFamily="34" charset="-122"/>
                <a:cs typeface="Segoe UI" pitchFamily="34" charset="-120"/>
              </a:rPr>
              <a:t>Signed charter · rules of engagement · named sponsors</a:t>
            </a:r>
            <a:endParaRPr lang="en-US" sz="1000" dirty="0"/>
          </a:p>
        </p:txBody>
      </p:sp>
      <p:sp>
        <p:nvSpPr>
          <p:cNvPr id="15" name="Shape 13"/>
          <p:cNvSpPr/>
          <p:nvPr/>
        </p:nvSpPr>
        <p:spPr>
          <a:xfrm>
            <a:off x="4221328" y="1920240"/>
            <a:ext cx="1828800" cy="594360"/>
          </a:xfrm>
          <a:prstGeom prst="rect">
            <a:avLst/>
          </a:prstGeom>
          <a:solidFill>
            <a:srgbClr val="C03BC4"/>
          </a:solidFill>
          <a:ln w="12700">
            <a:solidFill>
              <a:srgbClr val="C03BC4"/>
            </a:solidFill>
            <a:prstDash val="solid"/>
          </a:ln>
        </p:spPr>
        <p:txBody>
          <a:bodyPr/>
          <a:lstStyle/>
          <a:p>
            <a:endParaRPr lang="en-ZA"/>
          </a:p>
        </p:txBody>
      </p:sp>
      <p:sp>
        <p:nvSpPr>
          <p:cNvPr id="16" name="Text 14"/>
          <p:cNvSpPr/>
          <p:nvPr/>
        </p:nvSpPr>
        <p:spPr>
          <a:xfrm>
            <a:off x="4221328" y="1920240"/>
            <a:ext cx="182880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Wk 3–4</a:t>
            </a:r>
            <a:endParaRPr lang="en-US" sz="1400" dirty="0"/>
          </a:p>
        </p:txBody>
      </p:sp>
      <p:sp>
        <p:nvSpPr>
          <p:cNvPr id="17" name="Shape 15"/>
          <p:cNvSpPr/>
          <p:nvPr/>
        </p:nvSpPr>
        <p:spPr>
          <a:xfrm>
            <a:off x="4221328" y="2514600"/>
            <a:ext cx="1828800" cy="2331720"/>
          </a:xfrm>
          <a:prstGeom prst="rect">
            <a:avLst/>
          </a:prstGeom>
          <a:solidFill>
            <a:srgbClr val="FFFFFF"/>
          </a:solidFill>
          <a:ln w="12700">
            <a:solidFill>
              <a:srgbClr val="E1E6EF"/>
            </a:solidFill>
            <a:prstDash val="solid"/>
          </a:ln>
        </p:spPr>
        <p:txBody>
          <a:bodyPr/>
          <a:lstStyle/>
          <a:p>
            <a:endParaRPr lang="en-ZA"/>
          </a:p>
        </p:txBody>
      </p:sp>
      <p:sp>
        <p:nvSpPr>
          <p:cNvPr id="18" name="Text 16"/>
          <p:cNvSpPr/>
          <p:nvPr/>
        </p:nvSpPr>
        <p:spPr>
          <a:xfrm>
            <a:off x="4312768" y="2651760"/>
            <a:ext cx="1645920" cy="640080"/>
          </a:xfrm>
          <a:prstGeom prst="rect">
            <a:avLst/>
          </a:prstGeom>
          <a:noFill/>
          <a:ln/>
        </p:spPr>
        <p:txBody>
          <a:bodyPr wrap="square" rtlCol="0" anchor="ctr"/>
          <a:lstStyle/>
          <a:p>
            <a:pPr marL="0" indent="0" algn="ctr">
              <a:buNone/>
            </a:pPr>
            <a:r>
              <a:rPr lang="en-US" sz="1400" b="1" dirty="0">
                <a:solidFill>
                  <a:srgbClr val="091F2C"/>
                </a:solidFill>
                <a:latin typeface="Segoe UI" pitchFamily="34" charset="0"/>
                <a:ea typeface="Segoe UI" pitchFamily="34" charset="-122"/>
                <a:cs typeface="Segoe UI" pitchFamily="34" charset="-120"/>
              </a:rPr>
              <a:t>Enablement</a:t>
            </a:r>
            <a:endParaRPr lang="en-US" sz="1400" dirty="0"/>
          </a:p>
        </p:txBody>
      </p:sp>
      <p:sp>
        <p:nvSpPr>
          <p:cNvPr id="19" name="Text 17"/>
          <p:cNvSpPr/>
          <p:nvPr/>
        </p:nvSpPr>
        <p:spPr>
          <a:xfrm>
            <a:off x="4358488" y="3337560"/>
            <a:ext cx="1554480" cy="1371600"/>
          </a:xfrm>
          <a:prstGeom prst="rect">
            <a:avLst/>
          </a:prstGeom>
          <a:noFill/>
          <a:ln/>
        </p:spPr>
        <p:txBody>
          <a:bodyPr wrap="square" rtlCol="0" anchor="ctr"/>
          <a:lstStyle/>
          <a:p>
            <a:pPr marL="0" indent="0" algn="ctr">
              <a:buNone/>
            </a:pPr>
            <a:r>
              <a:rPr lang="en-US" sz="1000" dirty="0">
                <a:solidFill>
                  <a:srgbClr val="4B5563"/>
                </a:solidFill>
                <a:latin typeface="Segoe UI" pitchFamily="34" charset="0"/>
                <a:ea typeface="Segoe UI" pitchFamily="34" charset="-122"/>
                <a:cs typeface="Segoe UI" pitchFamily="34" charset="-120"/>
              </a:rPr>
              <a:t>AI CoE asset pack · CSA pairing · Responsible AI session</a:t>
            </a:r>
            <a:endParaRPr lang="en-US" sz="1000" dirty="0"/>
          </a:p>
        </p:txBody>
      </p:sp>
      <p:sp>
        <p:nvSpPr>
          <p:cNvPr id="20" name="Shape 18"/>
          <p:cNvSpPr/>
          <p:nvPr/>
        </p:nvSpPr>
        <p:spPr>
          <a:xfrm>
            <a:off x="6141568" y="1920240"/>
            <a:ext cx="1828800" cy="594360"/>
          </a:xfrm>
          <a:prstGeom prst="rect">
            <a:avLst/>
          </a:prstGeom>
          <a:solidFill>
            <a:srgbClr val="107C10"/>
          </a:solidFill>
          <a:ln w="12700">
            <a:solidFill>
              <a:srgbClr val="107C10"/>
            </a:solidFill>
            <a:prstDash val="solid"/>
          </a:ln>
        </p:spPr>
        <p:txBody>
          <a:bodyPr/>
          <a:lstStyle/>
          <a:p>
            <a:endParaRPr lang="en-ZA"/>
          </a:p>
        </p:txBody>
      </p:sp>
      <p:sp>
        <p:nvSpPr>
          <p:cNvPr id="21" name="Text 19"/>
          <p:cNvSpPr/>
          <p:nvPr/>
        </p:nvSpPr>
        <p:spPr>
          <a:xfrm>
            <a:off x="6141568" y="1920240"/>
            <a:ext cx="182880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Wk 5–6</a:t>
            </a:r>
            <a:endParaRPr lang="en-US" sz="1400" dirty="0"/>
          </a:p>
        </p:txBody>
      </p:sp>
      <p:sp>
        <p:nvSpPr>
          <p:cNvPr id="22" name="Shape 20"/>
          <p:cNvSpPr/>
          <p:nvPr/>
        </p:nvSpPr>
        <p:spPr>
          <a:xfrm>
            <a:off x="6141568" y="2514600"/>
            <a:ext cx="1828800" cy="2331720"/>
          </a:xfrm>
          <a:prstGeom prst="rect">
            <a:avLst/>
          </a:prstGeom>
          <a:solidFill>
            <a:srgbClr val="FFFFFF"/>
          </a:solidFill>
          <a:ln w="12700">
            <a:solidFill>
              <a:srgbClr val="E1E6EF"/>
            </a:solidFill>
            <a:prstDash val="solid"/>
          </a:ln>
        </p:spPr>
        <p:txBody>
          <a:bodyPr/>
          <a:lstStyle/>
          <a:p>
            <a:endParaRPr lang="en-ZA"/>
          </a:p>
        </p:txBody>
      </p:sp>
      <p:sp>
        <p:nvSpPr>
          <p:cNvPr id="23" name="Text 21"/>
          <p:cNvSpPr/>
          <p:nvPr/>
        </p:nvSpPr>
        <p:spPr>
          <a:xfrm>
            <a:off x="6233008" y="2651760"/>
            <a:ext cx="1645920" cy="640080"/>
          </a:xfrm>
          <a:prstGeom prst="rect">
            <a:avLst/>
          </a:prstGeom>
          <a:noFill/>
          <a:ln/>
        </p:spPr>
        <p:txBody>
          <a:bodyPr wrap="square" rtlCol="0" anchor="ctr"/>
          <a:lstStyle/>
          <a:p>
            <a:pPr marL="0" indent="0" algn="ctr">
              <a:buNone/>
            </a:pPr>
            <a:r>
              <a:rPr lang="en-US" sz="1400" b="1" dirty="0">
                <a:solidFill>
                  <a:srgbClr val="091F2C"/>
                </a:solidFill>
                <a:latin typeface="Segoe UI" pitchFamily="34" charset="0"/>
                <a:ea typeface="Segoe UI" pitchFamily="34" charset="-122"/>
                <a:cs typeface="Segoe UI" pitchFamily="34" charset="-120"/>
              </a:rPr>
              <a:t>Joint account planning</a:t>
            </a:r>
            <a:endParaRPr lang="en-US" sz="1400" dirty="0"/>
          </a:p>
        </p:txBody>
      </p:sp>
      <p:sp>
        <p:nvSpPr>
          <p:cNvPr id="24" name="Text 22"/>
          <p:cNvSpPr/>
          <p:nvPr/>
        </p:nvSpPr>
        <p:spPr>
          <a:xfrm>
            <a:off x="6278728" y="3337560"/>
            <a:ext cx="1554480" cy="1371600"/>
          </a:xfrm>
          <a:prstGeom prst="rect">
            <a:avLst/>
          </a:prstGeom>
          <a:noFill/>
          <a:ln/>
        </p:spPr>
        <p:txBody>
          <a:bodyPr wrap="square" rtlCol="0" anchor="ctr"/>
          <a:lstStyle/>
          <a:p>
            <a:pPr marL="0" indent="0" algn="ctr">
              <a:buNone/>
            </a:pPr>
            <a:r>
              <a:rPr lang="en-US" sz="1000" dirty="0">
                <a:solidFill>
                  <a:srgbClr val="4B5563"/>
                </a:solidFill>
                <a:latin typeface="Segoe UI" pitchFamily="34" charset="0"/>
                <a:ea typeface="Segoe UI" pitchFamily="34" charset="-122"/>
                <a:cs typeface="Segoe UI" pitchFamily="34" charset="-120"/>
              </a:rPr>
              <a:t>3 target customers · pipeline created in MSX + Partner Center</a:t>
            </a:r>
            <a:endParaRPr lang="en-US" sz="1000" dirty="0"/>
          </a:p>
        </p:txBody>
      </p:sp>
      <p:sp>
        <p:nvSpPr>
          <p:cNvPr id="25" name="Shape 23"/>
          <p:cNvSpPr/>
          <p:nvPr/>
        </p:nvSpPr>
        <p:spPr>
          <a:xfrm>
            <a:off x="8061808" y="1920240"/>
            <a:ext cx="1828800" cy="594360"/>
          </a:xfrm>
          <a:prstGeom prst="rect">
            <a:avLst/>
          </a:prstGeom>
          <a:solidFill>
            <a:srgbClr val="FFB900"/>
          </a:solidFill>
          <a:ln w="12700">
            <a:solidFill>
              <a:srgbClr val="FFB900"/>
            </a:solidFill>
            <a:prstDash val="solid"/>
          </a:ln>
        </p:spPr>
        <p:txBody>
          <a:bodyPr/>
          <a:lstStyle/>
          <a:p>
            <a:endParaRPr lang="en-ZA"/>
          </a:p>
        </p:txBody>
      </p:sp>
      <p:sp>
        <p:nvSpPr>
          <p:cNvPr id="26" name="Text 24"/>
          <p:cNvSpPr/>
          <p:nvPr/>
        </p:nvSpPr>
        <p:spPr>
          <a:xfrm>
            <a:off x="8061808" y="1920240"/>
            <a:ext cx="182880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Wk 7–10</a:t>
            </a:r>
            <a:endParaRPr lang="en-US" sz="1400" dirty="0"/>
          </a:p>
        </p:txBody>
      </p:sp>
      <p:sp>
        <p:nvSpPr>
          <p:cNvPr id="27" name="Shape 25"/>
          <p:cNvSpPr/>
          <p:nvPr/>
        </p:nvSpPr>
        <p:spPr>
          <a:xfrm>
            <a:off x="8061808" y="2514600"/>
            <a:ext cx="1828800" cy="2331720"/>
          </a:xfrm>
          <a:prstGeom prst="rect">
            <a:avLst/>
          </a:prstGeom>
          <a:solidFill>
            <a:srgbClr val="FFFFFF"/>
          </a:solidFill>
          <a:ln w="12700">
            <a:solidFill>
              <a:srgbClr val="E1E6EF"/>
            </a:solidFill>
            <a:prstDash val="solid"/>
          </a:ln>
        </p:spPr>
        <p:txBody>
          <a:bodyPr/>
          <a:lstStyle/>
          <a:p>
            <a:endParaRPr lang="en-ZA"/>
          </a:p>
        </p:txBody>
      </p:sp>
      <p:sp>
        <p:nvSpPr>
          <p:cNvPr id="28" name="Text 26"/>
          <p:cNvSpPr/>
          <p:nvPr/>
        </p:nvSpPr>
        <p:spPr>
          <a:xfrm>
            <a:off x="8153248" y="2651760"/>
            <a:ext cx="1645920" cy="640080"/>
          </a:xfrm>
          <a:prstGeom prst="rect">
            <a:avLst/>
          </a:prstGeom>
          <a:noFill/>
          <a:ln/>
        </p:spPr>
        <p:txBody>
          <a:bodyPr wrap="square" rtlCol="0" anchor="ctr"/>
          <a:lstStyle/>
          <a:p>
            <a:pPr marL="0" indent="0" algn="ctr">
              <a:buNone/>
            </a:pPr>
            <a:r>
              <a:rPr lang="en-US" sz="1400" b="1" dirty="0">
                <a:solidFill>
                  <a:srgbClr val="091F2C"/>
                </a:solidFill>
                <a:latin typeface="Segoe UI" pitchFamily="34" charset="0"/>
                <a:ea typeface="Segoe UI" pitchFamily="34" charset="-122"/>
                <a:cs typeface="Segoe UI" pitchFamily="34" charset="-120"/>
              </a:rPr>
              <a:t>First envisioning</a:t>
            </a:r>
            <a:endParaRPr lang="en-US" sz="1400" dirty="0"/>
          </a:p>
        </p:txBody>
      </p:sp>
      <p:sp>
        <p:nvSpPr>
          <p:cNvPr id="29" name="Text 27"/>
          <p:cNvSpPr/>
          <p:nvPr/>
        </p:nvSpPr>
        <p:spPr>
          <a:xfrm>
            <a:off x="8198968" y="3337560"/>
            <a:ext cx="1554480" cy="1371600"/>
          </a:xfrm>
          <a:prstGeom prst="rect">
            <a:avLst/>
          </a:prstGeom>
          <a:noFill/>
          <a:ln/>
        </p:spPr>
        <p:txBody>
          <a:bodyPr wrap="square" rtlCol="0" anchor="ctr"/>
          <a:lstStyle/>
          <a:p>
            <a:pPr marL="0" indent="0" algn="ctr">
              <a:buNone/>
            </a:pPr>
            <a:r>
              <a:rPr lang="en-US" sz="1000" dirty="0">
                <a:solidFill>
                  <a:srgbClr val="4B5563"/>
                </a:solidFill>
                <a:latin typeface="Segoe UI" pitchFamily="34" charset="0"/>
                <a:ea typeface="Segoe UI" pitchFamily="34" charset="-122"/>
                <a:cs typeface="Segoe UI" pitchFamily="34" charset="-120"/>
              </a:rPr>
              <a:t>Tier 1 engagement with a lighthouse customer</a:t>
            </a:r>
            <a:endParaRPr lang="en-US" sz="1000" dirty="0"/>
          </a:p>
        </p:txBody>
      </p:sp>
      <p:sp>
        <p:nvSpPr>
          <p:cNvPr id="30" name="Shape 28"/>
          <p:cNvSpPr/>
          <p:nvPr/>
        </p:nvSpPr>
        <p:spPr>
          <a:xfrm>
            <a:off x="9982048" y="1920240"/>
            <a:ext cx="1828800" cy="594360"/>
          </a:xfrm>
          <a:prstGeom prst="rect">
            <a:avLst/>
          </a:prstGeom>
          <a:solidFill>
            <a:srgbClr val="FF5C39"/>
          </a:solidFill>
          <a:ln w="12700">
            <a:solidFill>
              <a:srgbClr val="FF5C39"/>
            </a:solidFill>
            <a:prstDash val="solid"/>
          </a:ln>
        </p:spPr>
        <p:txBody>
          <a:bodyPr/>
          <a:lstStyle/>
          <a:p>
            <a:endParaRPr lang="en-ZA"/>
          </a:p>
        </p:txBody>
      </p:sp>
      <p:sp>
        <p:nvSpPr>
          <p:cNvPr id="31" name="Text 29"/>
          <p:cNvSpPr/>
          <p:nvPr/>
        </p:nvSpPr>
        <p:spPr>
          <a:xfrm>
            <a:off x="9982048" y="1920240"/>
            <a:ext cx="182880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Wk 11+</a:t>
            </a:r>
            <a:endParaRPr lang="en-US" sz="1400" dirty="0"/>
          </a:p>
        </p:txBody>
      </p:sp>
      <p:sp>
        <p:nvSpPr>
          <p:cNvPr id="32" name="Shape 30"/>
          <p:cNvSpPr/>
          <p:nvPr/>
        </p:nvSpPr>
        <p:spPr>
          <a:xfrm>
            <a:off x="9982048" y="2514600"/>
            <a:ext cx="1828800" cy="2331720"/>
          </a:xfrm>
          <a:prstGeom prst="rect">
            <a:avLst/>
          </a:prstGeom>
          <a:solidFill>
            <a:srgbClr val="FFFFFF"/>
          </a:solidFill>
          <a:ln w="12700">
            <a:solidFill>
              <a:srgbClr val="E1E6EF"/>
            </a:solidFill>
            <a:prstDash val="solid"/>
          </a:ln>
        </p:spPr>
        <p:txBody>
          <a:bodyPr/>
          <a:lstStyle/>
          <a:p>
            <a:endParaRPr lang="en-ZA"/>
          </a:p>
        </p:txBody>
      </p:sp>
      <p:sp>
        <p:nvSpPr>
          <p:cNvPr id="33" name="Text 31"/>
          <p:cNvSpPr/>
          <p:nvPr/>
        </p:nvSpPr>
        <p:spPr>
          <a:xfrm>
            <a:off x="10073488" y="2651760"/>
            <a:ext cx="1645920" cy="640080"/>
          </a:xfrm>
          <a:prstGeom prst="rect">
            <a:avLst/>
          </a:prstGeom>
          <a:noFill/>
          <a:ln/>
        </p:spPr>
        <p:txBody>
          <a:bodyPr wrap="square" rtlCol="0" anchor="ctr"/>
          <a:lstStyle/>
          <a:p>
            <a:pPr marL="0" indent="0" algn="ctr">
              <a:buNone/>
            </a:pPr>
            <a:r>
              <a:rPr lang="en-US" sz="1400" b="1" dirty="0">
                <a:solidFill>
                  <a:srgbClr val="091F2C"/>
                </a:solidFill>
                <a:latin typeface="Segoe UI" pitchFamily="34" charset="0"/>
                <a:ea typeface="Segoe UI" pitchFamily="34" charset="-122"/>
                <a:cs typeface="Segoe UI" pitchFamily="34" charset="-120"/>
              </a:rPr>
              <a:t>First Tier 2 SOW</a:t>
            </a:r>
            <a:endParaRPr lang="en-US" sz="1400" dirty="0"/>
          </a:p>
        </p:txBody>
      </p:sp>
      <p:sp>
        <p:nvSpPr>
          <p:cNvPr id="34" name="Text 32"/>
          <p:cNvSpPr/>
          <p:nvPr/>
        </p:nvSpPr>
        <p:spPr>
          <a:xfrm>
            <a:off x="10119208" y="3337560"/>
            <a:ext cx="1554480" cy="1371600"/>
          </a:xfrm>
          <a:prstGeom prst="rect">
            <a:avLst/>
          </a:prstGeom>
          <a:noFill/>
          <a:ln/>
        </p:spPr>
        <p:txBody>
          <a:bodyPr wrap="square" rtlCol="0" anchor="ctr"/>
          <a:lstStyle/>
          <a:p>
            <a:pPr marL="0" indent="0" algn="ctr">
              <a:buNone/>
            </a:pPr>
            <a:r>
              <a:rPr lang="en-US" sz="1000" dirty="0">
                <a:solidFill>
                  <a:srgbClr val="4B5563"/>
                </a:solidFill>
                <a:latin typeface="Segoe UI" pitchFamily="34" charset="0"/>
                <a:ea typeface="Segoe UI" pitchFamily="34" charset="-122"/>
                <a:cs typeface="Segoe UI" pitchFamily="34" charset="-120"/>
              </a:rPr>
              <a:t>Build + first pilot to production · MACC anchored</a:t>
            </a:r>
            <a:endParaRPr lang="en-US" sz="1000" dirty="0"/>
          </a:p>
        </p:txBody>
      </p:sp>
      <p:pic>
        <p:nvPicPr>
          <p:cNvPr id="35"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6" name="Text 33"/>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37" name="Text 34"/>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11 / 15</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PROOF</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Partners already winning with this model</a:t>
            </a:r>
            <a:endParaRPr lang="en-US" sz="3200" dirty="0"/>
          </a:p>
        </p:txBody>
      </p:sp>
      <p:sp>
        <p:nvSpPr>
          <p:cNvPr id="5" name="Shape 3"/>
          <p:cNvSpPr/>
          <p:nvPr/>
        </p:nvSpPr>
        <p:spPr>
          <a:xfrm>
            <a:off x="548640" y="1828800"/>
            <a:ext cx="5486400" cy="4297680"/>
          </a:xfrm>
          <a:prstGeom prst="roundRect">
            <a:avLst>
              <a:gd name="adj" fmla="val 2553"/>
            </a:avLst>
          </a:prstGeom>
          <a:solidFill>
            <a:srgbClr val="FFF8F5"/>
          </a:solidFill>
          <a:ln w="12700">
            <a:solidFill>
              <a:srgbClr val="E1E6EF"/>
            </a:solidFill>
            <a:prstDash val="solid"/>
          </a:ln>
        </p:spPr>
        <p:txBody>
          <a:bodyPr/>
          <a:lstStyle/>
          <a:p>
            <a:endParaRPr lang="en-ZA"/>
          </a:p>
        </p:txBody>
      </p:sp>
      <p:sp>
        <p:nvSpPr>
          <p:cNvPr id="6" name="Shape 4"/>
          <p:cNvSpPr/>
          <p:nvPr/>
        </p:nvSpPr>
        <p:spPr>
          <a:xfrm>
            <a:off x="548640" y="1828800"/>
            <a:ext cx="5486400" cy="548640"/>
          </a:xfrm>
          <a:prstGeom prst="rect">
            <a:avLst/>
          </a:prstGeom>
          <a:solidFill>
            <a:srgbClr val="091F2C"/>
          </a:solidFill>
          <a:ln w="12700">
            <a:solidFill>
              <a:srgbClr val="091F2C"/>
            </a:solidFill>
            <a:prstDash val="solid"/>
          </a:ln>
        </p:spPr>
        <p:txBody>
          <a:bodyPr/>
          <a:lstStyle/>
          <a:p>
            <a:endParaRPr lang="en-ZA"/>
          </a:p>
        </p:txBody>
      </p:sp>
      <p:sp>
        <p:nvSpPr>
          <p:cNvPr id="7" name="Text 5"/>
          <p:cNvSpPr/>
          <p:nvPr/>
        </p:nvSpPr>
        <p:spPr>
          <a:xfrm>
            <a:off x="822960" y="1828800"/>
            <a:ext cx="4937760" cy="548640"/>
          </a:xfrm>
          <a:prstGeom prst="rect">
            <a:avLst/>
          </a:prstGeom>
          <a:noFill/>
          <a:ln/>
        </p:spPr>
        <p:txBody>
          <a:bodyPr wrap="square" rtlCol="0" anchor="ctr"/>
          <a:lstStyle/>
          <a:p>
            <a:pPr marL="0" indent="0">
              <a:buNone/>
            </a:pPr>
            <a:r>
              <a:rPr lang="en-US" sz="1800" b="1" dirty="0">
                <a:solidFill>
                  <a:srgbClr val="FFFFFF"/>
                </a:solidFill>
                <a:latin typeface="Segoe UI" pitchFamily="34" charset="0"/>
                <a:ea typeface="Segoe UI" pitchFamily="34" charset="-122"/>
                <a:cs typeface="Segoe UI" pitchFamily="34" charset="-120"/>
              </a:rPr>
              <a:t>NTT DATA</a:t>
            </a:r>
            <a:endParaRPr lang="en-US" sz="1800" dirty="0"/>
          </a:p>
        </p:txBody>
      </p:sp>
      <p:sp>
        <p:nvSpPr>
          <p:cNvPr id="8" name="Text 6"/>
          <p:cNvSpPr/>
          <p:nvPr/>
        </p:nvSpPr>
        <p:spPr>
          <a:xfrm>
            <a:off x="822960" y="2514600"/>
            <a:ext cx="4937760" cy="36576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Agentic AI Services for Hyperscaler AI Technologies</a:t>
            </a:r>
            <a:endParaRPr lang="en-US" sz="1200" dirty="0"/>
          </a:p>
        </p:txBody>
      </p:sp>
      <p:sp>
        <p:nvSpPr>
          <p:cNvPr id="9" name="Text 7"/>
          <p:cNvSpPr/>
          <p:nvPr/>
        </p:nvSpPr>
        <p:spPr>
          <a:xfrm>
            <a:off x="822960" y="2926080"/>
            <a:ext cx="4937760" cy="2286000"/>
          </a:xfrm>
          <a:prstGeom prst="rect">
            <a:avLst/>
          </a:prstGeom>
          <a:noFill/>
          <a:ln/>
        </p:spPr>
        <p:txBody>
          <a:bodyPr wrap="square" rtlCol="0" anchor="ctr"/>
          <a:lstStyle/>
          <a:p>
            <a:pPr marL="0" indent="0">
              <a:buNone/>
            </a:pPr>
            <a:r>
              <a:rPr lang="en-US" sz="1400" i="1" dirty="0">
                <a:solidFill>
                  <a:srgbClr val="091F2C"/>
                </a:solidFill>
                <a:latin typeface="Segoe UI" pitchFamily="34" charset="0"/>
                <a:ea typeface="Segoe UI" pitchFamily="34" charset="-122"/>
                <a:cs typeface="Segoe UI" pitchFamily="34" charset="-120"/>
              </a:rPr>
              <a:t>"Through close collaboration with Microsoft experts and guidance from Microsoft's AI Centre of Excellence, we're helping clients unlock the full potential of agentic AI."</a:t>
            </a:r>
            <a:endParaRPr lang="en-US" sz="1400" dirty="0"/>
          </a:p>
        </p:txBody>
      </p:sp>
      <p:sp>
        <p:nvSpPr>
          <p:cNvPr id="10" name="Text 8"/>
          <p:cNvSpPr/>
          <p:nvPr/>
        </p:nvSpPr>
        <p:spPr>
          <a:xfrm>
            <a:off x="822960" y="5486400"/>
            <a:ext cx="4937760" cy="365760"/>
          </a:xfrm>
          <a:prstGeom prst="rect">
            <a:avLst/>
          </a:prstGeom>
          <a:noFill/>
          <a:ln/>
        </p:spPr>
        <p:txBody>
          <a:bodyPr wrap="square" rtlCol="0" anchor="ctr"/>
          <a:lstStyle/>
          <a:p>
            <a:pPr marL="0" indent="0">
              <a:buNone/>
            </a:pPr>
            <a:r>
              <a:rPr lang="en-US" sz="1100" b="1" dirty="0">
                <a:solidFill>
                  <a:srgbClr val="8A94A6"/>
                </a:solidFill>
                <a:latin typeface="Segoe UI" pitchFamily="34" charset="0"/>
                <a:ea typeface="Segoe UI" pitchFamily="34" charset="-122"/>
                <a:cs typeface="Segoe UI" pitchFamily="34" charset="-120"/>
              </a:rPr>
              <a:t>— Charlie Doubek, VP, NTT DATA</a:t>
            </a:r>
            <a:endParaRPr lang="en-US" sz="1100" dirty="0"/>
          </a:p>
        </p:txBody>
      </p:sp>
      <p:sp>
        <p:nvSpPr>
          <p:cNvPr id="11" name="Shape 9"/>
          <p:cNvSpPr/>
          <p:nvPr/>
        </p:nvSpPr>
        <p:spPr>
          <a:xfrm>
            <a:off x="6217920" y="1828800"/>
            <a:ext cx="5486400" cy="4297680"/>
          </a:xfrm>
          <a:prstGeom prst="roundRect">
            <a:avLst>
              <a:gd name="adj" fmla="val 2553"/>
            </a:avLst>
          </a:prstGeom>
          <a:solidFill>
            <a:srgbClr val="FFF8F5"/>
          </a:solidFill>
          <a:ln w="12700">
            <a:solidFill>
              <a:srgbClr val="E1E6EF"/>
            </a:solidFill>
            <a:prstDash val="solid"/>
          </a:ln>
        </p:spPr>
        <p:txBody>
          <a:bodyPr/>
          <a:lstStyle/>
          <a:p>
            <a:endParaRPr lang="en-ZA"/>
          </a:p>
        </p:txBody>
      </p:sp>
      <p:sp>
        <p:nvSpPr>
          <p:cNvPr id="12" name="Shape 10"/>
          <p:cNvSpPr/>
          <p:nvPr/>
        </p:nvSpPr>
        <p:spPr>
          <a:xfrm>
            <a:off x="6217920" y="1828800"/>
            <a:ext cx="5486400" cy="548640"/>
          </a:xfrm>
          <a:prstGeom prst="rect">
            <a:avLst/>
          </a:prstGeom>
          <a:solidFill>
            <a:srgbClr val="091F2C"/>
          </a:solidFill>
          <a:ln w="12700">
            <a:solidFill>
              <a:srgbClr val="091F2C"/>
            </a:solidFill>
            <a:prstDash val="solid"/>
          </a:ln>
        </p:spPr>
        <p:txBody>
          <a:bodyPr/>
          <a:lstStyle/>
          <a:p>
            <a:endParaRPr lang="en-ZA"/>
          </a:p>
        </p:txBody>
      </p:sp>
      <p:sp>
        <p:nvSpPr>
          <p:cNvPr id="13" name="Text 11"/>
          <p:cNvSpPr/>
          <p:nvPr/>
        </p:nvSpPr>
        <p:spPr>
          <a:xfrm>
            <a:off x="6492240" y="1828800"/>
            <a:ext cx="4937760" cy="548640"/>
          </a:xfrm>
          <a:prstGeom prst="rect">
            <a:avLst/>
          </a:prstGeom>
          <a:noFill/>
          <a:ln/>
        </p:spPr>
        <p:txBody>
          <a:bodyPr wrap="square" rtlCol="0" anchor="ctr"/>
          <a:lstStyle/>
          <a:p>
            <a:pPr marL="0" indent="0">
              <a:buNone/>
            </a:pPr>
            <a:r>
              <a:rPr lang="en-US" sz="1800" b="1" dirty="0">
                <a:solidFill>
                  <a:srgbClr val="FFFFFF"/>
                </a:solidFill>
                <a:latin typeface="Segoe UI" pitchFamily="34" charset="0"/>
                <a:ea typeface="Segoe UI" pitchFamily="34" charset="-122"/>
                <a:cs typeface="Segoe UI" pitchFamily="34" charset="-120"/>
              </a:rPr>
              <a:t>Capgemini</a:t>
            </a:r>
            <a:endParaRPr lang="en-US" sz="1800" dirty="0"/>
          </a:p>
        </p:txBody>
      </p:sp>
      <p:sp>
        <p:nvSpPr>
          <p:cNvPr id="14" name="Text 12"/>
          <p:cNvSpPr/>
          <p:nvPr/>
        </p:nvSpPr>
        <p:spPr>
          <a:xfrm>
            <a:off x="6492240" y="2514600"/>
            <a:ext cx="4937760" cy="365760"/>
          </a:xfrm>
          <a:prstGeom prst="rect">
            <a:avLst/>
          </a:prstGeom>
          <a:noFill/>
          <a:ln/>
        </p:spPr>
        <p:txBody>
          <a:bodyPr wrap="square" rtlCol="0" anchor="ctr"/>
          <a:lstStyle/>
          <a:p>
            <a:pPr marL="0" indent="0">
              <a:buNone/>
            </a:pPr>
            <a:r>
              <a:rPr lang="en-US" sz="1200" i="1" dirty="0">
                <a:solidFill>
                  <a:srgbClr val="0078D4"/>
                </a:solidFill>
                <a:latin typeface="Segoe UI" pitchFamily="34" charset="0"/>
                <a:ea typeface="Segoe UI" pitchFamily="34" charset="-122"/>
                <a:cs typeface="Segoe UI" pitchFamily="34" charset="-120"/>
              </a:rPr>
              <a:t>25+ years Microsoft partnership</a:t>
            </a:r>
            <a:endParaRPr lang="en-US" sz="1200" dirty="0"/>
          </a:p>
        </p:txBody>
      </p:sp>
      <p:sp>
        <p:nvSpPr>
          <p:cNvPr id="15" name="Text 13"/>
          <p:cNvSpPr/>
          <p:nvPr/>
        </p:nvSpPr>
        <p:spPr>
          <a:xfrm>
            <a:off x="6492240" y="2926080"/>
            <a:ext cx="4937760" cy="2286000"/>
          </a:xfrm>
          <a:prstGeom prst="rect">
            <a:avLst/>
          </a:prstGeom>
          <a:noFill/>
          <a:ln/>
        </p:spPr>
        <p:txBody>
          <a:bodyPr wrap="square" rtlCol="0" anchor="ctr"/>
          <a:lstStyle/>
          <a:p>
            <a:pPr marL="0" indent="0">
              <a:buNone/>
            </a:pPr>
            <a:r>
              <a:rPr lang="en-US" sz="1400" i="1" dirty="0">
                <a:solidFill>
                  <a:srgbClr val="091F2C"/>
                </a:solidFill>
                <a:latin typeface="Segoe UI" pitchFamily="34" charset="0"/>
                <a:ea typeface="Segoe UI" pitchFamily="34" charset="-122"/>
                <a:cs typeface="Segoe UI" pitchFamily="34" charset="-120"/>
              </a:rPr>
              <a:t>"We have never been more excited than we are today to support clients through their AI transformations, powered by Microsoft's AI Centre of Excellence approach."</a:t>
            </a:r>
            <a:endParaRPr lang="en-US" sz="1400" dirty="0"/>
          </a:p>
        </p:txBody>
      </p:sp>
      <p:sp>
        <p:nvSpPr>
          <p:cNvPr id="16" name="Text 14"/>
          <p:cNvSpPr/>
          <p:nvPr/>
        </p:nvSpPr>
        <p:spPr>
          <a:xfrm>
            <a:off x="6492240" y="5486400"/>
            <a:ext cx="4937760" cy="365760"/>
          </a:xfrm>
          <a:prstGeom prst="rect">
            <a:avLst/>
          </a:prstGeom>
          <a:noFill/>
          <a:ln/>
        </p:spPr>
        <p:txBody>
          <a:bodyPr wrap="square" rtlCol="0" anchor="ctr"/>
          <a:lstStyle/>
          <a:p>
            <a:pPr marL="0" indent="0">
              <a:buNone/>
            </a:pPr>
            <a:r>
              <a:rPr lang="en-US" sz="1100" b="1" dirty="0">
                <a:solidFill>
                  <a:srgbClr val="8A94A6"/>
                </a:solidFill>
                <a:latin typeface="Segoe UI" pitchFamily="34" charset="0"/>
                <a:ea typeface="Segoe UI" pitchFamily="34" charset="-122"/>
                <a:cs typeface="Segoe UI" pitchFamily="34" charset="-120"/>
              </a:rPr>
              <a:t>— Capgemini leadership</a:t>
            </a:r>
            <a:endParaRPr lang="en-US" sz="1100" dirty="0"/>
          </a:p>
        </p:txBody>
      </p:sp>
      <p:pic>
        <p:nvPicPr>
          <p:cNvPr id="17"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18" name="Text 15"/>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19" name="Text 16"/>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12 / 15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FF5C39"/>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FF5C39"/>
                </a:solidFill>
                <a:latin typeface="Segoe UI" pitchFamily="34" charset="0"/>
                <a:ea typeface="Segoe UI" pitchFamily="34" charset="-122"/>
                <a:cs typeface="Segoe UI" pitchFamily="34" charset="-120"/>
              </a:rPr>
              <a:t>AI TRANSFORMATION OFFER</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The funded Microsoft programme you deliver</a:t>
            </a:r>
            <a:endParaRPr lang="en-US" sz="3200" dirty="0"/>
          </a:p>
        </p:txBody>
      </p:sp>
      <p:sp>
        <p:nvSpPr>
          <p:cNvPr id="5" name="Shape 3"/>
          <p:cNvSpPr/>
          <p:nvPr/>
        </p:nvSpPr>
        <p:spPr>
          <a:xfrm>
            <a:off x="548640" y="1691640"/>
            <a:ext cx="11064240" cy="777240"/>
          </a:xfrm>
          <a:prstGeom prst="roundRect">
            <a:avLst>
              <a:gd name="adj" fmla="val 9412"/>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37360"/>
            <a:ext cx="1463040" cy="685800"/>
          </a:xfrm>
          <a:prstGeom prst="rect">
            <a:avLst/>
          </a:prstGeom>
          <a:noFill/>
          <a:ln/>
        </p:spPr>
        <p:txBody>
          <a:bodyPr wrap="square" rtlCol="0" anchor="ctr"/>
          <a:lstStyle/>
          <a:p>
            <a:pPr marL="0" indent="0">
              <a:buNone/>
            </a:pPr>
            <a:r>
              <a:rPr lang="en-US" sz="3400" b="1" dirty="0">
                <a:solidFill>
                  <a:srgbClr val="C03BC4"/>
                </a:solidFill>
                <a:latin typeface="Segoe UI" pitchFamily="34" charset="0"/>
                <a:ea typeface="Segoe UI" pitchFamily="34" charset="-122"/>
                <a:cs typeface="Segoe UI" pitchFamily="34" charset="-120"/>
              </a:rPr>
              <a:t>100+</a:t>
            </a:r>
            <a:endParaRPr lang="en-US" sz="3400" dirty="0"/>
          </a:p>
        </p:txBody>
      </p:sp>
      <p:sp>
        <p:nvSpPr>
          <p:cNvPr id="7" name="Text 5"/>
          <p:cNvSpPr/>
          <p:nvPr/>
        </p:nvSpPr>
        <p:spPr>
          <a:xfrm>
            <a:off x="2240280" y="1737360"/>
            <a:ext cx="4937760" cy="685800"/>
          </a:xfrm>
          <a:prstGeom prst="rect">
            <a:avLst/>
          </a:prstGeom>
          <a:noFill/>
          <a:ln/>
        </p:spPr>
        <p:txBody>
          <a:bodyPr wrap="square" rtlCol="0" anchor="ctr"/>
          <a:lstStyle/>
          <a:p>
            <a:pPr marL="0" indent="0">
              <a:buNone/>
            </a:pPr>
            <a:r>
              <a:rPr lang="en-US" sz="1300" dirty="0">
                <a:solidFill>
                  <a:srgbClr val="F5E6F0"/>
                </a:solidFill>
                <a:latin typeface="Segoe UI" pitchFamily="34" charset="0"/>
                <a:ea typeface="Segoe UI" pitchFamily="34" charset="-122"/>
                <a:cs typeface="Segoe UI" pitchFamily="34" charset="-120"/>
              </a:rPr>
              <a:t>accounts already running ATO see</a:t>
            </a:r>
            <a:endParaRPr lang="en-US" sz="1300" dirty="0"/>
          </a:p>
        </p:txBody>
      </p:sp>
      <p:sp>
        <p:nvSpPr>
          <p:cNvPr id="8" name="Text 6"/>
          <p:cNvSpPr/>
          <p:nvPr/>
        </p:nvSpPr>
        <p:spPr>
          <a:xfrm>
            <a:off x="7223760" y="1737360"/>
            <a:ext cx="2011680" cy="685800"/>
          </a:xfrm>
          <a:prstGeom prst="rect">
            <a:avLst/>
          </a:prstGeom>
          <a:noFill/>
          <a:ln/>
        </p:spPr>
        <p:txBody>
          <a:bodyPr wrap="square" rtlCol="0" anchor="ctr"/>
          <a:lstStyle/>
          <a:p>
            <a:pPr marL="0" indent="0">
              <a:buNone/>
            </a:pPr>
            <a:r>
              <a:rPr lang="en-US" sz="2200" b="1" dirty="0">
                <a:solidFill>
                  <a:srgbClr val="FFB900"/>
                </a:solidFill>
                <a:latin typeface="Segoe UI" pitchFamily="34" charset="0"/>
                <a:ea typeface="Segoe UI" pitchFamily="34" charset="-122"/>
                <a:cs typeface="Segoe UI" pitchFamily="34" charset="-120"/>
              </a:rPr>
              <a:t>15% higher</a:t>
            </a:r>
            <a:endParaRPr lang="en-US" sz="2200" dirty="0"/>
          </a:p>
        </p:txBody>
      </p:sp>
      <p:sp>
        <p:nvSpPr>
          <p:cNvPr id="9" name="Text 7"/>
          <p:cNvSpPr/>
          <p:nvPr/>
        </p:nvSpPr>
        <p:spPr>
          <a:xfrm>
            <a:off x="9098280" y="1737360"/>
            <a:ext cx="2514600" cy="685800"/>
          </a:xfrm>
          <a:prstGeom prst="rect">
            <a:avLst/>
          </a:prstGeom>
          <a:noFill/>
          <a:ln/>
        </p:spPr>
        <p:txBody>
          <a:bodyPr wrap="square" rtlCol="0" anchor="ctr"/>
          <a:lstStyle/>
          <a:p>
            <a:pPr marL="0" indent="0">
              <a:buNone/>
            </a:pPr>
            <a:r>
              <a:rPr lang="en-US" sz="1300" dirty="0">
                <a:solidFill>
                  <a:srgbClr val="F5E6F0"/>
                </a:solidFill>
                <a:latin typeface="Segoe UI" pitchFamily="34" charset="0"/>
                <a:ea typeface="Segoe UI" pitchFamily="34" charset="-122"/>
                <a:cs typeface="Segoe UI" pitchFamily="34" charset="-120"/>
              </a:rPr>
              <a:t>month-over-month AI ACR</a:t>
            </a:r>
            <a:endParaRPr lang="en-US" sz="1300" dirty="0"/>
          </a:p>
        </p:txBody>
      </p:sp>
      <p:sp>
        <p:nvSpPr>
          <p:cNvPr id="10" name="Shape 8"/>
          <p:cNvSpPr/>
          <p:nvPr/>
        </p:nvSpPr>
        <p:spPr>
          <a:xfrm>
            <a:off x="678028" y="2743200"/>
            <a:ext cx="3520440" cy="2103120"/>
          </a:xfrm>
          <a:prstGeom prst="roundRect">
            <a:avLst>
              <a:gd name="adj" fmla="val 3478"/>
            </a:avLst>
          </a:prstGeom>
          <a:solidFill>
            <a:srgbClr val="FFFFFF"/>
          </a:solidFill>
          <a:ln w="12700">
            <a:solidFill>
              <a:srgbClr val="E1E6EF"/>
            </a:solidFill>
            <a:prstDash val="solid"/>
          </a:ln>
        </p:spPr>
        <p:txBody>
          <a:bodyPr/>
          <a:lstStyle/>
          <a:p>
            <a:endParaRPr lang="en-ZA"/>
          </a:p>
        </p:txBody>
      </p:sp>
      <p:sp>
        <p:nvSpPr>
          <p:cNvPr id="11" name="Shape 9"/>
          <p:cNvSpPr/>
          <p:nvPr/>
        </p:nvSpPr>
        <p:spPr>
          <a:xfrm>
            <a:off x="860908" y="2926080"/>
            <a:ext cx="594360" cy="594360"/>
          </a:xfrm>
          <a:prstGeom prst="ellipse">
            <a:avLst/>
          </a:prstGeom>
          <a:solidFill>
            <a:srgbClr val="0078D4"/>
          </a:solidFill>
          <a:ln w="12700">
            <a:solidFill>
              <a:srgbClr val="0078D4"/>
            </a:solidFill>
            <a:prstDash val="solid"/>
          </a:ln>
        </p:spPr>
        <p:txBody>
          <a:bodyPr/>
          <a:lstStyle/>
          <a:p>
            <a:endParaRPr lang="en-ZA"/>
          </a:p>
        </p:txBody>
      </p:sp>
      <p:sp>
        <p:nvSpPr>
          <p:cNvPr id="12" name="Text 10"/>
          <p:cNvSpPr/>
          <p:nvPr/>
        </p:nvSpPr>
        <p:spPr>
          <a:xfrm>
            <a:off x="860908" y="2926080"/>
            <a:ext cx="59436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C1</a:t>
            </a:r>
            <a:endParaRPr lang="en-US" sz="1400" dirty="0"/>
          </a:p>
        </p:txBody>
      </p:sp>
      <p:sp>
        <p:nvSpPr>
          <p:cNvPr id="13" name="Text 11"/>
          <p:cNvSpPr/>
          <p:nvPr/>
        </p:nvSpPr>
        <p:spPr>
          <a:xfrm>
            <a:off x="1546708" y="2926080"/>
            <a:ext cx="25146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Business &amp; AI Journey to Value</a:t>
            </a:r>
            <a:endParaRPr lang="en-US" sz="1400" dirty="0"/>
          </a:p>
        </p:txBody>
      </p:sp>
      <p:sp>
        <p:nvSpPr>
          <p:cNvPr id="14" name="Text 12"/>
          <p:cNvSpPr/>
          <p:nvPr/>
        </p:nvSpPr>
        <p:spPr>
          <a:xfrm>
            <a:off x="906628" y="3611880"/>
            <a:ext cx="3063240" cy="8686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AI CoE Presentation · Envisioning · Rapid Prototyping</a:t>
            </a:r>
            <a:endParaRPr lang="en-US" sz="1100" dirty="0"/>
          </a:p>
        </p:txBody>
      </p:sp>
      <p:sp>
        <p:nvSpPr>
          <p:cNvPr id="15" name="Text 13"/>
          <p:cNvSpPr/>
          <p:nvPr/>
        </p:nvSpPr>
        <p:spPr>
          <a:xfrm>
            <a:off x="906628" y="4434840"/>
            <a:ext cx="3063240" cy="228600"/>
          </a:xfrm>
          <a:prstGeom prst="rect">
            <a:avLst/>
          </a:prstGeom>
          <a:noFill/>
          <a:ln/>
        </p:spPr>
        <p:txBody>
          <a:bodyPr wrap="square" rtlCol="0" anchor="ctr"/>
          <a:lstStyle/>
          <a:p>
            <a:pPr marL="0" indent="0">
              <a:buNone/>
            </a:pPr>
            <a:r>
              <a:rPr lang="en-US" sz="1000" i="1" dirty="0">
                <a:solidFill>
                  <a:srgbClr val="8A94A6"/>
                </a:solidFill>
                <a:latin typeface="Segoe UI" pitchFamily="34" charset="0"/>
                <a:ea typeface="Segoe UI" pitchFamily="34" charset="-122"/>
                <a:cs typeface="Segoe UI" pitchFamily="34" charset="-120"/>
              </a:rPr>
              <a:t>Delivery lead: Strategy / Workshop Lead</a:t>
            </a:r>
            <a:endParaRPr lang="en-US" sz="1000" dirty="0"/>
          </a:p>
        </p:txBody>
      </p:sp>
      <p:sp>
        <p:nvSpPr>
          <p:cNvPr id="16" name="Text 14"/>
          <p:cNvSpPr/>
          <p:nvPr/>
        </p:nvSpPr>
        <p:spPr>
          <a:xfrm>
            <a:off x="906628" y="4663440"/>
            <a:ext cx="3063240" cy="274320"/>
          </a:xfrm>
          <a:prstGeom prst="rect">
            <a:avLst/>
          </a:prstGeom>
          <a:noFill/>
          <a:ln/>
        </p:spPr>
        <p:txBody>
          <a:bodyPr wrap="square" rtlCol="0" anchor="ctr"/>
          <a:lstStyle/>
          <a:p>
            <a:pPr marL="0" indent="0">
              <a:buNone/>
            </a:pPr>
            <a:r>
              <a:rPr lang="en-US" sz="1000" b="1" i="1" dirty="0">
                <a:solidFill>
                  <a:srgbClr val="0078D4"/>
                </a:solidFill>
                <a:latin typeface="Segoe UI" pitchFamily="34" charset="0"/>
                <a:ea typeface="Segoe UI" pitchFamily="34" charset="-122"/>
                <a:cs typeface="Segoe UI" pitchFamily="34" charset="-120"/>
              </a:rPr>
              <a:t>1–2 weeks</a:t>
            </a:r>
            <a:endParaRPr lang="en-US" sz="1000" dirty="0"/>
          </a:p>
        </p:txBody>
      </p:sp>
      <p:sp>
        <p:nvSpPr>
          <p:cNvPr id="17" name="Shape 15"/>
          <p:cNvSpPr/>
          <p:nvPr/>
        </p:nvSpPr>
        <p:spPr>
          <a:xfrm>
            <a:off x="4335628" y="2743200"/>
            <a:ext cx="3520440" cy="2103120"/>
          </a:xfrm>
          <a:prstGeom prst="roundRect">
            <a:avLst>
              <a:gd name="adj" fmla="val 3478"/>
            </a:avLst>
          </a:prstGeom>
          <a:solidFill>
            <a:srgbClr val="FFFFFF"/>
          </a:solidFill>
          <a:ln w="12700">
            <a:solidFill>
              <a:srgbClr val="E1E6EF"/>
            </a:solidFill>
            <a:prstDash val="solid"/>
          </a:ln>
        </p:spPr>
        <p:txBody>
          <a:bodyPr/>
          <a:lstStyle/>
          <a:p>
            <a:endParaRPr lang="en-ZA"/>
          </a:p>
        </p:txBody>
      </p:sp>
      <p:sp>
        <p:nvSpPr>
          <p:cNvPr id="18" name="Shape 16"/>
          <p:cNvSpPr/>
          <p:nvPr/>
        </p:nvSpPr>
        <p:spPr>
          <a:xfrm>
            <a:off x="4518508" y="2926080"/>
            <a:ext cx="594360" cy="594360"/>
          </a:xfrm>
          <a:prstGeom prst="ellipse">
            <a:avLst/>
          </a:prstGeom>
          <a:solidFill>
            <a:srgbClr val="0078D4"/>
          </a:solidFill>
          <a:ln w="12700">
            <a:solidFill>
              <a:srgbClr val="0078D4"/>
            </a:solidFill>
            <a:prstDash val="solid"/>
          </a:ln>
        </p:spPr>
        <p:txBody>
          <a:bodyPr/>
          <a:lstStyle/>
          <a:p>
            <a:endParaRPr lang="en-ZA"/>
          </a:p>
        </p:txBody>
      </p:sp>
      <p:sp>
        <p:nvSpPr>
          <p:cNvPr id="19" name="Text 17"/>
          <p:cNvSpPr/>
          <p:nvPr/>
        </p:nvSpPr>
        <p:spPr>
          <a:xfrm>
            <a:off x="4518508" y="2926080"/>
            <a:ext cx="59436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C2</a:t>
            </a:r>
            <a:endParaRPr lang="en-US" sz="1400" dirty="0"/>
          </a:p>
        </p:txBody>
      </p:sp>
      <p:sp>
        <p:nvSpPr>
          <p:cNvPr id="20" name="Text 18"/>
          <p:cNvSpPr/>
          <p:nvPr/>
        </p:nvSpPr>
        <p:spPr>
          <a:xfrm>
            <a:off x="5204308" y="2926080"/>
            <a:ext cx="25146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AI Foundation Architecture</a:t>
            </a:r>
            <a:endParaRPr lang="en-US" sz="1400" dirty="0"/>
          </a:p>
        </p:txBody>
      </p:sp>
      <p:sp>
        <p:nvSpPr>
          <p:cNvPr id="21" name="Text 19"/>
          <p:cNvSpPr/>
          <p:nvPr/>
        </p:nvSpPr>
        <p:spPr>
          <a:xfrm>
            <a:off x="4564228" y="3611880"/>
            <a:ext cx="3063240" cy="8686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GenAI Building Blocks · Landing Zone Implementation</a:t>
            </a:r>
            <a:endParaRPr lang="en-US" sz="1100" dirty="0"/>
          </a:p>
        </p:txBody>
      </p:sp>
      <p:sp>
        <p:nvSpPr>
          <p:cNvPr id="22" name="Text 20"/>
          <p:cNvSpPr/>
          <p:nvPr/>
        </p:nvSpPr>
        <p:spPr>
          <a:xfrm>
            <a:off x="4564228" y="4434840"/>
            <a:ext cx="3063240" cy="228600"/>
          </a:xfrm>
          <a:prstGeom prst="rect">
            <a:avLst/>
          </a:prstGeom>
          <a:noFill/>
          <a:ln/>
        </p:spPr>
        <p:txBody>
          <a:bodyPr wrap="square" rtlCol="0" anchor="ctr"/>
          <a:lstStyle/>
          <a:p>
            <a:pPr marL="0" indent="0">
              <a:buNone/>
            </a:pPr>
            <a:r>
              <a:rPr lang="en-US" sz="1000" i="1" dirty="0">
                <a:solidFill>
                  <a:srgbClr val="8A94A6"/>
                </a:solidFill>
                <a:latin typeface="Segoe UI" pitchFamily="34" charset="0"/>
                <a:ea typeface="Segoe UI" pitchFamily="34" charset="-122"/>
                <a:cs typeface="Segoe UI" pitchFamily="34" charset="-120"/>
              </a:rPr>
              <a:t>Delivery lead: Partner Architect / Developer</a:t>
            </a:r>
            <a:endParaRPr lang="en-US" sz="1000" dirty="0"/>
          </a:p>
        </p:txBody>
      </p:sp>
      <p:sp>
        <p:nvSpPr>
          <p:cNvPr id="23" name="Text 21"/>
          <p:cNvSpPr/>
          <p:nvPr/>
        </p:nvSpPr>
        <p:spPr>
          <a:xfrm>
            <a:off x="4564228" y="4663440"/>
            <a:ext cx="3063240" cy="274320"/>
          </a:xfrm>
          <a:prstGeom prst="rect">
            <a:avLst/>
          </a:prstGeom>
          <a:noFill/>
          <a:ln/>
        </p:spPr>
        <p:txBody>
          <a:bodyPr wrap="square" rtlCol="0" anchor="ctr"/>
          <a:lstStyle/>
          <a:p>
            <a:pPr marL="0" indent="0">
              <a:buNone/>
            </a:pPr>
            <a:r>
              <a:rPr lang="en-US" sz="1000" b="1" i="1" dirty="0">
                <a:solidFill>
                  <a:srgbClr val="0078D4"/>
                </a:solidFill>
                <a:latin typeface="Segoe UI" pitchFamily="34" charset="0"/>
                <a:ea typeface="Segoe UI" pitchFamily="34" charset="-122"/>
                <a:cs typeface="Segoe UI" pitchFamily="34" charset="-120"/>
              </a:rPr>
              <a:t>2–4 weeks</a:t>
            </a:r>
            <a:endParaRPr lang="en-US" sz="1000" dirty="0"/>
          </a:p>
        </p:txBody>
      </p:sp>
      <p:sp>
        <p:nvSpPr>
          <p:cNvPr id="24" name="Shape 22"/>
          <p:cNvSpPr/>
          <p:nvPr/>
        </p:nvSpPr>
        <p:spPr>
          <a:xfrm>
            <a:off x="7993228" y="2743200"/>
            <a:ext cx="3520440" cy="2103120"/>
          </a:xfrm>
          <a:prstGeom prst="roundRect">
            <a:avLst>
              <a:gd name="adj" fmla="val 3478"/>
            </a:avLst>
          </a:prstGeom>
          <a:solidFill>
            <a:srgbClr val="FFFFFF"/>
          </a:solidFill>
          <a:ln w="12700">
            <a:solidFill>
              <a:srgbClr val="E1E6EF"/>
            </a:solidFill>
            <a:prstDash val="solid"/>
          </a:ln>
        </p:spPr>
        <p:txBody>
          <a:bodyPr/>
          <a:lstStyle/>
          <a:p>
            <a:endParaRPr lang="en-ZA"/>
          </a:p>
        </p:txBody>
      </p:sp>
      <p:sp>
        <p:nvSpPr>
          <p:cNvPr id="25" name="Shape 23"/>
          <p:cNvSpPr/>
          <p:nvPr/>
        </p:nvSpPr>
        <p:spPr>
          <a:xfrm>
            <a:off x="8176108" y="2926080"/>
            <a:ext cx="594360" cy="594360"/>
          </a:xfrm>
          <a:prstGeom prst="ellipse">
            <a:avLst/>
          </a:prstGeom>
          <a:solidFill>
            <a:srgbClr val="FF5C39"/>
          </a:solidFill>
          <a:ln w="12700">
            <a:solidFill>
              <a:srgbClr val="FF5C39"/>
            </a:solidFill>
            <a:prstDash val="solid"/>
          </a:ln>
        </p:spPr>
        <p:txBody>
          <a:bodyPr/>
          <a:lstStyle/>
          <a:p>
            <a:endParaRPr lang="en-ZA"/>
          </a:p>
        </p:txBody>
      </p:sp>
      <p:sp>
        <p:nvSpPr>
          <p:cNvPr id="26" name="Text 24"/>
          <p:cNvSpPr/>
          <p:nvPr/>
        </p:nvSpPr>
        <p:spPr>
          <a:xfrm>
            <a:off x="8176108" y="2926080"/>
            <a:ext cx="594360" cy="594360"/>
          </a:xfrm>
          <a:prstGeom prst="rect">
            <a:avLst/>
          </a:prstGeom>
          <a:noFill/>
          <a:ln/>
        </p:spPr>
        <p:txBody>
          <a:bodyPr wrap="square"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C3</a:t>
            </a:r>
            <a:endParaRPr lang="en-US" sz="1400" dirty="0"/>
          </a:p>
        </p:txBody>
      </p:sp>
      <p:sp>
        <p:nvSpPr>
          <p:cNvPr id="27" name="Text 25"/>
          <p:cNvSpPr/>
          <p:nvPr/>
        </p:nvSpPr>
        <p:spPr>
          <a:xfrm>
            <a:off x="8861908" y="2926080"/>
            <a:ext cx="251460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Agent Factory</a:t>
            </a:r>
            <a:endParaRPr lang="en-US" sz="1400" dirty="0"/>
          </a:p>
        </p:txBody>
      </p:sp>
      <p:sp>
        <p:nvSpPr>
          <p:cNvPr id="28" name="Text 26"/>
          <p:cNvSpPr/>
          <p:nvPr/>
        </p:nvSpPr>
        <p:spPr>
          <a:xfrm>
            <a:off x="8221828" y="3611880"/>
            <a:ext cx="3063240" cy="86868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GenAIOps · Agentic Co-Build · Optimization</a:t>
            </a:r>
            <a:endParaRPr lang="en-US" sz="1100" dirty="0"/>
          </a:p>
        </p:txBody>
      </p:sp>
      <p:sp>
        <p:nvSpPr>
          <p:cNvPr id="29" name="Text 27"/>
          <p:cNvSpPr/>
          <p:nvPr/>
        </p:nvSpPr>
        <p:spPr>
          <a:xfrm>
            <a:off x="8221828" y="4434840"/>
            <a:ext cx="3063240" cy="228600"/>
          </a:xfrm>
          <a:prstGeom prst="rect">
            <a:avLst/>
          </a:prstGeom>
          <a:noFill/>
          <a:ln/>
        </p:spPr>
        <p:txBody>
          <a:bodyPr wrap="square" rtlCol="0" anchor="ctr"/>
          <a:lstStyle/>
          <a:p>
            <a:pPr marL="0" indent="0">
              <a:buNone/>
            </a:pPr>
            <a:r>
              <a:rPr lang="en-US" sz="1000" i="1" dirty="0">
                <a:solidFill>
                  <a:srgbClr val="8A94A6"/>
                </a:solidFill>
                <a:latin typeface="Segoe UI" pitchFamily="34" charset="0"/>
                <a:ea typeface="Segoe UI" pitchFamily="34" charset="-122"/>
                <a:cs typeface="Segoe UI" pitchFamily="34" charset="-120"/>
              </a:rPr>
              <a:t>Delivery lead: Partner Architect / Developer</a:t>
            </a:r>
            <a:endParaRPr lang="en-US" sz="1000" dirty="0"/>
          </a:p>
        </p:txBody>
      </p:sp>
      <p:sp>
        <p:nvSpPr>
          <p:cNvPr id="30" name="Text 28"/>
          <p:cNvSpPr/>
          <p:nvPr/>
        </p:nvSpPr>
        <p:spPr>
          <a:xfrm>
            <a:off x="8221828" y="4663440"/>
            <a:ext cx="3063240" cy="274320"/>
          </a:xfrm>
          <a:prstGeom prst="rect">
            <a:avLst/>
          </a:prstGeom>
          <a:noFill/>
          <a:ln/>
        </p:spPr>
        <p:txBody>
          <a:bodyPr wrap="square" rtlCol="0" anchor="ctr"/>
          <a:lstStyle/>
          <a:p>
            <a:pPr marL="0" indent="0">
              <a:buNone/>
            </a:pPr>
            <a:r>
              <a:rPr lang="en-US" sz="1000" b="1" i="1" dirty="0">
                <a:solidFill>
                  <a:srgbClr val="0078D4"/>
                </a:solidFill>
                <a:latin typeface="Segoe UI" pitchFamily="34" charset="0"/>
                <a:ea typeface="Segoe UI" pitchFamily="34" charset="-122"/>
                <a:cs typeface="Segoe UI" pitchFamily="34" charset="-120"/>
              </a:rPr>
              <a:t>7–9 weeks</a:t>
            </a:r>
            <a:endParaRPr lang="en-US" sz="1000" dirty="0"/>
          </a:p>
        </p:txBody>
      </p:sp>
      <p:sp>
        <p:nvSpPr>
          <p:cNvPr id="31" name="Shape 29"/>
          <p:cNvSpPr/>
          <p:nvPr/>
        </p:nvSpPr>
        <p:spPr>
          <a:xfrm>
            <a:off x="548640" y="4983480"/>
            <a:ext cx="11064240" cy="1234440"/>
          </a:xfrm>
          <a:prstGeom prst="roundRect">
            <a:avLst>
              <a:gd name="adj" fmla="val 5926"/>
            </a:avLst>
          </a:prstGeom>
          <a:solidFill>
            <a:srgbClr val="FEF6EC"/>
          </a:solidFill>
          <a:ln w="12700">
            <a:solidFill>
              <a:srgbClr val="FFB900"/>
            </a:solidFill>
            <a:prstDash val="solid"/>
          </a:ln>
        </p:spPr>
        <p:txBody>
          <a:bodyPr/>
          <a:lstStyle/>
          <a:p>
            <a:endParaRPr lang="en-ZA"/>
          </a:p>
        </p:txBody>
      </p:sp>
      <p:sp>
        <p:nvSpPr>
          <p:cNvPr id="32" name="Text 30"/>
          <p:cNvSpPr/>
          <p:nvPr/>
        </p:nvSpPr>
        <p:spPr>
          <a:xfrm>
            <a:off x="777240" y="5074920"/>
            <a:ext cx="5486400" cy="274320"/>
          </a:xfrm>
          <a:prstGeom prst="rect">
            <a:avLst/>
          </a:prstGeom>
          <a:noFill/>
          <a:ln/>
        </p:spPr>
        <p:txBody>
          <a:bodyPr wrap="square" rtlCol="0" anchor="ctr"/>
          <a:lstStyle/>
          <a:p>
            <a:pPr marL="0" indent="0">
              <a:buNone/>
            </a:pPr>
            <a:r>
              <a:rPr lang="en-US" sz="1000" b="1" kern="0" spc="300" dirty="0">
                <a:solidFill>
                  <a:srgbClr val="8A6500"/>
                </a:solidFill>
                <a:latin typeface="Segoe UI" pitchFamily="34" charset="0"/>
                <a:ea typeface="Segoe UI" pitchFamily="34" charset="-122"/>
                <a:cs typeface="Segoe UI" pitchFamily="34" charset="-120"/>
              </a:rPr>
              <a:t>COMMERCIAL ENVELOPE — STACKED FUNDING</a:t>
            </a:r>
            <a:endParaRPr lang="en-US" sz="1000" dirty="0"/>
          </a:p>
        </p:txBody>
      </p:sp>
      <p:sp>
        <p:nvSpPr>
          <p:cNvPr id="33" name="Text 31"/>
          <p:cNvSpPr/>
          <p:nvPr/>
        </p:nvSpPr>
        <p:spPr>
          <a:xfrm>
            <a:off x="777240" y="5349240"/>
            <a:ext cx="1463040" cy="27432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Pre-sales</a:t>
            </a:r>
            <a:endParaRPr lang="en-US" sz="1200" dirty="0"/>
          </a:p>
        </p:txBody>
      </p:sp>
      <p:sp>
        <p:nvSpPr>
          <p:cNvPr id="34" name="Text 32"/>
          <p:cNvSpPr/>
          <p:nvPr/>
        </p:nvSpPr>
        <p:spPr>
          <a:xfrm>
            <a:off x="777240" y="5623560"/>
            <a:ext cx="3657600" cy="2743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Up to $50k ECIF · 1:5 ROI</a:t>
            </a:r>
            <a:endParaRPr lang="en-US" sz="1100" dirty="0"/>
          </a:p>
        </p:txBody>
      </p:sp>
      <p:sp>
        <p:nvSpPr>
          <p:cNvPr id="35" name="Text 33"/>
          <p:cNvSpPr/>
          <p:nvPr/>
        </p:nvSpPr>
        <p:spPr>
          <a:xfrm>
            <a:off x="777240" y="5897880"/>
            <a:ext cx="3657600" cy="228600"/>
          </a:xfrm>
          <a:prstGeom prst="rect">
            <a:avLst/>
          </a:prstGeom>
          <a:noFill/>
          <a:ln/>
        </p:spPr>
        <p:txBody>
          <a:bodyPr wrap="square" rtlCol="0" anchor="ctr"/>
          <a:lstStyle/>
          <a:p>
            <a:pPr marL="0" indent="0">
              <a:buNone/>
            </a:pPr>
            <a:r>
              <a:rPr lang="en-US" sz="900" i="1" dirty="0">
                <a:solidFill>
                  <a:srgbClr val="8A94A6"/>
                </a:solidFill>
                <a:latin typeface="Segoe UI" pitchFamily="34" charset="0"/>
                <a:ea typeface="Segoe UI" pitchFamily="34" charset="-122"/>
                <a:cs typeface="Segoe UI" pitchFamily="34" charset="-120"/>
              </a:rPr>
              <a:t>(Component 1 · any Y1 ACR &gt; $1)</a:t>
            </a:r>
            <a:endParaRPr lang="en-US" sz="900" dirty="0"/>
          </a:p>
        </p:txBody>
      </p:sp>
      <p:sp>
        <p:nvSpPr>
          <p:cNvPr id="36" name="Shape 34"/>
          <p:cNvSpPr/>
          <p:nvPr/>
        </p:nvSpPr>
        <p:spPr>
          <a:xfrm>
            <a:off x="4846320" y="5349240"/>
            <a:ext cx="18288" cy="731520"/>
          </a:xfrm>
          <a:prstGeom prst="rect">
            <a:avLst/>
          </a:prstGeom>
          <a:solidFill>
            <a:srgbClr val="D0B078"/>
          </a:solidFill>
          <a:ln/>
        </p:spPr>
        <p:txBody>
          <a:bodyPr/>
          <a:lstStyle/>
          <a:p>
            <a:endParaRPr lang="en-ZA"/>
          </a:p>
        </p:txBody>
      </p:sp>
      <p:sp>
        <p:nvSpPr>
          <p:cNvPr id="37" name="Text 35"/>
          <p:cNvSpPr/>
          <p:nvPr/>
        </p:nvSpPr>
        <p:spPr>
          <a:xfrm>
            <a:off x="5074920" y="5349240"/>
            <a:ext cx="1828800" cy="274320"/>
          </a:xfrm>
          <a:prstGeom prst="rect">
            <a:avLst/>
          </a:prstGeom>
          <a:noFill/>
          <a:ln/>
        </p:spPr>
        <p:txBody>
          <a:bodyPr wrap="square" rtlCol="0" anchor="ctr"/>
          <a:lstStyle/>
          <a:p>
            <a:pPr marL="0" indent="0">
              <a:buNone/>
            </a:pPr>
            <a:r>
              <a:rPr lang="en-US" sz="1200" b="1" dirty="0">
                <a:solidFill>
                  <a:srgbClr val="091F2C"/>
                </a:solidFill>
                <a:latin typeface="Segoe UI" pitchFamily="34" charset="0"/>
                <a:ea typeface="Segoe UI" pitchFamily="34" charset="-122"/>
                <a:cs typeface="Segoe UI" pitchFamily="34" charset="-120"/>
              </a:rPr>
              <a:t>Post-sales</a:t>
            </a:r>
            <a:endParaRPr lang="en-US" sz="1200" dirty="0"/>
          </a:p>
        </p:txBody>
      </p:sp>
      <p:sp>
        <p:nvSpPr>
          <p:cNvPr id="38" name="Text 36"/>
          <p:cNvSpPr/>
          <p:nvPr/>
        </p:nvSpPr>
        <p:spPr>
          <a:xfrm>
            <a:off x="5074920" y="5623560"/>
            <a:ext cx="6400800" cy="274320"/>
          </a:xfrm>
          <a:prstGeom prst="rect">
            <a:avLst/>
          </a:prstGeom>
          <a:noFill/>
          <a:ln/>
        </p:spPr>
        <p:txBody>
          <a:bodyPr wrap="square" rtlCol="0" anchor="ctr"/>
          <a:lstStyle/>
          <a:p>
            <a:pPr marL="0" indent="0">
              <a:buNone/>
            </a:pPr>
            <a:r>
              <a:rPr lang="en-US" sz="1100" dirty="0">
                <a:solidFill>
                  <a:srgbClr val="4B5563"/>
                </a:solidFill>
                <a:latin typeface="Segoe UI" pitchFamily="34" charset="0"/>
                <a:ea typeface="Segoe UI" pitchFamily="34" charset="-122"/>
                <a:cs typeface="Segoe UI" pitchFamily="34" charset="-120"/>
              </a:rPr>
              <a:t>Up to $1M — $500k ECIF + $500k ACO · 1:2 each</a:t>
            </a:r>
            <a:endParaRPr lang="en-US" sz="1100" dirty="0"/>
          </a:p>
        </p:txBody>
      </p:sp>
      <p:sp>
        <p:nvSpPr>
          <p:cNvPr id="39" name="Text 37"/>
          <p:cNvSpPr/>
          <p:nvPr/>
        </p:nvSpPr>
        <p:spPr>
          <a:xfrm>
            <a:off x="5074920" y="5897880"/>
            <a:ext cx="6400800" cy="228600"/>
          </a:xfrm>
          <a:prstGeom prst="rect">
            <a:avLst/>
          </a:prstGeom>
          <a:noFill/>
          <a:ln/>
        </p:spPr>
        <p:txBody>
          <a:bodyPr wrap="square" rtlCol="0" anchor="ctr"/>
          <a:lstStyle/>
          <a:p>
            <a:pPr marL="0" indent="0">
              <a:buNone/>
            </a:pPr>
            <a:r>
              <a:rPr lang="en-US" sz="900" i="1" dirty="0">
                <a:solidFill>
                  <a:srgbClr val="8A94A6"/>
                </a:solidFill>
                <a:latin typeface="Segoe UI" pitchFamily="34" charset="0"/>
                <a:ea typeface="Segoe UI" pitchFamily="34" charset="-122"/>
                <a:cs typeface="Segoe UI" pitchFamily="34" charset="-120"/>
              </a:rPr>
              <a:t>(Components 2 + 3 · gated on AI Foundry + Fabric/Databases attach)</a:t>
            </a:r>
            <a:endParaRPr lang="en-US" sz="900" dirty="0"/>
          </a:p>
        </p:txBody>
      </p:sp>
      <p:pic>
        <p:nvPicPr>
          <p:cNvPr id="40"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41" name="Text 38"/>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42" name="Text 39"/>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13 / 15</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8F5"/>
        </a:solidFill>
        <a:effectLst/>
      </p:bgPr>
    </p:bg>
    <p:spTree>
      <p:nvGrpSpPr>
        <p:cNvPr id="1" name=""/>
        <p:cNvGrpSpPr/>
        <p:nvPr/>
      </p:nvGrpSpPr>
      <p:grpSpPr>
        <a:xfrm>
          <a:off x="0" y="0"/>
          <a:ext cx="0" cy="0"/>
          <a:chOff x="0" y="0"/>
          <a:chExt cx="0" cy="0"/>
        </a:xfrm>
      </p:grpSpPr>
      <p:sp>
        <p:nvSpPr>
          <p:cNvPr id="2" name="Shape 0"/>
          <p:cNvSpPr/>
          <p:nvPr/>
        </p:nvSpPr>
        <p:spPr>
          <a:xfrm>
            <a:off x="0" y="0"/>
            <a:ext cx="137160" cy="6858000"/>
          </a:xfrm>
          <a:prstGeom prst="rect">
            <a:avLst/>
          </a:prstGeom>
          <a:solidFill>
            <a:srgbClr val="0078D4"/>
          </a:solidFill>
          <a:ln/>
        </p:spPr>
        <p:txBody>
          <a:bodyPr/>
          <a:lstStyle/>
          <a:p>
            <a:endParaRPr lang="en-ZA"/>
          </a:p>
        </p:txBody>
      </p:sp>
      <p:sp>
        <p:nvSpPr>
          <p:cNvPr id="3" name="Text 1"/>
          <p:cNvSpPr/>
          <p:nvPr/>
        </p:nvSpPr>
        <p:spPr>
          <a:xfrm>
            <a:off x="548640" y="457200"/>
            <a:ext cx="9144000" cy="274320"/>
          </a:xfrm>
          <a:prstGeom prst="rect">
            <a:avLst/>
          </a:prstGeom>
          <a:noFill/>
          <a:ln/>
        </p:spPr>
        <p:txBody>
          <a:bodyPr wrap="square" rtlCol="0" anchor="ctr"/>
          <a:lstStyle/>
          <a:p>
            <a:pPr marL="0" indent="0">
              <a:buNone/>
            </a:pPr>
            <a:r>
              <a:rPr lang="en-US" sz="1200" b="1" kern="0" spc="300" dirty="0">
                <a:solidFill>
                  <a:srgbClr val="0078D4"/>
                </a:solidFill>
                <a:latin typeface="Segoe UI" pitchFamily="34" charset="0"/>
                <a:ea typeface="Segoe UI" pitchFamily="34" charset="-122"/>
                <a:cs typeface="Segoe UI" pitchFamily="34" charset="-120"/>
              </a:rPr>
              <a:t>OPTIONAL · WHEN MICROSOFT LEADS DELIVERY</a:t>
            </a:r>
            <a:endParaRPr lang="en-US" sz="1200" dirty="0"/>
          </a:p>
        </p:txBody>
      </p:sp>
      <p:sp>
        <p:nvSpPr>
          <p:cNvPr id="4" name="Text 2"/>
          <p:cNvSpPr/>
          <p:nvPr/>
        </p:nvSpPr>
        <p:spPr>
          <a:xfrm>
            <a:off x="548640" y="777240"/>
            <a:ext cx="10972800" cy="822960"/>
          </a:xfrm>
          <a:prstGeom prst="rect">
            <a:avLst/>
          </a:prstGeom>
          <a:noFill/>
          <a:ln/>
        </p:spPr>
        <p:txBody>
          <a:bodyPr wrap="square" rtlCol="0" anchor="ctr"/>
          <a:lstStyle/>
          <a:p>
            <a:pPr marL="0" indent="0">
              <a:buNone/>
            </a:pPr>
            <a:r>
              <a:rPr lang="en-US" sz="3200" b="1" dirty="0">
                <a:solidFill>
                  <a:srgbClr val="091F2C"/>
                </a:solidFill>
                <a:latin typeface="Segoe UI" pitchFamily="34" charset="0"/>
                <a:ea typeface="Segoe UI" pitchFamily="34" charset="-122"/>
                <a:cs typeface="Segoe UI" pitchFamily="34" charset="-120"/>
              </a:rPr>
              <a:t>How partners still win in ISD-led deals</a:t>
            </a:r>
            <a:endParaRPr lang="en-US" sz="3200" dirty="0"/>
          </a:p>
        </p:txBody>
      </p:sp>
      <p:sp>
        <p:nvSpPr>
          <p:cNvPr id="5" name="Shape 3"/>
          <p:cNvSpPr/>
          <p:nvPr/>
        </p:nvSpPr>
        <p:spPr>
          <a:xfrm>
            <a:off x="548640" y="1691640"/>
            <a:ext cx="11064240" cy="685800"/>
          </a:xfrm>
          <a:prstGeom prst="roundRect">
            <a:avLst>
              <a:gd name="adj" fmla="val 10667"/>
            </a:avLst>
          </a:prstGeom>
          <a:solidFill>
            <a:srgbClr val="091F2C"/>
          </a:solidFill>
          <a:ln w="12700">
            <a:solidFill>
              <a:srgbClr val="091F2C"/>
            </a:solidFill>
            <a:prstDash val="solid"/>
          </a:ln>
        </p:spPr>
        <p:txBody>
          <a:bodyPr/>
          <a:lstStyle/>
          <a:p>
            <a:endParaRPr lang="en-ZA"/>
          </a:p>
        </p:txBody>
      </p:sp>
      <p:sp>
        <p:nvSpPr>
          <p:cNvPr id="6" name="Text 4"/>
          <p:cNvSpPr/>
          <p:nvPr/>
        </p:nvSpPr>
        <p:spPr>
          <a:xfrm>
            <a:off x="777240" y="1737360"/>
            <a:ext cx="3840480" cy="594360"/>
          </a:xfrm>
          <a:prstGeom prst="rect">
            <a:avLst/>
          </a:prstGeom>
          <a:noFill/>
          <a:ln/>
        </p:spPr>
        <p:txBody>
          <a:bodyPr wrap="square" rtlCol="0" anchor="ctr"/>
          <a:lstStyle/>
          <a:p>
            <a:pPr marL="0" indent="0">
              <a:buNone/>
            </a:pPr>
            <a:r>
              <a:rPr lang="en-US" sz="1400" b="1" dirty="0">
                <a:solidFill>
                  <a:srgbClr val="C03BC4"/>
                </a:solidFill>
                <a:latin typeface="Segoe UI" pitchFamily="34" charset="0"/>
                <a:ea typeface="Segoe UI" pitchFamily="34" charset="-122"/>
                <a:cs typeface="Segoe UI" pitchFamily="34" charset="-120"/>
              </a:rPr>
              <a:t>Default is partner-led.</a:t>
            </a:r>
            <a:endParaRPr lang="en-US" sz="1400" dirty="0"/>
          </a:p>
        </p:txBody>
      </p:sp>
      <p:sp>
        <p:nvSpPr>
          <p:cNvPr id="7" name="Text 5"/>
          <p:cNvSpPr/>
          <p:nvPr/>
        </p:nvSpPr>
        <p:spPr>
          <a:xfrm>
            <a:off x="4617720" y="1737360"/>
            <a:ext cx="6949440" cy="594360"/>
          </a:xfrm>
          <a:prstGeom prst="rect">
            <a:avLst/>
          </a:prstGeom>
          <a:noFill/>
          <a:ln/>
        </p:spPr>
        <p:txBody>
          <a:bodyPr wrap="square" rtlCol="0" anchor="ctr"/>
          <a:lstStyle/>
          <a:p>
            <a:pPr marL="0" indent="0">
              <a:buNone/>
            </a:pPr>
            <a:r>
              <a:rPr lang="en-US" sz="1100" dirty="0">
                <a:solidFill>
                  <a:srgbClr val="F5E6F0"/>
                </a:solidFill>
                <a:latin typeface="Segoe UI" pitchFamily="34" charset="0"/>
                <a:ea typeface="Segoe UI" pitchFamily="34" charset="-122"/>
                <a:cs typeface="Segoe UI" pitchFamily="34" charset="-120"/>
              </a:rPr>
              <a:t>In a small number of accounts — sovereign, regulated, customer-demanded — ISD primes. Partners still win with subcontracted scope, protected margin, and PDM transparency.</a:t>
            </a:r>
            <a:endParaRPr lang="en-US" sz="1100" dirty="0"/>
          </a:p>
        </p:txBody>
      </p:sp>
      <p:sp>
        <p:nvSpPr>
          <p:cNvPr id="8" name="Shape 6"/>
          <p:cNvSpPr/>
          <p:nvPr/>
        </p:nvSpPr>
        <p:spPr>
          <a:xfrm>
            <a:off x="678028" y="2606040"/>
            <a:ext cx="3520440" cy="2606040"/>
          </a:xfrm>
          <a:prstGeom prst="roundRect">
            <a:avLst>
              <a:gd name="adj" fmla="val 2807"/>
            </a:avLst>
          </a:prstGeom>
          <a:solidFill>
            <a:srgbClr val="FFFFFF"/>
          </a:solidFill>
          <a:ln w="12700">
            <a:solidFill>
              <a:srgbClr val="E1E6EF"/>
            </a:solidFill>
            <a:prstDash val="solid"/>
          </a:ln>
        </p:spPr>
        <p:txBody>
          <a:bodyPr/>
          <a:lstStyle/>
          <a:p>
            <a:endParaRPr lang="en-ZA"/>
          </a:p>
        </p:txBody>
      </p:sp>
      <p:sp>
        <p:nvSpPr>
          <p:cNvPr id="9" name="Shape 7"/>
          <p:cNvSpPr/>
          <p:nvPr/>
        </p:nvSpPr>
        <p:spPr>
          <a:xfrm>
            <a:off x="678028" y="2606040"/>
            <a:ext cx="3520440" cy="73152"/>
          </a:xfrm>
          <a:prstGeom prst="rect">
            <a:avLst/>
          </a:prstGeom>
          <a:solidFill>
            <a:srgbClr val="0078D4"/>
          </a:solidFill>
          <a:ln/>
        </p:spPr>
        <p:txBody>
          <a:bodyPr/>
          <a:lstStyle/>
          <a:p>
            <a:endParaRPr lang="en-ZA"/>
          </a:p>
        </p:txBody>
      </p:sp>
      <p:sp>
        <p:nvSpPr>
          <p:cNvPr id="10" name="Shape 8"/>
          <p:cNvSpPr/>
          <p:nvPr/>
        </p:nvSpPr>
        <p:spPr>
          <a:xfrm>
            <a:off x="860908" y="2834640"/>
            <a:ext cx="1143000" cy="457200"/>
          </a:xfrm>
          <a:prstGeom prst="roundRect">
            <a:avLst>
              <a:gd name="adj" fmla="val 12000"/>
            </a:avLst>
          </a:prstGeom>
          <a:solidFill>
            <a:srgbClr val="0078D4"/>
          </a:solidFill>
          <a:ln w="12700">
            <a:solidFill>
              <a:srgbClr val="0078D4"/>
            </a:solidFill>
            <a:prstDash val="solid"/>
          </a:ln>
        </p:spPr>
        <p:txBody>
          <a:bodyPr/>
          <a:lstStyle/>
          <a:p>
            <a:endParaRPr lang="en-ZA"/>
          </a:p>
        </p:txBody>
      </p:sp>
      <p:sp>
        <p:nvSpPr>
          <p:cNvPr id="11" name="Text 9"/>
          <p:cNvSpPr/>
          <p:nvPr/>
        </p:nvSpPr>
        <p:spPr>
          <a:xfrm>
            <a:off x="860908" y="2834640"/>
            <a:ext cx="1143000" cy="45720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Default</a:t>
            </a:r>
            <a:endParaRPr lang="en-US" sz="1200" dirty="0"/>
          </a:p>
        </p:txBody>
      </p:sp>
      <p:sp>
        <p:nvSpPr>
          <p:cNvPr id="12" name="Text 10"/>
          <p:cNvSpPr/>
          <p:nvPr/>
        </p:nvSpPr>
        <p:spPr>
          <a:xfrm>
            <a:off x="906628" y="3383280"/>
            <a:ext cx="306324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Partner-led (Stream 3)</a:t>
            </a:r>
            <a:endParaRPr lang="en-US" sz="1400" dirty="0"/>
          </a:p>
        </p:txBody>
      </p:sp>
      <p:sp>
        <p:nvSpPr>
          <p:cNvPr id="13" name="Text 11"/>
          <p:cNvSpPr/>
          <p:nvPr/>
        </p:nvSpPr>
        <p:spPr>
          <a:xfrm>
            <a:off x="906628" y="379476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HOW IT WORKS</a:t>
            </a:r>
            <a:endParaRPr lang="en-US" sz="800" dirty="0"/>
          </a:p>
        </p:txBody>
      </p:sp>
      <p:sp>
        <p:nvSpPr>
          <p:cNvPr id="14" name="Text 12"/>
          <p:cNvSpPr/>
          <p:nvPr/>
        </p:nvSpPr>
        <p:spPr>
          <a:xfrm>
            <a:off x="906628" y="3977640"/>
            <a:ext cx="3063240" cy="777240"/>
          </a:xfrm>
          <a:prstGeom prst="rect">
            <a:avLst/>
          </a:prstGeom>
          <a:noFill/>
          <a:ln/>
        </p:spPr>
        <p:txBody>
          <a:bodyPr wrap="square" rtlCol="0" anchor="ctr"/>
          <a:lstStyle/>
          <a:p>
            <a:pPr marL="0" indent="0">
              <a:buNone/>
            </a:pPr>
            <a:r>
              <a:rPr lang="en-US" sz="1050" dirty="0">
                <a:solidFill>
                  <a:srgbClr val="2B2B2B"/>
                </a:solidFill>
                <a:latin typeface="Segoe UI" pitchFamily="34" charset="0"/>
                <a:ea typeface="Segoe UI" pitchFamily="34" charset="-122"/>
                <a:cs typeface="Segoe UI" pitchFamily="34" charset="-120"/>
              </a:rPr>
              <a:t>You prime the SoW. Microsoft orchestrates the v-team and underwrites ATO funding.</a:t>
            </a:r>
            <a:endParaRPr lang="en-US" sz="1050" dirty="0"/>
          </a:p>
        </p:txBody>
      </p:sp>
      <p:sp>
        <p:nvSpPr>
          <p:cNvPr id="15" name="Text 13"/>
          <p:cNvSpPr/>
          <p:nvPr/>
        </p:nvSpPr>
        <p:spPr>
          <a:xfrm>
            <a:off x="906628" y="475488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WHAT THE PARTNER WINS</a:t>
            </a:r>
            <a:endParaRPr lang="en-US" sz="800" dirty="0"/>
          </a:p>
        </p:txBody>
      </p:sp>
      <p:sp>
        <p:nvSpPr>
          <p:cNvPr id="16" name="Text 14"/>
          <p:cNvSpPr/>
          <p:nvPr/>
        </p:nvSpPr>
        <p:spPr>
          <a:xfrm>
            <a:off x="906628" y="4937760"/>
            <a:ext cx="3063240" cy="457200"/>
          </a:xfrm>
          <a:prstGeom prst="rect">
            <a:avLst/>
          </a:prstGeom>
          <a:noFill/>
          <a:ln/>
        </p:spPr>
        <p:txBody>
          <a:bodyPr wrap="square" rtlCol="0" anchor="ctr"/>
          <a:lstStyle/>
          <a:p>
            <a:pPr marL="0" indent="0">
              <a:buNone/>
            </a:pPr>
            <a:r>
              <a:rPr lang="en-US" sz="1050" i="1" dirty="0">
                <a:solidFill>
                  <a:srgbClr val="225B62"/>
                </a:solidFill>
                <a:latin typeface="Segoe UI" pitchFamily="34" charset="0"/>
                <a:ea typeface="Segoe UI" pitchFamily="34" charset="-122"/>
                <a:cs typeface="Segoe UI" pitchFamily="34" charset="-120"/>
              </a:rPr>
              <a:t>Full services P&amp;L · ATO Components 1–3 · CSP + Marketplace uplift</a:t>
            </a:r>
            <a:endParaRPr lang="en-US" sz="1050" dirty="0"/>
          </a:p>
        </p:txBody>
      </p:sp>
      <p:sp>
        <p:nvSpPr>
          <p:cNvPr id="17" name="Shape 15"/>
          <p:cNvSpPr/>
          <p:nvPr/>
        </p:nvSpPr>
        <p:spPr>
          <a:xfrm>
            <a:off x="4335628" y="2606040"/>
            <a:ext cx="3520440" cy="2606040"/>
          </a:xfrm>
          <a:prstGeom prst="roundRect">
            <a:avLst>
              <a:gd name="adj" fmla="val 2807"/>
            </a:avLst>
          </a:prstGeom>
          <a:solidFill>
            <a:srgbClr val="FFFFFF"/>
          </a:solidFill>
          <a:ln w="12700">
            <a:solidFill>
              <a:srgbClr val="E1E6EF"/>
            </a:solidFill>
            <a:prstDash val="solid"/>
          </a:ln>
        </p:spPr>
        <p:txBody>
          <a:bodyPr/>
          <a:lstStyle/>
          <a:p>
            <a:endParaRPr lang="en-ZA"/>
          </a:p>
        </p:txBody>
      </p:sp>
      <p:sp>
        <p:nvSpPr>
          <p:cNvPr id="18" name="Shape 16"/>
          <p:cNvSpPr/>
          <p:nvPr/>
        </p:nvSpPr>
        <p:spPr>
          <a:xfrm>
            <a:off x="4335628" y="2606040"/>
            <a:ext cx="3520440" cy="73152"/>
          </a:xfrm>
          <a:prstGeom prst="rect">
            <a:avLst/>
          </a:prstGeom>
          <a:solidFill>
            <a:srgbClr val="FFB900"/>
          </a:solidFill>
          <a:ln/>
        </p:spPr>
        <p:txBody>
          <a:bodyPr/>
          <a:lstStyle/>
          <a:p>
            <a:endParaRPr lang="en-ZA"/>
          </a:p>
        </p:txBody>
      </p:sp>
      <p:sp>
        <p:nvSpPr>
          <p:cNvPr id="19" name="Shape 17"/>
          <p:cNvSpPr/>
          <p:nvPr/>
        </p:nvSpPr>
        <p:spPr>
          <a:xfrm>
            <a:off x="4518508" y="2834640"/>
            <a:ext cx="1143000" cy="457200"/>
          </a:xfrm>
          <a:prstGeom prst="roundRect">
            <a:avLst>
              <a:gd name="adj" fmla="val 12000"/>
            </a:avLst>
          </a:prstGeom>
          <a:solidFill>
            <a:srgbClr val="FFB900"/>
          </a:solidFill>
          <a:ln w="12700">
            <a:solidFill>
              <a:srgbClr val="FFB900"/>
            </a:solidFill>
            <a:prstDash val="solid"/>
          </a:ln>
        </p:spPr>
        <p:txBody>
          <a:bodyPr/>
          <a:lstStyle/>
          <a:p>
            <a:endParaRPr lang="en-ZA"/>
          </a:p>
        </p:txBody>
      </p:sp>
      <p:sp>
        <p:nvSpPr>
          <p:cNvPr id="20" name="Text 18"/>
          <p:cNvSpPr/>
          <p:nvPr/>
        </p:nvSpPr>
        <p:spPr>
          <a:xfrm>
            <a:off x="4518508" y="2834640"/>
            <a:ext cx="1143000" cy="45720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B</a:t>
            </a:r>
            <a:endParaRPr lang="en-US" sz="1200" dirty="0"/>
          </a:p>
        </p:txBody>
      </p:sp>
      <p:sp>
        <p:nvSpPr>
          <p:cNvPr id="21" name="Text 19"/>
          <p:cNvSpPr/>
          <p:nvPr/>
        </p:nvSpPr>
        <p:spPr>
          <a:xfrm>
            <a:off x="4564228" y="3383280"/>
            <a:ext cx="306324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ISD-led + Partner</a:t>
            </a:r>
            <a:endParaRPr lang="en-US" sz="1400" dirty="0"/>
          </a:p>
        </p:txBody>
      </p:sp>
      <p:sp>
        <p:nvSpPr>
          <p:cNvPr id="22" name="Text 20"/>
          <p:cNvSpPr/>
          <p:nvPr/>
        </p:nvSpPr>
        <p:spPr>
          <a:xfrm>
            <a:off x="4564228" y="379476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HOW IT WORKS</a:t>
            </a:r>
            <a:endParaRPr lang="en-US" sz="800" dirty="0"/>
          </a:p>
        </p:txBody>
      </p:sp>
      <p:sp>
        <p:nvSpPr>
          <p:cNvPr id="23" name="Text 21"/>
          <p:cNvSpPr/>
          <p:nvPr/>
        </p:nvSpPr>
        <p:spPr>
          <a:xfrm>
            <a:off x="4564228" y="3977640"/>
            <a:ext cx="3063240" cy="777240"/>
          </a:xfrm>
          <a:prstGeom prst="rect">
            <a:avLst/>
          </a:prstGeom>
          <a:noFill/>
          <a:ln/>
        </p:spPr>
        <p:txBody>
          <a:bodyPr wrap="square" rtlCol="0" anchor="ctr"/>
          <a:lstStyle/>
          <a:p>
            <a:pPr marL="0" indent="0">
              <a:buNone/>
            </a:pPr>
            <a:r>
              <a:rPr lang="en-US" sz="1050" dirty="0">
                <a:solidFill>
                  <a:srgbClr val="2B2B2B"/>
                </a:solidFill>
                <a:latin typeface="Segoe UI" pitchFamily="34" charset="0"/>
                <a:ea typeface="Segoe UI" pitchFamily="34" charset="-122"/>
                <a:cs typeface="Segoe UI" pitchFamily="34" charset="-120"/>
              </a:rPr>
              <a:t>ISD primes the SoW. You subcontract for vertical IP, localisation, or scale-out build.</a:t>
            </a:r>
            <a:endParaRPr lang="en-US" sz="1050" dirty="0"/>
          </a:p>
        </p:txBody>
      </p:sp>
      <p:sp>
        <p:nvSpPr>
          <p:cNvPr id="24" name="Text 22"/>
          <p:cNvSpPr/>
          <p:nvPr/>
        </p:nvSpPr>
        <p:spPr>
          <a:xfrm>
            <a:off x="4564228" y="475488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WHAT THE PARTNER WINS</a:t>
            </a:r>
            <a:endParaRPr lang="en-US" sz="800" dirty="0"/>
          </a:p>
        </p:txBody>
      </p:sp>
      <p:sp>
        <p:nvSpPr>
          <p:cNvPr id="25" name="Text 23"/>
          <p:cNvSpPr/>
          <p:nvPr/>
        </p:nvSpPr>
        <p:spPr>
          <a:xfrm>
            <a:off x="4564228" y="4937760"/>
            <a:ext cx="3063240" cy="457200"/>
          </a:xfrm>
          <a:prstGeom prst="rect">
            <a:avLst/>
          </a:prstGeom>
          <a:noFill/>
          <a:ln/>
        </p:spPr>
        <p:txBody>
          <a:bodyPr wrap="square" rtlCol="0" anchor="ctr"/>
          <a:lstStyle/>
          <a:p>
            <a:pPr marL="0" indent="0">
              <a:buNone/>
            </a:pPr>
            <a:r>
              <a:rPr lang="en-US" sz="1050" i="1" dirty="0">
                <a:solidFill>
                  <a:srgbClr val="225B62"/>
                </a:solidFill>
                <a:latin typeface="Segoe UI" pitchFamily="34" charset="0"/>
                <a:ea typeface="Segoe UI" pitchFamily="34" charset="-122"/>
                <a:cs typeface="Segoe UI" pitchFamily="34" charset="-120"/>
              </a:rPr>
              <a:t>Named subcontract scope · access to MACC/Unified budget · full reference value</a:t>
            </a:r>
            <a:endParaRPr lang="en-US" sz="1050" dirty="0"/>
          </a:p>
        </p:txBody>
      </p:sp>
      <p:sp>
        <p:nvSpPr>
          <p:cNvPr id="26" name="Shape 24"/>
          <p:cNvSpPr/>
          <p:nvPr/>
        </p:nvSpPr>
        <p:spPr>
          <a:xfrm>
            <a:off x="7993228" y="2606040"/>
            <a:ext cx="3520440" cy="2606040"/>
          </a:xfrm>
          <a:prstGeom prst="roundRect">
            <a:avLst>
              <a:gd name="adj" fmla="val 2807"/>
            </a:avLst>
          </a:prstGeom>
          <a:solidFill>
            <a:srgbClr val="FFFFFF"/>
          </a:solidFill>
          <a:ln w="12700">
            <a:solidFill>
              <a:srgbClr val="E1E6EF"/>
            </a:solidFill>
            <a:prstDash val="solid"/>
          </a:ln>
        </p:spPr>
        <p:txBody>
          <a:bodyPr/>
          <a:lstStyle/>
          <a:p>
            <a:endParaRPr lang="en-ZA"/>
          </a:p>
        </p:txBody>
      </p:sp>
      <p:sp>
        <p:nvSpPr>
          <p:cNvPr id="27" name="Shape 25"/>
          <p:cNvSpPr/>
          <p:nvPr/>
        </p:nvSpPr>
        <p:spPr>
          <a:xfrm>
            <a:off x="7993228" y="2606040"/>
            <a:ext cx="3520440" cy="73152"/>
          </a:xfrm>
          <a:prstGeom prst="rect">
            <a:avLst/>
          </a:prstGeom>
          <a:solidFill>
            <a:srgbClr val="FF5C39"/>
          </a:solidFill>
          <a:ln/>
        </p:spPr>
        <p:txBody>
          <a:bodyPr/>
          <a:lstStyle/>
          <a:p>
            <a:endParaRPr lang="en-ZA"/>
          </a:p>
        </p:txBody>
      </p:sp>
      <p:sp>
        <p:nvSpPr>
          <p:cNvPr id="28" name="Shape 26"/>
          <p:cNvSpPr/>
          <p:nvPr/>
        </p:nvSpPr>
        <p:spPr>
          <a:xfrm>
            <a:off x="8176108" y="2834640"/>
            <a:ext cx="1143000" cy="457200"/>
          </a:xfrm>
          <a:prstGeom prst="roundRect">
            <a:avLst>
              <a:gd name="adj" fmla="val 12000"/>
            </a:avLst>
          </a:prstGeom>
          <a:solidFill>
            <a:srgbClr val="FF5C39"/>
          </a:solidFill>
          <a:ln w="12700">
            <a:solidFill>
              <a:srgbClr val="FF5C39"/>
            </a:solidFill>
            <a:prstDash val="solid"/>
          </a:ln>
        </p:spPr>
        <p:txBody>
          <a:bodyPr/>
          <a:lstStyle/>
          <a:p>
            <a:endParaRPr lang="en-ZA"/>
          </a:p>
        </p:txBody>
      </p:sp>
      <p:sp>
        <p:nvSpPr>
          <p:cNvPr id="29" name="Text 27"/>
          <p:cNvSpPr/>
          <p:nvPr/>
        </p:nvSpPr>
        <p:spPr>
          <a:xfrm>
            <a:off x="8176108" y="2834640"/>
            <a:ext cx="1143000" cy="457200"/>
          </a:xfrm>
          <a:prstGeom prst="rect">
            <a:avLst/>
          </a:prstGeom>
          <a:noFill/>
          <a:ln/>
        </p:spPr>
        <p:txBody>
          <a:bodyPr wrap="square"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C</a:t>
            </a:r>
            <a:endParaRPr lang="en-US" sz="1200" dirty="0"/>
          </a:p>
        </p:txBody>
      </p:sp>
      <p:sp>
        <p:nvSpPr>
          <p:cNvPr id="30" name="Text 28"/>
          <p:cNvSpPr/>
          <p:nvPr/>
        </p:nvSpPr>
        <p:spPr>
          <a:xfrm>
            <a:off x="8221828" y="3383280"/>
            <a:ext cx="3063240" cy="365760"/>
          </a:xfrm>
          <a:prstGeom prst="rect">
            <a:avLst/>
          </a:prstGeom>
          <a:noFill/>
          <a:ln/>
        </p:spPr>
        <p:txBody>
          <a:bodyPr wrap="square" rtlCol="0" anchor="ctr"/>
          <a:lstStyle/>
          <a:p>
            <a:pPr marL="0" indent="0">
              <a:buNone/>
            </a:pPr>
            <a:r>
              <a:rPr lang="en-US" sz="1400" b="1" dirty="0">
                <a:solidFill>
                  <a:srgbClr val="091F2C"/>
                </a:solidFill>
                <a:latin typeface="Segoe UI" pitchFamily="34" charset="0"/>
                <a:ea typeface="Segoe UI" pitchFamily="34" charset="-122"/>
                <a:cs typeface="Segoe UI" pitchFamily="34" charset="-120"/>
              </a:rPr>
              <a:t>ISD + ICSU + Partner</a:t>
            </a:r>
            <a:endParaRPr lang="en-US" sz="1400" dirty="0"/>
          </a:p>
        </p:txBody>
      </p:sp>
      <p:sp>
        <p:nvSpPr>
          <p:cNvPr id="31" name="Text 29"/>
          <p:cNvSpPr/>
          <p:nvPr/>
        </p:nvSpPr>
        <p:spPr>
          <a:xfrm>
            <a:off x="8221828" y="379476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HOW IT WORKS</a:t>
            </a:r>
            <a:endParaRPr lang="en-US" sz="800" dirty="0"/>
          </a:p>
        </p:txBody>
      </p:sp>
      <p:sp>
        <p:nvSpPr>
          <p:cNvPr id="32" name="Text 30"/>
          <p:cNvSpPr/>
          <p:nvPr/>
        </p:nvSpPr>
        <p:spPr>
          <a:xfrm>
            <a:off x="8221828" y="3977640"/>
            <a:ext cx="3063240" cy="777240"/>
          </a:xfrm>
          <a:prstGeom prst="rect">
            <a:avLst/>
          </a:prstGeom>
          <a:noFill/>
          <a:ln/>
        </p:spPr>
        <p:txBody>
          <a:bodyPr wrap="square" rtlCol="0" anchor="ctr"/>
          <a:lstStyle/>
          <a:p>
            <a:pPr marL="0" indent="0">
              <a:buNone/>
            </a:pPr>
            <a:r>
              <a:rPr lang="en-US" sz="1050" dirty="0">
                <a:solidFill>
                  <a:srgbClr val="2B2B2B"/>
                </a:solidFill>
                <a:latin typeface="Segoe UI" pitchFamily="34" charset="0"/>
                <a:ea typeface="Segoe UI" pitchFamily="34" charset="-122"/>
                <a:cs typeface="Segoe UI" pitchFamily="34" charset="-120"/>
              </a:rPr>
              <a:t>Flagship regulated pursuits. One ISD SoW; ICSU overlay; you deliver defined scope.</a:t>
            </a:r>
            <a:endParaRPr lang="en-US" sz="1050" dirty="0"/>
          </a:p>
        </p:txBody>
      </p:sp>
      <p:sp>
        <p:nvSpPr>
          <p:cNvPr id="33" name="Text 31"/>
          <p:cNvSpPr/>
          <p:nvPr/>
        </p:nvSpPr>
        <p:spPr>
          <a:xfrm>
            <a:off x="8221828" y="4754880"/>
            <a:ext cx="3063240" cy="182880"/>
          </a:xfrm>
          <a:prstGeom prst="rect">
            <a:avLst/>
          </a:prstGeom>
          <a:noFill/>
          <a:ln/>
        </p:spPr>
        <p:txBody>
          <a:bodyPr wrap="square" rtlCol="0" anchor="ctr"/>
          <a:lstStyle/>
          <a:p>
            <a:pPr marL="0" indent="0">
              <a:buNone/>
            </a:pPr>
            <a:r>
              <a:rPr lang="en-US" sz="800" b="1" kern="0" spc="200" dirty="0">
                <a:solidFill>
                  <a:srgbClr val="8A94A6"/>
                </a:solidFill>
                <a:latin typeface="Segoe UI" pitchFamily="34" charset="0"/>
                <a:ea typeface="Segoe UI" pitchFamily="34" charset="-122"/>
                <a:cs typeface="Segoe UI" pitchFamily="34" charset="-120"/>
              </a:rPr>
              <a:t>WHAT THE PARTNER WINS</a:t>
            </a:r>
            <a:endParaRPr lang="en-US" sz="800" dirty="0"/>
          </a:p>
        </p:txBody>
      </p:sp>
      <p:sp>
        <p:nvSpPr>
          <p:cNvPr id="34" name="Text 32"/>
          <p:cNvSpPr/>
          <p:nvPr/>
        </p:nvSpPr>
        <p:spPr>
          <a:xfrm>
            <a:off x="8221828" y="4937760"/>
            <a:ext cx="3063240" cy="457200"/>
          </a:xfrm>
          <a:prstGeom prst="rect">
            <a:avLst/>
          </a:prstGeom>
          <a:noFill/>
          <a:ln/>
        </p:spPr>
        <p:txBody>
          <a:bodyPr wrap="square" rtlCol="0" anchor="ctr"/>
          <a:lstStyle/>
          <a:p>
            <a:pPr marL="0" indent="0">
              <a:buNone/>
            </a:pPr>
            <a:r>
              <a:rPr lang="en-US" sz="1050" i="1" dirty="0">
                <a:solidFill>
                  <a:srgbClr val="225B62"/>
                </a:solidFill>
                <a:latin typeface="Segoe UI" pitchFamily="34" charset="0"/>
                <a:ea typeface="Segoe UI" pitchFamily="34" charset="-122"/>
                <a:cs typeface="Segoe UI" pitchFamily="34" charset="-120"/>
              </a:rPr>
              <a:t>Multi-year pipeline anchor · industry depth exposure · protected margin terms</a:t>
            </a:r>
            <a:endParaRPr lang="en-US" sz="1050" dirty="0"/>
          </a:p>
        </p:txBody>
      </p:sp>
      <p:sp>
        <p:nvSpPr>
          <p:cNvPr id="35" name="Shape 33"/>
          <p:cNvSpPr/>
          <p:nvPr/>
        </p:nvSpPr>
        <p:spPr>
          <a:xfrm>
            <a:off x="548640" y="5440680"/>
            <a:ext cx="11064240" cy="1005840"/>
          </a:xfrm>
          <a:prstGeom prst="roundRect">
            <a:avLst>
              <a:gd name="adj" fmla="val 7273"/>
            </a:avLst>
          </a:prstGeom>
          <a:solidFill>
            <a:srgbClr val="EFF4FA"/>
          </a:solidFill>
          <a:ln w="12700">
            <a:solidFill>
              <a:srgbClr val="C9D6E6"/>
            </a:solidFill>
            <a:prstDash val="solid"/>
          </a:ln>
        </p:spPr>
        <p:txBody>
          <a:bodyPr/>
          <a:lstStyle/>
          <a:p>
            <a:endParaRPr lang="en-ZA"/>
          </a:p>
        </p:txBody>
      </p:sp>
      <p:sp>
        <p:nvSpPr>
          <p:cNvPr id="36" name="Text 34"/>
          <p:cNvSpPr/>
          <p:nvPr/>
        </p:nvSpPr>
        <p:spPr>
          <a:xfrm>
            <a:off x="777240" y="5532120"/>
            <a:ext cx="4572000" cy="228600"/>
          </a:xfrm>
          <a:prstGeom prst="rect">
            <a:avLst/>
          </a:prstGeom>
          <a:noFill/>
          <a:ln/>
        </p:spPr>
        <p:txBody>
          <a:bodyPr wrap="square" rtlCol="0" anchor="ctr"/>
          <a:lstStyle/>
          <a:p>
            <a:pPr marL="0" indent="0">
              <a:buNone/>
            </a:pPr>
            <a:r>
              <a:rPr lang="en-US" sz="1000" b="1" kern="0" spc="300" dirty="0">
                <a:solidFill>
                  <a:srgbClr val="091F2C"/>
                </a:solidFill>
                <a:latin typeface="Segoe UI" pitchFamily="34" charset="0"/>
                <a:ea typeface="Segoe UI" pitchFamily="34" charset="-122"/>
                <a:cs typeface="Segoe UI" pitchFamily="34" charset="-120"/>
              </a:rPr>
              <a:t>OUR COMMITMENT TO PARTNERS</a:t>
            </a:r>
            <a:endParaRPr lang="en-US" sz="1000" dirty="0"/>
          </a:p>
        </p:txBody>
      </p:sp>
      <p:sp>
        <p:nvSpPr>
          <p:cNvPr id="37" name="Text 35"/>
          <p:cNvSpPr/>
          <p:nvPr/>
        </p:nvSpPr>
        <p:spPr>
          <a:xfrm>
            <a:off x="777240" y="5779008"/>
            <a:ext cx="10607040" cy="640080"/>
          </a:xfrm>
          <a:prstGeom prst="rect">
            <a:avLst/>
          </a:prstGeom>
          <a:noFill/>
          <a:ln/>
        </p:spPr>
        <p:txBody>
          <a:bodyPr wrap="square" rtlCol="0" anchor="ctr"/>
          <a:lstStyle/>
          <a:p>
            <a:pPr marL="0" indent="0">
              <a:buNone/>
            </a:pPr>
            <a:r>
              <a:rPr lang="en-US" sz="1200" dirty="0">
                <a:solidFill>
                  <a:srgbClr val="091F2C"/>
                </a:solidFill>
                <a:latin typeface="Segoe UI" pitchFamily="34" charset="0"/>
                <a:ea typeface="Segoe UI" pitchFamily="34" charset="-122"/>
                <a:cs typeface="Segoe UI" pitchFamily="34" charset="-120"/>
              </a:rPr>
              <a:t>PDM informs you before the customer  ·  Subcontract margin terms agreed up front  ·  Joint account plan preserved  ·  Model named in Stage 1, never sprung in Stage 3</a:t>
            </a:r>
            <a:endParaRPr lang="en-US" sz="1200" dirty="0"/>
          </a:p>
        </p:txBody>
      </p:sp>
      <p:pic>
        <p:nvPicPr>
          <p:cNvPr id="38"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39" name="Text 36"/>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40" name="Text 37"/>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14 / 15</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91F2C"/>
        </a:solidFill>
        <a:effectLst/>
      </p:bgPr>
    </p:bg>
    <p:spTree>
      <p:nvGrpSpPr>
        <p:cNvPr id="1" name=""/>
        <p:cNvGrpSpPr/>
        <p:nvPr/>
      </p:nvGrpSpPr>
      <p:grpSpPr>
        <a:xfrm>
          <a:off x="0" y="0"/>
          <a:ext cx="0" cy="0"/>
          <a:chOff x="0" y="0"/>
          <a:chExt cx="0" cy="0"/>
        </a:xfrm>
      </p:grpSpPr>
      <p:sp>
        <p:nvSpPr>
          <p:cNvPr id="2" name="Text 0"/>
          <p:cNvSpPr/>
          <p:nvPr/>
        </p:nvSpPr>
        <p:spPr>
          <a:xfrm>
            <a:off x="822960" y="822960"/>
            <a:ext cx="9144000" cy="365760"/>
          </a:xfrm>
          <a:prstGeom prst="rect">
            <a:avLst/>
          </a:prstGeom>
          <a:noFill/>
          <a:ln/>
        </p:spPr>
        <p:txBody>
          <a:bodyPr wrap="square" rtlCol="0" anchor="ctr"/>
          <a:lstStyle/>
          <a:p>
            <a:pPr marL="0" indent="0">
              <a:buNone/>
            </a:pPr>
            <a:r>
              <a:rPr lang="en-US" sz="1200" b="1" kern="0" spc="600" dirty="0">
                <a:solidFill>
                  <a:srgbClr val="C03BC4"/>
                </a:solidFill>
                <a:latin typeface="Segoe UI" pitchFamily="34" charset="0"/>
                <a:ea typeface="Segoe UI" pitchFamily="34" charset="-122"/>
                <a:cs typeface="Segoe UI" pitchFamily="34" charset="-120"/>
              </a:rPr>
              <a:t>LET'S MAKE IT REAL</a:t>
            </a:r>
            <a:endParaRPr lang="en-US" sz="1200" dirty="0"/>
          </a:p>
        </p:txBody>
      </p:sp>
      <p:sp>
        <p:nvSpPr>
          <p:cNvPr id="3" name="Text 1"/>
          <p:cNvSpPr/>
          <p:nvPr/>
        </p:nvSpPr>
        <p:spPr>
          <a:xfrm>
            <a:off x="822960" y="1188720"/>
            <a:ext cx="10058400" cy="822960"/>
          </a:xfrm>
          <a:prstGeom prst="rect">
            <a:avLst/>
          </a:prstGeom>
          <a:noFill/>
          <a:ln/>
        </p:spPr>
        <p:txBody>
          <a:bodyPr wrap="square" rtlCol="0" anchor="ctr"/>
          <a:lstStyle/>
          <a:p>
            <a:pPr marL="0" indent="0">
              <a:buNone/>
            </a:pPr>
            <a:r>
              <a:rPr lang="en-US" sz="4400" b="1" dirty="0">
                <a:solidFill>
                  <a:srgbClr val="FFFFFF"/>
                </a:solidFill>
                <a:latin typeface="Segoe UI" pitchFamily="34" charset="0"/>
                <a:ea typeface="Segoe UI" pitchFamily="34" charset="-122"/>
                <a:cs typeface="Segoe UI" pitchFamily="34" charset="-120"/>
              </a:rPr>
              <a:t>Next steps</a:t>
            </a:r>
            <a:endParaRPr lang="en-US" sz="4400" dirty="0"/>
          </a:p>
        </p:txBody>
      </p:sp>
      <p:sp>
        <p:nvSpPr>
          <p:cNvPr id="4" name="Shape 2"/>
          <p:cNvSpPr/>
          <p:nvPr/>
        </p:nvSpPr>
        <p:spPr>
          <a:xfrm>
            <a:off x="0" y="2103120"/>
            <a:ext cx="12191695" cy="73152"/>
          </a:xfrm>
          <a:prstGeom prst="rect">
            <a:avLst/>
          </a:prstGeom>
          <a:solidFill>
            <a:srgbClr val="C03BC4"/>
          </a:solidFill>
          <a:ln/>
        </p:spPr>
        <p:txBody>
          <a:bodyPr/>
          <a:lstStyle/>
          <a:p>
            <a:endParaRPr lang="en-ZA"/>
          </a:p>
        </p:txBody>
      </p:sp>
      <p:sp>
        <p:nvSpPr>
          <p:cNvPr id="5" name="Shape 3"/>
          <p:cNvSpPr/>
          <p:nvPr/>
        </p:nvSpPr>
        <p:spPr>
          <a:xfrm>
            <a:off x="0" y="2240280"/>
            <a:ext cx="3047924" cy="27432"/>
          </a:xfrm>
          <a:prstGeom prst="rect">
            <a:avLst/>
          </a:prstGeom>
          <a:solidFill>
            <a:srgbClr val="FFB900"/>
          </a:solidFill>
          <a:ln/>
        </p:spPr>
        <p:txBody>
          <a:bodyPr/>
          <a:lstStyle/>
          <a:p>
            <a:endParaRPr lang="en-ZA"/>
          </a:p>
        </p:txBody>
      </p:sp>
      <p:sp>
        <p:nvSpPr>
          <p:cNvPr id="6" name="Text 4"/>
          <p:cNvSpPr/>
          <p:nvPr/>
        </p:nvSpPr>
        <p:spPr>
          <a:xfrm>
            <a:off x="403708" y="2377440"/>
            <a:ext cx="2743200" cy="548640"/>
          </a:xfrm>
          <a:prstGeom prst="rect">
            <a:avLst/>
          </a:prstGeom>
          <a:noFill/>
          <a:ln/>
        </p:spPr>
        <p:txBody>
          <a:bodyPr wrap="square" rtlCol="0" anchor="ctr"/>
          <a:lstStyle/>
          <a:p>
            <a:pPr marL="0" indent="0">
              <a:buNone/>
            </a:pPr>
            <a:r>
              <a:rPr lang="en-US" sz="3600" b="1" dirty="0">
                <a:solidFill>
                  <a:srgbClr val="C03BC4"/>
                </a:solidFill>
                <a:latin typeface="Segoe UI" pitchFamily="34" charset="0"/>
                <a:ea typeface="Segoe UI" pitchFamily="34" charset="-122"/>
                <a:cs typeface="Segoe UI" pitchFamily="34" charset="-120"/>
              </a:rPr>
              <a:t>01</a:t>
            </a:r>
            <a:endParaRPr lang="en-US" sz="3600" dirty="0"/>
          </a:p>
        </p:txBody>
      </p:sp>
      <p:sp>
        <p:nvSpPr>
          <p:cNvPr id="7" name="Text 5"/>
          <p:cNvSpPr/>
          <p:nvPr/>
        </p:nvSpPr>
        <p:spPr>
          <a:xfrm>
            <a:off x="403708" y="3017520"/>
            <a:ext cx="27432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Complete the scorecard</a:t>
            </a:r>
            <a:endParaRPr lang="en-US" sz="1600" dirty="0"/>
          </a:p>
        </p:txBody>
      </p:sp>
      <p:sp>
        <p:nvSpPr>
          <p:cNvPr id="8" name="Text 6"/>
          <p:cNvSpPr/>
          <p:nvPr/>
        </p:nvSpPr>
        <p:spPr>
          <a:xfrm>
            <a:off x="403708" y="3474720"/>
            <a:ext cx="27432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30-minute call — we score together</a:t>
            </a:r>
            <a:endParaRPr lang="en-US" sz="1200" dirty="0"/>
          </a:p>
        </p:txBody>
      </p:sp>
      <p:sp>
        <p:nvSpPr>
          <p:cNvPr id="9" name="Text 7"/>
          <p:cNvSpPr/>
          <p:nvPr/>
        </p:nvSpPr>
        <p:spPr>
          <a:xfrm>
            <a:off x="3284068" y="2377440"/>
            <a:ext cx="2743200" cy="548640"/>
          </a:xfrm>
          <a:prstGeom prst="rect">
            <a:avLst/>
          </a:prstGeom>
          <a:noFill/>
          <a:ln/>
        </p:spPr>
        <p:txBody>
          <a:bodyPr wrap="square" rtlCol="0" anchor="ctr"/>
          <a:lstStyle/>
          <a:p>
            <a:pPr marL="0" indent="0">
              <a:buNone/>
            </a:pPr>
            <a:r>
              <a:rPr lang="en-US" sz="3600" b="1" dirty="0">
                <a:solidFill>
                  <a:srgbClr val="C03BC4"/>
                </a:solidFill>
                <a:latin typeface="Segoe UI" pitchFamily="34" charset="0"/>
                <a:ea typeface="Segoe UI" pitchFamily="34" charset="-122"/>
                <a:cs typeface="Segoe UI" pitchFamily="34" charset="-120"/>
              </a:rPr>
              <a:t>02</a:t>
            </a:r>
            <a:endParaRPr lang="en-US" sz="3600" dirty="0"/>
          </a:p>
        </p:txBody>
      </p:sp>
      <p:sp>
        <p:nvSpPr>
          <p:cNvPr id="10" name="Text 8"/>
          <p:cNvSpPr/>
          <p:nvPr/>
        </p:nvSpPr>
        <p:spPr>
          <a:xfrm>
            <a:off x="3284068" y="3017520"/>
            <a:ext cx="27432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Anchor charter signed</a:t>
            </a:r>
            <a:endParaRPr lang="en-US" sz="1600" dirty="0"/>
          </a:p>
        </p:txBody>
      </p:sp>
      <p:sp>
        <p:nvSpPr>
          <p:cNvPr id="11" name="Text 9"/>
          <p:cNvSpPr/>
          <p:nvPr/>
        </p:nvSpPr>
        <p:spPr>
          <a:xfrm>
            <a:off x="3284068" y="3474720"/>
            <a:ext cx="27432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Within 2 weeks of qualification</a:t>
            </a:r>
            <a:endParaRPr lang="en-US" sz="1200" dirty="0"/>
          </a:p>
        </p:txBody>
      </p:sp>
      <p:sp>
        <p:nvSpPr>
          <p:cNvPr id="12" name="Text 10"/>
          <p:cNvSpPr/>
          <p:nvPr/>
        </p:nvSpPr>
        <p:spPr>
          <a:xfrm>
            <a:off x="6164428" y="2377440"/>
            <a:ext cx="2743200" cy="548640"/>
          </a:xfrm>
          <a:prstGeom prst="rect">
            <a:avLst/>
          </a:prstGeom>
          <a:noFill/>
          <a:ln/>
        </p:spPr>
        <p:txBody>
          <a:bodyPr wrap="square" rtlCol="0" anchor="ctr"/>
          <a:lstStyle/>
          <a:p>
            <a:pPr marL="0" indent="0">
              <a:buNone/>
            </a:pPr>
            <a:r>
              <a:rPr lang="en-US" sz="3600" b="1" dirty="0">
                <a:solidFill>
                  <a:srgbClr val="C03BC4"/>
                </a:solidFill>
                <a:latin typeface="Segoe UI" pitchFamily="34" charset="0"/>
                <a:ea typeface="Segoe UI" pitchFamily="34" charset="-122"/>
                <a:cs typeface="Segoe UI" pitchFamily="34" charset="-120"/>
              </a:rPr>
              <a:t>03</a:t>
            </a:r>
            <a:endParaRPr lang="en-US" sz="3600" dirty="0"/>
          </a:p>
        </p:txBody>
      </p:sp>
      <p:sp>
        <p:nvSpPr>
          <p:cNvPr id="13" name="Text 11"/>
          <p:cNvSpPr/>
          <p:nvPr/>
        </p:nvSpPr>
        <p:spPr>
          <a:xfrm>
            <a:off x="6164428" y="3017520"/>
            <a:ext cx="27432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Joint account plan</a:t>
            </a:r>
            <a:endParaRPr lang="en-US" sz="1600" dirty="0"/>
          </a:p>
        </p:txBody>
      </p:sp>
      <p:sp>
        <p:nvSpPr>
          <p:cNvPr id="14" name="Text 12"/>
          <p:cNvSpPr/>
          <p:nvPr/>
        </p:nvSpPr>
        <p:spPr>
          <a:xfrm>
            <a:off x="6164428" y="3474720"/>
            <a:ext cx="27432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3 RSA target customers</a:t>
            </a:r>
            <a:endParaRPr lang="en-US" sz="1200" dirty="0"/>
          </a:p>
        </p:txBody>
      </p:sp>
      <p:sp>
        <p:nvSpPr>
          <p:cNvPr id="15" name="Text 13"/>
          <p:cNvSpPr/>
          <p:nvPr/>
        </p:nvSpPr>
        <p:spPr>
          <a:xfrm>
            <a:off x="9044788" y="2377440"/>
            <a:ext cx="2743200" cy="548640"/>
          </a:xfrm>
          <a:prstGeom prst="rect">
            <a:avLst/>
          </a:prstGeom>
          <a:noFill/>
          <a:ln/>
        </p:spPr>
        <p:txBody>
          <a:bodyPr wrap="square" rtlCol="0" anchor="ctr"/>
          <a:lstStyle/>
          <a:p>
            <a:pPr marL="0" indent="0">
              <a:buNone/>
            </a:pPr>
            <a:r>
              <a:rPr lang="en-US" sz="3600" b="1" dirty="0">
                <a:solidFill>
                  <a:srgbClr val="C03BC4"/>
                </a:solidFill>
                <a:latin typeface="Segoe UI" pitchFamily="34" charset="0"/>
                <a:ea typeface="Segoe UI" pitchFamily="34" charset="-122"/>
                <a:cs typeface="Segoe UI" pitchFamily="34" charset="-120"/>
              </a:rPr>
              <a:t>04</a:t>
            </a:r>
            <a:endParaRPr lang="en-US" sz="3600" dirty="0"/>
          </a:p>
        </p:txBody>
      </p:sp>
      <p:sp>
        <p:nvSpPr>
          <p:cNvPr id="16" name="Text 14"/>
          <p:cNvSpPr/>
          <p:nvPr/>
        </p:nvSpPr>
        <p:spPr>
          <a:xfrm>
            <a:off x="9044788" y="3017520"/>
            <a:ext cx="2743200" cy="457200"/>
          </a:xfrm>
          <a:prstGeom prst="rect">
            <a:avLst/>
          </a:prstGeom>
          <a:noFill/>
          <a:ln/>
        </p:spPr>
        <p:txBody>
          <a:bodyPr wrap="square"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First envisioning in 90 days</a:t>
            </a:r>
            <a:endParaRPr lang="en-US" sz="1600" dirty="0"/>
          </a:p>
        </p:txBody>
      </p:sp>
      <p:sp>
        <p:nvSpPr>
          <p:cNvPr id="17" name="Text 15"/>
          <p:cNvSpPr/>
          <p:nvPr/>
        </p:nvSpPr>
        <p:spPr>
          <a:xfrm>
            <a:off x="9044788" y="3474720"/>
            <a:ext cx="2743200" cy="137160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Tier 1 engagement at a lighthouse account</a:t>
            </a:r>
            <a:endParaRPr lang="en-US" sz="1200" dirty="0"/>
          </a:p>
        </p:txBody>
      </p:sp>
      <p:sp>
        <p:nvSpPr>
          <p:cNvPr id="18" name="Shape 16"/>
          <p:cNvSpPr/>
          <p:nvPr/>
        </p:nvSpPr>
        <p:spPr>
          <a:xfrm>
            <a:off x="822960" y="5303520"/>
            <a:ext cx="10515600" cy="1051560"/>
          </a:xfrm>
          <a:prstGeom prst="roundRect">
            <a:avLst>
              <a:gd name="adj" fmla="val 8696"/>
            </a:avLst>
          </a:prstGeom>
          <a:solidFill>
            <a:srgbClr val="0078D4"/>
          </a:solidFill>
          <a:ln w="12700">
            <a:solidFill>
              <a:srgbClr val="0078D4"/>
            </a:solidFill>
            <a:prstDash val="solid"/>
          </a:ln>
        </p:spPr>
        <p:txBody>
          <a:bodyPr/>
          <a:lstStyle/>
          <a:p>
            <a:endParaRPr lang="en-ZA"/>
          </a:p>
        </p:txBody>
      </p:sp>
      <p:sp>
        <p:nvSpPr>
          <p:cNvPr id="19" name="Text 17"/>
          <p:cNvSpPr/>
          <p:nvPr/>
        </p:nvSpPr>
        <p:spPr>
          <a:xfrm>
            <a:off x="1097280" y="5440680"/>
            <a:ext cx="3200400" cy="274320"/>
          </a:xfrm>
          <a:prstGeom prst="rect">
            <a:avLst/>
          </a:prstGeom>
          <a:noFill/>
          <a:ln/>
        </p:spPr>
        <p:txBody>
          <a:bodyPr wrap="square" rtlCol="0" anchor="ctr"/>
          <a:lstStyle/>
          <a:p>
            <a:pPr marL="0" indent="0">
              <a:buNone/>
            </a:pPr>
            <a:r>
              <a:rPr lang="en-US" sz="1100" b="1" kern="0" spc="300" dirty="0">
                <a:solidFill>
                  <a:srgbClr val="C03BC4"/>
                </a:solidFill>
                <a:latin typeface="Segoe UI" pitchFamily="34" charset="0"/>
                <a:ea typeface="Segoe UI" pitchFamily="34" charset="-122"/>
                <a:cs typeface="Segoe UI" pitchFamily="34" charset="-120"/>
              </a:rPr>
              <a:t>Your Microsoft contact</a:t>
            </a:r>
            <a:endParaRPr lang="en-US" sz="1100" dirty="0"/>
          </a:p>
        </p:txBody>
      </p:sp>
      <p:sp>
        <p:nvSpPr>
          <p:cNvPr id="20" name="Text 18"/>
          <p:cNvSpPr/>
          <p:nvPr/>
        </p:nvSpPr>
        <p:spPr>
          <a:xfrm>
            <a:off x="1097280" y="5715000"/>
            <a:ext cx="10058400" cy="365760"/>
          </a:xfrm>
          <a:prstGeom prst="rect">
            <a:avLst/>
          </a:prstGeom>
          <a:noFill/>
          <a:ln/>
        </p:spPr>
        <p:txBody>
          <a:bodyPr wrap="square" rtlCol="0" anchor="ctr"/>
          <a:lstStyle/>
          <a:p>
            <a:pPr marL="0" indent="0">
              <a:buNone/>
            </a:pPr>
            <a:r>
              <a:rPr lang="en-US" sz="1700" b="1" dirty="0">
                <a:solidFill>
                  <a:srgbClr val="FFFFFF"/>
                </a:solidFill>
                <a:latin typeface="Segoe UI" pitchFamily="34" charset="0"/>
                <a:ea typeface="Segoe UI" pitchFamily="34" charset="-122"/>
                <a:cs typeface="Segoe UI" pitchFamily="34" charset="-120"/>
              </a:rPr>
              <a:t>Yuri Baijnath  ·  SR CSA Manager, RSA CSU</a:t>
            </a:r>
            <a:endParaRPr lang="en-US" sz="1700" dirty="0"/>
          </a:p>
        </p:txBody>
      </p:sp>
      <p:sp>
        <p:nvSpPr>
          <p:cNvPr id="21" name="Text 19"/>
          <p:cNvSpPr/>
          <p:nvPr/>
        </p:nvSpPr>
        <p:spPr>
          <a:xfrm>
            <a:off x="1097280" y="6035040"/>
            <a:ext cx="10058400" cy="274320"/>
          </a:xfrm>
          <a:prstGeom prst="rect">
            <a:avLst/>
          </a:prstGeom>
          <a:noFill/>
          <a:ln/>
        </p:spPr>
        <p:txBody>
          <a:bodyPr wrap="square" rtlCol="0" anchor="ctr"/>
          <a:lstStyle/>
          <a:p>
            <a:pPr marL="0" indent="0">
              <a:buNone/>
            </a:pPr>
            <a:r>
              <a:rPr lang="en-US" sz="1200" dirty="0">
                <a:solidFill>
                  <a:srgbClr val="F5E6F0"/>
                </a:solidFill>
                <a:latin typeface="Segoe UI" pitchFamily="34" charset="0"/>
                <a:ea typeface="Segoe UI" pitchFamily="34" charset="-122"/>
                <a:cs typeface="Segoe UI" pitchFamily="34" charset="-120"/>
              </a:rPr>
              <a:t>Yuri.Baijnath@microsoft.com  ·  Microsoft South Africa</a:t>
            </a:r>
            <a:endParaRPr lang="en-US" sz="1200" dirty="0"/>
          </a:p>
        </p:txBody>
      </p:sp>
      <p:pic>
        <p:nvPicPr>
          <p:cNvPr id="22" name="Image 0" descr="assets/microsoft-mark.png"/>
          <p:cNvPicPr>
            <a:picLocks noChangeAspect="1"/>
          </p:cNvPicPr>
          <p:nvPr/>
        </p:nvPicPr>
        <p:blipFill>
          <a:blip r:embed="rId3"/>
          <a:stretch>
            <a:fillRect/>
          </a:stretch>
        </p:blipFill>
        <p:spPr>
          <a:xfrm>
            <a:off x="365760" y="6492240"/>
            <a:ext cx="201168" cy="201168"/>
          </a:xfrm>
          <a:prstGeom prst="rect">
            <a:avLst/>
          </a:prstGeom>
        </p:spPr>
      </p:pic>
      <p:sp>
        <p:nvSpPr>
          <p:cNvPr id="23" name="Text 20"/>
          <p:cNvSpPr/>
          <p:nvPr/>
        </p:nvSpPr>
        <p:spPr>
          <a:xfrm>
            <a:off x="640080" y="6492240"/>
            <a:ext cx="7315200" cy="228600"/>
          </a:xfrm>
          <a:prstGeom prst="rect">
            <a:avLst/>
          </a:prstGeom>
          <a:noFill/>
          <a:ln/>
        </p:spPr>
        <p:txBody>
          <a:bodyPr wrap="square" rtlCol="0" anchor="ctr"/>
          <a:lstStyle/>
          <a:p>
            <a:pPr marL="0" indent="0">
              <a:buNone/>
            </a:pPr>
            <a:r>
              <a:rPr lang="en-US" sz="900" dirty="0">
                <a:solidFill>
                  <a:srgbClr val="8A94A6"/>
                </a:solidFill>
                <a:latin typeface="Segoe UI" pitchFamily="34" charset="0"/>
                <a:ea typeface="Segoe UI" pitchFamily="34" charset="-122"/>
                <a:cs typeface="Segoe UI" pitchFamily="34" charset="-120"/>
              </a:rPr>
              <a:t>Microsoft  ·  Confidential  ·  © 2026 Microsoft Corporation</a:t>
            </a:r>
            <a:endParaRPr lang="en-US" sz="900" dirty="0"/>
          </a:p>
        </p:txBody>
      </p:sp>
      <p:sp>
        <p:nvSpPr>
          <p:cNvPr id="24" name="Text 21"/>
          <p:cNvSpPr/>
          <p:nvPr/>
        </p:nvSpPr>
        <p:spPr>
          <a:xfrm>
            <a:off x="11094415" y="6492240"/>
            <a:ext cx="731520" cy="228600"/>
          </a:xfrm>
          <a:prstGeom prst="rect">
            <a:avLst/>
          </a:prstGeom>
          <a:noFill/>
          <a:ln/>
        </p:spPr>
        <p:txBody>
          <a:bodyPr wrap="square" rtlCol="0" anchor="ctr"/>
          <a:lstStyle/>
          <a:p>
            <a:pPr marL="0" indent="0" algn="r">
              <a:buNone/>
            </a:pPr>
            <a:r>
              <a:rPr lang="en-US" sz="900" dirty="0">
                <a:solidFill>
                  <a:srgbClr val="8A94A6"/>
                </a:solidFill>
                <a:latin typeface="Segoe UI" pitchFamily="34" charset="0"/>
                <a:ea typeface="Segoe UI" pitchFamily="34" charset="-122"/>
                <a:cs typeface="Segoe UI" pitchFamily="34" charset="-120"/>
              </a:rPr>
              <a:t>15 / 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3880</Words>
  <Application>Microsoft Office PowerPoint</Application>
  <PresentationFormat>Widescreen</PresentationFormat>
  <Paragraphs>332</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CoE — Partner Recruitment Kit</dc:title>
  <dc:subject>PptxGenJS Presentation</dc:subject>
  <dc:creator>Yuri Baijnath</dc:creator>
  <cp:lastModifiedBy>Yuri Baijnath</cp:lastModifiedBy>
  <cp:revision>2</cp:revision>
  <dcterms:created xsi:type="dcterms:W3CDTF">2026-05-07T12:27:52Z</dcterms:created>
  <dcterms:modified xsi:type="dcterms:W3CDTF">2026-05-12T07:40:28Z</dcterms:modified>
</cp:coreProperties>
</file>