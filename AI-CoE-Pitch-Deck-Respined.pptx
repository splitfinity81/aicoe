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77440"/>
            <a:ext cx="320040" cy="201168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377440"/>
            <a:ext cx="164592" cy="2011680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194560"/>
            <a:ext cx="10058400" cy="10972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Segoe UI"/>
              </a:rPr>
              <a:t>Microsoft AI Center of Excellence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108960"/>
            <a:ext cx="1005840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00" b="0">
                <a:solidFill>
                  <a:srgbClr val="50E6FF"/>
                </a:solidFill>
                <a:latin typeface="Segoe UI"/>
              </a:rPr>
              <a:t>for South Africa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023360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Segoe UI"/>
              </a:rPr>
              <a:t>Three AI surfaces. Three funding streams. One operating model.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852160"/>
            <a:ext cx="10058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>
                <a:solidFill>
                  <a:srgbClr val="50E6FF"/>
                </a:solidFill>
                <a:latin typeface="Segoe UI"/>
              </a:rPr>
              <a:t>Yuri Baijnath — CSU Cloud &amp; AI Lead (South Africa), Microsoft  ·  2026-06-03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972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Segoe UI"/>
              </a:rPr>
              <a:t>"We have AI initiatives. We don't have an AI capability."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51560"/>
            <a:ext cx="10972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0">
                <a:solidFill>
                  <a:srgbClr val="202020"/>
                </a:solidFill>
                <a:latin typeface="Segoe UI"/>
              </a:rPr>
              <a:t>The three failure modes we hear from RSA customers in 2026: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828800"/>
            <a:ext cx="3657600" cy="50292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874519"/>
            <a:ext cx="329184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Segoe UI"/>
              </a:rPr>
              <a:t>Pilot purgatory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331720"/>
            <a:ext cx="3657600" cy="3383280"/>
          </a:xfrm>
          <a:prstGeom prst="rect">
            <a:avLst/>
          </a:prstGeom>
          <a:solidFill>
            <a:srgbClr val="EA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468880"/>
            <a:ext cx="3291840" cy="3108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202020"/>
                </a:solidFill>
                <a:latin typeface="Segoe UI"/>
              </a:rPr>
              <a:t>12+ proofs-of-concept, none in production. No funded path from pilot to platform. Cost without compounding.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80" y="1828800"/>
            <a:ext cx="3657600" cy="502920"/>
          </a:xfrm>
          <a:prstGeom prst="rect">
            <a:avLst/>
          </a:prstGeom>
          <a:solidFill>
            <a:srgbClr val="742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0560" y="1874519"/>
            <a:ext cx="329184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Segoe UI"/>
              </a:rPr>
              <a:t>Shadow AI sprawl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97680" y="2331720"/>
            <a:ext cx="3657600" cy="3383280"/>
          </a:xfrm>
          <a:prstGeom prst="rect">
            <a:avLst/>
          </a:prstGeom>
          <a:solidFill>
            <a:srgbClr val="EA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0560" y="2468880"/>
            <a:ext cx="3291840" cy="3108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202020"/>
                </a:solidFill>
                <a:latin typeface="Segoe UI"/>
              </a:rPr>
              <a:t>Knowledge workers paste customer data into consumer chatbots. CISO has no visibility. POPIA exposure rising.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38160" y="1828800"/>
            <a:ext cx="3657600" cy="502920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21040" y="1874519"/>
            <a:ext cx="329184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Segoe UI"/>
              </a:rPr>
              <a:t>Governance debt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2331720"/>
            <a:ext cx="3657600" cy="3383280"/>
          </a:xfrm>
          <a:prstGeom prst="rect">
            <a:avLst/>
          </a:prstGeom>
          <a:solidFill>
            <a:srgbClr val="EA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40" y="2468880"/>
            <a:ext cx="3291840" cy="3108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202020"/>
                </a:solidFill>
                <a:latin typeface="Segoe UI"/>
              </a:rPr>
              <a:t>RAI policy in slideware, not in controls. AGSA/SARB/FSCA can't sample evidence. No quarterly attestation.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852160"/>
            <a:ext cx="10972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>
                <a:solidFill>
                  <a:srgbClr val="0B1F3A"/>
                </a:solidFill>
                <a:latin typeface="Segoe UI"/>
              </a:rPr>
              <a:t>The AI CoE collapses all three. The next slide shows how.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6556248"/>
            <a:ext cx="11460175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Segoe UI"/>
              </a:rPr>
              <a:t>AI CoE | The customer's problem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62895" y="6556248"/>
            <a:ext cx="146304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900" b="0">
                <a:solidFill>
                  <a:srgbClr val="50E6FF"/>
                </a:solidFill>
                <a:latin typeface="Segoe UI"/>
              </a:rPr>
              <a:t>Microsoft Confidential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972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Segoe UI"/>
              </a:rPr>
              <a:t>The moat: three surfaces × three streams = nine cells only Microsoft can fill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828800" cy="64008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286000" y="1005840"/>
            <a:ext cx="3246120" cy="64008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331720" y="1051560"/>
            <a:ext cx="315468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MCAPS-sponsored
(landing &amp; enable)</a:t>
            </a:r>
          </a:p>
        </p:txBody>
      </p:sp>
      <p:sp>
        <p:nvSpPr>
          <p:cNvPr id="8" name="Rectangle 7"/>
          <p:cNvSpPr/>
          <p:nvPr/>
        </p:nvSpPr>
        <p:spPr>
          <a:xfrm>
            <a:off x="5532120" y="1005840"/>
            <a:ext cx="3246120" cy="64008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77840" y="1051560"/>
            <a:ext cx="315468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Factory zero-cost
(F1–F10 build)</a:t>
            </a:r>
          </a:p>
        </p:txBody>
      </p:sp>
      <p:sp>
        <p:nvSpPr>
          <p:cNvPr id="10" name="Rectangle 9"/>
          <p:cNvSpPr/>
          <p:nvPr/>
        </p:nvSpPr>
        <p:spPr>
          <a:xfrm>
            <a:off x="8778240" y="1005840"/>
            <a:ext cx="3246120" cy="64008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23960" y="1051560"/>
            <a:ext cx="315468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Partner build-run
(MAICPP scale)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1645920"/>
            <a:ext cx="1828800" cy="155448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1691640"/>
            <a:ext cx="1737360" cy="14630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Segoe UI"/>
              </a:rPr>
              <a:t>M365 Copilot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86000" y="1645920"/>
            <a:ext cx="3246120" cy="1554480"/>
          </a:xfrm>
          <a:prstGeom prst="rect">
            <a:avLst/>
          </a:prstGeom>
          <a:solidFill>
            <a:srgbClr val="EAF4FB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77440" y="1737360"/>
            <a:ext cx="3063240" cy="13716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0">
                <a:solidFill>
                  <a:srgbClr val="202020"/>
                </a:solidFill>
                <a:latin typeface="Segoe UI"/>
              </a:rPr>
              <a:t>Copilot Adoption
Acceleration ECIF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532120" y="1645920"/>
            <a:ext cx="3246120" cy="1554480"/>
          </a:xfrm>
          <a:prstGeom prst="rect">
            <a:avLst/>
          </a:prstGeom>
          <a:solidFill>
            <a:srgbClr val="EAF4FB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23560" y="1737360"/>
            <a:ext cx="3063240" cy="13716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0">
                <a:solidFill>
                  <a:srgbClr val="202020"/>
                </a:solidFill>
                <a:latin typeface="Segoe UI"/>
              </a:rPr>
              <a:t>F3 SOE rollout +
F7 governance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778240" y="1645920"/>
            <a:ext cx="3246120" cy="1554480"/>
          </a:xfrm>
          <a:prstGeom prst="rect">
            <a:avLst/>
          </a:prstGeom>
          <a:solidFill>
            <a:srgbClr val="EAF4FB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69680" y="1737360"/>
            <a:ext cx="3063240" cy="13716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0">
                <a:solidFill>
                  <a:srgbClr val="202020"/>
                </a:solidFill>
                <a:latin typeface="Segoe UI"/>
              </a:rPr>
              <a:t>Partner-led change
&amp; measurement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200400"/>
            <a:ext cx="1828800" cy="1554480"/>
          </a:xfrm>
          <a:prstGeom prst="rect">
            <a:avLst/>
          </a:prstGeom>
          <a:solidFill>
            <a:srgbClr val="742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3246120"/>
            <a:ext cx="1737360" cy="14630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Segoe UI"/>
              </a:rPr>
              <a:t>Copilot Studio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286000" y="3200400"/>
            <a:ext cx="324612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77440" y="3291840"/>
            <a:ext cx="3063240" cy="13716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0">
                <a:solidFill>
                  <a:srgbClr val="202020"/>
                </a:solidFill>
                <a:latin typeface="Segoe UI"/>
              </a:rPr>
              <a:t>Agent envisioning
(ACO funded)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532120" y="3200400"/>
            <a:ext cx="324612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23560" y="3291840"/>
            <a:ext cx="3063240" cy="13716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0">
                <a:solidFill>
                  <a:srgbClr val="202020"/>
                </a:solidFill>
                <a:latin typeface="Segoe UI"/>
              </a:rPr>
              <a:t>F4 Studio agent
factory pattern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778240" y="3200400"/>
            <a:ext cx="324612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869680" y="3291840"/>
            <a:ext cx="3063240" cy="13716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0">
                <a:solidFill>
                  <a:srgbClr val="202020"/>
                </a:solidFill>
                <a:latin typeface="Segoe UI"/>
              </a:rPr>
              <a:t>Partner agent
build-and-run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4754880"/>
            <a:ext cx="1828800" cy="1554480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" y="4800600"/>
            <a:ext cx="1737360" cy="14630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>
                <a:solidFill>
                  <a:srgbClr val="0B1F3A"/>
                </a:solidFill>
                <a:latin typeface="Segoe UI"/>
              </a:rPr>
              <a:t>Azure AI Foundry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286000" y="4754880"/>
            <a:ext cx="3246120" cy="1554480"/>
          </a:xfrm>
          <a:prstGeom prst="rect">
            <a:avLst/>
          </a:prstGeom>
          <a:solidFill>
            <a:srgbClr val="EAF4FB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377440" y="4846320"/>
            <a:ext cx="3063240" cy="13716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0">
                <a:solidFill>
                  <a:srgbClr val="202020"/>
                </a:solidFill>
                <a:latin typeface="Segoe UI"/>
              </a:rPr>
              <a:t>Foundry envisioning
+ landing zone (ACO)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532120" y="4754880"/>
            <a:ext cx="3246120" cy="1554480"/>
          </a:xfrm>
          <a:prstGeom prst="rect">
            <a:avLst/>
          </a:prstGeom>
          <a:solidFill>
            <a:srgbClr val="EAF4FB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23560" y="4846320"/>
            <a:ext cx="3063240" cy="13716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0">
                <a:solidFill>
                  <a:srgbClr val="202020"/>
                </a:solidFill>
                <a:latin typeface="Segoe UI"/>
              </a:rPr>
              <a:t>F5 Foundry pattern
+ F8 eval harness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778240" y="4754880"/>
            <a:ext cx="3246120" cy="1554480"/>
          </a:xfrm>
          <a:prstGeom prst="rect">
            <a:avLst/>
          </a:prstGeom>
          <a:solidFill>
            <a:srgbClr val="EAF4FB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869680" y="4846320"/>
            <a:ext cx="3063240" cy="13716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0">
                <a:solidFill>
                  <a:srgbClr val="202020"/>
                </a:solidFill>
                <a:latin typeface="Segoe UI"/>
              </a:rPr>
              <a:t>Partner build-run
MAICPP commitment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5989320"/>
            <a:ext cx="10972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300" b="1">
                <a:solidFill>
                  <a:srgbClr val="0B1F3A"/>
                </a:solidFill>
                <a:latin typeface="Segoe UI"/>
              </a:rPr>
              <a:t>No hyperscaler controls all three surfaces. No SI controls all three streams. The grid is the moat.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6556248"/>
            <a:ext cx="11460175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Segoe UI"/>
              </a:rPr>
              <a:t>AI CoE | The moat grid (anchor)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362895" y="6556248"/>
            <a:ext cx="146304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900" b="0">
                <a:solidFill>
                  <a:srgbClr val="50E6FF"/>
                </a:solidFill>
                <a:latin typeface="Segoe UI"/>
              </a:rPr>
              <a:t>Microsoft Confidential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972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Segoe UI"/>
              </a:rPr>
              <a:t>Why this grid is unmatched — competitive read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97280"/>
            <a:ext cx="3200400" cy="868680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188720"/>
            <a:ext cx="3017520" cy="6858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Segoe UI"/>
              </a:rPr>
              <a:t>Hyperscaler A (AWS)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0" y="1097280"/>
            <a:ext cx="804672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794760" y="1188720"/>
            <a:ext cx="7818120" cy="6858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Segoe UI"/>
              </a:rPr>
              <a:t>Has Foundry-equivalent (Bedrock). No M365 install base, no agent runtime sitting in the productivity workflow. Loses surfaces 1 and 2.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057400"/>
            <a:ext cx="3200400" cy="868680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148840"/>
            <a:ext cx="3017520" cy="6858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Segoe UI"/>
              </a:rPr>
              <a:t>Hyperscaler B (Google)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0" y="2057400"/>
            <a:ext cx="804672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94760" y="2148840"/>
            <a:ext cx="7818120" cy="6858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Segoe UI"/>
              </a:rPr>
              <a:t>Has Workspace + Gemini, has Vertex. Workspace install base in RSA enterprise &lt;15%. Loses surface 1 at scale.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017520"/>
            <a:ext cx="3200400" cy="868680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108960"/>
            <a:ext cx="3017520" cy="6858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Segoe UI"/>
              </a:rPr>
              <a:t>Pure-play SI (Accenture / IBM)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0" y="3017520"/>
            <a:ext cx="804672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94760" y="3108960"/>
            <a:ext cx="7818120" cy="6858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Segoe UI"/>
              </a:rPr>
              <a:t>Strong on stream 3 (build-run). No equivalent of stream 1 (sponsored landing) or stream 2 (zero-cost factory). Customer pays for everything.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977640"/>
            <a:ext cx="3200400" cy="868680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4069080"/>
            <a:ext cx="3017520" cy="6858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Segoe UI"/>
              </a:rPr>
              <a:t>Niche AI vendor (OpenAI direct, Anthropic direct)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0" y="3977640"/>
            <a:ext cx="804672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794760" y="4069080"/>
            <a:ext cx="7818120" cy="6858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Segoe UI"/>
              </a:rPr>
              <a:t>Substrate only. No grounding in customer's M365 graph, no policy plane, no Purview AI Hub, no AGSA-sample-ready evidence.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937760"/>
            <a:ext cx="3200400" cy="86868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5029200"/>
            <a:ext cx="3017520" cy="6858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Segoe UI"/>
              </a:rPr>
              <a:t>Microsoft AI CoE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0" y="4937760"/>
            <a:ext cx="8046720" cy="868680"/>
          </a:xfrm>
          <a:prstGeom prst="rect">
            <a:avLst/>
          </a:prstGeom>
          <a:solidFill>
            <a:srgbClr val="EAF4FB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794760" y="5029200"/>
            <a:ext cx="7818120" cy="6858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Segoe UI"/>
              </a:rPr>
              <a:t>All nine cells. Funded landing, funded factory, partner-scaled run. One CoE charter, one governance posture, one consumption commit.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6556248"/>
            <a:ext cx="11460175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Segoe UI"/>
              </a:rPr>
              <a:t>AI CoE | Competitive read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62895" y="6556248"/>
            <a:ext cx="146304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900" b="0">
                <a:solidFill>
                  <a:srgbClr val="50E6FF"/>
                </a:solidFill>
                <a:latin typeface="Segoe UI"/>
              </a:rPr>
              <a:t>Microsoft Confidential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972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Segoe UI"/>
              </a:rPr>
              <a:t>ATO economics — the funding spine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10972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202020"/>
                </a:solidFill>
                <a:latin typeface="Segoe UI"/>
              </a:rPr>
              <a:t>One Azure Consumption commitment unlocks funded landing, funded factory, and funded first three production use-cases.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737360"/>
            <a:ext cx="3657600" cy="237744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28800"/>
            <a:ext cx="3474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00" b="0">
                <a:solidFill>
                  <a:srgbClr val="50E6FF"/>
                </a:solidFill>
                <a:latin typeface="Segoe UI"/>
              </a:rPr>
              <a:t>Customer commits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286000"/>
            <a:ext cx="3474720" cy="10972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8800" b="1">
                <a:solidFill>
                  <a:srgbClr val="FFFFFF"/>
                </a:solidFill>
                <a:latin typeface="Segoe UI"/>
              </a:rPr>
              <a:t>$1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474720"/>
            <a:ext cx="3474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00" b="0">
                <a:solidFill>
                  <a:srgbClr val="50E6FF"/>
                </a:solidFill>
                <a:latin typeface="Segoe UI"/>
              </a:rPr>
              <a:t>of ACR commitment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80" y="2743200"/>
            <a:ext cx="365760" cy="365760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0" y="2743200"/>
            <a:ext cx="36576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Segoe UI"/>
              </a:rPr>
              <a:t>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846320" y="1737360"/>
            <a:ext cx="6858000" cy="2377440"/>
          </a:xfrm>
          <a:prstGeom prst="rect">
            <a:avLst/>
          </a:prstGeom>
          <a:solidFill>
            <a:srgbClr val="EA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0" y="1828800"/>
            <a:ext cx="64922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>
                <a:solidFill>
                  <a:srgbClr val="0B1F3A"/>
                </a:solidFill>
                <a:latin typeface="Segoe UI"/>
              </a:rPr>
              <a:t>Microsoft + partner-funded delivery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0" y="2286000"/>
            <a:ext cx="6492240" cy="10972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6600" b="1">
                <a:solidFill>
                  <a:srgbClr val="0067B8"/>
                </a:solidFill>
                <a:latin typeface="Segoe UI"/>
              </a:rPr>
              <a:t>$3 – $5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0" y="3520440"/>
            <a:ext cx="64922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200" b="0">
                <a:solidFill>
                  <a:srgbClr val="202020"/>
                </a:solidFill>
                <a:latin typeface="Segoe UI"/>
              </a:rPr>
              <a:t>of envisioning, landing zone, factory builds, change &amp; adoption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38912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>
                <a:solidFill>
                  <a:srgbClr val="0B1F3A"/>
                </a:solidFill>
                <a:latin typeface="Segoe UI"/>
              </a:rPr>
              <a:t>Instruments stacked behind the ATO: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46320"/>
            <a:ext cx="27432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6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4892040"/>
            <a:ext cx="2560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1">
                <a:solidFill>
                  <a:srgbClr val="0067B8"/>
                </a:solidFill>
                <a:latin typeface="Segoe UI"/>
              </a:rPr>
              <a:t>ECIF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257800"/>
            <a:ext cx="256032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202020"/>
                </a:solidFill>
                <a:latin typeface="Segoe UI"/>
              </a:rPr>
              <a:t>Envisioning, pilot, adoption acceleration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337560" y="4846320"/>
            <a:ext cx="27432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6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29000" y="4892040"/>
            <a:ext cx="2560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1">
                <a:solidFill>
                  <a:srgbClr val="0067B8"/>
                </a:solidFill>
                <a:latin typeface="Segoe UI"/>
              </a:rPr>
              <a:t>MAICPP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29000" y="5257800"/>
            <a:ext cx="256032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202020"/>
                </a:solidFill>
                <a:latin typeface="Segoe UI"/>
              </a:rPr>
              <a:t>Partner build-and-run subsidy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17920" y="4846320"/>
            <a:ext cx="27432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6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892040"/>
            <a:ext cx="2560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1">
                <a:solidFill>
                  <a:srgbClr val="0067B8"/>
                </a:solidFill>
                <a:latin typeface="Segoe UI"/>
              </a:rPr>
              <a:t>ACO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5257800"/>
            <a:ext cx="256032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202020"/>
                </a:solidFill>
                <a:latin typeface="Segoe UI"/>
              </a:rPr>
              <a:t>Azure Consumption commitment offset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98280" y="4846320"/>
            <a:ext cx="27432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6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89720" y="4892040"/>
            <a:ext cx="2560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1">
                <a:solidFill>
                  <a:srgbClr val="0067B8"/>
                </a:solidFill>
                <a:latin typeface="Segoe UI"/>
              </a:rPr>
              <a:t>SA / CF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9720" y="5257800"/>
            <a:ext cx="256032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202020"/>
                </a:solidFill>
                <a:latin typeface="Segoe UI"/>
              </a:rPr>
              <a:t>Strategic Architect / Customer Factory IP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5760" y="6556248"/>
            <a:ext cx="11460175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Segoe UI"/>
              </a:rPr>
              <a:t>AI CoE | ATO economics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362895" y="6556248"/>
            <a:ext cx="146304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900" b="0">
                <a:solidFill>
                  <a:srgbClr val="50E6FF"/>
                </a:solidFill>
                <a:latin typeface="Segoe UI"/>
              </a:rPr>
              <a:t>Microsoft Confidential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972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Segoe UI"/>
              </a:rPr>
              <a:t>The operating model — one CoE, three surfaces, three streams, four gates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727448" y="2926080"/>
            <a:ext cx="2743200" cy="146304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27448" y="3017520"/>
            <a:ext cx="27432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Segoe UI"/>
              </a:rPr>
              <a:t>AI CoE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27448" y="3566160"/>
            <a:ext cx="27432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300" b="0">
                <a:solidFill>
                  <a:srgbClr val="50E6FF"/>
                </a:solidFill>
                <a:latin typeface="Segoe UI"/>
              </a:rPr>
              <a:t>charter • RACI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27448" y="3931920"/>
            <a:ext cx="27432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0">
                <a:solidFill>
                  <a:srgbClr val="50E6FF"/>
                </a:solidFill>
                <a:latin typeface="Segoe UI"/>
              </a:rPr>
              <a:t>quarterly attestation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1371600" y="1097280"/>
            <a:ext cx="2743200" cy="91440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1188720"/>
            <a:ext cx="274320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Segoe UI"/>
              </a:rPr>
              <a:t>M365 Copilot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0" y="1097280"/>
            <a:ext cx="2743200" cy="914400"/>
          </a:xfrm>
          <a:prstGeom prst="rect">
            <a:avLst/>
          </a:prstGeom>
          <a:solidFill>
            <a:srgbClr val="742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0" y="1188720"/>
            <a:ext cx="274320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Segoe UI"/>
              </a:rPr>
              <a:t>Copilot Studio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86800" y="1097280"/>
            <a:ext cx="2743200" cy="914400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0" y="1188720"/>
            <a:ext cx="274320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600" b="1">
                <a:solidFill>
                  <a:srgbClr val="0B1F3A"/>
                </a:solidFill>
                <a:latin typeface="Segoe UI"/>
              </a:rPr>
              <a:t>Foundry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743200"/>
            <a:ext cx="2560320" cy="502920"/>
          </a:xfrm>
          <a:prstGeom prst="rect">
            <a:avLst/>
          </a:prstGeom>
          <a:solidFill>
            <a:srgbClr val="EAF4FB"/>
          </a:solidFill>
          <a:ln w="9525">
            <a:solidFill>
              <a:srgbClr val="006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2788920"/>
            <a:ext cx="237744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1">
                <a:solidFill>
                  <a:srgbClr val="0B1F3A"/>
                </a:solidFill>
                <a:latin typeface="Segoe UI"/>
              </a:rPr>
              <a:t>$ MCAPS-sponsored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383280"/>
            <a:ext cx="2560320" cy="502920"/>
          </a:xfrm>
          <a:prstGeom prst="rect">
            <a:avLst/>
          </a:prstGeom>
          <a:solidFill>
            <a:srgbClr val="EAF4FB"/>
          </a:solidFill>
          <a:ln w="9525">
            <a:solidFill>
              <a:srgbClr val="006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3429000"/>
            <a:ext cx="237744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1">
                <a:solidFill>
                  <a:srgbClr val="0B1F3A"/>
                </a:solidFill>
                <a:latin typeface="Segoe UI"/>
              </a:rPr>
              <a:t>$ Factory zero-cost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023360"/>
            <a:ext cx="2560320" cy="502920"/>
          </a:xfrm>
          <a:prstGeom prst="rect">
            <a:avLst/>
          </a:prstGeom>
          <a:solidFill>
            <a:srgbClr val="EAF4FB"/>
          </a:solidFill>
          <a:ln w="9525">
            <a:solidFill>
              <a:srgbClr val="006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4069080"/>
            <a:ext cx="237744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1">
                <a:solidFill>
                  <a:srgbClr val="0B1F3A"/>
                </a:solidFill>
                <a:latin typeface="Segoe UI"/>
              </a:rPr>
              <a:t>$ Partner build-run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44000" y="2560320"/>
            <a:ext cx="2560320" cy="502920"/>
          </a:xfrm>
          <a:prstGeom prst="rect">
            <a:avLst/>
          </a:prstGeom>
          <a:solidFill>
            <a:srgbClr val="EAF4FB"/>
          </a:solidFill>
          <a:ln w="9525">
            <a:solidFill>
              <a:srgbClr val="742A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35440" y="2606040"/>
            <a:ext cx="237744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1">
                <a:solidFill>
                  <a:srgbClr val="742A9B"/>
                </a:solidFill>
                <a:latin typeface="Segoe UI"/>
              </a:rPr>
              <a:t>⚑ G1 Envision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144000" y="3154679"/>
            <a:ext cx="2560320" cy="502920"/>
          </a:xfrm>
          <a:prstGeom prst="rect">
            <a:avLst/>
          </a:prstGeom>
          <a:solidFill>
            <a:srgbClr val="EAF4FB"/>
          </a:solidFill>
          <a:ln w="9525">
            <a:solidFill>
              <a:srgbClr val="742A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5440" y="3200399"/>
            <a:ext cx="237744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1">
                <a:solidFill>
                  <a:srgbClr val="742A9B"/>
                </a:solidFill>
                <a:latin typeface="Segoe UI"/>
              </a:rPr>
              <a:t>⚑ G2 Pre-pilot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144000" y="3749039"/>
            <a:ext cx="2560320" cy="502920"/>
          </a:xfrm>
          <a:prstGeom prst="rect">
            <a:avLst/>
          </a:prstGeom>
          <a:solidFill>
            <a:srgbClr val="EAF4FB"/>
          </a:solidFill>
          <a:ln w="9525">
            <a:solidFill>
              <a:srgbClr val="742A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35440" y="3794759"/>
            <a:ext cx="237744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1">
                <a:solidFill>
                  <a:srgbClr val="742A9B"/>
                </a:solidFill>
                <a:latin typeface="Segoe UI"/>
              </a:rPr>
              <a:t>⚑ G3 Pre-prod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144000" y="4343400"/>
            <a:ext cx="2560320" cy="502920"/>
          </a:xfrm>
          <a:prstGeom prst="rect">
            <a:avLst/>
          </a:prstGeom>
          <a:solidFill>
            <a:srgbClr val="EAF4FB"/>
          </a:solidFill>
          <a:ln w="9525">
            <a:solidFill>
              <a:srgbClr val="742A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35440" y="4389120"/>
            <a:ext cx="237744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1">
                <a:solidFill>
                  <a:srgbClr val="742A9B"/>
                </a:solidFill>
                <a:latin typeface="Segoe UI"/>
              </a:rPr>
              <a:t>⚑ G4 Attestation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5852160"/>
            <a:ext cx="10972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300" b="1">
                <a:solidFill>
                  <a:srgbClr val="0B1F3A"/>
                </a:solidFill>
                <a:latin typeface="Segoe UI"/>
              </a:rPr>
              <a:t>Three surfaces deliver. Three streams fund. Four gates govern. One CoE owns the spine.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5760" y="6556248"/>
            <a:ext cx="11460175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Segoe UI"/>
              </a:rPr>
              <a:t>AI CoE | Operating model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362895" y="6556248"/>
            <a:ext cx="146304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900" b="0">
                <a:solidFill>
                  <a:srgbClr val="50E6FF"/>
                </a:solidFill>
                <a:latin typeface="Segoe UI"/>
              </a:rPr>
              <a:t>Microsoft Confidential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972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Segoe UI"/>
              </a:rPr>
              <a:t>What customers ship in 90 days — three outcomes per surface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97280"/>
            <a:ext cx="3657600" cy="54864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143000"/>
            <a:ext cx="338328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Segoe UI"/>
              </a:rPr>
              <a:t>M365 Copilot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645920"/>
            <a:ext cx="3657600" cy="3657600"/>
          </a:xfrm>
          <a:prstGeom prst="rect">
            <a:avLst/>
          </a:prstGeom>
          <a:solidFill>
            <a:srgbClr val="EA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828800"/>
            <a:ext cx="338328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>
                <a:solidFill>
                  <a:srgbClr val="202020"/>
                </a:solidFill>
                <a:latin typeface="Segoe UI"/>
              </a:rPr>
              <a:t>•  Tier-1 SOE rollout to 5,000 seats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202020"/>
                </a:solidFill>
                <a:latin typeface="Segoe UI"/>
              </a:rPr>
              <a:t>•  30%+ weekly active by day 90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202020"/>
                </a:solidFill>
                <a:latin typeface="Segoe UI"/>
              </a:rPr>
              <a:t>•  1.0–1.5 hr/user/week recovered (T&amp;M measured)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7680" y="1097280"/>
            <a:ext cx="3657600" cy="548640"/>
          </a:xfrm>
          <a:prstGeom prst="rect">
            <a:avLst/>
          </a:prstGeom>
          <a:solidFill>
            <a:srgbClr val="742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34840" y="1143000"/>
            <a:ext cx="338328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Segoe UI"/>
              </a:rPr>
              <a:t>Copilot Studio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97680" y="1645920"/>
            <a:ext cx="3657600" cy="3657600"/>
          </a:xfrm>
          <a:prstGeom prst="rect">
            <a:avLst/>
          </a:prstGeom>
          <a:solidFill>
            <a:srgbClr val="EA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34840" y="1828800"/>
            <a:ext cx="338328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>
                <a:solidFill>
                  <a:srgbClr val="202020"/>
                </a:solidFill>
                <a:latin typeface="Segoe UI"/>
              </a:rPr>
              <a:t>•  First production agent (HR or service-desk)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202020"/>
                </a:solidFill>
                <a:latin typeface="Segoe UI"/>
              </a:rPr>
              <a:t>•  Containment ≥45% on intent-routed cases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202020"/>
                </a:solidFill>
                <a:latin typeface="Segoe UI"/>
              </a:rPr>
              <a:t>•  HITL queue live; reviewer feedback loop closing weekly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38160" y="1097280"/>
            <a:ext cx="3657600" cy="548640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5320" y="1143000"/>
            <a:ext cx="338328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600" b="1">
                <a:solidFill>
                  <a:srgbClr val="0B1F3A"/>
                </a:solidFill>
                <a:latin typeface="Segoe UI"/>
              </a:rPr>
              <a:t>Azure AI Foundry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38160" y="1645920"/>
            <a:ext cx="3657600" cy="3657600"/>
          </a:xfrm>
          <a:prstGeom prst="rect">
            <a:avLst/>
          </a:prstGeom>
          <a:solidFill>
            <a:srgbClr val="EA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75320" y="1828800"/>
            <a:ext cx="338328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>
                <a:solidFill>
                  <a:srgbClr val="202020"/>
                </a:solidFill>
                <a:latin typeface="Segoe UI"/>
              </a:rPr>
              <a:t>•  First Foundry pattern in production (DocIntel)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202020"/>
                </a:solidFill>
                <a:latin typeface="Segoe UI"/>
              </a:rPr>
              <a:t>•  Eval harness live; RAI controls signed off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202020"/>
                </a:solidFill>
                <a:latin typeface="Segoe UI"/>
              </a:rPr>
              <a:t>•  Unit economics validated via TCO calculator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669280"/>
            <a:ext cx="10972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300" b="0">
                <a:solidFill>
                  <a:srgbClr val="0B1F3A"/>
                </a:solidFill>
                <a:latin typeface="Segoe UI"/>
              </a:rPr>
              <a:t>Every outcome is measurable. Every cost is modelled in AI-CoE-AI-TCO-Calculator.xlsx.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6556248"/>
            <a:ext cx="11460175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Segoe UI"/>
              </a:rPr>
              <a:t>AI CoE | 90-day proof points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62895" y="6556248"/>
            <a:ext cx="146304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900" b="0">
                <a:solidFill>
                  <a:srgbClr val="50E6FF"/>
                </a:solidFill>
                <a:latin typeface="Segoe UI"/>
              </a:rPr>
              <a:t>Microsoft Confidential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109728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Segoe UI"/>
              </a:rPr>
              <a:t>What we ask of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0972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>
                <a:solidFill>
                  <a:srgbClr val="50E6FF"/>
                </a:solidFill>
                <a:latin typeface="Segoe UI"/>
              </a:rPr>
              <a:t>Four asks. Nothing else needed to start.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286000"/>
            <a:ext cx="822960" cy="82296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286000"/>
            <a:ext cx="822960" cy="8229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2331720"/>
            <a:ext cx="100584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Segoe UI"/>
              </a:rPr>
              <a:t>One named executive sponsor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743200"/>
            <a:ext cx="100584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50E6FF"/>
                </a:solidFill>
                <a:latin typeface="Segoe UI"/>
              </a:rPr>
              <a:t>C-suite or direct report. Owns the AI CoE charter end-to-end.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154680"/>
            <a:ext cx="822960" cy="82296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3154680"/>
            <a:ext cx="822960" cy="8229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3200400"/>
            <a:ext cx="100584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Segoe UI"/>
              </a:rPr>
              <a:t>One measurable baseline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3611880"/>
            <a:ext cx="100584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50E6FF"/>
                </a:solidFill>
                <a:latin typeface="Segoe UI"/>
              </a:rPr>
              <a:t>Cycle time, cost-to-serve, or FTE-hours per unit on the chosen workload.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023360"/>
            <a:ext cx="822960" cy="82296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4023360"/>
            <a:ext cx="822960" cy="8229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4069080"/>
            <a:ext cx="100584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Segoe UI"/>
              </a:rPr>
              <a:t>One signed ATO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4480560"/>
            <a:ext cx="100584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50E6FF"/>
                </a:solidFill>
                <a:latin typeface="Segoe UI"/>
              </a:rPr>
              <a:t>Azure Consumption commitment. Unlocks the funded landing zone and first three use-cases.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92040"/>
            <a:ext cx="822960" cy="82296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92040"/>
            <a:ext cx="822960" cy="8229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4937760"/>
            <a:ext cx="100584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Segoe UI"/>
              </a:rPr>
              <a:t>One quarterly review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3040" y="5349240"/>
            <a:ext cx="100584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50E6FF"/>
                </a:solidFill>
                <a:latin typeface="Segoe UI"/>
              </a:rPr>
              <a:t>Sponsor + CISO + Internal Audit. Attestation evidence sampled and signed.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035040"/>
            <a:ext cx="10972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Segoe UI"/>
              </a:rPr>
              <a:t>Next step: a 90-minute envisioning workshop. We bring the surfaces, the streams, and a draft charter.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972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Segoe UI"/>
              </a:rPr>
              <a:t>Surface 1 — M365 Copilot: economics + adoption curve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56692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>
                <a:solidFill>
                  <a:srgbClr val="202020"/>
                </a:solidFill>
                <a:latin typeface="Segoe UI"/>
              </a:rPr>
              <a:t>•  Per-seat economics: $30/user/month commercial; ACO can offset against ACR commit on enterprise SKUs.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202020"/>
                </a:solidFill>
                <a:latin typeface="Segoe UI"/>
              </a:rPr>
              <a:t>•  Adoption is the variable that determines ROI — not the licence price.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202020"/>
                </a:solidFill>
                <a:latin typeface="Segoe UI"/>
              </a:rPr>
              <a:t>•  T&amp;M-measured recovery target: 1.0–1.5 hr/user/week by day 90; 2.0+ hr/user/week by month 6 in change-led cohorts.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202020"/>
                </a:solidFill>
                <a:latin typeface="Segoe UI"/>
              </a:rPr>
              <a:t>•  Default offer: Copilot Adoption Acceleration ECIF + Champion network + 12-week measured rhythm.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202020"/>
                </a:solidFill>
                <a:latin typeface="Segoe UI"/>
              </a:rPr>
              <a:t>•  Anchor accelerator: ACC-3 (M365 Copilot SOE Adoption Playbook).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0" y="1097280"/>
            <a:ext cx="5303520" cy="4846320"/>
          </a:xfrm>
          <a:prstGeom prst="rect">
            <a:avLst/>
          </a:prstGeom>
          <a:solidFill>
            <a:srgbClr val="EAF4FB"/>
          </a:solidFill>
          <a:ln w="9525">
            <a:solidFill>
              <a:srgbClr val="006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37960" y="1188720"/>
            <a:ext cx="50292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>
                <a:solidFill>
                  <a:srgbClr val="0B1F3A"/>
                </a:solidFill>
                <a:latin typeface="Segoe UI"/>
              </a:rPr>
              <a:t>Adoption rhythm (RSA reference cohort)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37960" y="1828800"/>
            <a:ext cx="1645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0067B8"/>
                </a:solidFill>
                <a:latin typeface="Segoe UI"/>
              </a:rPr>
              <a:t>Week 1–2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1828800"/>
            <a:ext cx="338328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202020"/>
                </a:solidFill>
                <a:latin typeface="Segoe UI"/>
              </a:rPr>
              <a:t>Sponsor brief, persona mapping, baseline T&amp;M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60" y="2788920"/>
            <a:ext cx="1645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0067B8"/>
                </a:solidFill>
                <a:latin typeface="Segoe UI"/>
              </a:rPr>
              <a:t>Week 3–6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2788920"/>
            <a:ext cx="338328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202020"/>
                </a:solidFill>
                <a:latin typeface="Segoe UI"/>
              </a:rPr>
              <a:t>Champion training, scenario rollout, comms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3749040"/>
            <a:ext cx="1645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0067B8"/>
                </a:solidFill>
                <a:latin typeface="Segoe UI"/>
              </a:rPr>
              <a:t>Week 7–10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3749040"/>
            <a:ext cx="338328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202020"/>
                </a:solidFill>
                <a:latin typeface="Segoe UI"/>
              </a:rPr>
              <a:t>Use-case clinics, exec dashboard, weekly KPI review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4709160"/>
            <a:ext cx="1645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0067B8"/>
                </a:solidFill>
                <a:latin typeface="Segoe UI"/>
              </a:rPr>
              <a:t>Week 11–12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4709160"/>
            <a:ext cx="338328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202020"/>
                </a:solidFill>
                <a:latin typeface="Segoe UI"/>
              </a:rPr>
              <a:t>Re-baseline T&amp;M, hand-off to BAU, MAICPP partner takes change-mgmt scale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6556248"/>
            <a:ext cx="11460175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Segoe UI"/>
              </a:rPr>
              <a:t>AI CoE | Surface deep-dive — M365 Copilot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62895" y="6556248"/>
            <a:ext cx="146304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900" b="0">
                <a:solidFill>
                  <a:srgbClr val="50E6FF"/>
                </a:solidFill>
                <a:latin typeface="Segoe UI"/>
              </a:rPr>
              <a:t>Microsoft Confidential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742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972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Segoe UI"/>
              </a:rPr>
              <a:t>Surface 2 — Copilot Studio: agent patterns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10972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202020"/>
                </a:solidFill>
                <a:latin typeface="Segoe UI"/>
              </a:rPr>
              <a:t>Four patterns cover ~85% of first-agent customer demand in RSA: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737360"/>
            <a:ext cx="2926080" cy="822960"/>
          </a:xfrm>
          <a:prstGeom prst="rect">
            <a:avLst/>
          </a:prstGeom>
          <a:solidFill>
            <a:srgbClr val="742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28800"/>
            <a:ext cx="274320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Segoe UI"/>
              </a:rPr>
              <a:t>Intent-routing agent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3383280" y="1737360"/>
            <a:ext cx="8321040" cy="822960"/>
          </a:xfrm>
          <a:prstGeom prst="rect">
            <a:avLst/>
          </a:prstGeom>
          <a:solidFill>
            <a:srgbClr val="EAF4FB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20440" y="1828800"/>
            <a:ext cx="809244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Segoe UI"/>
              </a:rPr>
              <a:t>Service-desk triage, HR FAQ. Containment 40-60% by month 3.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697480"/>
            <a:ext cx="2926080" cy="822960"/>
          </a:xfrm>
          <a:prstGeom prst="rect">
            <a:avLst/>
          </a:prstGeom>
          <a:solidFill>
            <a:srgbClr val="742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788920"/>
            <a:ext cx="274320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Segoe UI"/>
              </a:rPr>
              <a:t>Document agent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83280" y="2697480"/>
            <a:ext cx="8321040" cy="822960"/>
          </a:xfrm>
          <a:prstGeom prst="rect">
            <a:avLst/>
          </a:prstGeom>
          <a:solidFill>
            <a:srgbClr val="EAF4FB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20440" y="2788920"/>
            <a:ext cx="809244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Segoe UI"/>
              </a:rPr>
              <a:t>Policy lookups, regulator extracts, contract Q&amp;A. Grounded on Purview-labelled SharePoint.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657600"/>
            <a:ext cx="2926080" cy="822960"/>
          </a:xfrm>
          <a:prstGeom prst="rect">
            <a:avLst/>
          </a:prstGeom>
          <a:solidFill>
            <a:srgbClr val="742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749040"/>
            <a:ext cx="274320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Segoe UI"/>
              </a:rPr>
              <a:t>Process agent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83280" y="3657600"/>
            <a:ext cx="8321040" cy="822960"/>
          </a:xfrm>
          <a:prstGeom prst="rect">
            <a:avLst/>
          </a:prstGeom>
          <a:solidFill>
            <a:srgbClr val="EAF4FB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20440" y="3749040"/>
            <a:ext cx="809244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Segoe UI"/>
              </a:rPr>
              <a:t>Onboarding, leave, expense pre-check. Dataverse + Power Automate flow integration.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617720"/>
            <a:ext cx="2926080" cy="822960"/>
          </a:xfrm>
          <a:prstGeom prst="rect">
            <a:avLst/>
          </a:prstGeom>
          <a:solidFill>
            <a:srgbClr val="742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4709160"/>
            <a:ext cx="274320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Segoe UI"/>
              </a:rPr>
              <a:t>Specialist agent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383280" y="4617720"/>
            <a:ext cx="8321040" cy="822960"/>
          </a:xfrm>
          <a:prstGeom prst="rect">
            <a:avLst/>
          </a:prstGeom>
          <a:solidFill>
            <a:srgbClr val="EAF4FB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20440" y="4709160"/>
            <a:ext cx="809244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Segoe UI"/>
              </a:rPr>
              <a:t>Loan pre-screen, claims pre-decision, KYC pre-check. HITL on every regulated output.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" y="6556248"/>
            <a:ext cx="11460175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Segoe UI"/>
              </a:rPr>
              <a:t>AI CoE | Surface deep-dive — Copilot Studio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362895" y="6556248"/>
            <a:ext cx="146304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900" b="0">
                <a:solidFill>
                  <a:srgbClr val="50E6FF"/>
                </a:solidFill>
                <a:latin typeface="Segoe UI"/>
              </a:rPr>
              <a:t>Microsoft Confidential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972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00" b="1">
                <a:solidFill>
                  <a:srgbClr val="50E6FF"/>
                </a:solidFill>
                <a:latin typeface="Segoe UI"/>
              </a:rPr>
              <a:t>Surface 3 — Azure AI Foundry: build-and-run with RAI guardrails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97280"/>
            <a:ext cx="2743200" cy="86868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188720"/>
            <a:ext cx="2560320" cy="6858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Segoe UI"/>
              </a:rPr>
              <a:t>Experience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1097280"/>
            <a:ext cx="8503920" cy="868680"/>
          </a:xfrm>
          <a:prstGeom prst="rect">
            <a:avLst/>
          </a:prstGeom>
          <a:solidFill>
            <a:srgbClr val="EAF4FB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37560" y="1188720"/>
            <a:ext cx="8229600" cy="6858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Segoe UI"/>
              </a:rPr>
              <a:t>Custom UI / API / embedded surfaces; reasoning trace surfaced to reviewer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103120"/>
            <a:ext cx="2743200" cy="868680"/>
          </a:xfrm>
          <a:prstGeom prst="rect">
            <a:avLst/>
          </a:prstGeom>
          <a:solidFill>
            <a:srgbClr val="742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194560"/>
            <a:ext cx="2560320" cy="6858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Segoe UI"/>
              </a:rPr>
              <a:t>Orchestration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0" y="2103120"/>
            <a:ext cx="8503920" cy="868680"/>
          </a:xfrm>
          <a:prstGeom prst="rect">
            <a:avLst/>
          </a:prstGeom>
          <a:solidFill>
            <a:srgbClr val="EAF4FB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37560" y="2194560"/>
            <a:ext cx="8229600" cy="6858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Segoe UI"/>
              </a:rPr>
              <a:t>Foundry prompt-flow, agent SDK, function calling, retrieval pipelines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108960"/>
            <a:ext cx="2743200" cy="868680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200400"/>
            <a:ext cx="2560320" cy="6858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1">
                <a:solidFill>
                  <a:srgbClr val="0B1F3A"/>
                </a:solidFill>
                <a:latin typeface="Segoe UI"/>
              </a:rPr>
              <a:t>Reasoning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0" y="3108960"/>
            <a:ext cx="8503920" cy="868680"/>
          </a:xfrm>
          <a:prstGeom prst="rect">
            <a:avLst/>
          </a:prstGeom>
          <a:solidFill>
            <a:srgbClr val="EAF4FB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37560" y="3200400"/>
            <a:ext cx="8229600" cy="6858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Segoe UI"/>
              </a:rPr>
              <a:t>Model mix: gpt-4o, gpt-4o-mini, Phi-3, fine-tuned specialists; routing by cost &amp; latency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114800"/>
            <a:ext cx="2743200" cy="86868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4206240"/>
            <a:ext cx="2560320" cy="6858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Segoe UI"/>
              </a:rPr>
              <a:t>Data &amp; grounding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0" y="4114800"/>
            <a:ext cx="8503920" cy="868680"/>
          </a:xfrm>
          <a:prstGeom prst="rect">
            <a:avLst/>
          </a:prstGeom>
          <a:solidFill>
            <a:srgbClr val="EAF4FB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37560" y="4206240"/>
            <a:ext cx="8229600" cy="6858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Segoe UI"/>
              </a:rPr>
              <a:t>AI Search, Cosmos DB vector, Purview lineage, region-pinned residency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120640"/>
            <a:ext cx="2743200" cy="868680"/>
          </a:xfrm>
          <a:prstGeom prst="rect">
            <a:avLst/>
          </a:prstGeom>
          <a:solidFill>
            <a:srgbClr val="742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5212080"/>
            <a:ext cx="2560320" cy="6858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Segoe UI"/>
              </a:rPr>
              <a:t>Governance &amp; safety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00400" y="5120640"/>
            <a:ext cx="8503920" cy="868680"/>
          </a:xfrm>
          <a:prstGeom prst="rect">
            <a:avLst/>
          </a:prstGeom>
          <a:solidFill>
            <a:srgbClr val="EAF4FB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337560" y="5212080"/>
            <a:ext cx="8229600" cy="6858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Segoe UI"/>
              </a:rPr>
              <a:t>Content Safety, Prompt Shields, Defender for Cloud AI, Purview AI Hub, eval harness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6556248"/>
            <a:ext cx="11460175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Segoe UI"/>
              </a:rPr>
              <a:t>AI CoE | Surface deep-dive — Foundry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62895" y="6556248"/>
            <a:ext cx="146304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900" b="0">
                <a:solidFill>
                  <a:srgbClr val="50E6FF"/>
                </a:solidFill>
                <a:latin typeface="Segoe UI"/>
              </a:rPr>
              <a:t>Microsoft Confidential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972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Segoe UI"/>
              </a:rPr>
              <a:t>Stream 2 execution — the F1–F10 Factory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2194560" cy="54864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219456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Segoe UI"/>
              </a:rPr>
              <a:t>F1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737360"/>
            <a:ext cx="2194560" cy="1554480"/>
          </a:xfrm>
          <a:prstGeom prst="rect">
            <a:avLst/>
          </a:prstGeom>
          <a:solidFill>
            <a:srgbClr val="EAF4FB"/>
          </a:solidFill>
          <a:ln w="9525">
            <a:solidFill>
              <a:srgbClr val="006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828800"/>
            <a:ext cx="2011680" cy="13716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1">
                <a:solidFill>
                  <a:srgbClr val="0B1F3A"/>
                </a:solidFill>
                <a:latin typeface="Segoe UI"/>
              </a:rPr>
              <a:t>Envision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2788920" y="1188720"/>
            <a:ext cx="2194560" cy="54864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88920" y="1188720"/>
            <a:ext cx="219456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Segoe UI"/>
              </a:rPr>
              <a:t>F2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88920" y="1737360"/>
            <a:ext cx="2194560" cy="1554480"/>
          </a:xfrm>
          <a:prstGeom prst="rect">
            <a:avLst/>
          </a:prstGeom>
          <a:solidFill>
            <a:srgbClr val="EAF4FB"/>
          </a:solidFill>
          <a:ln w="9525">
            <a:solidFill>
              <a:srgbClr val="006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80360" y="1828800"/>
            <a:ext cx="2011680" cy="13716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1">
                <a:solidFill>
                  <a:srgbClr val="0B1F3A"/>
                </a:solidFill>
                <a:latin typeface="Segoe UI"/>
              </a:rPr>
              <a:t>Landing zone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640" y="1188720"/>
            <a:ext cx="2194560" cy="54864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20640" y="1188720"/>
            <a:ext cx="219456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Segoe UI"/>
              </a:rPr>
              <a:t>F3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20640" y="1737360"/>
            <a:ext cx="2194560" cy="1554480"/>
          </a:xfrm>
          <a:prstGeom prst="rect">
            <a:avLst/>
          </a:prstGeom>
          <a:solidFill>
            <a:srgbClr val="EAF4FB"/>
          </a:solidFill>
          <a:ln w="9525">
            <a:solidFill>
              <a:srgbClr val="006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12080" y="1828800"/>
            <a:ext cx="2011680" cy="13716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1">
                <a:solidFill>
                  <a:srgbClr val="0B1F3A"/>
                </a:solidFill>
                <a:latin typeface="Segoe UI"/>
              </a:rPr>
              <a:t>M365 rollout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52359" y="1188720"/>
            <a:ext cx="2194560" cy="54864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52359" y="1188720"/>
            <a:ext cx="219456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Segoe UI"/>
              </a:rPr>
              <a:t>F4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52359" y="1737360"/>
            <a:ext cx="2194560" cy="1554480"/>
          </a:xfrm>
          <a:prstGeom prst="rect">
            <a:avLst/>
          </a:prstGeom>
          <a:solidFill>
            <a:srgbClr val="EAF4FB"/>
          </a:solidFill>
          <a:ln w="9525">
            <a:solidFill>
              <a:srgbClr val="006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543799" y="1828800"/>
            <a:ext cx="2011680" cy="13716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1">
                <a:solidFill>
                  <a:srgbClr val="0B1F3A"/>
                </a:solidFill>
                <a:latin typeface="Segoe UI"/>
              </a:rPr>
              <a:t>Studio agent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784080" y="1188720"/>
            <a:ext cx="2194560" cy="54864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84080" y="1188720"/>
            <a:ext cx="219456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Segoe UI"/>
              </a:rPr>
              <a:t>F5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784080" y="1737360"/>
            <a:ext cx="2194560" cy="1554480"/>
          </a:xfrm>
          <a:prstGeom prst="rect">
            <a:avLst/>
          </a:prstGeom>
          <a:solidFill>
            <a:srgbClr val="EAF4FB"/>
          </a:solidFill>
          <a:ln w="9525">
            <a:solidFill>
              <a:srgbClr val="006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875520" y="1828800"/>
            <a:ext cx="2011680" cy="13716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1">
                <a:solidFill>
                  <a:srgbClr val="0B1F3A"/>
                </a:solidFill>
                <a:latin typeface="Segoe UI"/>
              </a:rPr>
              <a:t>Foundry pattern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3383280"/>
            <a:ext cx="2194560" cy="54864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3383280"/>
            <a:ext cx="219456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Segoe UI"/>
              </a:rPr>
              <a:t>F6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3931920"/>
            <a:ext cx="2194560" cy="1554480"/>
          </a:xfrm>
          <a:prstGeom prst="rect">
            <a:avLst/>
          </a:prstGeom>
          <a:solidFill>
            <a:srgbClr val="EAF4FB"/>
          </a:solidFill>
          <a:ln w="9525">
            <a:solidFill>
              <a:srgbClr val="006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4023360"/>
            <a:ext cx="2011680" cy="13716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1">
                <a:solidFill>
                  <a:srgbClr val="0B1F3A"/>
                </a:solidFill>
                <a:latin typeface="Segoe UI"/>
              </a:rPr>
              <a:t>Data &amp; RAG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88920" y="3383280"/>
            <a:ext cx="2194560" cy="54864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788920" y="3383280"/>
            <a:ext cx="219456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Segoe UI"/>
              </a:rPr>
              <a:t>F7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88920" y="3931920"/>
            <a:ext cx="2194560" cy="1554480"/>
          </a:xfrm>
          <a:prstGeom prst="rect">
            <a:avLst/>
          </a:prstGeom>
          <a:solidFill>
            <a:srgbClr val="EAF4FB"/>
          </a:solidFill>
          <a:ln w="9525">
            <a:solidFill>
              <a:srgbClr val="006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880360" y="4023360"/>
            <a:ext cx="2011680" cy="13716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1">
                <a:solidFill>
                  <a:srgbClr val="0B1F3A"/>
                </a:solidFill>
                <a:latin typeface="Segoe UI"/>
              </a:rPr>
              <a:t>Governance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120640" y="3383280"/>
            <a:ext cx="2194560" cy="54864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120640" y="3383280"/>
            <a:ext cx="219456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Segoe UI"/>
              </a:rPr>
              <a:t>F8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120640" y="3931920"/>
            <a:ext cx="2194560" cy="1554480"/>
          </a:xfrm>
          <a:prstGeom prst="rect">
            <a:avLst/>
          </a:prstGeom>
          <a:solidFill>
            <a:srgbClr val="EAF4FB"/>
          </a:solidFill>
          <a:ln w="9525">
            <a:solidFill>
              <a:srgbClr val="006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212080" y="4023360"/>
            <a:ext cx="2011680" cy="13716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1">
                <a:solidFill>
                  <a:srgbClr val="0B1F3A"/>
                </a:solidFill>
                <a:latin typeface="Segoe UI"/>
              </a:rPr>
              <a:t>Eval harness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452359" y="3383280"/>
            <a:ext cx="2194560" cy="54864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52359" y="3383280"/>
            <a:ext cx="219456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Segoe UI"/>
              </a:rPr>
              <a:t>F9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452359" y="3931920"/>
            <a:ext cx="2194560" cy="1554480"/>
          </a:xfrm>
          <a:prstGeom prst="rect">
            <a:avLst/>
          </a:prstGeom>
          <a:solidFill>
            <a:srgbClr val="EAF4FB"/>
          </a:solidFill>
          <a:ln w="9525">
            <a:solidFill>
              <a:srgbClr val="006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543799" y="4023360"/>
            <a:ext cx="2011680" cy="13716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1">
                <a:solidFill>
                  <a:srgbClr val="0B1F3A"/>
                </a:solidFill>
                <a:latin typeface="Segoe UI"/>
              </a:rPr>
              <a:t>Change &amp; adoption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784080" y="3383280"/>
            <a:ext cx="2194560" cy="54864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784080" y="3383280"/>
            <a:ext cx="219456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Segoe UI"/>
              </a:rPr>
              <a:t>F10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784080" y="3931920"/>
            <a:ext cx="2194560" cy="1554480"/>
          </a:xfrm>
          <a:prstGeom prst="rect">
            <a:avLst/>
          </a:prstGeom>
          <a:solidFill>
            <a:srgbClr val="EAF4FB"/>
          </a:solidFill>
          <a:ln w="9525">
            <a:solidFill>
              <a:srgbClr val="006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875520" y="4023360"/>
            <a:ext cx="2011680" cy="13716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1">
                <a:solidFill>
                  <a:srgbClr val="0B1F3A"/>
                </a:solidFill>
                <a:latin typeface="Segoe UI"/>
              </a:rPr>
              <a:t>Run &amp; FinOps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7200" y="5989320"/>
            <a:ext cx="10972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300" b="0">
                <a:solidFill>
                  <a:srgbClr val="0B1F3A"/>
                </a:solidFill>
                <a:latin typeface="Segoe UI"/>
              </a:rPr>
              <a:t>Each F is a re-usable pattern with code, docs, and ECIF backing. Zero-cost to the customer through stream 2.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65760" y="6556248"/>
            <a:ext cx="11460175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Segoe UI"/>
              </a:rPr>
              <a:t>AI CoE | F1–F10 Factory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362895" y="6556248"/>
            <a:ext cx="146304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900" b="0">
                <a:solidFill>
                  <a:srgbClr val="50E6FF"/>
                </a:solidFill>
                <a:latin typeface="Segoe UI"/>
              </a:rPr>
              <a:t>Microsoft Confidential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972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Segoe UI"/>
              </a:rPr>
              <a:t>Stream 3 — Partner build-run via MAICPP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>
                <a:solidFill>
                  <a:srgbClr val="202020"/>
                </a:solidFill>
                <a:latin typeface="Segoe UI"/>
              </a:rPr>
              <a:t>•  MAICPP funds partner-led envisioning, build, deployment, and adoption against named workloads.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202020"/>
                </a:solidFill>
                <a:latin typeface="Segoe UI"/>
              </a:rPr>
              <a:t>•  RSA partner shortlist (12 named) qualified via AI-CoE-Partner-Scorecard.xlsx — coverage across BFSI, public sector, retail, telco, mining, healthcare.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202020"/>
                </a:solidFill>
                <a:latin typeface="Segoe UI"/>
              </a:rPr>
              <a:t>•  Partner takes per-unit delivery risk in outcome-based archetypes (see Operating Playbook Addendum).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202020"/>
                </a:solidFill>
                <a:latin typeface="Segoe UI"/>
              </a:rPr>
              <a:t>•  Microsoft retains the platform commitment; partner owns the run. Single CoE charter binds both.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202020"/>
                </a:solidFill>
                <a:latin typeface="Segoe UI"/>
              </a:rPr>
              <a:t>•  Partner exit: 90-day notice on operational delivery; CoE charter and ATO remain with Microsoft.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56248"/>
            <a:ext cx="11460175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Segoe UI"/>
              </a:rPr>
              <a:t>AI CoE | Partner build-run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62895" y="6556248"/>
            <a:ext cx="146304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900" b="0">
                <a:solidFill>
                  <a:srgbClr val="50E6FF"/>
                </a:solidFill>
                <a:latin typeface="Segoe UI"/>
              </a:rPr>
              <a:t>Microsoft Confidential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972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Segoe UI"/>
              </a:rPr>
              <a:t>Sovereign AI for regulated buyers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3017520" cy="128016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2834640" cy="10972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Segoe UI"/>
              </a:rPr>
              <a:t>Data sovereignty</a:t>
            </a:r>
          </a:p>
        </p:txBody>
      </p:sp>
      <p:sp>
        <p:nvSpPr>
          <p:cNvPr id="7" name="Rectangle 6"/>
          <p:cNvSpPr/>
          <p:nvPr/>
        </p:nvSpPr>
        <p:spPr>
          <a:xfrm>
            <a:off x="3474720" y="1188720"/>
            <a:ext cx="8229600" cy="1280160"/>
          </a:xfrm>
          <a:prstGeom prst="rect">
            <a:avLst/>
          </a:prstGeom>
          <a:solidFill>
            <a:srgbClr val="EAF4FB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11880" y="1325880"/>
            <a:ext cx="7955279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Segoe UI"/>
              </a:rPr>
              <a:t>Residency in SA North / West; CMK in customer-controlled Key Vault; Purview lineage; region-pin via Azure Policy.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743200"/>
            <a:ext cx="3017520" cy="1280160"/>
          </a:xfrm>
          <a:prstGeom prst="rect">
            <a:avLst/>
          </a:prstGeom>
          <a:solidFill>
            <a:srgbClr val="742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834640"/>
            <a:ext cx="2834640" cy="10972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Segoe UI"/>
              </a:rPr>
              <a:t>Operational sovereignty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74720" y="2743200"/>
            <a:ext cx="8229600" cy="1280160"/>
          </a:xfrm>
          <a:prstGeom prst="rect">
            <a:avLst/>
          </a:prstGeom>
          <a:solidFill>
            <a:srgbClr val="EAF4FB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11880" y="2880360"/>
            <a:ext cx="7955279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Segoe UI"/>
              </a:rPr>
              <a:t>RSA-based support &amp; operations; named clearance; partner-DPA addendum; AGSA-ready evidence pack.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297680"/>
            <a:ext cx="3017520" cy="1280160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4389120"/>
            <a:ext cx="2834640" cy="10972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600" b="1">
                <a:solidFill>
                  <a:srgbClr val="0B1F3A"/>
                </a:solidFill>
                <a:latin typeface="Segoe UI"/>
              </a:rPr>
              <a:t>Digital sovereignty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74720" y="4297680"/>
            <a:ext cx="8229600" cy="1280160"/>
          </a:xfrm>
          <a:prstGeom prst="rect">
            <a:avLst/>
          </a:prstGeom>
          <a:solidFill>
            <a:srgbClr val="EAF4FB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11880" y="4434840"/>
            <a:ext cx="7955279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Segoe UI"/>
              </a:rPr>
              <a:t>Microsoft Cloud for Sovereignty constructs; SLM/Phi options for sensitive workloads; open Foundry models for portability.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852160"/>
            <a:ext cx="10972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200" b="0">
                <a:solidFill>
                  <a:srgbClr val="0B1F3A"/>
                </a:solidFill>
                <a:latin typeface="Segoe UI"/>
              </a:rPr>
              <a:t>Full offer: AI-CoE-Sovereign-AI-RSA.pptx. Underlying platform: ACC-2 POPIA Landing Zone.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6556248"/>
            <a:ext cx="11460175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Segoe UI"/>
              </a:rPr>
              <a:t>AI CoE | Sovereign AI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62895" y="6556248"/>
            <a:ext cx="146304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900" b="0">
                <a:solidFill>
                  <a:srgbClr val="50E6FF"/>
                </a:solidFill>
                <a:latin typeface="Segoe UI"/>
              </a:rPr>
              <a:t>Microsoft Confidential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972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Segoe UI"/>
              </a:rPr>
              <a:t>Governance &amp; RAI posture — four gates + the control plane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3200400" cy="868680"/>
          </a:xfrm>
          <a:prstGeom prst="rect">
            <a:avLst/>
          </a:prstGeom>
          <a:solidFill>
            <a:srgbClr val="742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3017520" cy="6858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Segoe UI"/>
              </a:rPr>
              <a:t>G1 Envision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0" y="1188720"/>
            <a:ext cx="8046720" cy="868680"/>
          </a:xfrm>
          <a:prstGeom prst="rect">
            <a:avLst/>
          </a:prstGeom>
          <a:solidFill>
            <a:srgbClr val="EAF4FB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794760" y="1280160"/>
            <a:ext cx="7818120" cy="6858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Segoe UI"/>
              </a:rPr>
              <a:t>Use-case registered, sponsor named, value hypothesis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194560"/>
            <a:ext cx="3200400" cy="868680"/>
          </a:xfrm>
          <a:prstGeom prst="rect">
            <a:avLst/>
          </a:prstGeom>
          <a:solidFill>
            <a:srgbClr val="742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286000"/>
            <a:ext cx="3017520" cy="6858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Segoe UI"/>
              </a:rPr>
              <a:t>G2 Pre-pilot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0" y="2194560"/>
            <a:ext cx="8046720" cy="868680"/>
          </a:xfrm>
          <a:prstGeom prst="rect">
            <a:avLst/>
          </a:prstGeom>
          <a:solidFill>
            <a:srgbClr val="EAF4FB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94760" y="2286000"/>
            <a:ext cx="7818120" cy="6858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Segoe UI"/>
              </a:rPr>
              <a:t>Impact assessment signed, controls selected, partner DPA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200400"/>
            <a:ext cx="3200400" cy="868680"/>
          </a:xfrm>
          <a:prstGeom prst="rect">
            <a:avLst/>
          </a:prstGeom>
          <a:solidFill>
            <a:srgbClr val="742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291840"/>
            <a:ext cx="3017520" cy="6858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Segoe UI"/>
              </a:rPr>
              <a:t>G3 Pre-production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0" y="3200400"/>
            <a:ext cx="8046720" cy="868680"/>
          </a:xfrm>
          <a:prstGeom prst="rect">
            <a:avLst/>
          </a:prstGeom>
          <a:solidFill>
            <a:srgbClr val="EAF4FB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94760" y="3291840"/>
            <a:ext cx="7818120" cy="6858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Segoe UI"/>
              </a:rPr>
              <a:t>Eval harness, HITL queue, kill-switch, Purview AI Hub onboarded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206240"/>
            <a:ext cx="3200400" cy="868680"/>
          </a:xfrm>
          <a:prstGeom prst="rect">
            <a:avLst/>
          </a:prstGeom>
          <a:solidFill>
            <a:srgbClr val="742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4297680"/>
            <a:ext cx="3017520" cy="6858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Segoe UI"/>
              </a:rPr>
              <a:t>G4 Attestation (quarterly)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0" y="4206240"/>
            <a:ext cx="8046720" cy="868680"/>
          </a:xfrm>
          <a:prstGeom prst="rect">
            <a:avLst/>
          </a:prstGeom>
          <a:solidFill>
            <a:srgbClr val="EAF4FB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794760" y="4297680"/>
            <a:ext cx="7818120" cy="6858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Segoe UI"/>
              </a:rPr>
              <a:t>Controls re-verified, drift surfaced, AGSA-sample-ready evidence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52160"/>
            <a:ext cx="10972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200" b="0">
                <a:solidFill>
                  <a:srgbClr val="0B1F3A"/>
                </a:solidFill>
                <a:latin typeface="Segoe UI"/>
              </a:rPr>
              <a:t>Full operating manual: AI-CoE-AI-Governance-Playbook.docx + AI-CoE-AI-Impact-Assessment.xlsx.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" y="6556248"/>
            <a:ext cx="11460175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Segoe UI"/>
              </a:rPr>
              <a:t>AI CoE | Governance &amp; RAI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362895" y="6556248"/>
            <a:ext cx="146304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900" b="0">
                <a:solidFill>
                  <a:srgbClr val="50E6FF"/>
                </a:solidFill>
                <a:latin typeface="Segoe UI"/>
              </a:rPr>
              <a:t>Microsoft Confidential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972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Segoe UI"/>
              </a:rPr>
              <a:t>KPI scaffold — what we measure every quarter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97280"/>
            <a:ext cx="5486400" cy="50292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143000"/>
            <a:ext cx="521208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Segoe UI"/>
              </a:rPr>
              <a:t>Adoption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600200"/>
            <a:ext cx="5486400" cy="1828800"/>
          </a:xfrm>
          <a:prstGeom prst="rect">
            <a:avLst/>
          </a:prstGeom>
          <a:solidFill>
            <a:srgbClr val="EA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737360"/>
            <a:ext cx="51206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>
                <a:solidFill>
                  <a:srgbClr val="202020"/>
                </a:solidFill>
                <a:latin typeface="Segoe UI"/>
              </a:rPr>
              <a:t>•  Weekly active users</a:t>
            </a:r>
          </a:p>
          <a:p>
            <a:pPr algn="l">
              <a:spcAft>
                <a:spcPts val="400"/>
              </a:spcAft>
            </a:pPr>
            <a:r>
              <a:rPr sz="1200">
                <a:solidFill>
                  <a:srgbClr val="202020"/>
                </a:solidFill>
                <a:latin typeface="Segoe UI"/>
              </a:rPr>
              <a:t>•  Use-cases in production</a:t>
            </a:r>
          </a:p>
          <a:p>
            <a:pPr algn="l">
              <a:spcAft>
                <a:spcPts val="400"/>
              </a:spcAft>
            </a:pPr>
            <a:r>
              <a:rPr sz="1200">
                <a:solidFill>
                  <a:srgbClr val="202020"/>
                </a:solidFill>
                <a:latin typeface="Segoe UI"/>
              </a:rPr>
              <a:t>•  Champion network coverage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097280"/>
            <a:ext cx="5486400" cy="502920"/>
          </a:xfrm>
          <a:prstGeom prst="rect">
            <a:avLst/>
          </a:prstGeom>
          <a:solidFill>
            <a:srgbClr val="742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1143000"/>
            <a:ext cx="521208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Segoe UI"/>
              </a:rPr>
              <a:t>Value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600200"/>
            <a:ext cx="5486400" cy="1828800"/>
          </a:xfrm>
          <a:prstGeom prst="rect">
            <a:avLst/>
          </a:prstGeom>
          <a:solidFill>
            <a:srgbClr val="EA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1737360"/>
            <a:ext cx="51206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>
                <a:solidFill>
                  <a:srgbClr val="202020"/>
                </a:solidFill>
                <a:latin typeface="Segoe UI"/>
              </a:rPr>
              <a:t>•  FTE-hrs recovered</a:t>
            </a:r>
          </a:p>
          <a:p>
            <a:pPr algn="l">
              <a:spcAft>
                <a:spcPts val="400"/>
              </a:spcAft>
            </a:pPr>
            <a:r>
              <a:rPr sz="1200">
                <a:solidFill>
                  <a:srgbClr val="202020"/>
                </a:solidFill>
                <a:latin typeface="Segoe UI"/>
              </a:rPr>
              <a:t>•  Cost-per-unit decline</a:t>
            </a:r>
          </a:p>
          <a:p>
            <a:pPr algn="l">
              <a:spcAft>
                <a:spcPts val="400"/>
              </a:spcAft>
            </a:pPr>
            <a:r>
              <a:rPr sz="1200">
                <a:solidFill>
                  <a:srgbClr val="202020"/>
                </a:solidFill>
                <a:latin typeface="Segoe UI"/>
              </a:rPr>
              <a:t>•  Cycle-time reduction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566160"/>
            <a:ext cx="5486400" cy="502920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3611880"/>
            <a:ext cx="521208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500" b="1">
                <a:solidFill>
                  <a:srgbClr val="0B1F3A"/>
                </a:solidFill>
                <a:latin typeface="Segoe UI"/>
              </a:rPr>
              <a:t>Risk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069080"/>
            <a:ext cx="5486400" cy="1828800"/>
          </a:xfrm>
          <a:prstGeom prst="rect">
            <a:avLst/>
          </a:prstGeom>
          <a:solidFill>
            <a:srgbClr val="EA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206240"/>
            <a:ext cx="51206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>
                <a:solidFill>
                  <a:srgbClr val="202020"/>
                </a:solidFill>
                <a:latin typeface="Segoe UI"/>
              </a:rPr>
              <a:t>•  Open RAI findings</a:t>
            </a:r>
          </a:p>
          <a:p>
            <a:pPr algn="l">
              <a:spcAft>
                <a:spcPts val="400"/>
              </a:spcAft>
            </a:pPr>
            <a:r>
              <a:rPr sz="1200">
                <a:solidFill>
                  <a:srgbClr val="202020"/>
                </a:solidFill>
                <a:latin typeface="Segoe UI"/>
              </a:rPr>
              <a:t>•  Incident MTTR</a:t>
            </a:r>
          </a:p>
          <a:p>
            <a:pPr algn="l">
              <a:spcAft>
                <a:spcPts val="400"/>
              </a:spcAft>
            </a:pPr>
            <a:r>
              <a:rPr sz="1200">
                <a:solidFill>
                  <a:srgbClr val="202020"/>
                </a:solidFill>
                <a:latin typeface="Segoe UI"/>
              </a:rPr>
              <a:t>•  Audit-sample pass rate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7920" y="3566160"/>
            <a:ext cx="5486400" cy="50292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55080" y="3611880"/>
            <a:ext cx="521208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Segoe UI"/>
              </a:rPr>
              <a:t>Cost / FinOps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7920" y="4069080"/>
            <a:ext cx="5486400" cy="1828800"/>
          </a:xfrm>
          <a:prstGeom prst="rect">
            <a:avLst/>
          </a:prstGeom>
          <a:solidFill>
            <a:srgbClr val="EA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4206240"/>
            <a:ext cx="51206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>
                <a:solidFill>
                  <a:srgbClr val="202020"/>
                </a:solidFill>
                <a:latin typeface="Segoe UI"/>
              </a:rPr>
              <a:t>•  $/query</a:t>
            </a:r>
          </a:p>
          <a:p>
            <a:pPr algn="l">
              <a:spcAft>
                <a:spcPts val="400"/>
              </a:spcAft>
            </a:pPr>
            <a:r>
              <a:rPr sz="1200">
                <a:solidFill>
                  <a:srgbClr val="202020"/>
                </a:solidFill>
                <a:latin typeface="Segoe UI"/>
              </a:rPr>
              <a:t>•  $/user/month</a:t>
            </a:r>
          </a:p>
          <a:p>
            <a:pPr algn="l">
              <a:spcAft>
                <a:spcPts val="400"/>
              </a:spcAft>
            </a:pPr>
            <a:r>
              <a:rPr sz="1200">
                <a:solidFill>
                  <a:srgbClr val="202020"/>
                </a:solidFill>
                <a:latin typeface="Segoe UI"/>
              </a:rPr>
              <a:t>•  Cache-hit &amp; routing efficiency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6556248"/>
            <a:ext cx="11460175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Segoe UI"/>
              </a:rPr>
              <a:t>AI CoE | KPI scaffold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62895" y="6556248"/>
            <a:ext cx="146304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900" b="0">
                <a:solidFill>
                  <a:srgbClr val="50E6FF"/>
                </a:solidFill>
                <a:latin typeface="Segoe UI"/>
              </a:rPr>
              <a:t>Microsoft Confidential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972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Segoe UI"/>
              </a:rPr>
              <a:t>Reference customers — anonymised RSA + global proof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5486400" cy="59436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280160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Segoe UI"/>
              </a:rPr>
              <a:t>Global SI partner — NTT DATA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783080"/>
            <a:ext cx="5486400" cy="1508760"/>
          </a:xfrm>
          <a:prstGeom prst="rect">
            <a:avLst/>
          </a:prstGeom>
          <a:solidFill>
            <a:srgbClr val="EAF4FB"/>
          </a:solidFill>
          <a:ln w="9525">
            <a:solidFill>
              <a:srgbClr val="006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874520"/>
            <a:ext cx="5212080" cy="1371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Segoe UI"/>
              </a:rPr>
              <a:t>Scaled M365 Copilot to 30,000+ knowledge workers; CoE-led adoption playbook.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188720"/>
            <a:ext cx="5486400" cy="59436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1280160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Segoe UI"/>
              </a:rPr>
              <a:t>Global SI partner — Capgemini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783080"/>
            <a:ext cx="5486400" cy="1508760"/>
          </a:xfrm>
          <a:prstGeom prst="rect">
            <a:avLst/>
          </a:prstGeom>
          <a:solidFill>
            <a:srgbClr val="EAF4FB"/>
          </a:solidFill>
          <a:ln w="9525">
            <a:solidFill>
              <a:srgbClr val="006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80" y="1874520"/>
            <a:ext cx="5212080" cy="1371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Segoe UI"/>
              </a:rPr>
              <a:t>Foundry-built agent factory across BFSI clients; MAICPP economics.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474720"/>
            <a:ext cx="5486400" cy="59436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3566160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Segoe UI"/>
              </a:rPr>
              <a:t>RSA tier-1 bank (anonymised)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069080"/>
            <a:ext cx="5486400" cy="1508760"/>
          </a:xfrm>
          <a:prstGeom prst="rect">
            <a:avLst/>
          </a:prstGeom>
          <a:solidFill>
            <a:srgbClr val="EAF4FB"/>
          </a:solidFill>
          <a:ln w="9525">
            <a:solidFill>
              <a:srgbClr val="006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160520"/>
            <a:ext cx="5212080" cy="1371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Segoe UI"/>
              </a:rPr>
              <a:t>Contact-centre agent + KYC DocIntel; AGSA-ready evidence pack.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7920" y="3474720"/>
            <a:ext cx="5486400" cy="59436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55080" y="3566160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Segoe UI"/>
              </a:rPr>
              <a:t>RSA SOE (anonymised)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7920" y="4069080"/>
            <a:ext cx="5486400" cy="1508760"/>
          </a:xfrm>
          <a:prstGeom prst="rect">
            <a:avLst/>
          </a:prstGeom>
          <a:solidFill>
            <a:srgbClr val="EAF4FB"/>
          </a:solidFill>
          <a:ln w="9525">
            <a:solidFill>
              <a:srgbClr val="006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55080" y="4160520"/>
            <a:ext cx="5212080" cy="1371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Segoe UI"/>
              </a:rPr>
              <a:t>Citizen-services agent + PFMA evidence trail; sovereign deployment SA North.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6556248"/>
            <a:ext cx="11460175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Segoe UI"/>
              </a:rPr>
              <a:t>AI CoE | References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62895" y="6556248"/>
            <a:ext cx="146304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900" b="0">
                <a:solidFill>
                  <a:srgbClr val="50E6FF"/>
                </a:solidFill>
                <a:latin typeface="Segoe UI"/>
              </a:rPr>
              <a:t>Microsoft Confidential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972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Segoe UI"/>
              </a:rPr>
              <a:t>Appendix — the 5+1 Pillars as coverage checklist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51560"/>
            <a:ext cx="10972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Segoe UI"/>
              </a:rPr>
              <a:t>Used by the CoE to confirm an engagement covers every pillar. Not used as the customer-facing spine.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554480"/>
            <a:ext cx="365760" cy="54864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554480"/>
            <a:ext cx="36576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600200"/>
            <a:ext cx="36576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>
                <a:solidFill>
                  <a:srgbClr val="0B1F3A"/>
                </a:solidFill>
                <a:latin typeface="Segoe UI"/>
              </a:rPr>
              <a:t>P1 Business Strategy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1600200"/>
            <a:ext cx="73152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Segoe UI"/>
              </a:rPr>
              <a:t>Value hypothesis, sponsor, baseline, target ROI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240280"/>
            <a:ext cx="365760" cy="54864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240280"/>
            <a:ext cx="36576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286000"/>
            <a:ext cx="36576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>
                <a:solidFill>
                  <a:srgbClr val="0B1F3A"/>
                </a:solidFill>
                <a:latin typeface="Segoe UI"/>
              </a:rPr>
              <a:t>P2 Org &amp; Culture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2286000"/>
            <a:ext cx="73152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Segoe UI"/>
              </a:rPr>
              <a:t>Champion network, change-mgmt, role-based skilling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926080"/>
            <a:ext cx="365760" cy="54864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926080"/>
            <a:ext cx="36576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2971800"/>
            <a:ext cx="36576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>
                <a:solidFill>
                  <a:srgbClr val="0B1F3A"/>
                </a:solidFill>
                <a:latin typeface="Segoe UI"/>
              </a:rPr>
              <a:t>P3 AI Strategy &amp; Experience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971800"/>
            <a:ext cx="73152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Segoe UI"/>
              </a:rPr>
              <a:t>Surface choice, agent patterns, user-experience standards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611880"/>
            <a:ext cx="365760" cy="54864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3611880"/>
            <a:ext cx="36576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3657600"/>
            <a:ext cx="36576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>
                <a:solidFill>
                  <a:srgbClr val="0B1F3A"/>
                </a:solidFill>
                <a:latin typeface="Segoe UI"/>
              </a:rPr>
              <a:t>P4 Tech &amp; Data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3657600"/>
            <a:ext cx="73152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Segoe UI"/>
              </a:rPr>
              <a:t>Landing zone, grounding data, integration, FinOps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297680"/>
            <a:ext cx="365760" cy="54864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297680"/>
            <a:ext cx="36576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4343400"/>
            <a:ext cx="36576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>
                <a:solidFill>
                  <a:srgbClr val="0B1F3A"/>
                </a:solidFill>
                <a:latin typeface="Segoe UI"/>
              </a:rPr>
              <a:t>P5 Governance &amp; Security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4343400"/>
            <a:ext cx="73152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Segoe UI"/>
              </a:rPr>
              <a:t>Four gates, RAI controls, attestation cadence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983480"/>
            <a:ext cx="365760" cy="54864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4983480"/>
            <a:ext cx="36576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029200"/>
            <a:ext cx="36576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>
                <a:solidFill>
                  <a:srgbClr val="0B1F3A"/>
                </a:solidFill>
                <a:latin typeface="Segoe UI"/>
              </a:rPr>
              <a:t>P+1 Co-sell &amp; Partner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5029200"/>
            <a:ext cx="73152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Segoe UI"/>
              </a:rPr>
              <a:t>MAICPP partner alignment, joint GTM, hand-off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5760" y="6556248"/>
            <a:ext cx="11460175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Segoe UI"/>
              </a:rPr>
              <a:t>AI CoE | Pillars coverage checklist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362895" y="6556248"/>
            <a:ext cx="146304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900" b="0">
                <a:solidFill>
                  <a:srgbClr val="50E6FF"/>
                </a:solidFill>
                <a:latin typeface="Segoe UI"/>
              </a:rPr>
              <a:t>Microsoft Confidential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972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Segoe UI"/>
              </a:rPr>
              <a:t>Appendix — 3-tier CoE Ladder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80160"/>
            <a:ext cx="3017520" cy="128016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2834640" cy="10972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Segoe UI"/>
              </a:rPr>
              <a:t>T1 Foundational</a:t>
            </a:r>
          </a:p>
        </p:txBody>
      </p:sp>
      <p:sp>
        <p:nvSpPr>
          <p:cNvPr id="7" name="Rectangle 6"/>
          <p:cNvSpPr/>
          <p:nvPr/>
        </p:nvSpPr>
        <p:spPr>
          <a:xfrm>
            <a:off x="3474720" y="1280160"/>
            <a:ext cx="8229600" cy="1280160"/>
          </a:xfrm>
          <a:prstGeom prst="rect">
            <a:avLst/>
          </a:prstGeom>
          <a:solidFill>
            <a:srgbClr val="EAF4FB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11880" y="1417320"/>
            <a:ext cx="7955279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0">
                <a:solidFill>
                  <a:srgbClr val="202020"/>
                </a:solidFill>
                <a:latin typeface="Segoe UI"/>
              </a:rPr>
              <a:t>Landing zone, governance baseline, first M365 SOE cohort, first agent. 0–6 months.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834639"/>
            <a:ext cx="3017520" cy="1280160"/>
          </a:xfrm>
          <a:prstGeom prst="rect">
            <a:avLst/>
          </a:prstGeom>
          <a:solidFill>
            <a:srgbClr val="742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926079"/>
            <a:ext cx="2834640" cy="10972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Segoe UI"/>
              </a:rPr>
              <a:t>T2 Scaling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74720" y="2834639"/>
            <a:ext cx="8229600" cy="1280160"/>
          </a:xfrm>
          <a:prstGeom prst="rect">
            <a:avLst/>
          </a:prstGeom>
          <a:solidFill>
            <a:srgbClr val="EAF4FB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11880" y="2971799"/>
            <a:ext cx="7955279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0">
                <a:solidFill>
                  <a:srgbClr val="202020"/>
                </a:solidFill>
                <a:latin typeface="Segoe UI"/>
              </a:rPr>
              <a:t>Multi-surface agents in production, partner build-run live, factory rhythm established. 6–18 months.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389120"/>
            <a:ext cx="3017520" cy="1280160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4480560"/>
            <a:ext cx="2834640" cy="10972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00" b="1">
                <a:solidFill>
                  <a:srgbClr val="0B1F3A"/>
                </a:solidFill>
                <a:latin typeface="Segoe UI"/>
              </a:rPr>
              <a:t>T3 Industrialised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74720" y="4389120"/>
            <a:ext cx="8229600" cy="1280160"/>
          </a:xfrm>
          <a:prstGeom prst="rect">
            <a:avLst/>
          </a:prstGeom>
          <a:solidFill>
            <a:srgbClr val="EAF4FB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11880" y="4526280"/>
            <a:ext cx="7955279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0">
                <a:solidFill>
                  <a:srgbClr val="202020"/>
                </a:solidFill>
                <a:latin typeface="Segoe UI"/>
              </a:rPr>
              <a:t>AI capability is a P&amp;L line; FinOps mature; sovereign posture; quarterly attestation routine. 18+ months.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94360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200" b="0">
                <a:solidFill>
                  <a:srgbClr val="0B1F3A"/>
                </a:solidFill>
                <a:latin typeface="Segoe UI"/>
              </a:rPr>
              <a:t>Climb only as far as the customer's value hypothesis justifies. T3 is not the default goal.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6556248"/>
            <a:ext cx="11460175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Segoe UI"/>
              </a:rPr>
              <a:t>AI CoE | CoE ladder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62895" y="6556248"/>
            <a:ext cx="146304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900" b="0">
                <a:solidFill>
                  <a:srgbClr val="50E6FF"/>
                </a:solidFill>
                <a:latin typeface="Segoe UI"/>
              </a:rPr>
              <a:t>Microsoft Confidential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972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Segoe UI"/>
              </a:rPr>
              <a:t>Appendix — industry vertical briefings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10972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202020"/>
                </a:solidFill>
                <a:latin typeface="Segoe UI"/>
              </a:rPr>
              <a:t>Six sector-tailored 9-slide briefings, each naming regulators, top 3 use-cases, anonymised RSA reference, ATO sizing: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828800"/>
            <a:ext cx="640080" cy="91440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828800"/>
            <a:ext cx="640080" cy="9144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Segoe UI"/>
              </a:rPr>
              <a:t>▸</a:t>
            </a:r>
          </a:p>
        </p:txBody>
      </p:sp>
      <p:sp>
        <p:nvSpPr>
          <p:cNvPr id="8" name="Rectangle 7"/>
          <p:cNvSpPr/>
          <p:nvPr/>
        </p:nvSpPr>
        <p:spPr>
          <a:xfrm>
            <a:off x="1097280" y="1828800"/>
            <a:ext cx="4846320" cy="914400"/>
          </a:xfrm>
          <a:prstGeom prst="rect">
            <a:avLst/>
          </a:prstGeom>
          <a:solidFill>
            <a:srgbClr val="EAF4FB"/>
          </a:solidFill>
          <a:ln w="9525">
            <a:solidFill>
              <a:srgbClr val="006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34440" y="1965960"/>
            <a:ext cx="457200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>
                <a:solidFill>
                  <a:srgbClr val="0B1F3A"/>
                </a:solidFill>
                <a:latin typeface="Segoe UI"/>
              </a:rPr>
              <a:t>Banking &amp; Insurance (SARB · FSCA · PA · FAIS · FICA)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828800"/>
            <a:ext cx="640080" cy="91440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0" y="1828800"/>
            <a:ext cx="640080" cy="9144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Segoe UI"/>
              </a:rPr>
              <a:t>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0" y="1828800"/>
            <a:ext cx="4846320" cy="914400"/>
          </a:xfrm>
          <a:prstGeom prst="rect">
            <a:avLst/>
          </a:prstGeom>
          <a:solidFill>
            <a:srgbClr val="EAF4FB"/>
          </a:solidFill>
          <a:ln w="9525">
            <a:solidFill>
              <a:srgbClr val="006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95160" y="1965960"/>
            <a:ext cx="457200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>
                <a:solidFill>
                  <a:srgbClr val="0B1F3A"/>
                </a:solidFill>
                <a:latin typeface="Segoe UI"/>
              </a:rPr>
              <a:t>Retail (POPIA · PCI-DSS · CPA · NCA)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017520"/>
            <a:ext cx="640080" cy="91440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3017520"/>
            <a:ext cx="640080" cy="9144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Segoe UI"/>
              </a:rPr>
              <a:t>▸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7280" y="3017520"/>
            <a:ext cx="4846320" cy="914400"/>
          </a:xfrm>
          <a:prstGeom prst="rect">
            <a:avLst/>
          </a:prstGeom>
          <a:solidFill>
            <a:srgbClr val="EAF4FB"/>
          </a:solidFill>
          <a:ln w="9525">
            <a:solidFill>
              <a:srgbClr val="006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4440" y="3154680"/>
            <a:ext cx="457200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>
                <a:solidFill>
                  <a:srgbClr val="0B1F3A"/>
                </a:solidFill>
                <a:latin typeface="Segoe UI"/>
              </a:rPr>
              <a:t>Telco (ICASA · RICA · POPIA)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17920" y="3017520"/>
            <a:ext cx="640080" cy="91440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17920" y="3017520"/>
            <a:ext cx="640080" cy="9144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Segoe UI"/>
              </a:rPr>
              <a:t>▸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0" y="3017520"/>
            <a:ext cx="4846320" cy="914400"/>
          </a:xfrm>
          <a:prstGeom prst="rect">
            <a:avLst/>
          </a:prstGeom>
          <a:solidFill>
            <a:srgbClr val="EAF4FB"/>
          </a:solidFill>
          <a:ln w="9525">
            <a:solidFill>
              <a:srgbClr val="006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95160" y="3154680"/>
            <a:ext cx="457200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>
                <a:solidFill>
                  <a:srgbClr val="0B1F3A"/>
                </a:solidFill>
                <a:latin typeface="Segoe UI"/>
              </a:rPr>
              <a:t>Mining (DMRE · MHSA · DFFE · NEMA)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206240"/>
            <a:ext cx="640080" cy="91440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206240"/>
            <a:ext cx="640080" cy="9144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Segoe UI"/>
              </a:rPr>
              <a:t>▸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97280" y="4206240"/>
            <a:ext cx="4846320" cy="914400"/>
          </a:xfrm>
          <a:prstGeom prst="rect">
            <a:avLst/>
          </a:prstGeom>
          <a:solidFill>
            <a:srgbClr val="EAF4FB"/>
          </a:solidFill>
          <a:ln w="9525">
            <a:solidFill>
              <a:srgbClr val="006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4440" y="4343400"/>
            <a:ext cx="457200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>
                <a:solidFill>
                  <a:srgbClr val="0B1F3A"/>
                </a:solidFill>
                <a:latin typeface="Segoe UI"/>
              </a:rPr>
              <a:t>Public Sector / SOE (PFMA · MFMA · AGSA · SITA)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17920" y="4206240"/>
            <a:ext cx="640080" cy="91440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17920" y="4206240"/>
            <a:ext cx="640080" cy="9144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Segoe UI"/>
              </a:rPr>
              <a:t>▸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58000" y="4206240"/>
            <a:ext cx="4846320" cy="914400"/>
          </a:xfrm>
          <a:prstGeom prst="rect">
            <a:avLst/>
          </a:prstGeom>
          <a:solidFill>
            <a:srgbClr val="EAF4FB"/>
          </a:solidFill>
          <a:ln w="9525">
            <a:solidFill>
              <a:srgbClr val="006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95160" y="4343400"/>
            <a:ext cx="457200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>
                <a:solidFill>
                  <a:srgbClr val="0B1F3A"/>
                </a:solidFill>
                <a:latin typeface="Segoe UI"/>
              </a:rPr>
              <a:t>Healthcare (HPCSA · CMS · NHI · SAHPRA)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594360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0">
                <a:solidFill>
                  <a:srgbClr val="595959"/>
                </a:solidFill>
                <a:latin typeface="Segoe UI"/>
              </a:rPr>
              <a:t>Files: AI-CoE-Sector-Briefing-{Banking-Insurance | Retail | Telco | Mining | Public-Sector | Healthcare}.pptx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5760" y="6556248"/>
            <a:ext cx="11460175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Segoe UI"/>
              </a:rPr>
              <a:t>AI CoE | Verticals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362895" y="6556248"/>
            <a:ext cx="146304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900" b="0">
                <a:solidFill>
                  <a:srgbClr val="50E6FF"/>
                </a:solidFill>
                <a:latin typeface="Segoe UI"/>
              </a:rPr>
              <a:t>Microsoft Confidential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972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Segoe UI"/>
              </a:rPr>
              <a:t>Appendix — commercial archetypes (risk-share &amp; outcome-based)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3200400" cy="868680"/>
          </a:xfrm>
          <a:prstGeom prst="rect">
            <a:avLst/>
          </a:prstGeom>
          <a:solidFill>
            <a:srgbClr val="742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3017520" cy="6858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Segoe UI"/>
              </a:rPr>
              <a:t>Per-resolved-case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0" y="1188720"/>
            <a:ext cx="8046720" cy="868680"/>
          </a:xfrm>
          <a:prstGeom prst="rect">
            <a:avLst/>
          </a:prstGeom>
          <a:solidFill>
            <a:srgbClr val="EAF4FB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794760" y="1280160"/>
            <a:ext cx="7818120" cy="6858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Segoe UI"/>
              </a:rPr>
              <a:t>Service desk, claims, complaints. Unit price per case to SLA.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194560"/>
            <a:ext cx="3200400" cy="868680"/>
          </a:xfrm>
          <a:prstGeom prst="rect">
            <a:avLst/>
          </a:prstGeom>
          <a:solidFill>
            <a:srgbClr val="742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286000"/>
            <a:ext cx="3017520" cy="6858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Segoe UI"/>
              </a:rPr>
              <a:t>Per-document-processed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0" y="2194560"/>
            <a:ext cx="8046720" cy="868680"/>
          </a:xfrm>
          <a:prstGeom prst="rect">
            <a:avLst/>
          </a:prstGeom>
          <a:solidFill>
            <a:srgbClr val="EAF4FB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94760" y="2286000"/>
            <a:ext cx="7818120" cy="6858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Segoe UI"/>
              </a:rPr>
              <a:t>KYC, permits, contracts. Unit price per document, auditor sample.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200400"/>
            <a:ext cx="3200400" cy="868680"/>
          </a:xfrm>
          <a:prstGeom prst="rect">
            <a:avLst/>
          </a:prstGeom>
          <a:solidFill>
            <a:srgbClr val="742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291840"/>
            <a:ext cx="3017520" cy="6858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Segoe UI"/>
              </a:rPr>
              <a:t>Per-hour-recovered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0" y="3200400"/>
            <a:ext cx="8046720" cy="868680"/>
          </a:xfrm>
          <a:prstGeom prst="rect">
            <a:avLst/>
          </a:prstGeom>
          <a:solidFill>
            <a:srgbClr val="EAF4FB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94760" y="3291840"/>
            <a:ext cx="7818120" cy="6858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Segoe UI"/>
              </a:rPr>
              <a:t>Copilot adoption. Fee tied to T&amp;M-measured FTE-hour recovery.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206240"/>
            <a:ext cx="3200400" cy="868680"/>
          </a:xfrm>
          <a:prstGeom prst="rect">
            <a:avLst/>
          </a:prstGeom>
          <a:solidFill>
            <a:srgbClr val="742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4297680"/>
            <a:ext cx="3017520" cy="6858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Segoe UI"/>
              </a:rPr>
              <a:t>Gain-share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0" y="4206240"/>
            <a:ext cx="8046720" cy="868680"/>
          </a:xfrm>
          <a:prstGeom prst="rect">
            <a:avLst/>
          </a:prstGeom>
          <a:solidFill>
            <a:srgbClr val="EAF4FB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794760" y="4297680"/>
            <a:ext cx="7818120" cy="6858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Segoe UI"/>
              </a:rPr>
              <a:t>% of audited P&amp;L uplift. CFO + Internal Audit + Legal sign-off.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52160"/>
            <a:ext cx="10972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200" b="0">
                <a:solidFill>
                  <a:srgbClr val="0B1F3A"/>
                </a:solidFill>
                <a:latin typeface="Segoe UI"/>
              </a:rPr>
              <a:t>Full archetype detail: AI-CoE-Operating-Playbook-Addendum.docx.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" y="6556248"/>
            <a:ext cx="11460175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Segoe UI"/>
              </a:rPr>
              <a:t>AI CoE | Commercial archetypes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362895" y="6556248"/>
            <a:ext cx="146304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900" b="0">
                <a:solidFill>
                  <a:srgbClr val="50E6FF"/>
                </a:solidFill>
                <a:latin typeface="Segoe UI"/>
              </a:rPr>
              <a:t>Microsoft Confidential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Linked artefacts — the pack at a glance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2560320" cy="64008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23774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Segoe UI"/>
              </a:rPr>
              <a:t>Customer-facing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3017520" y="1371600"/>
            <a:ext cx="8686800" cy="640080"/>
          </a:xfrm>
          <a:prstGeom prst="rect">
            <a:avLst/>
          </a:prstGeom>
          <a:solidFill>
            <a:srgbClr val="EAF4FB"/>
          </a:solidFill>
          <a:ln w="9525">
            <a:solidFill>
              <a:srgbClr val="006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54680" y="1463040"/>
            <a:ext cx="841248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>
                <a:solidFill>
                  <a:srgbClr val="0B1F3A"/>
                </a:solidFill>
                <a:latin typeface="Segoe UI"/>
              </a:rPr>
              <a:t>Customer-Pitch · Pitch-Deck · Executive-OnePager · Horizon-Assessment · Sovereign-AI-RSA · Sector briefings (×6)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103120"/>
            <a:ext cx="2560320" cy="64008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194560"/>
            <a:ext cx="23774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Segoe UI"/>
              </a:rPr>
              <a:t>Governance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3017520" y="2103120"/>
            <a:ext cx="8686800" cy="640080"/>
          </a:xfrm>
          <a:prstGeom prst="rect">
            <a:avLst/>
          </a:prstGeom>
          <a:solidFill>
            <a:srgbClr val="EAF4FB"/>
          </a:solidFill>
          <a:ln w="9525">
            <a:solidFill>
              <a:srgbClr val="006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54680" y="2194560"/>
            <a:ext cx="841248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>
                <a:solidFill>
                  <a:srgbClr val="0B1F3A"/>
                </a:solidFill>
                <a:latin typeface="Segoe UI"/>
              </a:rPr>
              <a:t>AI-Impact-Assessment.xlsx · AI-Governance-Playbook.docx · Academy-Curriculum.xlsx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834640"/>
            <a:ext cx="2560320" cy="64008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2926080"/>
            <a:ext cx="23774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Segoe UI"/>
              </a:rPr>
              <a:t>Internal delivery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17520" y="2834640"/>
            <a:ext cx="8686800" cy="640080"/>
          </a:xfrm>
          <a:prstGeom prst="rect">
            <a:avLst/>
          </a:prstGeom>
          <a:solidFill>
            <a:srgbClr val="EAF4FB"/>
          </a:solidFill>
          <a:ln w="9525">
            <a:solidFill>
              <a:srgbClr val="006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154680" y="2926080"/>
            <a:ext cx="841248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>
                <a:solidFill>
                  <a:srgbClr val="0B1F3A"/>
                </a:solidFill>
                <a:latin typeface="Segoe UI"/>
              </a:rPr>
              <a:t>Operating-Playbook (+ Addendum) · Delivery-RACI · FY27-Launch-Plan · How-To-Use · VBD-Reference-Deck · Objection-Handling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566160"/>
            <a:ext cx="2560320" cy="64008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3657600"/>
            <a:ext cx="23774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Segoe UI"/>
              </a:rPr>
              <a:t>Economics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017520" y="3566160"/>
            <a:ext cx="8686800" cy="640080"/>
          </a:xfrm>
          <a:prstGeom prst="rect">
            <a:avLst/>
          </a:prstGeom>
          <a:solidFill>
            <a:srgbClr val="EAF4FB"/>
          </a:solidFill>
          <a:ln w="9525">
            <a:solidFill>
              <a:srgbClr val="006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154680" y="3657600"/>
            <a:ext cx="841248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>
                <a:solidFill>
                  <a:srgbClr val="0B1F3A"/>
                </a:solidFill>
                <a:latin typeface="Segoe UI"/>
              </a:rPr>
              <a:t>AI-TCO-Calculator.xlsx · Partner-Scorecard.xlsx · ATO economics slide (deck 5)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297680"/>
            <a:ext cx="2560320" cy="64008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4389120"/>
            <a:ext cx="23774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Segoe UI"/>
              </a:rPr>
              <a:t>Partner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017520" y="4297680"/>
            <a:ext cx="8686800" cy="640080"/>
          </a:xfrm>
          <a:prstGeom prst="rect">
            <a:avLst/>
          </a:prstGeom>
          <a:solidFill>
            <a:srgbClr val="EAF4FB"/>
          </a:solidFill>
          <a:ln w="9525">
            <a:solidFill>
              <a:srgbClr val="006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154680" y="4389120"/>
            <a:ext cx="841248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>
                <a:solidFill>
                  <a:srgbClr val="0B1F3A"/>
                </a:solidFill>
                <a:latin typeface="Segoe UI"/>
              </a:rPr>
              <a:t>Partner-Recruitment-Kit · Partner-Scorecard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5029200"/>
            <a:ext cx="2560320" cy="64008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5120640"/>
            <a:ext cx="23774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Segoe UI"/>
              </a:rPr>
              <a:t>Accelerators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017520" y="5029200"/>
            <a:ext cx="8686800" cy="640080"/>
          </a:xfrm>
          <a:prstGeom prst="rect">
            <a:avLst/>
          </a:prstGeom>
          <a:solidFill>
            <a:srgbClr val="EAF4FB"/>
          </a:solidFill>
          <a:ln w="9525">
            <a:solidFill>
              <a:srgbClr val="006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154680" y="5120640"/>
            <a:ext cx="841248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>
                <a:solidFill>
                  <a:srgbClr val="0B1F3A"/>
                </a:solidFill>
                <a:latin typeface="Segoe UI"/>
              </a:rPr>
              <a:t>ACC-1 Banking CX · ACC-2 POPIA LZ · ACC-3 SOE Copilot · ACC-4 Regulated Pilot · ACC-5 DocIntel+Foundry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