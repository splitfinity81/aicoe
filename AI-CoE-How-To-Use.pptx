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98" d="100"/>
          <a:sy n="98" d="100"/>
        </p:scale>
        <p:origin x="82" y="-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7105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field-facing how-to deck. Audience: CSAs, ATU/STU/EPS counterparts, Anchor Partner delivery leads.
Framing: the pitch deck sells the offering. This deck shows you how to run it. Walk through it once when you join the motion; refer back as you move from qualification to scale.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expectations. The deck is sequenced like a delivery — Step 1 (qualify) through Step 8 (federate). You don't have to do every step on every account, but you do them in order.
If a customer is already mid-flight (e.g., already in production with one agent), drop in at the right step rather than restarting.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60-second recap. Do not deep-dive — anyone in the room who needs the full pitch should read the pitch deck. Anchor on three things: 5+1 pillars, two streams, ATO funding.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step. A CoE on a customer that isn't ready burns CSA cycles and partner goodwill.
Three disqualifiers: no named exec sponsor, no data foundation conversation possible, no AI use-case backlog. If any of those is true, run a Solution Assessment first — not a CoE.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customers enter through one surface and discover the others later. Lead with where the customer is — never with where Microsoft wants them to be.
If the customer just bought M365 Copilot seats — start at A. If they're trying to automate a finance workflow — start at B. If they have a dev team building something custom — start at C.
The CoE covers all three. The question is sequencing.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to make in Stage 1:
1. Which Tier? (1 Envision, 2 Build, 3 Managed Run)
2. Which ATO component? (C1 Journey, C2 Foundation, C3 Agent Factory)
3. Who delivers? (Partner-led default, or ISD Model A/B/C if regulated/sovereign)
Name the choice in the account plan before Stage 3. Improvising mid-delivery causes channel conflict.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1 / Tier 1 Envisioning. Up to $50k pre-sales ECIF, 1:5 ROI gate.
Three-day workshop is the standard. Outputs: CoE charter, prioritised use-case backlog, Horizon 0–3 maturity baseline, exec sponsor signed.
Do not skip the maturity assessment. It's the artefact you'll come back to in every QBR.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2 / Tier 2 first half. Landing zone, governance ratification, first pilot to production.
Gate to advance: Responsible AI standard ratified, AI landing zone deployed, one pilot live with named business owner.
This is also the gate for the post-sales ECIF/ACO envelope to unlock — AI Foundry plus Fabric or Databases attach.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 Component 3. The repeatable build engine — GenAIOps, agentic solution co-build, optimisation.
At this point the CoE has stood up. C3 turns it into a factory. 7–9 weeks per agent, but the same pattern repeats.
If the customer can't name three more use cases, you don't have a factory — you have one pilot. Pause and re-prioritise the backlog.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Stage 4. This is where ACR compounds. Where the CSA earns the renewal.
Value Realisation Dashboard in Power BI, refreshed monthly, presented at every steerco. Tied to the metrics the customer signed at Stage 3.
If you can't show value in dashboards, the customer will assume there isn't any — even when there 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MCEM Stage 5. The CoE moves from a central team to a federated operating model — domain CoEs in finance, ops, customer service.
This is the renewal conversation. Frontier Firm E7 step-up lives here. Multi-year ACR commitments live here.
Do not start federating before there are at least three production agents. Premature federation creates governance vacuums.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together with the playbook RACI. The RACI is exhaustive; this slide is the field shorthand.
Key reminders:
• ATU holds the budget conversation
• STU is the technical co-design partner
• CSU CSA owns Stage 4 — full stop
• EPS PDM primes partner lifecycle, not the CSA
• ISD only when the model says ISD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funding instrument to the stage:
• Stage 1–2: ECIF pre-sales (up to $50k)
• Stage 2–4: ECIF + ACO post-sales (up to $1M envelope)
• Stage 3–4: AMM for Azure migration workloads
• Across: MAICPP for partner co-investment
Do not stack funding instruments without naming the gate. Compliance reviews catch this.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patterns we've seen succeed and fail. Read them once, then come back when something feels off.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artefact pack is everything you need to run the offering. If something isn't in the pack, you don't need it for delivery.
The playbook is the source of truth. The pitch deck is for selling. The one-pager is for the CIO inbox. The partner kit is for the Anchor onboarding session. The FY27 plan is for Area leadership.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Pin it above your desk.
Three questions answer 80% of 'what do I do next' situations.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you've just been assigned a CoE account, this is the playbook for the first 30 days. Compress where you can — but don't skip the readiness scorecard.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support model. Do not let the room leave without knowing where to ask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657509"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502920"/>
            <a:ext cx="457200" cy="457200"/>
          </a:xfrm>
          <a:prstGeom prst="rect">
            <a:avLst/>
          </a:prstGeom>
        </p:spPr>
      </p:pic>
      <p:sp>
        <p:nvSpPr>
          <p:cNvPr id="5" name="Text 2"/>
          <p:cNvSpPr/>
          <p:nvPr/>
        </p:nvSpPr>
        <p:spPr>
          <a:xfrm>
            <a:off x="1371600" y="50292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143000"/>
            <a:ext cx="100584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FIELD GUIDE  ·  MCAPS + PARTNERS</a:t>
            </a:r>
            <a:endParaRPr lang="en-US" sz="1200" dirty="0"/>
          </a:p>
        </p:txBody>
      </p:sp>
      <p:sp>
        <p:nvSpPr>
          <p:cNvPr id="7" name="Text 4"/>
          <p:cNvSpPr/>
          <p:nvPr/>
        </p:nvSpPr>
        <p:spPr>
          <a:xfrm>
            <a:off x="822960" y="1645920"/>
            <a:ext cx="10515600" cy="1280160"/>
          </a:xfrm>
          <a:prstGeom prst="rect">
            <a:avLst/>
          </a:prstGeom>
          <a:noFill/>
          <a:ln/>
        </p:spPr>
        <p:txBody>
          <a:bodyPr wrap="square" rtlCol="0" anchor="ctr"/>
          <a:lstStyle/>
          <a:p>
            <a:pPr marL="0" indent="0">
              <a:buNone/>
            </a:pPr>
            <a:r>
              <a:rPr lang="en-US" sz="5000" b="1" dirty="0">
                <a:solidFill>
                  <a:srgbClr val="FFFFFF"/>
                </a:solidFill>
                <a:latin typeface="Segoe UI" pitchFamily="34" charset="0"/>
                <a:ea typeface="Segoe UI" pitchFamily="34" charset="-122"/>
                <a:cs typeface="Segoe UI" pitchFamily="34" charset="-120"/>
              </a:rPr>
              <a:t>How to Use the AI CoE Offering</a:t>
            </a:r>
            <a:endParaRPr lang="en-US" sz="5000" dirty="0"/>
          </a:p>
        </p:txBody>
      </p:sp>
      <p:sp>
        <p:nvSpPr>
          <p:cNvPr id="8" name="Text 5"/>
          <p:cNvSpPr/>
          <p:nvPr/>
        </p:nvSpPr>
        <p:spPr>
          <a:xfrm>
            <a:off x="822960" y="3017520"/>
            <a:ext cx="10058400" cy="731520"/>
          </a:xfrm>
          <a:prstGeom prst="rect">
            <a:avLst/>
          </a:prstGeom>
          <a:noFill/>
          <a:ln/>
        </p:spPr>
        <p:txBody>
          <a:bodyPr wrap="square" rtlCol="0" anchor="ctr"/>
          <a:lstStyle/>
          <a:p>
            <a:pPr marL="0" indent="0">
              <a:buNone/>
            </a:pPr>
            <a:r>
              <a:rPr lang="en-US" sz="2200" i="1" dirty="0">
                <a:solidFill>
                  <a:srgbClr val="F5E6F0"/>
                </a:solidFill>
                <a:latin typeface="Segoe UI" pitchFamily="34" charset="0"/>
                <a:ea typeface="Segoe UI" pitchFamily="34" charset="-122"/>
                <a:cs typeface="Segoe UI" pitchFamily="34" charset="-120"/>
              </a:rPr>
              <a:t>From qualification to scale — the operating manual for delivery</a:t>
            </a:r>
            <a:endParaRPr lang="en-US" sz="2200" dirty="0"/>
          </a:p>
        </p:txBody>
      </p:sp>
      <p:sp>
        <p:nvSpPr>
          <p:cNvPr id="9" name="Text 6"/>
          <p:cNvSpPr/>
          <p:nvPr/>
        </p:nvSpPr>
        <p:spPr>
          <a:xfrm>
            <a:off x="822960" y="3931920"/>
            <a:ext cx="10058400" cy="457200"/>
          </a:xfrm>
          <a:prstGeom prst="rect">
            <a:avLst/>
          </a:prstGeom>
          <a:noFill/>
          <a:ln/>
        </p:spPr>
        <p:txBody>
          <a:bodyPr wrap="square" rtlCol="0" anchor="ctr"/>
          <a:lstStyle/>
          <a:p>
            <a:pPr marL="0" indent="0">
              <a:buNone/>
            </a:pPr>
            <a:r>
              <a:rPr lang="en-US" sz="1600" dirty="0">
                <a:solidFill>
                  <a:srgbClr val="B8C5DB"/>
                </a:solidFill>
                <a:latin typeface="Segoe UI" pitchFamily="34" charset="0"/>
                <a:ea typeface="Segoe UI" pitchFamily="34" charset="-122"/>
                <a:cs typeface="Segoe UI" pitchFamily="34" charset="-120"/>
              </a:rPr>
              <a:t>Read this once before your first engagement. Refer back when you need it.</a:t>
            </a:r>
            <a:endParaRPr lang="en-US" sz="1600" dirty="0"/>
          </a:p>
        </p:txBody>
      </p:sp>
      <p:sp>
        <p:nvSpPr>
          <p:cNvPr id="10" name="Text 7"/>
          <p:cNvSpPr/>
          <p:nvPr/>
        </p:nvSpPr>
        <p:spPr>
          <a:xfrm>
            <a:off x="822960" y="5486400"/>
            <a:ext cx="73152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Yuri Baijnath  ·  SR CSA Manager  ·  MCAPS RSA CSU</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Microsoft South Africa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ORIENTATION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How to read this deck</a:t>
            </a:r>
            <a:endParaRPr lang="en-US" sz="30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WHO IT'S FOR</a:t>
            </a:r>
            <a:endParaRPr lang="en-US" sz="1100" dirty="0"/>
          </a:p>
        </p:txBody>
      </p:sp>
      <p:sp>
        <p:nvSpPr>
          <p:cNvPr id="7" name="Shape 5"/>
          <p:cNvSpPr/>
          <p:nvPr/>
        </p:nvSpPr>
        <p:spPr>
          <a:xfrm>
            <a:off x="868680" y="2514600"/>
            <a:ext cx="164592" cy="164592"/>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1143000" y="2423160"/>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CSAs (CSU)</a:t>
            </a:r>
            <a:endParaRPr lang="en-US" sz="1300" dirty="0"/>
          </a:p>
        </p:txBody>
      </p:sp>
      <p:sp>
        <p:nvSpPr>
          <p:cNvPr id="9" name="Text 7"/>
          <p:cNvSpPr/>
          <p:nvPr/>
        </p:nvSpPr>
        <p:spPr>
          <a:xfrm>
            <a:off x="3017520" y="2423160"/>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Your delivery manual — Stage 3 to Stage 5</a:t>
            </a:r>
            <a:endParaRPr lang="en-US" sz="1100" dirty="0"/>
          </a:p>
        </p:txBody>
      </p:sp>
      <p:sp>
        <p:nvSpPr>
          <p:cNvPr id="10" name="Shape 8"/>
          <p:cNvSpPr/>
          <p:nvPr/>
        </p:nvSpPr>
        <p:spPr>
          <a:xfrm>
            <a:off x="868680" y="3081528"/>
            <a:ext cx="164592" cy="164592"/>
          </a:xfrm>
          <a:prstGeom prst="ellipse">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1143000" y="2990088"/>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ATU AE / ATS</a:t>
            </a:r>
            <a:endParaRPr lang="en-US" sz="1300" dirty="0"/>
          </a:p>
        </p:txBody>
      </p:sp>
      <p:sp>
        <p:nvSpPr>
          <p:cNvPr id="12" name="Text 10"/>
          <p:cNvSpPr/>
          <p:nvPr/>
        </p:nvSpPr>
        <p:spPr>
          <a:xfrm>
            <a:off x="3017520" y="2990088"/>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Qualify, fund, and renew CoE accounts</a:t>
            </a:r>
            <a:endParaRPr lang="en-US" sz="1100" dirty="0"/>
          </a:p>
        </p:txBody>
      </p:sp>
      <p:sp>
        <p:nvSpPr>
          <p:cNvPr id="13" name="Shape 11"/>
          <p:cNvSpPr/>
          <p:nvPr/>
        </p:nvSpPr>
        <p:spPr>
          <a:xfrm>
            <a:off x="868680" y="3648456"/>
            <a:ext cx="164592" cy="164592"/>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1143000" y="3557016"/>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STU Specialists</a:t>
            </a:r>
            <a:endParaRPr lang="en-US" sz="1300" dirty="0"/>
          </a:p>
        </p:txBody>
      </p:sp>
      <p:sp>
        <p:nvSpPr>
          <p:cNvPr id="15" name="Text 13"/>
          <p:cNvSpPr/>
          <p:nvPr/>
        </p:nvSpPr>
        <p:spPr>
          <a:xfrm>
            <a:off x="3017520" y="3557016"/>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Co-design the blueprint at envisioning</a:t>
            </a:r>
            <a:endParaRPr lang="en-US" sz="1100" dirty="0"/>
          </a:p>
        </p:txBody>
      </p:sp>
      <p:sp>
        <p:nvSpPr>
          <p:cNvPr id="16" name="Shape 14"/>
          <p:cNvSpPr/>
          <p:nvPr/>
        </p:nvSpPr>
        <p:spPr>
          <a:xfrm>
            <a:off x="868680" y="4215384"/>
            <a:ext cx="164592" cy="164592"/>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1143000" y="4123944"/>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EPS PDMs</a:t>
            </a:r>
            <a:endParaRPr lang="en-US" sz="1300" dirty="0"/>
          </a:p>
        </p:txBody>
      </p:sp>
      <p:sp>
        <p:nvSpPr>
          <p:cNvPr id="18" name="Text 16"/>
          <p:cNvSpPr/>
          <p:nvPr/>
        </p:nvSpPr>
        <p:spPr>
          <a:xfrm>
            <a:off x="3017520" y="4123944"/>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Onboard and manage Anchor Partners</a:t>
            </a:r>
            <a:endParaRPr lang="en-US" sz="1100" dirty="0"/>
          </a:p>
        </p:txBody>
      </p:sp>
      <p:sp>
        <p:nvSpPr>
          <p:cNvPr id="19" name="Shape 17"/>
          <p:cNvSpPr/>
          <p:nvPr/>
        </p:nvSpPr>
        <p:spPr>
          <a:xfrm>
            <a:off x="868680" y="4782312"/>
            <a:ext cx="164592" cy="164592"/>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1143000" y="4690872"/>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Anchor Partners</a:t>
            </a:r>
            <a:endParaRPr lang="en-US" sz="1300" dirty="0"/>
          </a:p>
        </p:txBody>
      </p:sp>
      <p:sp>
        <p:nvSpPr>
          <p:cNvPr id="21" name="Text 19"/>
          <p:cNvSpPr/>
          <p:nvPr/>
        </p:nvSpPr>
        <p:spPr>
          <a:xfrm>
            <a:off x="3017520" y="4690872"/>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Deliver Tier 2 / Tier 3 inside the operating model</a:t>
            </a:r>
            <a:endParaRPr lang="en-US" sz="1100" dirty="0"/>
          </a:p>
        </p:txBody>
      </p:sp>
      <p:sp>
        <p:nvSpPr>
          <p:cNvPr id="22" name="Shape 20"/>
          <p:cNvSpPr/>
          <p:nvPr/>
        </p:nvSpPr>
        <p:spPr>
          <a:xfrm>
            <a:off x="868680" y="5349240"/>
            <a:ext cx="164592" cy="164592"/>
          </a:xfrm>
          <a:prstGeom prst="ellipse">
            <a:avLst/>
          </a:prstGeom>
          <a:solidFill>
            <a:srgbClr val="0078D4"/>
          </a:solidFill>
          <a:ln w="12700">
            <a:solidFill>
              <a:srgbClr val="0078D4"/>
            </a:solidFill>
            <a:prstDash val="solid"/>
          </a:ln>
        </p:spPr>
        <p:txBody>
          <a:bodyPr/>
          <a:lstStyle/>
          <a:p>
            <a:endParaRPr lang="en-ZA"/>
          </a:p>
        </p:txBody>
      </p:sp>
      <p:sp>
        <p:nvSpPr>
          <p:cNvPr id="23" name="Text 21"/>
          <p:cNvSpPr/>
          <p:nvPr/>
        </p:nvSpPr>
        <p:spPr>
          <a:xfrm>
            <a:off x="1143000" y="5257800"/>
            <a:ext cx="18288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ISD Architects</a:t>
            </a:r>
            <a:endParaRPr lang="en-US" sz="1300" dirty="0"/>
          </a:p>
        </p:txBody>
      </p:sp>
      <p:sp>
        <p:nvSpPr>
          <p:cNvPr id="24" name="Text 22"/>
          <p:cNvSpPr/>
          <p:nvPr/>
        </p:nvSpPr>
        <p:spPr>
          <a:xfrm>
            <a:off x="3017520" y="5257800"/>
            <a:ext cx="292608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When Model A / B / C applies</a:t>
            </a:r>
            <a:endParaRPr lang="en-US" sz="1100" dirty="0"/>
          </a:p>
        </p:txBody>
      </p:sp>
      <p:sp>
        <p:nvSpPr>
          <p:cNvPr id="25" name="Shape 23"/>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6" name="Text 24"/>
          <p:cNvSpPr/>
          <p:nvPr/>
        </p:nvSpPr>
        <p:spPr>
          <a:xfrm>
            <a:off x="6400800" y="2011680"/>
            <a:ext cx="5029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HOW TO USE IT</a:t>
            </a:r>
            <a:endParaRPr lang="en-US" sz="1100" dirty="0"/>
          </a:p>
        </p:txBody>
      </p:sp>
      <p:sp>
        <p:nvSpPr>
          <p:cNvPr id="27" name="Shape 25"/>
          <p:cNvSpPr/>
          <p:nvPr/>
        </p:nvSpPr>
        <p:spPr>
          <a:xfrm>
            <a:off x="6492240" y="2560320"/>
            <a:ext cx="54864" cy="274320"/>
          </a:xfrm>
          <a:prstGeom prst="rect">
            <a:avLst/>
          </a:prstGeom>
          <a:solidFill>
            <a:srgbClr val="C03BC4"/>
          </a:solidFill>
          <a:ln w="12700">
            <a:solidFill>
              <a:srgbClr val="C03BC4"/>
            </a:solidFill>
            <a:prstDash val="solid"/>
          </a:ln>
        </p:spPr>
        <p:txBody>
          <a:bodyPr/>
          <a:lstStyle/>
          <a:p>
            <a:endParaRPr lang="en-ZA"/>
          </a:p>
        </p:txBody>
      </p:sp>
      <p:sp>
        <p:nvSpPr>
          <p:cNvPr id="28" name="Text 26"/>
          <p:cNvSpPr/>
          <p:nvPr/>
        </p:nvSpPr>
        <p:spPr>
          <a:xfrm>
            <a:off x="6720840" y="246888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Slides are sequenced like a delivery — Step 1 to Step 8</a:t>
            </a:r>
            <a:endParaRPr lang="en-US" sz="1300" dirty="0"/>
          </a:p>
        </p:txBody>
      </p:sp>
      <p:sp>
        <p:nvSpPr>
          <p:cNvPr id="29" name="Shape 27"/>
          <p:cNvSpPr/>
          <p:nvPr/>
        </p:nvSpPr>
        <p:spPr>
          <a:xfrm>
            <a:off x="6492240" y="3200400"/>
            <a:ext cx="54864" cy="274320"/>
          </a:xfrm>
          <a:prstGeom prst="rect">
            <a:avLst/>
          </a:prstGeom>
          <a:solidFill>
            <a:srgbClr val="C03BC4"/>
          </a:solidFill>
          <a:ln w="12700">
            <a:solidFill>
              <a:srgbClr val="C03BC4"/>
            </a:solidFill>
            <a:prstDash val="solid"/>
          </a:ln>
        </p:spPr>
        <p:txBody>
          <a:bodyPr/>
          <a:lstStyle/>
          <a:p>
            <a:endParaRPr lang="en-ZA"/>
          </a:p>
        </p:txBody>
      </p:sp>
      <p:sp>
        <p:nvSpPr>
          <p:cNvPr id="30" name="Text 28"/>
          <p:cNvSpPr/>
          <p:nvPr/>
        </p:nvSpPr>
        <p:spPr>
          <a:xfrm>
            <a:off x="6720840" y="310896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Drop in at the right step if the customer is mid-flight</a:t>
            </a:r>
            <a:endParaRPr lang="en-US" sz="1300" dirty="0"/>
          </a:p>
        </p:txBody>
      </p:sp>
      <p:sp>
        <p:nvSpPr>
          <p:cNvPr id="31" name="Shape 29"/>
          <p:cNvSpPr/>
          <p:nvPr/>
        </p:nvSpPr>
        <p:spPr>
          <a:xfrm>
            <a:off x="6492240" y="3840480"/>
            <a:ext cx="54864" cy="274320"/>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6720840" y="374904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Pair every step with the playbook section (cited bottom-right)</a:t>
            </a:r>
            <a:endParaRPr lang="en-US" sz="1300" dirty="0"/>
          </a:p>
        </p:txBody>
      </p:sp>
      <p:sp>
        <p:nvSpPr>
          <p:cNvPr id="33" name="Shape 31"/>
          <p:cNvSpPr/>
          <p:nvPr/>
        </p:nvSpPr>
        <p:spPr>
          <a:xfrm>
            <a:off x="6492240" y="4480560"/>
            <a:ext cx="54864" cy="274320"/>
          </a:xfrm>
          <a:prstGeom prst="rect">
            <a:avLst/>
          </a:prstGeom>
          <a:solidFill>
            <a:srgbClr val="C03BC4"/>
          </a:solidFill>
          <a:ln w="12700">
            <a:solidFill>
              <a:srgbClr val="C03BC4"/>
            </a:solidFill>
            <a:prstDash val="solid"/>
          </a:ln>
        </p:spPr>
        <p:txBody>
          <a:bodyPr/>
          <a:lstStyle/>
          <a:p>
            <a:endParaRPr lang="en-ZA"/>
          </a:p>
        </p:txBody>
      </p:sp>
      <p:sp>
        <p:nvSpPr>
          <p:cNvPr id="34" name="Text 32"/>
          <p:cNvSpPr/>
          <p:nvPr/>
        </p:nvSpPr>
        <p:spPr>
          <a:xfrm>
            <a:off x="6720840" y="438912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Save the decision tree (Slide 16) and the 30-day plan (Slide 17)</a:t>
            </a:r>
            <a:endParaRPr lang="en-US" sz="1300" dirty="0"/>
          </a:p>
        </p:txBody>
      </p:sp>
      <p:sp>
        <p:nvSpPr>
          <p:cNvPr id="35" name="Shape 33"/>
          <p:cNvSpPr/>
          <p:nvPr/>
        </p:nvSpPr>
        <p:spPr>
          <a:xfrm>
            <a:off x="6492240" y="5120640"/>
            <a:ext cx="54864" cy="274320"/>
          </a:xfrm>
          <a:prstGeom prst="rect">
            <a:avLst/>
          </a:prstGeom>
          <a:solidFill>
            <a:srgbClr val="C03BC4"/>
          </a:solidFill>
          <a:ln w="12700">
            <a:solidFill>
              <a:srgbClr val="C03BC4"/>
            </a:solidFill>
            <a:prstDash val="solid"/>
          </a:ln>
        </p:spPr>
        <p:txBody>
          <a:bodyPr/>
          <a:lstStyle/>
          <a:p>
            <a:endParaRPr lang="en-ZA"/>
          </a:p>
        </p:txBody>
      </p:sp>
      <p:sp>
        <p:nvSpPr>
          <p:cNvPr id="36" name="Text 34"/>
          <p:cNvSpPr/>
          <p:nvPr/>
        </p:nvSpPr>
        <p:spPr>
          <a:xfrm>
            <a:off x="6720840" y="5029200"/>
            <a:ext cx="4800600" cy="502920"/>
          </a:xfrm>
          <a:prstGeom prst="rect">
            <a:avLst/>
          </a:prstGeom>
          <a:noFill/>
          <a:ln/>
        </p:spPr>
        <p:txBody>
          <a:bodyPr wrap="square" rtlCol="0" anchor="t"/>
          <a:lstStyle/>
          <a:p>
            <a:pPr marL="0" indent="0">
              <a:buNone/>
            </a:pPr>
            <a:r>
              <a:rPr lang="en-US" sz="1300" dirty="0">
                <a:solidFill>
                  <a:srgbClr val="FFFFFF"/>
                </a:solidFill>
                <a:latin typeface="Segoe UI" pitchFamily="34" charset="0"/>
                <a:ea typeface="Segoe UI" pitchFamily="34" charset="-122"/>
                <a:cs typeface="Segoe UI" pitchFamily="34" charset="-120"/>
              </a:rPr>
              <a:t>When in doubt, escalate to the Area CSU Lead — never freelance</a:t>
            </a:r>
            <a:endParaRPr lang="en-US" sz="13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60-SECOND RECAP</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The offering at a glance</a:t>
            </a:r>
            <a:endParaRPr lang="en-US" sz="3000" dirty="0"/>
          </a:p>
        </p:txBody>
      </p:sp>
      <p:sp>
        <p:nvSpPr>
          <p:cNvPr id="5" name="Shape 3"/>
          <p:cNvSpPr/>
          <p:nvPr/>
        </p:nvSpPr>
        <p:spPr>
          <a:xfrm>
            <a:off x="548640" y="182880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137160" cy="196596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914400" y="210312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5+1 Pillars</a:t>
            </a:r>
            <a:endParaRPr lang="en-US" sz="2000" dirty="0"/>
          </a:p>
        </p:txBody>
      </p:sp>
      <p:sp>
        <p:nvSpPr>
          <p:cNvPr id="8" name="Text 6"/>
          <p:cNvSpPr/>
          <p:nvPr/>
        </p:nvSpPr>
        <p:spPr>
          <a:xfrm>
            <a:off x="914400" y="269748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Business · Org · Strategy · Tech &amp; Data · Governance · Co-sell</a:t>
            </a:r>
            <a:endParaRPr lang="en-US" sz="1400" dirty="0"/>
          </a:p>
        </p:txBody>
      </p:sp>
      <p:sp>
        <p:nvSpPr>
          <p:cNvPr id="9" name="Shape 7"/>
          <p:cNvSpPr/>
          <p:nvPr/>
        </p:nvSpPr>
        <p:spPr>
          <a:xfrm>
            <a:off x="6217920" y="182880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6217920" y="1828800"/>
            <a:ext cx="137160" cy="1965960"/>
          </a:xfrm>
          <a:prstGeom prst="rect">
            <a:avLst/>
          </a:prstGeom>
          <a:solidFill>
            <a:srgbClr val="0057B8"/>
          </a:solidFill>
          <a:ln w="12700">
            <a:solidFill>
              <a:srgbClr val="0057B8"/>
            </a:solidFill>
            <a:prstDash val="solid"/>
          </a:ln>
        </p:spPr>
        <p:txBody>
          <a:bodyPr/>
          <a:lstStyle/>
          <a:p>
            <a:endParaRPr lang="en-ZA"/>
          </a:p>
        </p:txBody>
      </p:sp>
      <p:sp>
        <p:nvSpPr>
          <p:cNvPr id="11" name="Text 9"/>
          <p:cNvSpPr/>
          <p:nvPr/>
        </p:nvSpPr>
        <p:spPr>
          <a:xfrm>
            <a:off x="6583680" y="210312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Three Streams</a:t>
            </a:r>
            <a:endParaRPr lang="en-US" sz="2000" dirty="0"/>
          </a:p>
        </p:txBody>
      </p:sp>
      <p:sp>
        <p:nvSpPr>
          <p:cNvPr id="12" name="Text 10"/>
          <p:cNvSpPr/>
          <p:nvPr/>
        </p:nvSpPr>
        <p:spPr>
          <a:xfrm>
            <a:off x="6583680" y="269748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MCAPS led · Factory zero-cost foundation · Partners led build &amp; run</a:t>
            </a:r>
            <a:endParaRPr lang="en-US" sz="1400" dirty="0"/>
          </a:p>
        </p:txBody>
      </p:sp>
      <p:sp>
        <p:nvSpPr>
          <p:cNvPr id="13" name="Shape 11"/>
          <p:cNvSpPr/>
          <p:nvPr/>
        </p:nvSpPr>
        <p:spPr>
          <a:xfrm>
            <a:off x="548640" y="402336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548640" y="4023360"/>
            <a:ext cx="137160" cy="1965960"/>
          </a:xfrm>
          <a:prstGeom prst="rect">
            <a:avLst/>
          </a:prstGeom>
          <a:solidFill>
            <a:srgbClr val="225B62"/>
          </a:solidFill>
          <a:ln w="12700">
            <a:solidFill>
              <a:srgbClr val="225B62"/>
            </a:solidFill>
            <a:prstDash val="solid"/>
          </a:ln>
        </p:spPr>
        <p:txBody>
          <a:bodyPr/>
          <a:lstStyle/>
          <a:p>
            <a:endParaRPr lang="en-ZA"/>
          </a:p>
        </p:txBody>
      </p:sp>
      <p:sp>
        <p:nvSpPr>
          <p:cNvPr id="15" name="Text 13"/>
          <p:cNvSpPr/>
          <p:nvPr/>
        </p:nvSpPr>
        <p:spPr>
          <a:xfrm>
            <a:off x="914400" y="429768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ATO Funding</a:t>
            </a:r>
            <a:endParaRPr lang="en-US" sz="2000" dirty="0"/>
          </a:p>
        </p:txBody>
      </p:sp>
      <p:sp>
        <p:nvSpPr>
          <p:cNvPr id="16" name="Text 14"/>
          <p:cNvSpPr/>
          <p:nvPr/>
        </p:nvSpPr>
        <p:spPr>
          <a:xfrm>
            <a:off x="914400" y="489204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Up to $50k pre-sales ECIF + up to $1M post-sales envelope</a:t>
            </a:r>
            <a:endParaRPr lang="en-US" sz="1400" dirty="0"/>
          </a:p>
        </p:txBody>
      </p:sp>
      <p:sp>
        <p:nvSpPr>
          <p:cNvPr id="17" name="Shape 15"/>
          <p:cNvSpPr/>
          <p:nvPr/>
        </p:nvSpPr>
        <p:spPr>
          <a:xfrm>
            <a:off x="6217920" y="4023360"/>
            <a:ext cx="5440680" cy="1965960"/>
          </a:xfrm>
          <a:prstGeom prst="roundRect">
            <a:avLst>
              <a:gd name="adj" fmla="val 4651"/>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6217920" y="4023360"/>
            <a:ext cx="137160" cy="1965960"/>
          </a:xfrm>
          <a:prstGeom prst="rect">
            <a:avLst/>
          </a:prstGeom>
          <a:solidFill>
            <a:srgbClr val="FF5C39"/>
          </a:solidFill>
          <a:ln w="12700">
            <a:solidFill>
              <a:srgbClr val="FF5C39"/>
            </a:solidFill>
            <a:prstDash val="solid"/>
          </a:ln>
        </p:spPr>
        <p:txBody>
          <a:bodyPr/>
          <a:lstStyle/>
          <a:p>
            <a:endParaRPr lang="en-ZA"/>
          </a:p>
        </p:txBody>
      </p:sp>
      <p:sp>
        <p:nvSpPr>
          <p:cNvPr id="19" name="Text 17"/>
          <p:cNvSpPr/>
          <p:nvPr/>
        </p:nvSpPr>
        <p:spPr>
          <a:xfrm>
            <a:off x="6583680" y="4297680"/>
            <a:ext cx="4892040" cy="457200"/>
          </a:xfrm>
          <a:prstGeom prst="rect">
            <a:avLst/>
          </a:prstGeom>
          <a:noFill/>
          <a:ln/>
        </p:spPr>
        <p:txBody>
          <a:bodyPr wrap="square" rtlCol="0" anchor="ctr"/>
          <a:lstStyle/>
          <a:p>
            <a:pPr marL="0" indent="0">
              <a:buNone/>
            </a:pPr>
            <a:r>
              <a:rPr lang="en-US" sz="2000" b="1" dirty="0">
                <a:solidFill>
                  <a:srgbClr val="091F2C"/>
                </a:solidFill>
                <a:latin typeface="Segoe UI" pitchFamily="34" charset="0"/>
                <a:ea typeface="Segoe UI" pitchFamily="34" charset="-122"/>
                <a:cs typeface="Segoe UI" pitchFamily="34" charset="-120"/>
              </a:rPr>
              <a:t>Three AI Surfaces</a:t>
            </a:r>
            <a:endParaRPr lang="en-US" sz="2000" dirty="0"/>
          </a:p>
        </p:txBody>
      </p:sp>
      <p:sp>
        <p:nvSpPr>
          <p:cNvPr id="20" name="Text 18"/>
          <p:cNvSpPr/>
          <p:nvPr/>
        </p:nvSpPr>
        <p:spPr>
          <a:xfrm>
            <a:off x="6583680" y="4892040"/>
            <a:ext cx="4892040" cy="1051560"/>
          </a:xfrm>
          <a:prstGeom prst="rect">
            <a:avLst/>
          </a:prstGeom>
          <a:noFill/>
          <a:ln/>
        </p:spPr>
        <p:txBody>
          <a:bodyPr wrap="square" rtlCol="0" anchor="ctr"/>
          <a:lstStyle/>
          <a:p>
            <a:pPr marL="0" indent="0">
              <a:buNone/>
            </a:pPr>
            <a:r>
              <a:rPr lang="en-US" sz="1400" dirty="0">
                <a:solidFill>
                  <a:srgbClr val="4B5563"/>
                </a:solidFill>
                <a:latin typeface="Segoe UI" pitchFamily="34" charset="0"/>
                <a:ea typeface="Segoe UI" pitchFamily="34" charset="-122"/>
                <a:cs typeface="Segoe UI" pitchFamily="34" charset="-120"/>
              </a:rPr>
              <a:t>M365 Copilot · Copilot Studio · Azure AI Foundry</a:t>
            </a:r>
            <a:endParaRPr lang="en-US" sz="1400" dirty="0"/>
          </a:p>
        </p:txBody>
      </p:sp>
      <p:sp>
        <p:nvSpPr>
          <p:cNvPr id="21" name="Text 19"/>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If anyone in the room needs the full pitch, send them the AI CoE Pitch Deck. This deck assumes they're already convinced.</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1</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Qualify the opportunity</a:t>
            </a:r>
            <a:endParaRPr lang="en-US" sz="3000" dirty="0"/>
          </a:p>
        </p:txBody>
      </p:sp>
      <p:sp>
        <p:nvSpPr>
          <p:cNvPr id="5" name="Shape 3"/>
          <p:cNvSpPr/>
          <p:nvPr/>
        </p:nvSpPr>
        <p:spPr>
          <a:xfrm>
            <a:off x="548640" y="1828800"/>
            <a:ext cx="5486400" cy="4297680"/>
          </a:xfrm>
          <a:prstGeom prst="roundRect">
            <a:avLst>
              <a:gd name="adj" fmla="val 2553"/>
            </a:avLst>
          </a:prstGeom>
          <a:solidFill>
            <a:srgbClr val="F1F8F1"/>
          </a:solidFill>
          <a:ln w="12700">
            <a:solidFill>
              <a:srgbClr val="225B62"/>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RUN THE COE</a:t>
            </a:r>
            <a:endParaRPr lang="en-US" sz="1100" dirty="0"/>
          </a:p>
        </p:txBody>
      </p:sp>
      <p:sp>
        <p:nvSpPr>
          <p:cNvPr id="7" name="Text 5"/>
          <p:cNvSpPr/>
          <p:nvPr/>
        </p:nvSpPr>
        <p:spPr>
          <a:xfrm>
            <a:off x="777240" y="2240280"/>
            <a:ext cx="50292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Good signals</a:t>
            </a:r>
            <a:endParaRPr lang="en-US" sz="1800" dirty="0"/>
          </a:p>
        </p:txBody>
      </p:sp>
      <p:sp>
        <p:nvSpPr>
          <p:cNvPr id="8" name="Text 6"/>
          <p:cNvSpPr/>
          <p:nvPr/>
        </p:nvSpPr>
        <p:spPr>
          <a:xfrm>
            <a:off x="868680" y="27889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9" name="Text 7"/>
          <p:cNvSpPr/>
          <p:nvPr/>
        </p:nvSpPr>
        <p:spPr>
          <a:xfrm>
            <a:off x="1188720" y="28346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Named exec sponsor (CIO, CDO, or LoB head)</a:t>
            </a:r>
            <a:endParaRPr lang="en-US" sz="1250" dirty="0"/>
          </a:p>
        </p:txBody>
      </p:sp>
      <p:sp>
        <p:nvSpPr>
          <p:cNvPr id="10" name="Text 8"/>
          <p:cNvSpPr/>
          <p:nvPr/>
        </p:nvSpPr>
        <p:spPr>
          <a:xfrm>
            <a:off x="868680" y="329184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1" name="Text 9"/>
          <p:cNvSpPr/>
          <p:nvPr/>
        </p:nvSpPr>
        <p:spPr>
          <a:xfrm>
            <a:off x="1188720" y="333756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Existing AI ambition with budget pressure to show value</a:t>
            </a:r>
            <a:endParaRPr lang="en-US" sz="1250" dirty="0"/>
          </a:p>
        </p:txBody>
      </p:sp>
      <p:sp>
        <p:nvSpPr>
          <p:cNvPr id="12" name="Text 10"/>
          <p:cNvSpPr/>
          <p:nvPr/>
        </p:nvSpPr>
        <p:spPr>
          <a:xfrm>
            <a:off x="868680" y="379476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3" name="Text 11"/>
          <p:cNvSpPr/>
          <p:nvPr/>
        </p:nvSpPr>
        <p:spPr>
          <a:xfrm>
            <a:off x="1188720" y="384048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Multi-year Azure or M365 commitment</a:t>
            </a:r>
            <a:endParaRPr lang="en-US" sz="1250" dirty="0"/>
          </a:p>
        </p:txBody>
      </p:sp>
      <p:sp>
        <p:nvSpPr>
          <p:cNvPr id="14" name="Text 12"/>
          <p:cNvSpPr/>
          <p:nvPr/>
        </p:nvSpPr>
        <p:spPr>
          <a:xfrm>
            <a:off x="868680" y="42976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5" name="Text 13"/>
          <p:cNvSpPr/>
          <p:nvPr/>
        </p:nvSpPr>
        <p:spPr>
          <a:xfrm>
            <a:off x="1188720" y="434340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At least 3 candidate use-cases with named owners</a:t>
            </a:r>
            <a:endParaRPr lang="en-US" sz="1250" dirty="0"/>
          </a:p>
        </p:txBody>
      </p:sp>
      <p:sp>
        <p:nvSpPr>
          <p:cNvPr id="16" name="Text 14"/>
          <p:cNvSpPr/>
          <p:nvPr/>
        </p:nvSpPr>
        <p:spPr>
          <a:xfrm>
            <a:off x="868680" y="480060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7" name="Text 15"/>
          <p:cNvSpPr/>
          <p:nvPr/>
        </p:nvSpPr>
        <p:spPr>
          <a:xfrm>
            <a:off x="1188720" y="484632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Data foundation conversation already underway</a:t>
            </a:r>
            <a:endParaRPr lang="en-US" sz="1250" dirty="0"/>
          </a:p>
        </p:txBody>
      </p:sp>
      <p:sp>
        <p:nvSpPr>
          <p:cNvPr id="18" name="Text 16"/>
          <p:cNvSpPr/>
          <p:nvPr/>
        </p:nvSpPr>
        <p:spPr>
          <a:xfrm>
            <a:off x="868680" y="53035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9" name="Text 17"/>
          <p:cNvSpPr/>
          <p:nvPr/>
        </p:nvSpPr>
        <p:spPr>
          <a:xfrm>
            <a:off x="1188720" y="53492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Willingness to publish a Responsible AI standard</a:t>
            </a:r>
            <a:endParaRPr lang="en-US" sz="1250" dirty="0"/>
          </a:p>
        </p:txBody>
      </p:sp>
      <p:sp>
        <p:nvSpPr>
          <p:cNvPr id="20" name="Shape 18"/>
          <p:cNvSpPr/>
          <p:nvPr/>
        </p:nvSpPr>
        <p:spPr>
          <a:xfrm>
            <a:off x="6172200" y="1828800"/>
            <a:ext cx="5486400" cy="4297680"/>
          </a:xfrm>
          <a:prstGeom prst="roundRect">
            <a:avLst>
              <a:gd name="adj" fmla="val 2553"/>
            </a:avLst>
          </a:prstGeom>
          <a:solidFill>
            <a:srgbClr val="FDF3F2"/>
          </a:solidFill>
          <a:ln w="12700">
            <a:solidFill>
              <a:srgbClr val="FF5C39"/>
            </a:solidFill>
            <a:prstDash val="solid"/>
          </a:ln>
        </p:spPr>
        <p:txBody>
          <a:bodyPr/>
          <a:lstStyle/>
          <a:p>
            <a:endParaRPr lang="en-ZA"/>
          </a:p>
        </p:txBody>
      </p:sp>
      <p:sp>
        <p:nvSpPr>
          <p:cNvPr id="21" name="Text 19"/>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DO NOT START YET</a:t>
            </a:r>
            <a:endParaRPr lang="en-US" sz="1100" dirty="0"/>
          </a:p>
        </p:txBody>
      </p:sp>
      <p:sp>
        <p:nvSpPr>
          <p:cNvPr id="22" name="Text 20"/>
          <p:cNvSpPr/>
          <p:nvPr/>
        </p:nvSpPr>
        <p:spPr>
          <a:xfrm>
            <a:off x="6400800" y="2240280"/>
            <a:ext cx="50292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Red flags</a:t>
            </a:r>
            <a:endParaRPr lang="en-US" sz="1800" dirty="0"/>
          </a:p>
        </p:txBody>
      </p:sp>
      <p:sp>
        <p:nvSpPr>
          <p:cNvPr id="23" name="Text 21"/>
          <p:cNvSpPr/>
          <p:nvPr/>
        </p:nvSpPr>
        <p:spPr>
          <a:xfrm>
            <a:off x="6492240" y="27889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4" name="Text 22"/>
          <p:cNvSpPr/>
          <p:nvPr/>
        </p:nvSpPr>
        <p:spPr>
          <a:xfrm>
            <a:off x="6812280" y="28346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No named exec sponsor — "the CTO is interested" is not enough</a:t>
            </a:r>
            <a:endParaRPr lang="en-US" sz="1250" dirty="0"/>
          </a:p>
        </p:txBody>
      </p:sp>
      <p:sp>
        <p:nvSpPr>
          <p:cNvPr id="25" name="Text 23"/>
          <p:cNvSpPr/>
          <p:nvPr/>
        </p:nvSpPr>
        <p:spPr>
          <a:xfrm>
            <a:off x="6492240" y="329184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6" name="Text 24"/>
          <p:cNvSpPr/>
          <p:nvPr/>
        </p:nvSpPr>
        <p:spPr>
          <a:xfrm>
            <a:off x="6812280" y="333756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No AI use-case backlog — the customer doesn't know what to build</a:t>
            </a:r>
            <a:endParaRPr lang="en-US" sz="1250" dirty="0"/>
          </a:p>
        </p:txBody>
      </p:sp>
      <p:sp>
        <p:nvSpPr>
          <p:cNvPr id="27" name="Text 25"/>
          <p:cNvSpPr/>
          <p:nvPr/>
        </p:nvSpPr>
        <p:spPr>
          <a:xfrm>
            <a:off x="6492240" y="379476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8" name="Text 26"/>
          <p:cNvSpPr/>
          <p:nvPr/>
        </p:nvSpPr>
        <p:spPr>
          <a:xfrm>
            <a:off x="6812280" y="384048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Data is fragmented and there's no governance owner</a:t>
            </a:r>
            <a:endParaRPr lang="en-US" sz="1250" dirty="0"/>
          </a:p>
        </p:txBody>
      </p:sp>
      <p:sp>
        <p:nvSpPr>
          <p:cNvPr id="29" name="Text 27"/>
          <p:cNvSpPr/>
          <p:nvPr/>
        </p:nvSpPr>
        <p:spPr>
          <a:xfrm>
            <a:off x="6492240" y="42976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0" name="Text 28"/>
          <p:cNvSpPr/>
          <p:nvPr/>
        </p:nvSpPr>
        <p:spPr>
          <a:xfrm>
            <a:off x="6812280" y="434340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Procurement won't engage on multi-year commitment</a:t>
            </a:r>
            <a:endParaRPr lang="en-US" sz="1250" dirty="0"/>
          </a:p>
        </p:txBody>
      </p:sp>
      <p:sp>
        <p:nvSpPr>
          <p:cNvPr id="31" name="Text 29"/>
          <p:cNvSpPr/>
          <p:nvPr/>
        </p:nvSpPr>
        <p:spPr>
          <a:xfrm>
            <a:off x="6492240" y="480060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2" name="Text 30"/>
          <p:cNvSpPr/>
          <p:nvPr/>
        </p:nvSpPr>
        <p:spPr>
          <a:xfrm>
            <a:off x="6812280" y="484632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Past AI pilots stalled and no one knows why</a:t>
            </a:r>
            <a:endParaRPr lang="en-US" sz="1250" dirty="0"/>
          </a:p>
        </p:txBody>
      </p:sp>
      <p:sp>
        <p:nvSpPr>
          <p:cNvPr id="33" name="Text 31"/>
          <p:cNvSpPr/>
          <p:nvPr/>
        </p:nvSpPr>
        <p:spPr>
          <a:xfrm>
            <a:off x="6492240" y="53035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4" name="Text 32"/>
          <p:cNvSpPr/>
          <p:nvPr/>
        </p:nvSpPr>
        <p:spPr>
          <a:xfrm>
            <a:off x="6812280" y="5349240"/>
            <a:ext cx="4754880" cy="41148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Compliance / sovereignty concerns unresolved at C-suite</a:t>
            </a:r>
            <a:endParaRPr lang="en-US" sz="1250" dirty="0"/>
          </a:p>
        </p:txBody>
      </p:sp>
      <p:sp>
        <p:nvSpPr>
          <p:cNvPr id="35" name="Text 33"/>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078D4"/>
                </a:solidFill>
                <a:latin typeface="Segoe UI" pitchFamily="34" charset="0"/>
                <a:ea typeface="Segoe UI" pitchFamily="34" charset="-122"/>
                <a:cs typeface="Segoe UI" pitchFamily="34" charset="-120"/>
              </a:rPr>
              <a:t>Output of Step 1: signed CoE Readiness Scorecard. If 3+ red flags — run a Solution Assessment first.</a:t>
            </a:r>
            <a:endParaRPr lang="en-US" sz="11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2</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Pick the entry point — lead with where the customer is</a:t>
            </a:r>
            <a:endParaRPr lang="en-US" sz="3000" dirty="0"/>
          </a:p>
        </p:txBody>
      </p:sp>
      <p:sp>
        <p:nvSpPr>
          <p:cNvPr id="5" name="Shape 3"/>
          <p:cNvSpPr/>
          <p:nvPr/>
        </p:nvSpPr>
        <p:spPr>
          <a:xfrm>
            <a:off x="47228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472288" y="1828800"/>
            <a:ext cx="3657600" cy="73152"/>
          </a:xfrm>
          <a:prstGeom prst="rect">
            <a:avLst/>
          </a:prstGeom>
          <a:solidFill>
            <a:srgbClr val="0078D4"/>
          </a:solidFill>
          <a:ln/>
        </p:spPr>
        <p:txBody>
          <a:bodyPr/>
          <a:lstStyle/>
          <a:p>
            <a:endParaRPr lang="en-ZA"/>
          </a:p>
        </p:txBody>
      </p:sp>
      <p:sp>
        <p:nvSpPr>
          <p:cNvPr id="7" name="Shape 5"/>
          <p:cNvSpPr/>
          <p:nvPr/>
        </p:nvSpPr>
        <p:spPr>
          <a:xfrm>
            <a:off x="746608" y="2103120"/>
            <a:ext cx="640080" cy="640080"/>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74660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9" name="Text 7"/>
          <p:cNvSpPr/>
          <p:nvPr/>
        </p:nvSpPr>
        <p:spPr>
          <a:xfrm>
            <a:off x="147812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just bought Copilot seats</a:t>
            </a:r>
            <a:endParaRPr lang="en-US" sz="1200" dirty="0"/>
          </a:p>
        </p:txBody>
      </p:sp>
      <p:sp>
        <p:nvSpPr>
          <p:cNvPr id="10" name="Text 8"/>
          <p:cNvSpPr/>
          <p:nvPr/>
        </p:nvSpPr>
        <p:spPr>
          <a:xfrm>
            <a:off x="74660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M365 Copilot</a:t>
            </a:r>
            <a:endParaRPr lang="en-US" sz="1800" dirty="0"/>
          </a:p>
        </p:txBody>
      </p:sp>
      <p:sp>
        <p:nvSpPr>
          <p:cNvPr id="11" name="Shape 9"/>
          <p:cNvSpPr/>
          <p:nvPr/>
        </p:nvSpPr>
        <p:spPr>
          <a:xfrm>
            <a:off x="74660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12" name="Text 10"/>
          <p:cNvSpPr/>
          <p:nvPr/>
        </p:nvSpPr>
        <p:spPr>
          <a:xfrm>
            <a:off x="74660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13" name="Text 11"/>
          <p:cNvSpPr/>
          <p:nvPr/>
        </p:nvSpPr>
        <p:spPr>
          <a:xfrm>
            <a:off x="74660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Adoption + governance lift</a:t>
            </a:r>
            <a:endParaRPr lang="en-US" sz="1200" dirty="0"/>
          </a:p>
        </p:txBody>
      </p:sp>
      <p:sp>
        <p:nvSpPr>
          <p:cNvPr id="14" name="Text 12"/>
          <p:cNvSpPr/>
          <p:nvPr/>
        </p:nvSpPr>
        <p:spPr>
          <a:xfrm>
            <a:off x="74660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15" name="Text 13"/>
          <p:cNvSpPr/>
          <p:nvPr/>
        </p:nvSpPr>
        <p:spPr>
          <a:xfrm>
            <a:off x="74660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B agents grounded on M365 data</a:t>
            </a:r>
            <a:endParaRPr lang="en-US" sz="1200" dirty="0"/>
          </a:p>
        </p:txBody>
      </p:sp>
      <p:sp>
        <p:nvSpPr>
          <p:cNvPr id="16" name="Shape 14"/>
          <p:cNvSpPr/>
          <p:nvPr/>
        </p:nvSpPr>
        <p:spPr>
          <a:xfrm>
            <a:off x="426704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17" name="Shape 15"/>
          <p:cNvSpPr/>
          <p:nvPr/>
        </p:nvSpPr>
        <p:spPr>
          <a:xfrm>
            <a:off x="4267048" y="1828800"/>
            <a:ext cx="3657600" cy="73152"/>
          </a:xfrm>
          <a:prstGeom prst="rect">
            <a:avLst/>
          </a:prstGeom>
          <a:solidFill>
            <a:srgbClr val="C03BC4"/>
          </a:solidFill>
          <a:ln/>
        </p:spPr>
        <p:txBody>
          <a:bodyPr/>
          <a:lstStyle/>
          <a:p>
            <a:endParaRPr lang="en-ZA"/>
          </a:p>
        </p:txBody>
      </p:sp>
      <p:sp>
        <p:nvSpPr>
          <p:cNvPr id="18" name="Shape 16"/>
          <p:cNvSpPr/>
          <p:nvPr/>
        </p:nvSpPr>
        <p:spPr>
          <a:xfrm>
            <a:off x="4541368" y="2103120"/>
            <a:ext cx="640080" cy="640080"/>
          </a:xfrm>
          <a:prstGeom prst="ellipse">
            <a:avLst/>
          </a:prstGeom>
          <a:solidFill>
            <a:srgbClr val="C03BC4"/>
          </a:solidFill>
          <a:ln w="12700">
            <a:solidFill>
              <a:srgbClr val="C03BC4"/>
            </a:solidFill>
            <a:prstDash val="solid"/>
          </a:ln>
        </p:spPr>
        <p:txBody>
          <a:bodyPr/>
          <a:lstStyle/>
          <a:p>
            <a:endParaRPr lang="en-ZA"/>
          </a:p>
        </p:txBody>
      </p:sp>
      <p:sp>
        <p:nvSpPr>
          <p:cNvPr id="19" name="Text 17"/>
          <p:cNvSpPr/>
          <p:nvPr/>
        </p:nvSpPr>
        <p:spPr>
          <a:xfrm>
            <a:off x="454136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B</a:t>
            </a:r>
            <a:endParaRPr lang="en-US" sz="2200" dirty="0"/>
          </a:p>
        </p:txBody>
      </p:sp>
      <p:sp>
        <p:nvSpPr>
          <p:cNvPr id="20" name="Text 18"/>
          <p:cNvSpPr/>
          <p:nvPr/>
        </p:nvSpPr>
        <p:spPr>
          <a:xfrm>
            <a:off x="527288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is automating a workflow</a:t>
            </a:r>
            <a:endParaRPr lang="en-US" sz="1200" dirty="0"/>
          </a:p>
        </p:txBody>
      </p:sp>
      <p:sp>
        <p:nvSpPr>
          <p:cNvPr id="21" name="Text 19"/>
          <p:cNvSpPr/>
          <p:nvPr/>
        </p:nvSpPr>
        <p:spPr>
          <a:xfrm>
            <a:off x="454136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Copilot Studio</a:t>
            </a:r>
            <a:endParaRPr lang="en-US" sz="1800" dirty="0"/>
          </a:p>
        </p:txBody>
      </p:sp>
      <p:sp>
        <p:nvSpPr>
          <p:cNvPr id="22" name="Shape 20"/>
          <p:cNvSpPr/>
          <p:nvPr/>
        </p:nvSpPr>
        <p:spPr>
          <a:xfrm>
            <a:off x="454136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23" name="Text 21"/>
          <p:cNvSpPr/>
          <p:nvPr/>
        </p:nvSpPr>
        <p:spPr>
          <a:xfrm>
            <a:off x="454136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24" name="Text 22"/>
          <p:cNvSpPr/>
          <p:nvPr/>
        </p:nvSpPr>
        <p:spPr>
          <a:xfrm>
            <a:off x="454136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Departmental agent · ID Agents → POC → OoB</a:t>
            </a:r>
            <a:endParaRPr lang="en-US" sz="1200" dirty="0"/>
          </a:p>
        </p:txBody>
      </p:sp>
      <p:sp>
        <p:nvSpPr>
          <p:cNvPr id="25" name="Text 23"/>
          <p:cNvSpPr/>
          <p:nvPr/>
        </p:nvSpPr>
        <p:spPr>
          <a:xfrm>
            <a:off x="454136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26" name="Text 24"/>
          <p:cNvSpPr/>
          <p:nvPr/>
        </p:nvSpPr>
        <p:spPr>
          <a:xfrm>
            <a:off x="454136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C custom agents · agentic orchestration</a:t>
            </a:r>
            <a:endParaRPr lang="en-US" sz="1200" dirty="0"/>
          </a:p>
        </p:txBody>
      </p:sp>
      <p:sp>
        <p:nvSpPr>
          <p:cNvPr id="27" name="Shape 25"/>
          <p:cNvSpPr/>
          <p:nvPr/>
        </p:nvSpPr>
        <p:spPr>
          <a:xfrm>
            <a:off x="8061808" y="1828800"/>
            <a:ext cx="3657600" cy="4114800"/>
          </a:xfrm>
          <a:prstGeom prst="roundRect">
            <a:avLst>
              <a:gd name="adj" fmla="val 2500"/>
            </a:avLst>
          </a:prstGeom>
          <a:solidFill>
            <a:srgbClr val="FFFFFF"/>
          </a:solidFill>
          <a:ln w="12700">
            <a:solidFill>
              <a:srgbClr val="E1E6EF"/>
            </a:solidFill>
            <a:prstDash val="solid"/>
          </a:ln>
        </p:spPr>
        <p:txBody>
          <a:bodyPr/>
          <a:lstStyle/>
          <a:p>
            <a:endParaRPr lang="en-ZA"/>
          </a:p>
        </p:txBody>
      </p:sp>
      <p:sp>
        <p:nvSpPr>
          <p:cNvPr id="28" name="Shape 26"/>
          <p:cNvSpPr/>
          <p:nvPr/>
        </p:nvSpPr>
        <p:spPr>
          <a:xfrm>
            <a:off x="8061808" y="1828800"/>
            <a:ext cx="3657600" cy="73152"/>
          </a:xfrm>
          <a:prstGeom prst="rect">
            <a:avLst/>
          </a:prstGeom>
          <a:solidFill>
            <a:srgbClr val="FF5C39"/>
          </a:solidFill>
          <a:ln/>
        </p:spPr>
        <p:txBody>
          <a:bodyPr/>
          <a:lstStyle/>
          <a:p>
            <a:endParaRPr lang="en-ZA"/>
          </a:p>
        </p:txBody>
      </p:sp>
      <p:sp>
        <p:nvSpPr>
          <p:cNvPr id="29" name="Shape 27"/>
          <p:cNvSpPr/>
          <p:nvPr/>
        </p:nvSpPr>
        <p:spPr>
          <a:xfrm>
            <a:off x="8336128" y="2103120"/>
            <a:ext cx="640080" cy="640080"/>
          </a:xfrm>
          <a:prstGeom prst="ellipse">
            <a:avLst/>
          </a:prstGeom>
          <a:solidFill>
            <a:srgbClr val="FF5C39"/>
          </a:solidFill>
          <a:ln w="12700">
            <a:solidFill>
              <a:srgbClr val="FF5C39"/>
            </a:solidFill>
            <a:prstDash val="solid"/>
          </a:ln>
        </p:spPr>
        <p:txBody>
          <a:bodyPr/>
          <a:lstStyle/>
          <a:p>
            <a:endParaRPr lang="en-ZA"/>
          </a:p>
        </p:txBody>
      </p:sp>
      <p:sp>
        <p:nvSpPr>
          <p:cNvPr id="30" name="Text 28"/>
          <p:cNvSpPr/>
          <p:nvPr/>
        </p:nvSpPr>
        <p:spPr>
          <a:xfrm>
            <a:off x="8336128" y="21031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31" name="Text 29"/>
          <p:cNvSpPr/>
          <p:nvPr/>
        </p:nvSpPr>
        <p:spPr>
          <a:xfrm>
            <a:off x="9067648" y="2148840"/>
            <a:ext cx="2468880" cy="640080"/>
          </a:xfrm>
          <a:prstGeom prst="rect">
            <a:avLst/>
          </a:prstGeom>
          <a:noFill/>
          <a:ln/>
        </p:spPr>
        <p:txBody>
          <a:bodyPr wrap="square" rtlCol="0" anchor="ctr"/>
          <a:lstStyle/>
          <a:p>
            <a:pPr marL="0" indent="0">
              <a:buNone/>
            </a:pPr>
            <a:r>
              <a:rPr lang="en-US" sz="1200" i="1" dirty="0">
                <a:solidFill>
                  <a:srgbClr val="4B5563"/>
                </a:solidFill>
                <a:latin typeface="Segoe UI" pitchFamily="34" charset="0"/>
                <a:ea typeface="Segoe UI" pitchFamily="34" charset="-122"/>
                <a:cs typeface="Segoe UI" pitchFamily="34" charset="-120"/>
              </a:rPr>
              <a:t>If the customer has a dev team building</a:t>
            </a:r>
            <a:endParaRPr lang="en-US" sz="1200" dirty="0"/>
          </a:p>
        </p:txBody>
      </p:sp>
      <p:sp>
        <p:nvSpPr>
          <p:cNvPr id="32" name="Text 30"/>
          <p:cNvSpPr/>
          <p:nvPr/>
        </p:nvSpPr>
        <p:spPr>
          <a:xfrm>
            <a:off x="8336128" y="2926080"/>
            <a:ext cx="32004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Azure AI Foundry</a:t>
            </a:r>
            <a:endParaRPr lang="en-US" sz="1800" dirty="0"/>
          </a:p>
        </p:txBody>
      </p:sp>
      <p:sp>
        <p:nvSpPr>
          <p:cNvPr id="33" name="Shape 31"/>
          <p:cNvSpPr/>
          <p:nvPr/>
        </p:nvSpPr>
        <p:spPr>
          <a:xfrm>
            <a:off x="8336128" y="3520440"/>
            <a:ext cx="3108960" cy="18288"/>
          </a:xfrm>
          <a:prstGeom prst="rect">
            <a:avLst/>
          </a:prstGeom>
          <a:solidFill>
            <a:srgbClr val="E1E6EF"/>
          </a:solidFill>
          <a:ln w="12700">
            <a:solidFill>
              <a:srgbClr val="E1E6EF"/>
            </a:solidFill>
            <a:prstDash val="solid"/>
          </a:ln>
        </p:spPr>
        <p:txBody>
          <a:bodyPr/>
          <a:lstStyle/>
          <a:p>
            <a:endParaRPr lang="en-ZA"/>
          </a:p>
        </p:txBody>
      </p:sp>
      <p:sp>
        <p:nvSpPr>
          <p:cNvPr id="34" name="Text 32"/>
          <p:cNvSpPr/>
          <p:nvPr/>
        </p:nvSpPr>
        <p:spPr>
          <a:xfrm>
            <a:off x="8336128" y="361188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FIRST</a:t>
            </a:r>
            <a:endParaRPr lang="en-US" sz="900" dirty="0"/>
          </a:p>
        </p:txBody>
      </p:sp>
      <p:sp>
        <p:nvSpPr>
          <p:cNvPr id="35" name="Text 33"/>
          <p:cNvSpPr/>
          <p:nvPr/>
        </p:nvSpPr>
        <p:spPr>
          <a:xfrm>
            <a:off x="8336128" y="3794760"/>
            <a:ext cx="3108960" cy="77724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AI landing zone · first production agent</a:t>
            </a:r>
            <a:endParaRPr lang="en-US" sz="1200" dirty="0"/>
          </a:p>
        </p:txBody>
      </p:sp>
      <p:sp>
        <p:nvSpPr>
          <p:cNvPr id="36" name="Text 34"/>
          <p:cNvSpPr/>
          <p:nvPr/>
        </p:nvSpPr>
        <p:spPr>
          <a:xfrm>
            <a:off x="8336128" y="4663440"/>
            <a:ext cx="3108960" cy="182880"/>
          </a:xfrm>
          <a:prstGeom prst="rect">
            <a:avLst/>
          </a:prstGeom>
          <a:noFill/>
          <a:ln/>
        </p:spPr>
        <p:txBody>
          <a:bodyPr wrap="square" rtlCol="0" anchor="ctr"/>
          <a:lstStyle/>
          <a:p>
            <a:pPr marL="0" indent="0">
              <a:buNone/>
            </a:pPr>
            <a:r>
              <a:rPr lang="en-US" sz="900" b="1" kern="0" spc="200" dirty="0">
                <a:solidFill>
                  <a:srgbClr val="8A94A6"/>
                </a:solidFill>
                <a:latin typeface="Segoe UI" pitchFamily="34" charset="0"/>
                <a:ea typeface="Segoe UI" pitchFamily="34" charset="-122"/>
                <a:cs typeface="Segoe UI" pitchFamily="34" charset="-120"/>
              </a:rPr>
              <a:t>THEN</a:t>
            </a:r>
            <a:endParaRPr lang="en-US" sz="900" dirty="0"/>
          </a:p>
        </p:txBody>
      </p:sp>
      <p:sp>
        <p:nvSpPr>
          <p:cNvPr id="37" name="Text 35"/>
          <p:cNvSpPr/>
          <p:nvPr/>
        </p:nvSpPr>
        <p:spPr>
          <a:xfrm>
            <a:off x="8336128" y="4846320"/>
            <a:ext cx="3108960" cy="100584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Surface A/B activation across remaining LoBs</a:t>
            </a:r>
            <a:endParaRPr lang="en-US" sz="1200" dirty="0"/>
          </a:p>
        </p:txBody>
      </p:sp>
      <p:sp>
        <p:nvSpPr>
          <p:cNvPr id="38" name="Text 36"/>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Whichever surface starts the conversation — the CoE covers all three. Lead with the customer's problem; never with our SKU.</a:t>
            </a:r>
            <a:endParaRPr lang="en-US" sz="1200" dirty="0"/>
          </a:p>
        </p:txBody>
      </p:sp>
      <p:pic>
        <p:nvPicPr>
          <p:cNvPr id="3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0" name="Text 37"/>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1" name="Text 3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3</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Choose the engagement shape</a:t>
            </a:r>
            <a:endParaRPr lang="en-US" sz="3000" dirty="0"/>
          </a:p>
        </p:txBody>
      </p:sp>
      <p:sp>
        <p:nvSpPr>
          <p:cNvPr id="5" name="Shape 3"/>
          <p:cNvSpPr/>
          <p:nvPr/>
        </p:nvSpPr>
        <p:spPr>
          <a:xfrm>
            <a:off x="47228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472288" y="1828800"/>
            <a:ext cx="3657600" cy="64008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4660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TIER</a:t>
            </a:r>
            <a:endParaRPr lang="en-US" sz="1200" dirty="0"/>
          </a:p>
        </p:txBody>
      </p:sp>
      <p:sp>
        <p:nvSpPr>
          <p:cNvPr id="8" name="Text 6"/>
          <p:cNvSpPr/>
          <p:nvPr/>
        </p:nvSpPr>
        <p:spPr>
          <a:xfrm>
            <a:off x="74660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Commercial structure</a:t>
            </a:r>
            <a:endParaRPr lang="en-US" sz="1100" dirty="0"/>
          </a:p>
        </p:txBody>
      </p:sp>
      <p:sp>
        <p:nvSpPr>
          <p:cNvPr id="9" name="Shape 7"/>
          <p:cNvSpPr/>
          <p:nvPr/>
        </p:nvSpPr>
        <p:spPr>
          <a:xfrm>
            <a:off x="70088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0" name="Text 8"/>
          <p:cNvSpPr/>
          <p:nvPr/>
        </p:nvSpPr>
        <p:spPr>
          <a:xfrm>
            <a:off x="838048" y="283464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1</a:t>
            </a:r>
            <a:endParaRPr lang="en-US" sz="1400" dirty="0"/>
          </a:p>
        </p:txBody>
      </p:sp>
      <p:sp>
        <p:nvSpPr>
          <p:cNvPr id="11" name="Text 9"/>
          <p:cNvSpPr/>
          <p:nvPr/>
        </p:nvSpPr>
        <p:spPr>
          <a:xfrm>
            <a:off x="83804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Envisioning · 2–6 weeks</a:t>
            </a:r>
            <a:endParaRPr lang="en-US" sz="1100" dirty="0"/>
          </a:p>
        </p:txBody>
      </p:sp>
      <p:sp>
        <p:nvSpPr>
          <p:cNvPr id="12" name="Shape 10"/>
          <p:cNvSpPr/>
          <p:nvPr/>
        </p:nvSpPr>
        <p:spPr>
          <a:xfrm>
            <a:off x="70088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3" name="Text 11"/>
          <p:cNvSpPr/>
          <p:nvPr/>
        </p:nvSpPr>
        <p:spPr>
          <a:xfrm>
            <a:off x="838048" y="379476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2</a:t>
            </a:r>
            <a:endParaRPr lang="en-US" sz="1400" dirty="0"/>
          </a:p>
        </p:txBody>
      </p:sp>
      <p:sp>
        <p:nvSpPr>
          <p:cNvPr id="14" name="Text 12"/>
          <p:cNvSpPr/>
          <p:nvPr/>
        </p:nvSpPr>
        <p:spPr>
          <a:xfrm>
            <a:off x="83804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Build · 3–9 months</a:t>
            </a:r>
            <a:endParaRPr lang="en-US" sz="1100" dirty="0"/>
          </a:p>
        </p:txBody>
      </p:sp>
      <p:sp>
        <p:nvSpPr>
          <p:cNvPr id="15" name="Shape 13"/>
          <p:cNvSpPr/>
          <p:nvPr/>
        </p:nvSpPr>
        <p:spPr>
          <a:xfrm>
            <a:off x="70088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16" name="Text 14"/>
          <p:cNvSpPr/>
          <p:nvPr/>
        </p:nvSpPr>
        <p:spPr>
          <a:xfrm>
            <a:off x="838048" y="4754880"/>
            <a:ext cx="3017520" cy="32004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Tier 3</a:t>
            </a:r>
            <a:endParaRPr lang="en-US" sz="1400" dirty="0"/>
          </a:p>
        </p:txBody>
      </p:sp>
      <p:sp>
        <p:nvSpPr>
          <p:cNvPr id="17" name="Text 15"/>
          <p:cNvSpPr/>
          <p:nvPr/>
        </p:nvSpPr>
        <p:spPr>
          <a:xfrm>
            <a:off x="83804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Managed Run · 12–36 months</a:t>
            </a:r>
            <a:endParaRPr lang="en-US" sz="1100" dirty="0"/>
          </a:p>
        </p:txBody>
      </p:sp>
      <p:sp>
        <p:nvSpPr>
          <p:cNvPr id="18" name="Shape 16"/>
          <p:cNvSpPr/>
          <p:nvPr/>
        </p:nvSpPr>
        <p:spPr>
          <a:xfrm>
            <a:off x="426704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19" name="Shape 17"/>
          <p:cNvSpPr/>
          <p:nvPr/>
        </p:nvSpPr>
        <p:spPr>
          <a:xfrm>
            <a:off x="4267048" y="1828800"/>
            <a:ext cx="3657600" cy="640080"/>
          </a:xfrm>
          <a:prstGeom prst="rect">
            <a:avLst/>
          </a:prstGeom>
          <a:solidFill>
            <a:srgbClr val="FF5C39"/>
          </a:solidFill>
          <a:ln w="12700">
            <a:solidFill>
              <a:srgbClr val="FF5C39"/>
            </a:solidFill>
            <a:prstDash val="solid"/>
          </a:ln>
        </p:spPr>
        <p:txBody>
          <a:bodyPr/>
          <a:lstStyle/>
          <a:p>
            <a:endParaRPr lang="en-ZA"/>
          </a:p>
        </p:txBody>
      </p:sp>
      <p:sp>
        <p:nvSpPr>
          <p:cNvPr id="20" name="Text 18"/>
          <p:cNvSpPr/>
          <p:nvPr/>
        </p:nvSpPr>
        <p:spPr>
          <a:xfrm>
            <a:off x="454136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ATO COMPONENT</a:t>
            </a:r>
            <a:endParaRPr lang="en-US" sz="1200" dirty="0"/>
          </a:p>
        </p:txBody>
      </p:sp>
      <p:sp>
        <p:nvSpPr>
          <p:cNvPr id="21" name="Text 19"/>
          <p:cNvSpPr/>
          <p:nvPr/>
        </p:nvSpPr>
        <p:spPr>
          <a:xfrm>
            <a:off x="454136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Funded delivery engine</a:t>
            </a:r>
            <a:endParaRPr lang="en-US" sz="1100" dirty="0"/>
          </a:p>
        </p:txBody>
      </p:sp>
      <p:sp>
        <p:nvSpPr>
          <p:cNvPr id="22" name="Shape 20"/>
          <p:cNvSpPr/>
          <p:nvPr/>
        </p:nvSpPr>
        <p:spPr>
          <a:xfrm>
            <a:off x="449564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3" name="Text 21"/>
          <p:cNvSpPr/>
          <p:nvPr/>
        </p:nvSpPr>
        <p:spPr>
          <a:xfrm>
            <a:off x="4632808" y="283464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C1</a:t>
            </a:r>
            <a:endParaRPr lang="en-US" sz="1400" dirty="0"/>
          </a:p>
        </p:txBody>
      </p:sp>
      <p:sp>
        <p:nvSpPr>
          <p:cNvPr id="24" name="Text 22"/>
          <p:cNvSpPr/>
          <p:nvPr/>
        </p:nvSpPr>
        <p:spPr>
          <a:xfrm>
            <a:off x="463280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Journey to Value · 1–2 wk</a:t>
            </a:r>
            <a:endParaRPr lang="en-US" sz="1100" dirty="0"/>
          </a:p>
        </p:txBody>
      </p:sp>
      <p:sp>
        <p:nvSpPr>
          <p:cNvPr id="25" name="Shape 23"/>
          <p:cNvSpPr/>
          <p:nvPr/>
        </p:nvSpPr>
        <p:spPr>
          <a:xfrm>
            <a:off x="449564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6" name="Text 24"/>
          <p:cNvSpPr/>
          <p:nvPr/>
        </p:nvSpPr>
        <p:spPr>
          <a:xfrm>
            <a:off x="4632808" y="379476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C2</a:t>
            </a:r>
            <a:endParaRPr lang="en-US" sz="1400" dirty="0"/>
          </a:p>
        </p:txBody>
      </p:sp>
      <p:sp>
        <p:nvSpPr>
          <p:cNvPr id="27" name="Text 25"/>
          <p:cNvSpPr/>
          <p:nvPr/>
        </p:nvSpPr>
        <p:spPr>
          <a:xfrm>
            <a:off x="463280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Foundation Architecture · 2–4 wk</a:t>
            </a:r>
            <a:endParaRPr lang="en-US" sz="1100" dirty="0"/>
          </a:p>
        </p:txBody>
      </p:sp>
      <p:sp>
        <p:nvSpPr>
          <p:cNvPr id="28" name="Shape 26"/>
          <p:cNvSpPr/>
          <p:nvPr/>
        </p:nvSpPr>
        <p:spPr>
          <a:xfrm>
            <a:off x="449564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29" name="Text 27"/>
          <p:cNvSpPr/>
          <p:nvPr/>
        </p:nvSpPr>
        <p:spPr>
          <a:xfrm>
            <a:off x="4632808" y="4754880"/>
            <a:ext cx="3017520" cy="320040"/>
          </a:xfrm>
          <a:prstGeom prst="rect">
            <a:avLst/>
          </a:prstGeom>
          <a:noFill/>
          <a:ln/>
        </p:spPr>
        <p:txBody>
          <a:bodyPr wrap="square" rtlCol="0" anchor="ctr"/>
          <a:lstStyle/>
          <a:p>
            <a:pPr marL="0" indent="0">
              <a:buNone/>
            </a:pPr>
            <a:r>
              <a:rPr lang="en-US" sz="1400" b="1" dirty="0">
                <a:solidFill>
                  <a:srgbClr val="FF5C39"/>
                </a:solidFill>
                <a:latin typeface="Segoe UI" pitchFamily="34" charset="0"/>
                <a:ea typeface="Segoe UI" pitchFamily="34" charset="-122"/>
                <a:cs typeface="Segoe UI" pitchFamily="34" charset="-120"/>
              </a:rPr>
              <a:t>C3</a:t>
            </a:r>
            <a:endParaRPr lang="en-US" sz="1400" dirty="0"/>
          </a:p>
        </p:txBody>
      </p:sp>
      <p:sp>
        <p:nvSpPr>
          <p:cNvPr id="30" name="Text 28"/>
          <p:cNvSpPr/>
          <p:nvPr/>
        </p:nvSpPr>
        <p:spPr>
          <a:xfrm>
            <a:off x="463280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Agent Factory · 7–9 wk</a:t>
            </a:r>
            <a:endParaRPr lang="en-US" sz="1100" dirty="0"/>
          </a:p>
        </p:txBody>
      </p:sp>
      <p:sp>
        <p:nvSpPr>
          <p:cNvPr id="31" name="Shape 29"/>
          <p:cNvSpPr/>
          <p:nvPr/>
        </p:nvSpPr>
        <p:spPr>
          <a:xfrm>
            <a:off x="8061808" y="1828800"/>
            <a:ext cx="3657600" cy="420624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32" name="Shape 30"/>
          <p:cNvSpPr/>
          <p:nvPr/>
        </p:nvSpPr>
        <p:spPr>
          <a:xfrm>
            <a:off x="8061808" y="1828800"/>
            <a:ext cx="3657600" cy="640080"/>
          </a:xfrm>
          <a:prstGeom prst="rect">
            <a:avLst/>
          </a:prstGeom>
          <a:solidFill>
            <a:srgbClr val="FFB900"/>
          </a:solidFill>
          <a:ln w="12700">
            <a:solidFill>
              <a:srgbClr val="FFB900"/>
            </a:solidFill>
            <a:prstDash val="solid"/>
          </a:ln>
        </p:spPr>
        <p:txBody>
          <a:bodyPr/>
          <a:lstStyle/>
          <a:p>
            <a:endParaRPr lang="en-ZA"/>
          </a:p>
        </p:txBody>
      </p:sp>
      <p:sp>
        <p:nvSpPr>
          <p:cNvPr id="33" name="Text 31"/>
          <p:cNvSpPr/>
          <p:nvPr/>
        </p:nvSpPr>
        <p:spPr>
          <a:xfrm>
            <a:off x="8336128" y="1874520"/>
            <a:ext cx="3200400" cy="32004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DELIVERY</a:t>
            </a:r>
            <a:endParaRPr lang="en-US" sz="1200" dirty="0"/>
          </a:p>
        </p:txBody>
      </p:sp>
      <p:sp>
        <p:nvSpPr>
          <p:cNvPr id="34" name="Text 32"/>
          <p:cNvSpPr/>
          <p:nvPr/>
        </p:nvSpPr>
        <p:spPr>
          <a:xfrm>
            <a:off x="8336128" y="2148840"/>
            <a:ext cx="3200400" cy="274320"/>
          </a:xfrm>
          <a:prstGeom prst="rect">
            <a:avLst/>
          </a:prstGeom>
          <a:noFill/>
          <a:ln/>
        </p:spPr>
        <p:txBody>
          <a:bodyPr wrap="square" rtlCol="0" anchor="ctr"/>
          <a:lstStyle/>
          <a:p>
            <a:pPr marL="0" indent="0">
              <a:buNone/>
            </a:pPr>
            <a:r>
              <a:rPr lang="en-US" sz="1100" i="1" dirty="0">
                <a:solidFill>
                  <a:srgbClr val="FFFFFF"/>
                </a:solidFill>
                <a:latin typeface="Segoe UI" pitchFamily="34" charset="0"/>
                <a:ea typeface="Segoe UI" pitchFamily="34" charset="-122"/>
                <a:cs typeface="Segoe UI" pitchFamily="34" charset="-120"/>
              </a:rPr>
              <a:t>Who builds it</a:t>
            </a:r>
            <a:endParaRPr lang="en-US" sz="1100" dirty="0"/>
          </a:p>
        </p:txBody>
      </p:sp>
      <p:sp>
        <p:nvSpPr>
          <p:cNvPr id="35" name="Shape 33"/>
          <p:cNvSpPr/>
          <p:nvPr/>
        </p:nvSpPr>
        <p:spPr>
          <a:xfrm>
            <a:off x="8290408" y="274320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36" name="Text 34"/>
          <p:cNvSpPr/>
          <p:nvPr/>
        </p:nvSpPr>
        <p:spPr>
          <a:xfrm>
            <a:off x="8427568" y="283464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Default</a:t>
            </a:r>
            <a:endParaRPr lang="en-US" sz="1400" dirty="0"/>
          </a:p>
        </p:txBody>
      </p:sp>
      <p:sp>
        <p:nvSpPr>
          <p:cNvPr id="37" name="Text 35"/>
          <p:cNvSpPr/>
          <p:nvPr/>
        </p:nvSpPr>
        <p:spPr>
          <a:xfrm>
            <a:off x="8427568" y="313639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Partner-led (Stream 3)</a:t>
            </a:r>
            <a:endParaRPr lang="en-US" sz="1100" dirty="0"/>
          </a:p>
        </p:txBody>
      </p:sp>
      <p:sp>
        <p:nvSpPr>
          <p:cNvPr id="38" name="Shape 36"/>
          <p:cNvSpPr/>
          <p:nvPr/>
        </p:nvSpPr>
        <p:spPr>
          <a:xfrm>
            <a:off x="8290408" y="370332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39" name="Text 37"/>
          <p:cNvSpPr/>
          <p:nvPr/>
        </p:nvSpPr>
        <p:spPr>
          <a:xfrm>
            <a:off x="8427568" y="379476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Factory</a:t>
            </a:r>
            <a:endParaRPr lang="en-US" sz="1400" dirty="0"/>
          </a:p>
        </p:txBody>
      </p:sp>
      <p:sp>
        <p:nvSpPr>
          <p:cNvPr id="40" name="Text 38"/>
          <p:cNvSpPr/>
          <p:nvPr/>
        </p:nvSpPr>
        <p:spPr>
          <a:xfrm>
            <a:off x="8427568" y="409651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F1 GenAI MVP / F2 ALZ — $0</a:t>
            </a:r>
            <a:endParaRPr lang="en-US" sz="1100" dirty="0"/>
          </a:p>
        </p:txBody>
      </p:sp>
      <p:sp>
        <p:nvSpPr>
          <p:cNvPr id="41" name="Shape 39"/>
          <p:cNvSpPr/>
          <p:nvPr/>
        </p:nvSpPr>
        <p:spPr>
          <a:xfrm>
            <a:off x="8290408" y="4663440"/>
            <a:ext cx="3200400" cy="822960"/>
          </a:xfrm>
          <a:prstGeom prst="roundRect">
            <a:avLst>
              <a:gd name="adj" fmla="val 6667"/>
            </a:avLst>
          </a:prstGeom>
          <a:solidFill>
            <a:srgbClr val="FFFFFF"/>
          </a:solidFill>
          <a:ln w="12700">
            <a:solidFill>
              <a:srgbClr val="E1E6EF"/>
            </a:solidFill>
            <a:prstDash val="solid"/>
          </a:ln>
        </p:spPr>
        <p:txBody>
          <a:bodyPr/>
          <a:lstStyle/>
          <a:p>
            <a:endParaRPr lang="en-ZA"/>
          </a:p>
        </p:txBody>
      </p:sp>
      <p:sp>
        <p:nvSpPr>
          <p:cNvPr id="42" name="Text 40"/>
          <p:cNvSpPr/>
          <p:nvPr/>
        </p:nvSpPr>
        <p:spPr>
          <a:xfrm>
            <a:off x="8427568" y="4754880"/>
            <a:ext cx="3017520" cy="320040"/>
          </a:xfrm>
          <a:prstGeom prst="rect">
            <a:avLst/>
          </a:prstGeom>
          <a:noFill/>
          <a:ln/>
        </p:spPr>
        <p:txBody>
          <a:bodyPr wrap="square" rtlCol="0" anchor="ctr"/>
          <a:lstStyle/>
          <a:p>
            <a:pPr marL="0" indent="0">
              <a:buNone/>
            </a:pPr>
            <a:r>
              <a:rPr lang="en-US" sz="1400" b="1" dirty="0">
                <a:solidFill>
                  <a:srgbClr val="FFB900"/>
                </a:solidFill>
                <a:latin typeface="Segoe UI" pitchFamily="34" charset="0"/>
                <a:ea typeface="Segoe UI" pitchFamily="34" charset="-122"/>
                <a:cs typeface="Segoe UI" pitchFamily="34" charset="-120"/>
              </a:rPr>
              <a:t>ISD</a:t>
            </a:r>
            <a:endParaRPr lang="en-US" sz="1400" dirty="0"/>
          </a:p>
        </p:txBody>
      </p:sp>
      <p:sp>
        <p:nvSpPr>
          <p:cNvPr id="43" name="Text 41"/>
          <p:cNvSpPr/>
          <p:nvPr/>
        </p:nvSpPr>
        <p:spPr>
          <a:xfrm>
            <a:off x="8427568" y="5056632"/>
            <a:ext cx="3017520" cy="365760"/>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Model A/B/C — sovereign</a:t>
            </a:r>
            <a:endParaRPr lang="en-US" sz="1100" dirty="0"/>
          </a:p>
        </p:txBody>
      </p:sp>
      <p:sp>
        <p:nvSpPr>
          <p:cNvPr id="44" name="Text 42"/>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91F2C"/>
                </a:solidFill>
                <a:latin typeface="Segoe UI" pitchFamily="34" charset="0"/>
                <a:ea typeface="Segoe UI" pitchFamily="34" charset="-122"/>
                <a:cs typeface="Segoe UI" pitchFamily="34" charset="-120"/>
              </a:rPr>
              <a:t>Name all three choices in the account plan — before Stage 3 kick-off. Improvising mid-delivery causes channel conflict.</a:t>
            </a:r>
            <a:endParaRPr lang="en-US" sz="1100" dirty="0"/>
          </a:p>
        </p:txBody>
      </p:sp>
      <p:pic>
        <p:nvPicPr>
          <p:cNvPr id="4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6" name="Text 43"/>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7" name="Text 4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4 · TIER 1 / ATO C1</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Run the Envisioning workshop</a:t>
            </a:r>
            <a:endParaRPr lang="en-US" sz="3000" dirty="0"/>
          </a:p>
        </p:txBody>
      </p:sp>
      <p:sp>
        <p:nvSpPr>
          <p:cNvPr id="5" name="Shape 3"/>
          <p:cNvSpPr/>
          <p:nvPr/>
        </p:nvSpPr>
        <p:spPr>
          <a:xfrm>
            <a:off x="548640" y="1691640"/>
            <a:ext cx="11064240" cy="640080"/>
          </a:xfrm>
          <a:prstGeom prst="roundRect">
            <a:avLst>
              <a:gd name="adj" fmla="val 1142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371600" cy="54864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FUNDING</a:t>
            </a:r>
            <a:endParaRPr lang="en-US" sz="1000" dirty="0"/>
          </a:p>
        </p:txBody>
      </p:sp>
      <p:sp>
        <p:nvSpPr>
          <p:cNvPr id="7" name="Text 5"/>
          <p:cNvSpPr/>
          <p:nvPr/>
        </p:nvSpPr>
        <p:spPr>
          <a:xfrm>
            <a:off x="2194560" y="1737360"/>
            <a:ext cx="5943600" cy="54864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Up to $50k pre-sales ECIF · 1:5 ROI gate · any Y1 ACR &gt; $1</a:t>
            </a:r>
            <a:endParaRPr lang="en-US" sz="1300" dirty="0"/>
          </a:p>
        </p:txBody>
      </p:sp>
      <p:sp>
        <p:nvSpPr>
          <p:cNvPr id="8" name="Text 6"/>
          <p:cNvSpPr/>
          <p:nvPr/>
        </p:nvSpPr>
        <p:spPr>
          <a:xfrm>
            <a:off x="8138160" y="1737360"/>
            <a:ext cx="3474720" cy="548640"/>
          </a:xfrm>
          <a:prstGeom prst="rect">
            <a:avLst/>
          </a:prstGeom>
          <a:noFill/>
          <a:ln/>
        </p:spPr>
        <p:txBody>
          <a:bodyPr wrap="square" rtlCol="0" anchor="ctr"/>
          <a:lstStyle/>
          <a:p>
            <a:pPr marL="0" indent="0">
              <a:buNone/>
            </a:pPr>
            <a:r>
              <a:rPr lang="en-US" sz="1200" i="1" dirty="0">
                <a:solidFill>
                  <a:srgbClr val="F5E6F0"/>
                </a:solidFill>
                <a:latin typeface="Segoe UI" pitchFamily="34" charset="0"/>
                <a:ea typeface="Segoe UI" pitchFamily="34" charset="-122"/>
                <a:cs typeface="Segoe UI" pitchFamily="34" charset="-120"/>
              </a:rPr>
              <a:t>Duration: 3 days workshop + 2 weeks output prep</a:t>
            </a:r>
            <a:endParaRPr lang="en-US" sz="1200" dirty="0"/>
          </a:p>
        </p:txBody>
      </p:sp>
      <p:sp>
        <p:nvSpPr>
          <p:cNvPr id="9" name="Shape 7"/>
          <p:cNvSpPr/>
          <p:nvPr/>
        </p:nvSpPr>
        <p:spPr>
          <a:xfrm>
            <a:off x="47228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472288" y="2468880"/>
            <a:ext cx="3657600" cy="457200"/>
          </a:xfrm>
          <a:prstGeom prst="rect">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70088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INPUTS</a:t>
            </a:r>
            <a:endParaRPr lang="en-US" sz="1200" dirty="0"/>
          </a:p>
        </p:txBody>
      </p:sp>
      <p:sp>
        <p:nvSpPr>
          <p:cNvPr id="12" name="Shape 10"/>
          <p:cNvSpPr/>
          <p:nvPr/>
        </p:nvSpPr>
        <p:spPr>
          <a:xfrm>
            <a:off x="746608" y="3154680"/>
            <a:ext cx="128016" cy="128016"/>
          </a:xfrm>
          <a:prstGeom prst="ellipse">
            <a:avLst/>
          </a:prstGeom>
          <a:solidFill>
            <a:srgbClr val="0078D4"/>
          </a:solidFill>
          <a:ln w="12700">
            <a:solidFill>
              <a:srgbClr val="0078D4"/>
            </a:solidFill>
            <a:prstDash val="solid"/>
          </a:ln>
        </p:spPr>
        <p:txBody>
          <a:bodyPr/>
          <a:lstStyle/>
          <a:p>
            <a:endParaRPr lang="en-ZA"/>
          </a:p>
        </p:txBody>
      </p:sp>
      <p:sp>
        <p:nvSpPr>
          <p:cNvPr id="13" name="Text 11"/>
          <p:cNvSpPr/>
          <p:nvPr/>
        </p:nvSpPr>
        <p:spPr>
          <a:xfrm>
            <a:off x="97520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Signed CoE Readiness Scorecard</a:t>
            </a:r>
            <a:endParaRPr lang="en-US" sz="1100" dirty="0"/>
          </a:p>
        </p:txBody>
      </p:sp>
      <p:sp>
        <p:nvSpPr>
          <p:cNvPr id="14" name="Shape 12"/>
          <p:cNvSpPr/>
          <p:nvPr/>
        </p:nvSpPr>
        <p:spPr>
          <a:xfrm>
            <a:off x="746608" y="3703320"/>
            <a:ext cx="128016" cy="128016"/>
          </a:xfrm>
          <a:prstGeom prst="ellipse">
            <a:avLst/>
          </a:prstGeom>
          <a:solidFill>
            <a:srgbClr val="0078D4"/>
          </a:solidFill>
          <a:ln w="12700">
            <a:solidFill>
              <a:srgbClr val="0078D4"/>
            </a:solidFill>
            <a:prstDash val="solid"/>
          </a:ln>
        </p:spPr>
        <p:txBody>
          <a:bodyPr/>
          <a:lstStyle/>
          <a:p>
            <a:endParaRPr lang="en-ZA"/>
          </a:p>
        </p:txBody>
      </p:sp>
      <p:sp>
        <p:nvSpPr>
          <p:cNvPr id="15" name="Text 13"/>
          <p:cNvSpPr/>
          <p:nvPr/>
        </p:nvSpPr>
        <p:spPr>
          <a:xfrm>
            <a:off x="97520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Customer's AI ambition statement</a:t>
            </a:r>
            <a:endParaRPr lang="en-US" sz="1100" dirty="0"/>
          </a:p>
        </p:txBody>
      </p:sp>
      <p:sp>
        <p:nvSpPr>
          <p:cNvPr id="16" name="Shape 14"/>
          <p:cNvSpPr/>
          <p:nvPr/>
        </p:nvSpPr>
        <p:spPr>
          <a:xfrm>
            <a:off x="746608" y="4251960"/>
            <a:ext cx="128016" cy="128016"/>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97520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Existing data estate map</a:t>
            </a:r>
            <a:endParaRPr lang="en-US" sz="1100" dirty="0"/>
          </a:p>
        </p:txBody>
      </p:sp>
      <p:sp>
        <p:nvSpPr>
          <p:cNvPr id="18" name="Shape 16"/>
          <p:cNvSpPr/>
          <p:nvPr/>
        </p:nvSpPr>
        <p:spPr>
          <a:xfrm>
            <a:off x="746608" y="4800600"/>
            <a:ext cx="128016" cy="128016"/>
          </a:xfrm>
          <a:prstGeom prst="ellipse">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97520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Use-case backlog (&gt;= 3 candidates)</a:t>
            </a:r>
            <a:endParaRPr lang="en-US" sz="1100" dirty="0"/>
          </a:p>
        </p:txBody>
      </p:sp>
      <p:sp>
        <p:nvSpPr>
          <p:cNvPr id="20" name="Shape 18"/>
          <p:cNvSpPr/>
          <p:nvPr/>
        </p:nvSpPr>
        <p:spPr>
          <a:xfrm>
            <a:off x="746608" y="5349240"/>
            <a:ext cx="128016" cy="128016"/>
          </a:xfrm>
          <a:prstGeom prst="ellipse">
            <a:avLst/>
          </a:prstGeom>
          <a:solidFill>
            <a:srgbClr val="0078D4"/>
          </a:solidFill>
          <a:ln w="12700">
            <a:solidFill>
              <a:srgbClr val="0078D4"/>
            </a:solidFill>
            <a:prstDash val="solid"/>
          </a:ln>
        </p:spPr>
        <p:txBody>
          <a:bodyPr/>
          <a:lstStyle/>
          <a:p>
            <a:endParaRPr lang="en-ZA"/>
          </a:p>
        </p:txBody>
      </p:sp>
      <p:sp>
        <p:nvSpPr>
          <p:cNvPr id="21" name="Text 19"/>
          <p:cNvSpPr/>
          <p:nvPr/>
        </p:nvSpPr>
        <p:spPr>
          <a:xfrm>
            <a:off x="97520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Exec sponsor calendar locked</a:t>
            </a:r>
            <a:endParaRPr lang="en-US" sz="1100" dirty="0"/>
          </a:p>
        </p:txBody>
      </p:sp>
      <p:sp>
        <p:nvSpPr>
          <p:cNvPr id="22" name="Shape 20"/>
          <p:cNvSpPr/>
          <p:nvPr/>
        </p:nvSpPr>
        <p:spPr>
          <a:xfrm>
            <a:off x="426704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23" name="Shape 21"/>
          <p:cNvSpPr/>
          <p:nvPr/>
        </p:nvSpPr>
        <p:spPr>
          <a:xfrm>
            <a:off x="4267048" y="2468880"/>
            <a:ext cx="3657600" cy="457200"/>
          </a:xfrm>
          <a:prstGeom prst="rect">
            <a:avLst/>
          </a:prstGeom>
          <a:solidFill>
            <a:srgbClr val="FF5C39"/>
          </a:solidFill>
          <a:ln w="12700">
            <a:solidFill>
              <a:srgbClr val="FF5C39"/>
            </a:solidFill>
            <a:prstDash val="solid"/>
          </a:ln>
        </p:spPr>
        <p:txBody>
          <a:bodyPr/>
          <a:lstStyle/>
          <a:p>
            <a:endParaRPr lang="en-ZA"/>
          </a:p>
        </p:txBody>
      </p:sp>
      <p:sp>
        <p:nvSpPr>
          <p:cNvPr id="24" name="Text 22"/>
          <p:cNvSpPr/>
          <p:nvPr/>
        </p:nvSpPr>
        <p:spPr>
          <a:xfrm>
            <a:off x="449564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WORKSHOP AGENDA</a:t>
            </a:r>
            <a:endParaRPr lang="en-US" sz="1200" dirty="0"/>
          </a:p>
        </p:txBody>
      </p:sp>
      <p:sp>
        <p:nvSpPr>
          <p:cNvPr id="25" name="Shape 23"/>
          <p:cNvSpPr/>
          <p:nvPr/>
        </p:nvSpPr>
        <p:spPr>
          <a:xfrm>
            <a:off x="4541368" y="3154680"/>
            <a:ext cx="128016" cy="128016"/>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476996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1 · Maturity assessment (Horizon 0–3)</a:t>
            </a:r>
            <a:endParaRPr lang="en-US" sz="1100" dirty="0"/>
          </a:p>
        </p:txBody>
      </p:sp>
      <p:sp>
        <p:nvSpPr>
          <p:cNvPr id="27" name="Shape 25"/>
          <p:cNvSpPr/>
          <p:nvPr/>
        </p:nvSpPr>
        <p:spPr>
          <a:xfrm>
            <a:off x="4541368" y="3703320"/>
            <a:ext cx="128016" cy="128016"/>
          </a:xfrm>
          <a:prstGeom prst="ellipse">
            <a:avLst/>
          </a:prstGeom>
          <a:solidFill>
            <a:srgbClr val="FF5C39"/>
          </a:solidFill>
          <a:ln w="12700">
            <a:solidFill>
              <a:srgbClr val="FF5C39"/>
            </a:solidFill>
            <a:prstDash val="solid"/>
          </a:ln>
        </p:spPr>
        <p:txBody>
          <a:bodyPr/>
          <a:lstStyle/>
          <a:p>
            <a:endParaRPr lang="en-ZA"/>
          </a:p>
        </p:txBody>
      </p:sp>
      <p:sp>
        <p:nvSpPr>
          <p:cNvPr id="28" name="Text 26"/>
          <p:cNvSpPr/>
          <p:nvPr/>
        </p:nvSpPr>
        <p:spPr>
          <a:xfrm>
            <a:off x="476996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1 · Pillar gap analysis (5+1)</a:t>
            </a:r>
            <a:endParaRPr lang="en-US" sz="1100" dirty="0"/>
          </a:p>
        </p:txBody>
      </p:sp>
      <p:sp>
        <p:nvSpPr>
          <p:cNvPr id="29" name="Shape 27"/>
          <p:cNvSpPr/>
          <p:nvPr/>
        </p:nvSpPr>
        <p:spPr>
          <a:xfrm>
            <a:off x="4541368" y="4251960"/>
            <a:ext cx="128016" cy="128016"/>
          </a:xfrm>
          <a:prstGeom prst="ellipse">
            <a:avLst/>
          </a:prstGeom>
          <a:solidFill>
            <a:srgbClr val="FF5C39"/>
          </a:solidFill>
          <a:ln w="12700">
            <a:solidFill>
              <a:srgbClr val="FF5C39"/>
            </a:solidFill>
            <a:prstDash val="solid"/>
          </a:ln>
        </p:spPr>
        <p:txBody>
          <a:bodyPr/>
          <a:lstStyle/>
          <a:p>
            <a:endParaRPr lang="en-ZA"/>
          </a:p>
        </p:txBody>
      </p:sp>
      <p:sp>
        <p:nvSpPr>
          <p:cNvPr id="30" name="Text 28"/>
          <p:cNvSpPr/>
          <p:nvPr/>
        </p:nvSpPr>
        <p:spPr>
          <a:xfrm>
            <a:off x="476996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2 · Use-case prioritisation matrix</a:t>
            </a:r>
            <a:endParaRPr lang="en-US" sz="1100" dirty="0"/>
          </a:p>
        </p:txBody>
      </p:sp>
      <p:sp>
        <p:nvSpPr>
          <p:cNvPr id="31" name="Shape 29"/>
          <p:cNvSpPr/>
          <p:nvPr/>
        </p:nvSpPr>
        <p:spPr>
          <a:xfrm>
            <a:off x="4541368" y="4800600"/>
            <a:ext cx="128016" cy="128016"/>
          </a:xfrm>
          <a:prstGeom prst="ellipse">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476996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2 · Responsible AI red-team</a:t>
            </a:r>
            <a:endParaRPr lang="en-US" sz="1100" dirty="0"/>
          </a:p>
        </p:txBody>
      </p:sp>
      <p:sp>
        <p:nvSpPr>
          <p:cNvPr id="33" name="Shape 31"/>
          <p:cNvSpPr/>
          <p:nvPr/>
        </p:nvSpPr>
        <p:spPr>
          <a:xfrm>
            <a:off x="4541368" y="5349240"/>
            <a:ext cx="128016" cy="128016"/>
          </a:xfrm>
          <a:prstGeom prst="ellipse">
            <a:avLst/>
          </a:prstGeom>
          <a:solidFill>
            <a:srgbClr val="FF5C39"/>
          </a:solidFill>
          <a:ln w="12700">
            <a:solidFill>
              <a:srgbClr val="FF5C39"/>
            </a:solidFill>
            <a:prstDash val="solid"/>
          </a:ln>
        </p:spPr>
        <p:txBody>
          <a:bodyPr/>
          <a:lstStyle/>
          <a:p>
            <a:endParaRPr lang="en-ZA"/>
          </a:p>
        </p:txBody>
      </p:sp>
      <p:sp>
        <p:nvSpPr>
          <p:cNvPr id="34" name="Text 32"/>
          <p:cNvSpPr/>
          <p:nvPr/>
        </p:nvSpPr>
        <p:spPr>
          <a:xfrm>
            <a:off x="476996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Day 3 · CoE charter + roadmap signing</a:t>
            </a:r>
            <a:endParaRPr lang="en-US" sz="1100" dirty="0"/>
          </a:p>
        </p:txBody>
      </p:sp>
      <p:sp>
        <p:nvSpPr>
          <p:cNvPr id="35" name="Shape 33"/>
          <p:cNvSpPr/>
          <p:nvPr/>
        </p:nvSpPr>
        <p:spPr>
          <a:xfrm>
            <a:off x="8061808" y="2468880"/>
            <a:ext cx="3657600" cy="3657600"/>
          </a:xfrm>
          <a:prstGeom prst="roundRect">
            <a:avLst>
              <a:gd name="adj" fmla="val 2000"/>
            </a:avLst>
          </a:prstGeom>
          <a:solidFill>
            <a:srgbClr val="FFFFFF"/>
          </a:solidFill>
          <a:ln w="12700">
            <a:solidFill>
              <a:srgbClr val="E1E6EF"/>
            </a:solidFill>
            <a:prstDash val="solid"/>
          </a:ln>
        </p:spPr>
        <p:txBody>
          <a:bodyPr/>
          <a:lstStyle/>
          <a:p>
            <a:endParaRPr lang="en-ZA"/>
          </a:p>
        </p:txBody>
      </p:sp>
      <p:sp>
        <p:nvSpPr>
          <p:cNvPr id="36" name="Shape 34"/>
          <p:cNvSpPr/>
          <p:nvPr/>
        </p:nvSpPr>
        <p:spPr>
          <a:xfrm>
            <a:off x="8061808" y="2468880"/>
            <a:ext cx="3657600" cy="457200"/>
          </a:xfrm>
          <a:prstGeom prst="rect">
            <a:avLst/>
          </a:prstGeom>
          <a:solidFill>
            <a:srgbClr val="225B62"/>
          </a:solidFill>
          <a:ln w="12700">
            <a:solidFill>
              <a:srgbClr val="225B62"/>
            </a:solidFill>
            <a:prstDash val="solid"/>
          </a:ln>
        </p:spPr>
        <p:txBody>
          <a:bodyPr/>
          <a:lstStyle/>
          <a:p>
            <a:endParaRPr lang="en-ZA"/>
          </a:p>
        </p:txBody>
      </p:sp>
      <p:sp>
        <p:nvSpPr>
          <p:cNvPr id="37" name="Text 35"/>
          <p:cNvSpPr/>
          <p:nvPr/>
        </p:nvSpPr>
        <p:spPr>
          <a:xfrm>
            <a:off x="8290408" y="2468880"/>
            <a:ext cx="3200400" cy="457200"/>
          </a:xfrm>
          <a:prstGeom prst="rect">
            <a:avLst/>
          </a:prstGeom>
          <a:noFill/>
          <a:ln/>
        </p:spPr>
        <p:txBody>
          <a:bodyPr wrap="square" rtlCol="0" anchor="ctr"/>
          <a:lstStyle/>
          <a:p>
            <a:pPr marL="0" indent="0">
              <a:buNone/>
            </a:pPr>
            <a:r>
              <a:rPr lang="en-US" sz="1200" b="1" kern="0" spc="300" dirty="0">
                <a:solidFill>
                  <a:srgbClr val="FFFFFF"/>
                </a:solidFill>
                <a:latin typeface="Segoe UI" pitchFamily="34" charset="0"/>
                <a:ea typeface="Segoe UI" pitchFamily="34" charset="-122"/>
                <a:cs typeface="Segoe UI" pitchFamily="34" charset="-120"/>
              </a:rPr>
              <a:t>OUTPUTS</a:t>
            </a:r>
            <a:endParaRPr lang="en-US" sz="1200" dirty="0"/>
          </a:p>
        </p:txBody>
      </p:sp>
      <p:sp>
        <p:nvSpPr>
          <p:cNvPr id="38" name="Shape 36"/>
          <p:cNvSpPr/>
          <p:nvPr/>
        </p:nvSpPr>
        <p:spPr>
          <a:xfrm>
            <a:off x="8336128" y="3154680"/>
            <a:ext cx="128016" cy="128016"/>
          </a:xfrm>
          <a:prstGeom prst="ellipse">
            <a:avLst/>
          </a:prstGeom>
          <a:solidFill>
            <a:srgbClr val="225B62"/>
          </a:solidFill>
          <a:ln w="12700">
            <a:solidFill>
              <a:srgbClr val="225B62"/>
            </a:solidFill>
            <a:prstDash val="solid"/>
          </a:ln>
        </p:spPr>
        <p:txBody>
          <a:bodyPr/>
          <a:lstStyle/>
          <a:p>
            <a:endParaRPr lang="en-ZA"/>
          </a:p>
        </p:txBody>
      </p:sp>
      <p:sp>
        <p:nvSpPr>
          <p:cNvPr id="39" name="Text 37"/>
          <p:cNvSpPr/>
          <p:nvPr/>
        </p:nvSpPr>
        <p:spPr>
          <a:xfrm>
            <a:off x="8564728" y="306324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CoE charter (signed)</a:t>
            </a:r>
            <a:endParaRPr lang="en-US" sz="1100" dirty="0"/>
          </a:p>
        </p:txBody>
      </p:sp>
      <p:sp>
        <p:nvSpPr>
          <p:cNvPr id="40" name="Shape 38"/>
          <p:cNvSpPr/>
          <p:nvPr/>
        </p:nvSpPr>
        <p:spPr>
          <a:xfrm>
            <a:off x="8336128" y="3703320"/>
            <a:ext cx="128016" cy="128016"/>
          </a:xfrm>
          <a:prstGeom prst="ellipse">
            <a:avLst/>
          </a:prstGeom>
          <a:solidFill>
            <a:srgbClr val="225B62"/>
          </a:solidFill>
          <a:ln w="12700">
            <a:solidFill>
              <a:srgbClr val="225B62"/>
            </a:solidFill>
            <a:prstDash val="solid"/>
          </a:ln>
        </p:spPr>
        <p:txBody>
          <a:bodyPr/>
          <a:lstStyle/>
          <a:p>
            <a:endParaRPr lang="en-ZA"/>
          </a:p>
        </p:txBody>
      </p:sp>
      <p:sp>
        <p:nvSpPr>
          <p:cNvPr id="41" name="Text 39"/>
          <p:cNvSpPr/>
          <p:nvPr/>
        </p:nvSpPr>
        <p:spPr>
          <a:xfrm>
            <a:off x="8564728" y="361188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Prioritised use-case backlog (top 5)</a:t>
            </a:r>
            <a:endParaRPr lang="en-US" sz="1100" dirty="0"/>
          </a:p>
        </p:txBody>
      </p:sp>
      <p:sp>
        <p:nvSpPr>
          <p:cNvPr id="42" name="Shape 40"/>
          <p:cNvSpPr/>
          <p:nvPr/>
        </p:nvSpPr>
        <p:spPr>
          <a:xfrm>
            <a:off x="8336128" y="4251960"/>
            <a:ext cx="128016" cy="128016"/>
          </a:xfrm>
          <a:prstGeom prst="ellipse">
            <a:avLst/>
          </a:prstGeom>
          <a:solidFill>
            <a:srgbClr val="225B62"/>
          </a:solidFill>
          <a:ln w="12700">
            <a:solidFill>
              <a:srgbClr val="225B62"/>
            </a:solidFill>
            <a:prstDash val="solid"/>
          </a:ln>
        </p:spPr>
        <p:txBody>
          <a:bodyPr/>
          <a:lstStyle/>
          <a:p>
            <a:endParaRPr lang="en-ZA"/>
          </a:p>
        </p:txBody>
      </p:sp>
      <p:sp>
        <p:nvSpPr>
          <p:cNvPr id="43" name="Text 41"/>
          <p:cNvSpPr/>
          <p:nvPr/>
        </p:nvSpPr>
        <p:spPr>
          <a:xfrm>
            <a:off x="8564728" y="416052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Horizon baseline + 12-month target</a:t>
            </a:r>
            <a:endParaRPr lang="en-US" sz="1100" dirty="0"/>
          </a:p>
        </p:txBody>
      </p:sp>
      <p:sp>
        <p:nvSpPr>
          <p:cNvPr id="44" name="Shape 42"/>
          <p:cNvSpPr/>
          <p:nvPr/>
        </p:nvSpPr>
        <p:spPr>
          <a:xfrm>
            <a:off x="8336128" y="4800600"/>
            <a:ext cx="128016" cy="128016"/>
          </a:xfrm>
          <a:prstGeom prst="ellipse">
            <a:avLst/>
          </a:prstGeom>
          <a:solidFill>
            <a:srgbClr val="225B62"/>
          </a:solidFill>
          <a:ln w="12700">
            <a:solidFill>
              <a:srgbClr val="225B62"/>
            </a:solidFill>
            <a:prstDash val="solid"/>
          </a:ln>
        </p:spPr>
        <p:txBody>
          <a:bodyPr/>
          <a:lstStyle/>
          <a:p>
            <a:endParaRPr lang="en-ZA"/>
          </a:p>
        </p:txBody>
      </p:sp>
      <p:sp>
        <p:nvSpPr>
          <p:cNvPr id="45" name="Text 43"/>
          <p:cNvSpPr/>
          <p:nvPr/>
        </p:nvSpPr>
        <p:spPr>
          <a:xfrm>
            <a:off x="8564728" y="470916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Tier 2 SOW + ATO C2 funding plan</a:t>
            </a:r>
            <a:endParaRPr lang="en-US" sz="1100" dirty="0"/>
          </a:p>
        </p:txBody>
      </p:sp>
      <p:sp>
        <p:nvSpPr>
          <p:cNvPr id="46" name="Shape 44"/>
          <p:cNvSpPr/>
          <p:nvPr/>
        </p:nvSpPr>
        <p:spPr>
          <a:xfrm>
            <a:off x="8336128" y="5349240"/>
            <a:ext cx="128016" cy="128016"/>
          </a:xfrm>
          <a:prstGeom prst="ellipse">
            <a:avLst/>
          </a:prstGeom>
          <a:solidFill>
            <a:srgbClr val="225B62"/>
          </a:solidFill>
          <a:ln w="12700">
            <a:solidFill>
              <a:srgbClr val="225B62"/>
            </a:solidFill>
            <a:prstDash val="solid"/>
          </a:ln>
        </p:spPr>
        <p:txBody>
          <a:bodyPr/>
          <a:lstStyle/>
          <a:p>
            <a:endParaRPr lang="en-ZA"/>
          </a:p>
        </p:txBody>
      </p:sp>
      <p:sp>
        <p:nvSpPr>
          <p:cNvPr id="47" name="Text 45"/>
          <p:cNvSpPr/>
          <p:nvPr/>
        </p:nvSpPr>
        <p:spPr>
          <a:xfrm>
            <a:off x="8564728" y="5257800"/>
            <a:ext cx="2971800" cy="4572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First Pilot named with business owner</a:t>
            </a:r>
            <a:endParaRPr lang="en-US" sz="1100" dirty="0"/>
          </a:p>
        </p:txBody>
      </p:sp>
      <p:sp>
        <p:nvSpPr>
          <p:cNvPr id="48" name="Text 46"/>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0078D4"/>
                </a:solidFill>
                <a:latin typeface="Segoe UI" pitchFamily="34" charset="0"/>
                <a:ea typeface="Segoe UI" pitchFamily="34" charset="-122"/>
                <a:cs typeface="Segoe UI" pitchFamily="34" charset="-120"/>
              </a:rPr>
              <a:t>Do not skip the maturity assessment — it is the artefact you will return to in every QBR.</a:t>
            </a:r>
            <a:endParaRPr lang="en-US" sz="1100" dirty="0"/>
          </a:p>
        </p:txBody>
      </p:sp>
      <p:pic>
        <p:nvPicPr>
          <p:cNvPr id="4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0" name="Text 47"/>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51" name="Text 4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5 · TIER 2 / ATO C2</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Stand up the CoE</a:t>
            </a:r>
            <a:endParaRPr lang="en-US" sz="3000" dirty="0"/>
          </a:p>
        </p:txBody>
      </p:sp>
      <p:sp>
        <p:nvSpPr>
          <p:cNvPr id="5" name="Shape 3"/>
          <p:cNvSpPr/>
          <p:nvPr/>
        </p:nvSpPr>
        <p:spPr>
          <a:xfrm>
            <a:off x="548640" y="1828800"/>
            <a:ext cx="676656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1965960"/>
            <a:ext cx="64008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WHAT GETS BUILT (3–9 months)</a:t>
            </a:r>
            <a:endParaRPr lang="en-US" sz="1100" dirty="0"/>
          </a:p>
        </p:txBody>
      </p:sp>
      <p:sp>
        <p:nvSpPr>
          <p:cNvPr id="7" name="Shape 5"/>
          <p:cNvSpPr/>
          <p:nvPr/>
        </p:nvSpPr>
        <p:spPr>
          <a:xfrm>
            <a:off x="868680" y="2423160"/>
            <a:ext cx="457200" cy="457200"/>
          </a:xfrm>
          <a:prstGeom prst="ellipse">
            <a:avLst/>
          </a:prstGeom>
          <a:solidFill>
            <a:srgbClr val="0078D4"/>
          </a:solidFill>
          <a:ln w="12700">
            <a:solidFill>
              <a:srgbClr val="0078D4"/>
            </a:solidFill>
            <a:prstDash val="solid"/>
          </a:ln>
        </p:spPr>
        <p:txBody>
          <a:bodyPr/>
          <a:lstStyle/>
          <a:p>
            <a:endParaRPr lang="en-ZA"/>
          </a:p>
        </p:txBody>
      </p:sp>
      <p:sp>
        <p:nvSpPr>
          <p:cNvPr id="8" name="Text 6"/>
          <p:cNvSpPr/>
          <p:nvPr/>
        </p:nvSpPr>
        <p:spPr>
          <a:xfrm>
            <a:off x="868680" y="24231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9" name="Text 7"/>
          <p:cNvSpPr/>
          <p:nvPr/>
        </p:nvSpPr>
        <p:spPr>
          <a:xfrm>
            <a:off x="1463040" y="23774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Governance stand-up</a:t>
            </a:r>
            <a:endParaRPr lang="en-US" sz="1400" dirty="0"/>
          </a:p>
        </p:txBody>
      </p:sp>
      <p:sp>
        <p:nvSpPr>
          <p:cNvPr id="10" name="Text 8"/>
          <p:cNvSpPr/>
          <p:nvPr/>
        </p:nvSpPr>
        <p:spPr>
          <a:xfrm>
            <a:off x="1463040" y="27432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CoE council formed · Responsible AI standard ratified · operating cadence locked</a:t>
            </a:r>
            <a:endParaRPr lang="en-US" sz="1100" dirty="0"/>
          </a:p>
        </p:txBody>
      </p:sp>
      <p:sp>
        <p:nvSpPr>
          <p:cNvPr id="11" name="Shape 9"/>
          <p:cNvSpPr/>
          <p:nvPr/>
        </p:nvSpPr>
        <p:spPr>
          <a:xfrm>
            <a:off x="868680" y="3337560"/>
            <a:ext cx="457200" cy="45720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8680" y="33375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3" name="Text 11"/>
          <p:cNvSpPr/>
          <p:nvPr/>
        </p:nvSpPr>
        <p:spPr>
          <a:xfrm>
            <a:off x="1463040" y="32918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Landing Zone</a:t>
            </a:r>
            <a:endParaRPr lang="en-US" sz="1400" dirty="0"/>
          </a:p>
        </p:txBody>
      </p:sp>
      <p:sp>
        <p:nvSpPr>
          <p:cNvPr id="14" name="Text 12"/>
          <p:cNvSpPr/>
          <p:nvPr/>
        </p:nvSpPr>
        <p:spPr>
          <a:xfrm>
            <a:off x="1463040" y="36576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Nominate Factory F2 (zero cost) · Foundry hub · Fabric/OneLake · Purview labels · cost guardrails</a:t>
            </a:r>
            <a:endParaRPr lang="en-US" sz="1100" dirty="0"/>
          </a:p>
        </p:txBody>
      </p:sp>
      <p:sp>
        <p:nvSpPr>
          <p:cNvPr id="15" name="Shape 13"/>
          <p:cNvSpPr/>
          <p:nvPr/>
        </p:nvSpPr>
        <p:spPr>
          <a:xfrm>
            <a:off x="868680" y="4251960"/>
            <a:ext cx="457200" cy="457200"/>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868680" y="42519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7" name="Text 15"/>
          <p:cNvSpPr/>
          <p:nvPr/>
        </p:nvSpPr>
        <p:spPr>
          <a:xfrm>
            <a:off x="1463040" y="42062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First pilot to production</a:t>
            </a:r>
            <a:endParaRPr lang="en-US" sz="1400" dirty="0"/>
          </a:p>
        </p:txBody>
      </p:sp>
      <p:sp>
        <p:nvSpPr>
          <p:cNvPr id="18" name="Text 16"/>
          <p:cNvSpPr/>
          <p:nvPr/>
        </p:nvSpPr>
        <p:spPr>
          <a:xfrm>
            <a:off x="1463040" y="45720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End-to-end agent · GenAIOps pipeline · monitoring + telemetry · go-live runbook</a:t>
            </a:r>
            <a:endParaRPr lang="en-US" sz="1100" dirty="0"/>
          </a:p>
        </p:txBody>
      </p:sp>
      <p:sp>
        <p:nvSpPr>
          <p:cNvPr id="19" name="Shape 17"/>
          <p:cNvSpPr/>
          <p:nvPr/>
        </p:nvSpPr>
        <p:spPr>
          <a:xfrm>
            <a:off x="868680" y="5166360"/>
            <a:ext cx="457200" cy="45720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868680" y="5166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21" name="Text 19"/>
          <p:cNvSpPr/>
          <p:nvPr/>
        </p:nvSpPr>
        <p:spPr>
          <a:xfrm>
            <a:off x="1463040" y="5120640"/>
            <a:ext cx="566928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Skilling wave 1</a:t>
            </a:r>
            <a:endParaRPr lang="en-US" sz="1400" dirty="0"/>
          </a:p>
        </p:txBody>
      </p:sp>
      <p:sp>
        <p:nvSpPr>
          <p:cNvPr id="22" name="Text 20"/>
          <p:cNvSpPr/>
          <p:nvPr/>
        </p:nvSpPr>
        <p:spPr>
          <a:xfrm>
            <a:off x="1463040" y="5486400"/>
            <a:ext cx="5669280" cy="5486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AI-102 + Copilot certifications · CoE practitioner cohort certified</a:t>
            </a:r>
            <a:endParaRPr lang="en-US" sz="1100" dirty="0"/>
          </a:p>
        </p:txBody>
      </p:sp>
      <p:sp>
        <p:nvSpPr>
          <p:cNvPr id="23" name="Shape 21"/>
          <p:cNvSpPr/>
          <p:nvPr/>
        </p:nvSpPr>
        <p:spPr>
          <a:xfrm>
            <a:off x="7452360" y="1828800"/>
            <a:ext cx="4206240" cy="4297680"/>
          </a:xfrm>
          <a:prstGeom prst="roundRect">
            <a:avLst>
              <a:gd name="adj" fmla="val 2609"/>
            </a:avLst>
          </a:prstGeom>
          <a:solidFill>
            <a:srgbClr val="091F2C"/>
          </a:solidFill>
          <a:ln w="12700">
            <a:solidFill>
              <a:srgbClr val="091F2C"/>
            </a:solidFill>
            <a:prstDash val="solid"/>
          </a:ln>
        </p:spPr>
        <p:txBody>
          <a:bodyPr/>
          <a:lstStyle/>
          <a:p>
            <a:endParaRPr lang="en-ZA"/>
          </a:p>
        </p:txBody>
      </p:sp>
      <p:sp>
        <p:nvSpPr>
          <p:cNvPr id="24" name="Text 22"/>
          <p:cNvSpPr/>
          <p:nvPr/>
        </p:nvSpPr>
        <p:spPr>
          <a:xfrm>
            <a:off x="7680960" y="1965960"/>
            <a:ext cx="374904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GATE TO ADVANCE</a:t>
            </a:r>
            <a:endParaRPr lang="en-US" sz="1100" dirty="0"/>
          </a:p>
        </p:txBody>
      </p:sp>
      <p:sp>
        <p:nvSpPr>
          <p:cNvPr id="25" name="Text 23"/>
          <p:cNvSpPr/>
          <p:nvPr/>
        </p:nvSpPr>
        <p:spPr>
          <a:xfrm>
            <a:off x="7680960" y="2240280"/>
            <a:ext cx="3749040" cy="36576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To move to Step 6</a:t>
            </a:r>
            <a:endParaRPr lang="en-US" sz="1600" dirty="0"/>
          </a:p>
        </p:txBody>
      </p:sp>
      <p:sp>
        <p:nvSpPr>
          <p:cNvPr id="26" name="Text 24"/>
          <p:cNvSpPr/>
          <p:nvPr/>
        </p:nvSpPr>
        <p:spPr>
          <a:xfrm>
            <a:off x="7680960" y="2743200"/>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27" name="Text 25"/>
          <p:cNvSpPr/>
          <p:nvPr/>
        </p:nvSpPr>
        <p:spPr>
          <a:xfrm>
            <a:off x="8001000" y="2788920"/>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Responsible AI standard signed by CoE council</a:t>
            </a:r>
            <a:endParaRPr lang="en-US" sz="1100" dirty="0"/>
          </a:p>
        </p:txBody>
      </p:sp>
      <p:sp>
        <p:nvSpPr>
          <p:cNvPr id="28" name="Text 26"/>
          <p:cNvSpPr/>
          <p:nvPr/>
        </p:nvSpPr>
        <p:spPr>
          <a:xfrm>
            <a:off x="7680960" y="3310128"/>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29" name="Text 27"/>
          <p:cNvSpPr/>
          <p:nvPr/>
        </p:nvSpPr>
        <p:spPr>
          <a:xfrm>
            <a:off x="8001000" y="3355848"/>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AI landing zone deployed in production tenant</a:t>
            </a:r>
            <a:endParaRPr lang="en-US" sz="1100" dirty="0"/>
          </a:p>
        </p:txBody>
      </p:sp>
      <p:sp>
        <p:nvSpPr>
          <p:cNvPr id="30" name="Text 28"/>
          <p:cNvSpPr/>
          <p:nvPr/>
        </p:nvSpPr>
        <p:spPr>
          <a:xfrm>
            <a:off x="7680960" y="3877056"/>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1" name="Text 29"/>
          <p:cNvSpPr/>
          <p:nvPr/>
        </p:nvSpPr>
        <p:spPr>
          <a:xfrm>
            <a:off x="8001000" y="3922776"/>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1 pilot live with named business owner</a:t>
            </a:r>
            <a:endParaRPr lang="en-US" sz="1100" dirty="0"/>
          </a:p>
        </p:txBody>
      </p:sp>
      <p:sp>
        <p:nvSpPr>
          <p:cNvPr id="32" name="Text 30"/>
          <p:cNvSpPr/>
          <p:nvPr/>
        </p:nvSpPr>
        <p:spPr>
          <a:xfrm>
            <a:off x="7680960" y="4443984"/>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3" name="Text 31"/>
          <p:cNvSpPr/>
          <p:nvPr/>
        </p:nvSpPr>
        <p:spPr>
          <a:xfrm>
            <a:off x="8001000" y="4489704"/>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GenAIOps telemetry flowing to dashboard</a:t>
            </a:r>
            <a:endParaRPr lang="en-US" sz="1100" dirty="0"/>
          </a:p>
        </p:txBody>
      </p:sp>
      <p:sp>
        <p:nvSpPr>
          <p:cNvPr id="34" name="Text 32"/>
          <p:cNvSpPr/>
          <p:nvPr/>
        </p:nvSpPr>
        <p:spPr>
          <a:xfrm>
            <a:off x="7680960" y="5010912"/>
            <a:ext cx="274320" cy="365760"/>
          </a:xfrm>
          <a:prstGeom prst="rect">
            <a:avLst/>
          </a:prstGeom>
          <a:noFill/>
          <a:ln/>
        </p:spPr>
        <p:txBody>
          <a:bodyPr wrap="square" rtlCol="0" anchor="ctr"/>
          <a:lstStyle/>
          <a:p>
            <a:pPr marL="0" indent="0">
              <a:buNone/>
            </a:pPr>
            <a:r>
              <a:rPr lang="en-US" sz="1600" b="1" dirty="0">
                <a:solidFill>
                  <a:srgbClr val="C03BC4"/>
                </a:solidFill>
                <a:latin typeface="Segoe UI" pitchFamily="34" charset="0"/>
                <a:ea typeface="Segoe UI" pitchFamily="34" charset="-122"/>
                <a:cs typeface="Segoe UI" pitchFamily="34" charset="-120"/>
              </a:rPr>
              <a:t>✓</a:t>
            </a:r>
            <a:endParaRPr lang="en-US" sz="1600" dirty="0"/>
          </a:p>
        </p:txBody>
      </p:sp>
      <p:sp>
        <p:nvSpPr>
          <p:cNvPr id="35" name="Text 33"/>
          <p:cNvSpPr/>
          <p:nvPr/>
        </p:nvSpPr>
        <p:spPr>
          <a:xfrm>
            <a:off x="8001000" y="5056632"/>
            <a:ext cx="352044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AI Foundry + Fabric (or Databases) attached</a:t>
            </a:r>
            <a:endParaRPr lang="en-US" sz="1100" dirty="0"/>
          </a:p>
        </p:txBody>
      </p:sp>
      <p:sp>
        <p:nvSpPr>
          <p:cNvPr id="36" name="Text 34"/>
          <p:cNvSpPr/>
          <p:nvPr/>
        </p:nvSpPr>
        <p:spPr>
          <a:xfrm>
            <a:off x="7680960" y="5760720"/>
            <a:ext cx="3749040" cy="320040"/>
          </a:xfrm>
          <a:prstGeom prst="rect">
            <a:avLst/>
          </a:prstGeom>
          <a:noFill/>
          <a:ln/>
        </p:spPr>
        <p:txBody>
          <a:bodyPr wrap="square" rtlCol="0" anchor="ctr"/>
          <a:lstStyle/>
          <a:p>
            <a:pPr marL="0" indent="0">
              <a:buNone/>
            </a:pPr>
            <a:r>
              <a:rPr lang="en-US" sz="1000" b="1" i="1" dirty="0">
                <a:solidFill>
                  <a:srgbClr val="FFB900"/>
                </a:solidFill>
                <a:latin typeface="Segoe UI" pitchFamily="34" charset="0"/>
                <a:ea typeface="Segoe UI" pitchFamily="34" charset="-122"/>
                <a:cs typeface="Segoe UI" pitchFamily="34" charset="-120"/>
              </a:rPr>
              <a:t>Gate unlocks the post-sales ECIF + ACO envelope.</a:t>
            </a:r>
            <a:endParaRPr lang="en-US" sz="10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6 · ATO C3</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Build &amp; scale — Agent Factory</a:t>
            </a:r>
            <a:endParaRPr lang="en-US" sz="3000" dirty="0"/>
          </a:p>
        </p:txBody>
      </p:sp>
      <p:sp>
        <p:nvSpPr>
          <p:cNvPr id="5" name="Shape 3"/>
          <p:cNvSpPr/>
          <p:nvPr/>
        </p:nvSpPr>
        <p:spPr>
          <a:xfrm>
            <a:off x="548640" y="1691640"/>
            <a:ext cx="11064240" cy="640080"/>
          </a:xfrm>
          <a:prstGeom prst="roundRect">
            <a:avLst>
              <a:gd name="adj" fmla="val 11429"/>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371600" cy="548640"/>
          </a:xfrm>
          <a:prstGeom prst="rect">
            <a:avLst/>
          </a:prstGeom>
          <a:noFill/>
          <a:ln/>
        </p:spPr>
        <p:txBody>
          <a:bodyPr wrap="square" rtlCol="0" anchor="ctr"/>
          <a:lstStyle/>
          <a:p>
            <a:pPr marL="0" indent="0">
              <a:buNone/>
            </a:pPr>
            <a:r>
              <a:rPr lang="en-US" sz="1000" b="1" kern="0" spc="300" dirty="0">
                <a:solidFill>
                  <a:srgbClr val="C03BC4"/>
                </a:solidFill>
                <a:latin typeface="Segoe UI" pitchFamily="34" charset="0"/>
                <a:ea typeface="Segoe UI" pitchFamily="34" charset="-122"/>
                <a:cs typeface="Segoe UI" pitchFamily="34" charset="-120"/>
              </a:rPr>
              <a:t>FUNDING</a:t>
            </a:r>
            <a:endParaRPr lang="en-US" sz="1000" dirty="0"/>
          </a:p>
        </p:txBody>
      </p:sp>
      <p:sp>
        <p:nvSpPr>
          <p:cNvPr id="7" name="Text 5"/>
          <p:cNvSpPr/>
          <p:nvPr/>
        </p:nvSpPr>
        <p:spPr>
          <a:xfrm>
            <a:off x="2194560" y="1737360"/>
            <a:ext cx="5943600" cy="548640"/>
          </a:xfrm>
          <a:prstGeom prst="rect">
            <a:avLst/>
          </a:prstGeom>
          <a:noFill/>
          <a:ln/>
        </p:spPr>
        <p:txBody>
          <a:bodyPr wrap="square" rtlCol="0" anchor="ctr"/>
          <a:lstStyle/>
          <a:p>
            <a:pPr marL="0" indent="0">
              <a:buNone/>
            </a:pPr>
            <a:r>
              <a:rPr lang="en-US" sz="1300" dirty="0">
                <a:solidFill>
                  <a:srgbClr val="FFFFFF"/>
                </a:solidFill>
                <a:latin typeface="Segoe UI" pitchFamily="34" charset="0"/>
                <a:ea typeface="Segoe UI" pitchFamily="34" charset="-122"/>
                <a:cs typeface="Segoe UI" pitchFamily="34" charset="-120"/>
              </a:rPr>
              <a:t>Up to $1M post-sales · $500k ECIF + $500k ACO · 1:2 each</a:t>
            </a:r>
            <a:endParaRPr lang="en-US" sz="1300" dirty="0"/>
          </a:p>
        </p:txBody>
      </p:sp>
      <p:sp>
        <p:nvSpPr>
          <p:cNvPr id="8" name="Text 6"/>
          <p:cNvSpPr/>
          <p:nvPr/>
        </p:nvSpPr>
        <p:spPr>
          <a:xfrm>
            <a:off x="8138160" y="1737360"/>
            <a:ext cx="3474720" cy="548640"/>
          </a:xfrm>
          <a:prstGeom prst="rect">
            <a:avLst/>
          </a:prstGeom>
          <a:noFill/>
          <a:ln/>
        </p:spPr>
        <p:txBody>
          <a:bodyPr wrap="square" rtlCol="0" anchor="ctr"/>
          <a:lstStyle/>
          <a:p>
            <a:pPr marL="0" indent="0">
              <a:buNone/>
            </a:pPr>
            <a:r>
              <a:rPr lang="en-US" sz="1200" i="1" dirty="0">
                <a:solidFill>
                  <a:srgbClr val="F5E6F0"/>
                </a:solidFill>
                <a:latin typeface="Segoe UI" pitchFamily="34" charset="0"/>
                <a:ea typeface="Segoe UI" pitchFamily="34" charset="-122"/>
                <a:cs typeface="Segoe UI" pitchFamily="34" charset="-120"/>
              </a:rPr>
              <a:t>7–9 weeks per agent · pattern repeats</a:t>
            </a:r>
            <a:endParaRPr lang="en-US" sz="1200" dirty="0"/>
          </a:p>
        </p:txBody>
      </p:sp>
      <p:sp>
        <p:nvSpPr>
          <p:cNvPr id="9" name="Shape 7"/>
          <p:cNvSpPr/>
          <p:nvPr/>
        </p:nvSpPr>
        <p:spPr>
          <a:xfrm>
            <a:off x="54086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129524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11" name="Text 9"/>
          <p:cNvSpPr/>
          <p:nvPr/>
        </p:nvSpPr>
        <p:spPr>
          <a:xfrm>
            <a:off x="129524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1</a:t>
            </a:r>
            <a:endParaRPr lang="en-US" sz="2200" dirty="0"/>
          </a:p>
        </p:txBody>
      </p:sp>
      <p:sp>
        <p:nvSpPr>
          <p:cNvPr id="12" name="Text 10"/>
          <p:cNvSpPr/>
          <p:nvPr/>
        </p:nvSpPr>
        <p:spPr>
          <a:xfrm>
            <a:off x="63230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Identify</a:t>
            </a:r>
            <a:endParaRPr lang="en-US" sz="1500" dirty="0"/>
          </a:p>
        </p:txBody>
      </p:sp>
      <p:sp>
        <p:nvSpPr>
          <p:cNvPr id="13" name="Text 11"/>
          <p:cNvSpPr/>
          <p:nvPr/>
        </p:nvSpPr>
        <p:spPr>
          <a:xfrm>
            <a:off x="67802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Pull from prioritised backlog — confirm ROI</a:t>
            </a:r>
            <a:endParaRPr lang="en-US" sz="1050" dirty="0"/>
          </a:p>
        </p:txBody>
      </p:sp>
      <p:sp>
        <p:nvSpPr>
          <p:cNvPr id="14" name="Shape 12"/>
          <p:cNvSpPr/>
          <p:nvPr/>
        </p:nvSpPr>
        <p:spPr>
          <a:xfrm>
            <a:off x="278114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15" name="Shape 13"/>
          <p:cNvSpPr/>
          <p:nvPr/>
        </p:nvSpPr>
        <p:spPr>
          <a:xfrm>
            <a:off x="353552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16" name="Text 14"/>
          <p:cNvSpPr/>
          <p:nvPr/>
        </p:nvSpPr>
        <p:spPr>
          <a:xfrm>
            <a:off x="353552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2</a:t>
            </a:r>
            <a:endParaRPr lang="en-US" sz="2200" dirty="0"/>
          </a:p>
        </p:txBody>
      </p:sp>
      <p:sp>
        <p:nvSpPr>
          <p:cNvPr id="17" name="Text 15"/>
          <p:cNvSpPr/>
          <p:nvPr/>
        </p:nvSpPr>
        <p:spPr>
          <a:xfrm>
            <a:off x="287258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Co-build</a:t>
            </a:r>
            <a:endParaRPr lang="en-US" sz="1500" dirty="0"/>
          </a:p>
        </p:txBody>
      </p:sp>
      <p:sp>
        <p:nvSpPr>
          <p:cNvPr id="18" name="Text 16"/>
          <p:cNvSpPr/>
          <p:nvPr/>
        </p:nvSpPr>
        <p:spPr>
          <a:xfrm>
            <a:off x="291830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Anchor Partner builds with CSA in shadow</a:t>
            </a:r>
            <a:endParaRPr lang="en-US" sz="1050" dirty="0"/>
          </a:p>
        </p:txBody>
      </p:sp>
      <p:sp>
        <p:nvSpPr>
          <p:cNvPr id="19" name="Shape 17"/>
          <p:cNvSpPr/>
          <p:nvPr/>
        </p:nvSpPr>
        <p:spPr>
          <a:xfrm>
            <a:off x="502142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20" name="Shape 18"/>
          <p:cNvSpPr/>
          <p:nvPr/>
        </p:nvSpPr>
        <p:spPr>
          <a:xfrm>
            <a:off x="577580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21" name="Text 19"/>
          <p:cNvSpPr/>
          <p:nvPr/>
        </p:nvSpPr>
        <p:spPr>
          <a:xfrm>
            <a:off x="577580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3</a:t>
            </a:r>
            <a:endParaRPr lang="en-US" sz="2200" dirty="0"/>
          </a:p>
        </p:txBody>
      </p:sp>
      <p:sp>
        <p:nvSpPr>
          <p:cNvPr id="22" name="Text 20"/>
          <p:cNvSpPr/>
          <p:nvPr/>
        </p:nvSpPr>
        <p:spPr>
          <a:xfrm>
            <a:off x="511286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Harden</a:t>
            </a:r>
            <a:endParaRPr lang="en-US" sz="1500" dirty="0"/>
          </a:p>
        </p:txBody>
      </p:sp>
      <p:sp>
        <p:nvSpPr>
          <p:cNvPr id="23" name="Text 21"/>
          <p:cNvSpPr/>
          <p:nvPr/>
        </p:nvSpPr>
        <p:spPr>
          <a:xfrm>
            <a:off x="515858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GenAIOps · evals · Responsible AI red-team</a:t>
            </a:r>
            <a:endParaRPr lang="en-US" sz="1050" dirty="0"/>
          </a:p>
        </p:txBody>
      </p:sp>
      <p:sp>
        <p:nvSpPr>
          <p:cNvPr id="24" name="Shape 22"/>
          <p:cNvSpPr/>
          <p:nvPr/>
        </p:nvSpPr>
        <p:spPr>
          <a:xfrm>
            <a:off x="726170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25" name="Shape 23"/>
          <p:cNvSpPr/>
          <p:nvPr/>
        </p:nvSpPr>
        <p:spPr>
          <a:xfrm>
            <a:off x="801608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801608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4</a:t>
            </a:r>
            <a:endParaRPr lang="en-US" sz="2200" dirty="0"/>
          </a:p>
        </p:txBody>
      </p:sp>
      <p:sp>
        <p:nvSpPr>
          <p:cNvPr id="27" name="Text 25"/>
          <p:cNvSpPr/>
          <p:nvPr/>
        </p:nvSpPr>
        <p:spPr>
          <a:xfrm>
            <a:off x="735314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Deploy</a:t>
            </a:r>
            <a:endParaRPr lang="en-US" sz="1500" dirty="0"/>
          </a:p>
        </p:txBody>
      </p:sp>
      <p:sp>
        <p:nvSpPr>
          <p:cNvPr id="28" name="Text 26"/>
          <p:cNvSpPr/>
          <p:nvPr/>
        </p:nvSpPr>
        <p:spPr>
          <a:xfrm>
            <a:off x="739886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Production · monitoring · runbook · handover</a:t>
            </a:r>
            <a:endParaRPr lang="en-US" sz="1050" dirty="0"/>
          </a:p>
        </p:txBody>
      </p:sp>
      <p:sp>
        <p:nvSpPr>
          <p:cNvPr id="29" name="Shape 27"/>
          <p:cNvSpPr/>
          <p:nvPr/>
        </p:nvSpPr>
        <p:spPr>
          <a:xfrm>
            <a:off x="9501988" y="2606040"/>
            <a:ext cx="2148840" cy="2194560"/>
          </a:xfrm>
          <a:prstGeom prst="roundRect">
            <a:avLst>
              <a:gd name="adj" fmla="val 3404"/>
            </a:avLst>
          </a:prstGeom>
          <a:solidFill>
            <a:srgbClr val="FFFFFF"/>
          </a:solidFill>
          <a:ln w="12700">
            <a:solidFill>
              <a:srgbClr val="E1E6EF"/>
            </a:solidFill>
            <a:prstDash val="solid"/>
          </a:ln>
        </p:spPr>
        <p:txBody>
          <a:bodyPr/>
          <a:lstStyle/>
          <a:p>
            <a:endParaRPr lang="en-ZA"/>
          </a:p>
        </p:txBody>
      </p:sp>
      <p:sp>
        <p:nvSpPr>
          <p:cNvPr id="30" name="Shape 28"/>
          <p:cNvSpPr/>
          <p:nvPr/>
        </p:nvSpPr>
        <p:spPr>
          <a:xfrm>
            <a:off x="10256368" y="2788920"/>
            <a:ext cx="640080" cy="640080"/>
          </a:xfrm>
          <a:prstGeom prst="ellipse">
            <a:avLst/>
          </a:prstGeom>
          <a:solidFill>
            <a:srgbClr val="FF5C39"/>
          </a:solidFill>
          <a:ln w="12700">
            <a:solidFill>
              <a:srgbClr val="FF5C39"/>
            </a:solidFill>
            <a:prstDash val="solid"/>
          </a:ln>
        </p:spPr>
        <p:txBody>
          <a:bodyPr/>
          <a:lstStyle/>
          <a:p>
            <a:endParaRPr lang="en-ZA"/>
          </a:p>
        </p:txBody>
      </p:sp>
      <p:sp>
        <p:nvSpPr>
          <p:cNvPr id="31" name="Text 29"/>
          <p:cNvSpPr/>
          <p:nvPr/>
        </p:nvSpPr>
        <p:spPr>
          <a:xfrm>
            <a:off x="10256368" y="278892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5</a:t>
            </a:r>
            <a:endParaRPr lang="en-US" sz="2200" dirty="0"/>
          </a:p>
        </p:txBody>
      </p:sp>
      <p:sp>
        <p:nvSpPr>
          <p:cNvPr id="32" name="Text 30"/>
          <p:cNvSpPr/>
          <p:nvPr/>
        </p:nvSpPr>
        <p:spPr>
          <a:xfrm>
            <a:off x="9593428" y="3520440"/>
            <a:ext cx="1965960" cy="365760"/>
          </a:xfrm>
          <a:prstGeom prst="rect">
            <a:avLst/>
          </a:prstGeom>
          <a:noFill/>
          <a:ln/>
        </p:spPr>
        <p:txBody>
          <a:bodyPr wrap="square" rtlCol="0" anchor="ctr"/>
          <a:lstStyle/>
          <a:p>
            <a:pPr marL="0" indent="0" algn="ctr">
              <a:buNone/>
            </a:pPr>
            <a:r>
              <a:rPr lang="en-US" sz="1500" b="1" dirty="0">
                <a:solidFill>
                  <a:srgbClr val="091F2C"/>
                </a:solidFill>
                <a:latin typeface="Segoe UI" pitchFamily="34" charset="0"/>
                <a:ea typeface="Segoe UI" pitchFamily="34" charset="-122"/>
                <a:cs typeface="Segoe UI" pitchFamily="34" charset="-120"/>
              </a:rPr>
              <a:t>Optimise</a:t>
            </a:r>
            <a:endParaRPr lang="en-US" sz="1500" dirty="0"/>
          </a:p>
        </p:txBody>
      </p:sp>
      <p:sp>
        <p:nvSpPr>
          <p:cNvPr id="33" name="Text 31"/>
          <p:cNvSpPr/>
          <p:nvPr/>
        </p:nvSpPr>
        <p:spPr>
          <a:xfrm>
            <a:off x="9639148" y="3931920"/>
            <a:ext cx="1874520" cy="914400"/>
          </a:xfrm>
          <a:prstGeom prst="rect">
            <a:avLst/>
          </a:prstGeom>
          <a:noFill/>
          <a:ln/>
        </p:spPr>
        <p:txBody>
          <a:bodyPr wrap="square" rtlCol="0" anchor="ctr"/>
          <a:lstStyle/>
          <a:p>
            <a:pPr marL="0" indent="0" algn="ctr">
              <a:buNone/>
            </a:pPr>
            <a:r>
              <a:rPr lang="en-US" sz="1050" dirty="0">
                <a:solidFill>
                  <a:srgbClr val="4B5563"/>
                </a:solidFill>
                <a:latin typeface="Segoe UI" pitchFamily="34" charset="0"/>
                <a:ea typeface="Segoe UI" pitchFamily="34" charset="-122"/>
                <a:cs typeface="Segoe UI" pitchFamily="34" charset="-120"/>
              </a:rPr>
              <a:t>Cost · latency · model swap · re-grounding</a:t>
            </a:r>
            <a:endParaRPr lang="en-US" sz="1050" dirty="0"/>
          </a:p>
        </p:txBody>
      </p:sp>
      <p:sp>
        <p:nvSpPr>
          <p:cNvPr id="34" name="Shape 32"/>
          <p:cNvSpPr/>
          <p:nvPr/>
        </p:nvSpPr>
        <p:spPr>
          <a:xfrm>
            <a:off x="548640" y="5074920"/>
            <a:ext cx="11064240" cy="1143000"/>
          </a:xfrm>
          <a:prstGeom prst="roundRect">
            <a:avLst>
              <a:gd name="adj" fmla="val 6400"/>
            </a:avLst>
          </a:prstGeom>
          <a:solidFill>
            <a:srgbClr val="FFF8E6"/>
          </a:solidFill>
          <a:ln w="12700">
            <a:solidFill>
              <a:srgbClr val="FFB900"/>
            </a:solidFill>
            <a:prstDash val="solid"/>
          </a:ln>
        </p:spPr>
        <p:txBody>
          <a:bodyPr/>
          <a:lstStyle/>
          <a:p>
            <a:endParaRPr lang="en-ZA"/>
          </a:p>
        </p:txBody>
      </p:sp>
      <p:sp>
        <p:nvSpPr>
          <p:cNvPr id="35" name="Text 33"/>
          <p:cNvSpPr/>
          <p:nvPr/>
        </p:nvSpPr>
        <p:spPr>
          <a:xfrm>
            <a:off x="777240" y="5166360"/>
            <a:ext cx="2743200" cy="22860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REALITY CHECK</a:t>
            </a:r>
            <a:endParaRPr lang="en-US" sz="1000" dirty="0"/>
          </a:p>
        </p:txBody>
      </p:sp>
      <p:sp>
        <p:nvSpPr>
          <p:cNvPr id="36" name="Text 34"/>
          <p:cNvSpPr/>
          <p:nvPr/>
        </p:nvSpPr>
        <p:spPr>
          <a:xfrm>
            <a:off x="777240" y="5440680"/>
            <a:ext cx="10789920" cy="777240"/>
          </a:xfrm>
          <a:prstGeom prst="rect">
            <a:avLst/>
          </a:prstGeom>
          <a:noFill/>
          <a:ln/>
        </p:spPr>
        <p:txBody>
          <a:bodyPr wrap="square" rtlCol="0" anchor="ctr"/>
          <a:lstStyle/>
          <a:p>
            <a:pPr marL="0" indent="0">
              <a:buNone/>
            </a:pPr>
            <a:r>
              <a:rPr lang="en-US" sz="1300" dirty="0">
                <a:solidFill>
                  <a:srgbClr val="091F2C"/>
                </a:solidFill>
                <a:latin typeface="Segoe UI" pitchFamily="34" charset="0"/>
                <a:ea typeface="Segoe UI" pitchFamily="34" charset="-122"/>
                <a:cs typeface="Segoe UI" pitchFamily="34" charset="-120"/>
              </a:rPr>
              <a:t>If the customer cannot name three more use-cases — you don't have a factory, you have one pilot. Pause and re-prioritise the backlog before continuing C3 spend.</a:t>
            </a:r>
            <a:endParaRPr lang="en-US" sz="1300" dirty="0"/>
          </a:p>
        </p:txBody>
      </p:sp>
      <p:pic>
        <p:nvPicPr>
          <p:cNvPr id="3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8" name="Text 3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9" name="Text 3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7 · MCEM STAGE 4</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Realise value — where ACR compounds</a:t>
            </a:r>
            <a:endParaRPr lang="en-US" sz="30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YOUR JOB AS CSA</a:t>
            </a:r>
            <a:endParaRPr lang="en-US" sz="1100" dirty="0"/>
          </a:p>
        </p:txBody>
      </p:sp>
      <p:sp>
        <p:nvSpPr>
          <p:cNvPr id="7" name="Shape 5"/>
          <p:cNvSpPr/>
          <p:nvPr/>
        </p:nvSpPr>
        <p:spPr>
          <a:xfrm>
            <a:off x="868680" y="2377440"/>
            <a:ext cx="365760" cy="365760"/>
          </a:xfrm>
          <a:prstGeom prst="ellipse">
            <a:avLst/>
          </a:prstGeom>
          <a:solidFill>
            <a:srgbClr val="225B62"/>
          </a:solidFill>
          <a:ln w="12700">
            <a:solidFill>
              <a:srgbClr val="225B62"/>
            </a:solidFill>
            <a:prstDash val="solid"/>
          </a:ln>
        </p:spPr>
        <p:txBody>
          <a:bodyPr/>
          <a:lstStyle/>
          <a:p>
            <a:endParaRPr lang="en-ZA"/>
          </a:p>
        </p:txBody>
      </p:sp>
      <p:sp>
        <p:nvSpPr>
          <p:cNvPr id="8" name="Text 6"/>
          <p:cNvSpPr/>
          <p:nvPr/>
        </p:nvSpPr>
        <p:spPr>
          <a:xfrm>
            <a:off x="868680" y="2377440"/>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9" name="Text 7"/>
          <p:cNvSpPr/>
          <p:nvPr/>
        </p:nvSpPr>
        <p:spPr>
          <a:xfrm>
            <a:off x="1371600" y="2331720"/>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Refresh the dashboard monthly</a:t>
            </a:r>
            <a:endParaRPr lang="en-US" sz="1300" dirty="0"/>
          </a:p>
        </p:txBody>
      </p:sp>
      <p:sp>
        <p:nvSpPr>
          <p:cNvPr id="10" name="Text 8"/>
          <p:cNvSpPr/>
          <p:nvPr/>
        </p:nvSpPr>
        <p:spPr>
          <a:xfrm>
            <a:off x="1371600" y="2651760"/>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Power BI · refreshed before steerco · linked to MSX</a:t>
            </a:r>
            <a:endParaRPr lang="en-US" sz="1100" dirty="0"/>
          </a:p>
        </p:txBody>
      </p:sp>
      <p:sp>
        <p:nvSpPr>
          <p:cNvPr id="11" name="Shape 9"/>
          <p:cNvSpPr/>
          <p:nvPr/>
        </p:nvSpPr>
        <p:spPr>
          <a:xfrm>
            <a:off x="868680" y="3136392"/>
            <a:ext cx="365760" cy="365760"/>
          </a:xfrm>
          <a:prstGeom prst="ellipse">
            <a:avLst/>
          </a:prstGeom>
          <a:solidFill>
            <a:srgbClr val="225B62"/>
          </a:solidFill>
          <a:ln w="12700">
            <a:solidFill>
              <a:srgbClr val="225B62"/>
            </a:solidFill>
            <a:prstDash val="solid"/>
          </a:ln>
        </p:spPr>
        <p:txBody>
          <a:bodyPr/>
          <a:lstStyle/>
          <a:p>
            <a:endParaRPr lang="en-ZA"/>
          </a:p>
        </p:txBody>
      </p:sp>
      <p:sp>
        <p:nvSpPr>
          <p:cNvPr id="12" name="Text 10"/>
          <p:cNvSpPr/>
          <p:nvPr/>
        </p:nvSpPr>
        <p:spPr>
          <a:xfrm>
            <a:off x="868680" y="3136392"/>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3" name="Text 11"/>
          <p:cNvSpPr/>
          <p:nvPr/>
        </p:nvSpPr>
        <p:spPr>
          <a:xfrm>
            <a:off x="1371600" y="3090672"/>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Run the value steerco</a:t>
            </a:r>
            <a:endParaRPr lang="en-US" sz="1300" dirty="0"/>
          </a:p>
        </p:txBody>
      </p:sp>
      <p:sp>
        <p:nvSpPr>
          <p:cNvPr id="14" name="Text 12"/>
          <p:cNvSpPr/>
          <p:nvPr/>
        </p:nvSpPr>
        <p:spPr>
          <a:xfrm>
            <a:off x="1371600" y="3410712"/>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Quarterly · CIO + LoB sponsor + Anchor Partner · 60 min</a:t>
            </a:r>
            <a:endParaRPr lang="en-US" sz="1100" dirty="0"/>
          </a:p>
        </p:txBody>
      </p:sp>
      <p:sp>
        <p:nvSpPr>
          <p:cNvPr id="15" name="Shape 13"/>
          <p:cNvSpPr/>
          <p:nvPr/>
        </p:nvSpPr>
        <p:spPr>
          <a:xfrm>
            <a:off x="868680" y="3895344"/>
            <a:ext cx="365760" cy="365760"/>
          </a:xfrm>
          <a:prstGeom prst="ellipse">
            <a:avLst/>
          </a:prstGeom>
          <a:solidFill>
            <a:srgbClr val="225B62"/>
          </a:solidFill>
          <a:ln w="12700">
            <a:solidFill>
              <a:srgbClr val="225B62"/>
            </a:solidFill>
            <a:prstDash val="solid"/>
          </a:ln>
        </p:spPr>
        <p:txBody>
          <a:bodyPr/>
          <a:lstStyle/>
          <a:p>
            <a:endParaRPr lang="en-ZA"/>
          </a:p>
        </p:txBody>
      </p:sp>
      <p:sp>
        <p:nvSpPr>
          <p:cNvPr id="16" name="Text 14"/>
          <p:cNvSpPr/>
          <p:nvPr/>
        </p:nvSpPr>
        <p:spPr>
          <a:xfrm>
            <a:off x="868680" y="3895344"/>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17" name="Text 15"/>
          <p:cNvSpPr/>
          <p:nvPr/>
        </p:nvSpPr>
        <p:spPr>
          <a:xfrm>
            <a:off x="1371600" y="3849624"/>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Translate ACR to outcomes</a:t>
            </a:r>
            <a:endParaRPr lang="en-US" sz="1300" dirty="0"/>
          </a:p>
        </p:txBody>
      </p:sp>
      <p:sp>
        <p:nvSpPr>
          <p:cNvPr id="18" name="Text 16"/>
          <p:cNvSpPr/>
          <p:nvPr/>
        </p:nvSpPr>
        <p:spPr>
          <a:xfrm>
            <a:off x="1371600" y="4169664"/>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Don't show ACR — show productivity, NPS, hours saved</a:t>
            </a:r>
            <a:endParaRPr lang="en-US" sz="1100" dirty="0"/>
          </a:p>
        </p:txBody>
      </p:sp>
      <p:sp>
        <p:nvSpPr>
          <p:cNvPr id="19" name="Shape 17"/>
          <p:cNvSpPr/>
          <p:nvPr/>
        </p:nvSpPr>
        <p:spPr>
          <a:xfrm>
            <a:off x="868680" y="4654296"/>
            <a:ext cx="365760" cy="365760"/>
          </a:xfrm>
          <a:prstGeom prst="ellipse">
            <a:avLst/>
          </a:prstGeom>
          <a:solidFill>
            <a:srgbClr val="225B62"/>
          </a:solidFill>
          <a:ln w="12700">
            <a:solidFill>
              <a:srgbClr val="225B62"/>
            </a:solidFill>
            <a:prstDash val="solid"/>
          </a:ln>
        </p:spPr>
        <p:txBody>
          <a:bodyPr/>
          <a:lstStyle/>
          <a:p>
            <a:endParaRPr lang="en-ZA"/>
          </a:p>
        </p:txBody>
      </p:sp>
      <p:sp>
        <p:nvSpPr>
          <p:cNvPr id="20" name="Text 18"/>
          <p:cNvSpPr/>
          <p:nvPr/>
        </p:nvSpPr>
        <p:spPr>
          <a:xfrm>
            <a:off x="868680" y="4654296"/>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21" name="Text 19"/>
          <p:cNvSpPr/>
          <p:nvPr/>
        </p:nvSpPr>
        <p:spPr>
          <a:xfrm>
            <a:off x="1371600" y="4608576"/>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Spot expansion triggers</a:t>
            </a:r>
            <a:endParaRPr lang="en-US" sz="1300" dirty="0"/>
          </a:p>
        </p:txBody>
      </p:sp>
      <p:sp>
        <p:nvSpPr>
          <p:cNvPr id="22" name="Text 20"/>
          <p:cNvSpPr/>
          <p:nvPr/>
        </p:nvSpPr>
        <p:spPr>
          <a:xfrm>
            <a:off x="1371600" y="4928616"/>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Use-case maturity → new LoB · new geography · E7 step-up</a:t>
            </a:r>
            <a:endParaRPr lang="en-US" sz="1100" dirty="0"/>
          </a:p>
        </p:txBody>
      </p:sp>
      <p:sp>
        <p:nvSpPr>
          <p:cNvPr id="23" name="Shape 21"/>
          <p:cNvSpPr/>
          <p:nvPr/>
        </p:nvSpPr>
        <p:spPr>
          <a:xfrm>
            <a:off x="868680" y="5413248"/>
            <a:ext cx="365760" cy="365760"/>
          </a:xfrm>
          <a:prstGeom prst="ellipse">
            <a:avLst/>
          </a:prstGeom>
          <a:solidFill>
            <a:srgbClr val="225B62"/>
          </a:solidFill>
          <a:ln w="12700">
            <a:solidFill>
              <a:srgbClr val="225B62"/>
            </a:solidFill>
            <a:prstDash val="solid"/>
          </a:ln>
        </p:spPr>
        <p:txBody>
          <a:bodyPr/>
          <a:lstStyle/>
          <a:p>
            <a:endParaRPr lang="en-ZA"/>
          </a:p>
        </p:txBody>
      </p:sp>
      <p:sp>
        <p:nvSpPr>
          <p:cNvPr id="24" name="Text 22"/>
          <p:cNvSpPr/>
          <p:nvPr/>
        </p:nvSpPr>
        <p:spPr>
          <a:xfrm>
            <a:off x="868680" y="5413248"/>
            <a:ext cx="365760" cy="3657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25" name="Text 23"/>
          <p:cNvSpPr/>
          <p:nvPr/>
        </p:nvSpPr>
        <p:spPr>
          <a:xfrm>
            <a:off x="1371600" y="5367528"/>
            <a:ext cx="4572000" cy="32004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Renew with evidence</a:t>
            </a:r>
            <a:endParaRPr lang="en-US" sz="1300" dirty="0"/>
          </a:p>
        </p:txBody>
      </p:sp>
      <p:sp>
        <p:nvSpPr>
          <p:cNvPr id="26" name="Text 24"/>
          <p:cNvSpPr/>
          <p:nvPr/>
        </p:nvSpPr>
        <p:spPr>
          <a:xfrm>
            <a:off x="1371600" y="5687568"/>
            <a:ext cx="4572000" cy="4114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Bring 12 months of dashboards to the renewal conversation</a:t>
            </a:r>
            <a:endParaRPr lang="en-US" sz="1100" dirty="0"/>
          </a:p>
        </p:txBody>
      </p:sp>
      <p:sp>
        <p:nvSpPr>
          <p:cNvPr id="27" name="Shape 25"/>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8" name="Text 26"/>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METRICS THAT MATTER</a:t>
            </a:r>
            <a:endParaRPr lang="en-US" sz="1100" dirty="0"/>
          </a:p>
        </p:txBody>
      </p:sp>
      <p:sp>
        <p:nvSpPr>
          <p:cNvPr id="29" name="Shape 27"/>
          <p:cNvSpPr/>
          <p:nvPr/>
        </p:nvSpPr>
        <p:spPr>
          <a:xfrm>
            <a:off x="6400800" y="2468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0" name="Text 28"/>
          <p:cNvSpPr/>
          <p:nvPr/>
        </p:nvSpPr>
        <p:spPr>
          <a:xfrm>
            <a:off x="6537960" y="2560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ACR growth</a:t>
            </a:r>
            <a:endParaRPr lang="en-US" sz="1200" dirty="0"/>
          </a:p>
        </p:txBody>
      </p:sp>
      <p:sp>
        <p:nvSpPr>
          <p:cNvPr id="31" name="Text 29"/>
          <p:cNvSpPr/>
          <p:nvPr/>
        </p:nvSpPr>
        <p:spPr>
          <a:xfrm>
            <a:off x="6537960" y="2926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QoQ on AI services</a:t>
            </a:r>
            <a:endParaRPr lang="en-US" sz="1100" dirty="0"/>
          </a:p>
        </p:txBody>
      </p:sp>
      <p:sp>
        <p:nvSpPr>
          <p:cNvPr id="32" name="Shape 30"/>
          <p:cNvSpPr/>
          <p:nvPr/>
        </p:nvSpPr>
        <p:spPr>
          <a:xfrm>
            <a:off x="9006840" y="2468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3" name="Text 31"/>
          <p:cNvSpPr/>
          <p:nvPr/>
        </p:nvSpPr>
        <p:spPr>
          <a:xfrm>
            <a:off x="9144000" y="2560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Production agents</a:t>
            </a:r>
            <a:endParaRPr lang="en-US" sz="1200" dirty="0"/>
          </a:p>
        </p:txBody>
      </p:sp>
      <p:sp>
        <p:nvSpPr>
          <p:cNvPr id="34" name="Text 32"/>
          <p:cNvSpPr/>
          <p:nvPr/>
        </p:nvSpPr>
        <p:spPr>
          <a:xfrm>
            <a:off x="9144000" y="2926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 live · per LoB</a:t>
            </a:r>
            <a:endParaRPr lang="en-US" sz="1100" dirty="0"/>
          </a:p>
        </p:txBody>
      </p:sp>
      <p:sp>
        <p:nvSpPr>
          <p:cNvPr id="35" name="Shape 33"/>
          <p:cNvSpPr/>
          <p:nvPr/>
        </p:nvSpPr>
        <p:spPr>
          <a:xfrm>
            <a:off x="6400800" y="3611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6" name="Text 34"/>
          <p:cNvSpPr/>
          <p:nvPr/>
        </p:nvSpPr>
        <p:spPr>
          <a:xfrm>
            <a:off x="6537960" y="3703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MAU on agents</a:t>
            </a:r>
            <a:endParaRPr lang="en-US" sz="1200" dirty="0"/>
          </a:p>
        </p:txBody>
      </p:sp>
      <p:sp>
        <p:nvSpPr>
          <p:cNvPr id="37" name="Text 35"/>
          <p:cNvSpPr/>
          <p:nvPr/>
        </p:nvSpPr>
        <p:spPr>
          <a:xfrm>
            <a:off x="6537960" y="4069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Adoption signal</a:t>
            </a:r>
            <a:endParaRPr lang="en-US" sz="1100" dirty="0"/>
          </a:p>
        </p:txBody>
      </p:sp>
      <p:sp>
        <p:nvSpPr>
          <p:cNvPr id="38" name="Shape 36"/>
          <p:cNvSpPr/>
          <p:nvPr/>
        </p:nvSpPr>
        <p:spPr>
          <a:xfrm>
            <a:off x="9006840" y="3611880"/>
            <a:ext cx="2468880" cy="1005840"/>
          </a:xfrm>
          <a:prstGeom prst="rect">
            <a:avLst/>
          </a:prstGeom>
          <a:solidFill>
            <a:srgbClr val="0057B8"/>
          </a:solidFill>
          <a:ln w="12700">
            <a:solidFill>
              <a:srgbClr val="0057B8"/>
            </a:solidFill>
            <a:prstDash val="solid"/>
          </a:ln>
        </p:spPr>
        <p:txBody>
          <a:bodyPr/>
          <a:lstStyle/>
          <a:p>
            <a:endParaRPr lang="en-ZA"/>
          </a:p>
        </p:txBody>
      </p:sp>
      <p:sp>
        <p:nvSpPr>
          <p:cNvPr id="39" name="Text 37"/>
          <p:cNvSpPr/>
          <p:nvPr/>
        </p:nvSpPr>
        <p:spPr>
          <a:xfrm>
            <a:off x="9144000" y="3703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Copilot adoption</a:t>
            </a:r>
            <a:endParaRPr lang="en-US" sz="1200" dirty="0"/>
          </a:p>
        </p:txBody>
      </p:sp>
      <p:sp>
        <p:nvSpPr>
          <p:cNvPr id="40" name="Text 38"/>
          <p:cNvSpPr/>
          <p:nvPr/>
        </p:nvSpPr>
        <p:spPr>
          <a:xfrm>
            <a:off x="9144000" y="4069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Apps/User · MAU &gt; 75% target</a:t>
            </a:r>
            <a:endParaRPr lang="en-US" sz="1100" dirty="0"/>
          </a:p>
        </p:txBody>
      </p:sp>
      <p:sp>
        <p:nvSpPr>
          <p:cNvPr id="41" name="Shape 39"/>
          <p:cNvSpPr/>
          <p:nvPr/>
        </p:nvSpPr>
        <p:spPr>
          <a:xfrm>
            <a:off x="6400800" y="4754880"/>
            <a:ext cx="2468880" cy="1005840"/>
          </a:xfrm>
          <a:prstGeom prst="rect">
            <a:avLst/>
          </a:prstGeom>
          <a:solidFill>
            <a:srgbClr val="0057B8"/>
          </a:solidFill>
          <a:ln w="12700">
            <a:solidFill>
              <a:srgbClr val="0057B8"/>
            </a:solidFill>
            <a:prstDash val="solid"/>
          </a:ln>
        </p:spPr>
        <p:txBody>
          <a:bodyPr/>
          <a:lstStyle/>
          <a:p>
            <a:endParaRPr lang="en-ZA"/>
          </a:p>
        </p:txBody>
      </p:sp>
      <p:sp>
        <p:nvSpPr>
          <p:cNvPr id="42" name="Text 40"/>
          <p:cNvSpPr/>
          <p:nvPr/>
        </p:nvSpPr>
        <p:spPr>
          <a:xfrm>
            <a:off x="6537960" y="4846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MACC attainment</a:t>
            </a:r>
            <a:endParaRPr lang="en-US" sz="1200" dirty="0"/>
          </a:p>
        </p:txBody>
      </p:sp>
      <p:sp>
        <p:nvSpPr>
          <p:cNvPr id="43" name="Text 41"/>
          <p:cNvSpPr/>
          <p:nvPr/>
        </p:nvSpPr>
        <p:spPr>
          <a:xfrm>
            <a:off x="6537960" y="5212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Toward renewal step-up</a:t>
            </a:r>
            <a:endParaRPr lang="en-US" sz="1100" dirty="0"/>
          </a:p>
        </p:txBody>
      </p:sp>
      <p:sp>
        <p:nvSpPr>
          <p:cNvPr id="44" name="Shape 42"/>
          <p:cNvSpPr/>
          <p:nvPr/>
        </p:nvSpPr>
        <p:spPr>
          <a:xfrm>
            <a:off x="9006840" y="4754880"/>
            <a:ext cx="2468880" cy="1005840"/>
          </a:xfrm>
          <a:prstGeom prst="rect">
            <a:avLst/>
          </a:prstGeom>
          <a:solidFill>
            <a:srgbClr val="0057B8"/>
          </a:solidFill>
          <a:ln w="12700">
            <a:solidFill>
              <a:srgbClr val="0057B8"/>
            </a:solidFill>
            <a:prstDash val="solid"/>
          </a:ln>
        </p:spPr>
        <p:txBody>
          <a:bodyPr/>
          <a:lstStyle/>
          <a:p>
            <a:endParaRPr lang="en-ZA"/>
          </a:p>
        </p:txBody>
      </p:sp>
      <p:sp>
        <p:nvSpPr>
          <p:cNvPr id="45" name="Text 43"/>
          <p:cNvSpPr/>
          <p:nvPr/>
        </p:nvSpPr>
        <p:spPr>
          <a:xfrm>
            <a:off x="9144000" y="4846320"/>
            <a:ext cx="2286000" cy="365760"/>
          </a:xfrm>
          <a:prstGeom prst="rect">
            <a:avLst/>
          </a:prstGeom>
          <a:noFill/>
          <a:ln/>
        </p:spPr>
        <p:txBody>
          <a:bodyPr wrap="square" rtlCol="0" anchor="ctr"/>
          <a:lstStyle/>
          <a:p>
            <a:pPr marL="0" indent="0">
              <a:buNone/>
            </a:pPr>
            <a:r>
              <a:rPr lang="en-US" sz="1200" b="1" dirty="0">
                <a:solidFill>
                  <a:srgbClr val="C03BC4"/>
                </a:solidFill>
                <a:latin typeface="Segoe UI" pitchFamily="34" charset="0"/>
                <a:ea typeface="Segoe UI" pitchFamily="34" charset="-122"/>
                <a:cs typeface="Segoe UI" pitchFamily="34" charset="-120"/>
              </a:rPr>
              <a:t>NSAT</a:t>
            </a:r>
            <a:endParaRPr lang="en-US" sz="1200" dirty="0"/>
          </a:p>
        </p:txBody>
      </p:sp>
      <p:sp>
        <p:nvSpPr>
          <p:cNvPr id="46" name="Text 44"/>
          <p:cNvSpPr/>
          <p:nvPr/>
        </p:nvSpPr>
        <p:spPr>
          <a:xfrm>
            <a:off x="9144000" y="5212080"/>
            <a:ext cx="2286000" cy="50292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Quarterly · CoE council</a:t>
            </a:r>
            <a:endParaRPr lang="en-US" sz="1100" dirty="0"/>
          </a:p>
        </p:txBody>
      </p:sp>
      <p:pic>
        <p:nvPicPr>
          <p:cNvPr id="4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8" name="Text 45"/>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9" name="Text 4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STEP 8 · MCEM STAGE 5</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Federate &amp; expand</a:t>
            </a:r>
            <a:endParaRPr lang="en-US" sz="3000" dirty="0"/>
          </a:p>
        </p:txBody>
      </p:sp>
      <p:sp>
        <p:nvSpPr>
          <p:cNvPr id="5" name="Shape 3"/>
          <p:cNvSpPr/>
          <p:nvPr/>
        </p:nvSpPr>
        <p:spPr>
          <a:xfrm>
            <a:off x="548640" y="1828800"/>
            <a:ext cx="5486400" cy="4297680"/>
          </a:xfrm>
          <a:prstGeom prst="roundRect">
            <a:avLst>
              <a:gd name="adj" fmla="val 2553"/>
            </a:avLst>
          </a:prstGeom>
          <a:solidFill>
            <a:srgbClr val="FFFFFF"/>
          </a:solidFill>
          <a:ln w="12700">
            <a:solidFill>
              <a:srgbClr val="E1E6EF"/>
            </a:solidFill>
            <a:prstDash val="solid"/>
          </a:ln>
        </p:spPr>
        <p:txBody>
          <a:bodyPr/>
          <a:lstStyle/>
          <a:p>
            <a:endParaRPr lang="en-ZA"/>
          </a:p>
        </p:txBody>
      </p:sp>
      <p:sp>
        <p:nvSpPr>
          <p:cNvPr id="6" name="Text 4"/>
          <p:cNvSpPr/>
          <p:nvPr/>
        </p:nvSpPr>
        <p:spPr>
          <a:xfrm>
            <a:off x="777240" y="1965960"/>
            <a:ext cx="5029200" cy="274320"/>
          </a:xfrm>
          <a:prstGeom prst="rect">
            <a:avLst/>
          </a:prstGeom>
          <a:noFill/>
          <a:ln/>
        </p:spPr>
        <p:txBody>
          <a:bodyPr wrap="square" rtlCol="0" anchor="ctr"/>
          <a:lstStyle/>
          <a:p>
            <a:pPr marL="0" indent="0">
              <a:buNone/>
            </a:pPr>
            <a:r>
              <a:rPr lang="en-US" sz="1100" b="1" kern="0" spc="300" dirty="0">
                <a:solidFill>
                  <a:srgbClr val="0078D4"/>
                </a:solidFill>
                <a:latin typeface="Segoe UI" pitchFamily="34" charset="0"/>
                <a:ea typeface="Segoe UI" pitchFamily="34" charset="-122"/>
                <a:cs typeface="Segoe UI" pitchFamily="34" charset="-120"/>
              </a:rPr>
              <a:t>FROM CENTRAL → FEDERATED</a:t>
            </a:r>
            <a:endParaRPr lang="en-US" sz="1100" dirty="0"/>
          </a:p>
        </p:txBody>
      </p:sp>
      <p:sp>
        <p:nvSpPr>
          <p:cNvPr id="7" name="Shape 5"/>
          <p:cNvSpPr/>
          <p:nvPr/>
        </p:nvSpPr>
        <p:spPr>
          <a:xfrm>
            <a:off x="3291840" y="3931920"/>
            <a:ext cx="0" cy="594360"/>
          </a:xfrm>
          <a:prstGeom prst="line">
            <a:avLst/>
          </a:prstGeom>
          <a:noFill/>
          <a:ln w="19050">
            <a:solidFill>
              <a:srgbClr val="F5E6F0"/>
            </a:solidFill>
            <a:prstDash val="solid"/>
          </a:ln>
        </p:spPr>
        <p:txBody>
          <a:bodyPr/>
          <a:lstStyle/>
          <a:p>
            <a:endParaRPr lang="en-ZA"/>
          </a:p>
        </p:txBody>
      </p:sp>
      <p:sp>
        <p:nvSpPr>
          <p:cNvPr id="8" name="Shape 6"/>
          <p:cNvSpPr/>
          <p:nvPr/>
        </p:nvSpPr>
        <p:spPr>
          <a:xfrm>
            <a:off x="3291840" y="3931920"/>
            <a:ext cx="0" cy="1234440"/>
          </a:xfrm>
          <a:prstGeom prst="line">
            <a:avLst/>
          </a:prstGeom>
          <a:noFill/>
          <a:ln w="19050">
            <a:solidFill>
              <a:srgbClr val="F5E6F0"/>
            </a:solidFill>
            <a:prstDash val="solid"/>
          </a:ln>
        </p:spPr>
        <p:txBody>
          <a:bodyPr/>
          <a:lstStyle/>
          <a:p>
            <a:endParaRPr lang="en-ZA"/>
          </a:p>
        </p:txBody>
      </p:sp>
      <p:sp>
        <p:nvSpPr>
          <p:cNvPr id="9" name="Shape 7"/>
          <p:cNvSpPr/>
          <p:nvPr/>
        </p:nvSpPr>
        <p:spPr>
          <a:xfrm>
            <a:off x="3291840" y="3931920"/>
            <a:ext cx="1143000" cy="1234440"/>
          </a:xfrm>
          <a:prstGeom prst="line">
            <a:avLst/>
          </a:prstGeom>
          <a:noFill/>
          <a:ln w="19050">
            <a:solidFill>
              <a:srgbClr val="F5E6F0"/>
            </a:solidFill>
            <a:prstDash val="solid"/>
          </a:ln>
        </p:spPr>
        <p:txBody>
          <a:bodyPr/>
          <a:lstStyle/>
          <a:p>
            <a:endParaRPr lang="en-ZA"/>
          </a:p>
        </p:txBody>
      </p:sp>
      <p:sp>
        <p:nvSpPr>
          <p:cNvPr id="10" name="Shape 8"/>
          <p:cNvSpPr/>
          <p:nvPr/>
        </p:nvSpPr>
        <p:spPr>
          <a:xfrm>
            <a:off x="3291840" y="3931920"/>
            <a:ext cx="2194560" cy="594360"/>
          </a:xfrm>
          <a:prstGeom prst="line">
            <a:avLst/>
          </a:prstGeom>
          <a:noFill/>
          <a:ln w="19050">
            <a:solidFill>
              <a:srgbClr val="F5E6F0"/>
            </a:solidFill>
            <a:prstDash val="solid"/>
          </a:ln>
        </p:spPr>
        <p:txBody>
          <a:bodyPr/>
          <a:lstStyle/>
          <a:p>
            <a:endParaRPr lang="en-ZA"/>
          </a:p>
        </p:txBody>
      </p:sp>
      <p:sp>
        <p:nvSpPr>
          <p:cNvPr id="11" name="Shape 9"/>
          <p:cNvSpPr/>
          <p:nvPr/>
        </p:nvSpPr>
        <p:spPr>
          <a:xfrm>
            <a:off x="2697480" y="2743200"/>
            <a:ext cx="1188720" cy="1188720"/>
          </a:xfrm>
          <a:prstGeom prst="ellipse">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2697480" y="2743200"/>
            <a:ext cx="1188720" cy="118872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Central</a:t>
            </a:r>
            <a:endParaRPr lang="en-US" sz="1200" dirty="0"/>
          </a:p>
          <a:p>
            <a:pPr marL="0" indent="0" algn="ctr">
              <a:buNone/>
            </a:pPr>
            <a:r>
              <a:rPr lang="en-US" sz="1200" b="1" dirty="0">
                <a:solidFill>
                  <a:srgbClr val="FFFFFF"/>
                </a:solidFill>
                <a:latin typeface="Segoe UI" pitchFamily="34" charset="0"/>
                <a:ea typeface="Segoe UI" pitchFamily="34" charset="-122"/>
                <a:cs typeface="Segoe UI" pitchFamily="34" charset="-120"/>
              </a:rPr>
              <a:t>CoE</a:t>
            </a:r>
            <a:endParaRPr lang="en-US" sz="1200" dirty="0"/>
          </a:p>
        </p:txBody>
      </p:sp>
      <p:sp>
        <p:nvSpPr>
          <p:cNvPr id="13" name="Shape 11"/>
          <p:cNvSpPr/>
          <p:nvPr/>
        </p:nvSpPr>
        <p:spPr>
          <a:xfrm>
            <a:off x="777240" y="452628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777240" y="452628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Finance</a:t>
            </a:r>
            <a:endParaRPr lang="en-US" sz="1100" dirty="0"/>
          </a:p>
        </p:txBody>
      </p:sp>
      <p:sp>
        <p:nvSpPr>
          <p:cNvPr id="15" name="Shape 13"/>
          <p:cNvSpPr/>
          <p:nvPr/>
        </p:nvSpPr>
        <p:spPr>
          <a:xfrm>
            <a:off x="2194560" y="516636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2194560" y="516636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Ops</a:t>
            </a:r>
            <a:endParaRPr lang="en-US" sz="1100" dirty="0"/>
          </a:p>
        </p:txBody>
      </p:sp>
      <p:sp>
        <p:nvSpPr>
          <p:cNvPr id="17" name="Shape 15"/>
          <p:cNvSpPr/>
          <p:nvPr/>
        </p:nvSpPr>
        <p:spPr>
          <a:xfrm>
            <a:off x="3931920" y="5166360"/>
            <a:ext cx="1005840" cy="548640"/>
          </a:xfrm>
          <a:prstGeom prst="ellipse">
            <a:avLst/>
          </a:prstGeom>
          <a:solidFill>
            <a:srgbClr val="0078D4"/>
          </a:solidFill>
          <a:ln w="12700">
            <a:solidFill>
              <a:srgbClr val="0078D4"/>
            </a:solidFill>
            <a:prstDash val="solid"/>
          </a:ln>
        </p:spPr>
        <p:txBody>
          <a:bodyPr/>
          <a:lstStyle/>
          <a:p>
            <a:endParaRPr lang="en-ZA"/>
          </a:p>
        </p:txBody>
      </p:sp>
      <p:sp>
        <p:nvSpPr>
          <p:cNvPr id="18" name="Text 16"/>
          <p:cNvSpPr/>
          <p:nvPr/>
        </p:nvSpPr>
        <p:spPr>
          <a:xfrm>
            <a:off x="3931920" y="516636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CX</a:t>
            </a:r>
            <a:endParaRPr lang="en-US" sz="1100" dirty="0"/>
          </a:p>
        </p:txBody>
      </p:sp>
      <p:sp>
        <p:nvSpPr>
          <p:cNvPr id="19" name="Shape 17"/>
          <p:cNvSpPr/>
          <p:nvPr/>
        </p:nvSpPr>
        <p:spPr>
          <a:xfrm>
            <a:off x="4983480" y="4526280"/>
            <a:ext cx="1005840" cy="548640"/>
          </a:xfrm>
          <a:prstGeom prst="ellipse">
            <a:avLst/>
          </a:prstGeom>
          <a:solidFill>
            <a:srgbClr val="0078D4"/>
          </a:solidFill>
          <a:ln w="12700">
            <a:solidFill>
              <a:srgbClr val="0078D4"/>
            </a:solidFill>
            <a:prstDash val="solid"/>
          </a:ln>
        </p:spPr>
        <p:txBody>
          <a:bodyPr/>
          <a:lstStyle/>
          <a:p>
            <a:endParaRPr lang="en-ZA"/>
          </a:p>
        </p:txBody>
      </p:sp>
      <p:sp>
        <p:nvSpPr>
          <p:cNvPr id="20" name="Text 18"/>
          <p:cNvSpPr/>
          <p:nvPr/>
        </p:nvSpPr>
        <p:spPr>
          <a:xfrm>
            <a:off x="4983480" y="4526280"/>
            <a:ext cx="1005840" cy="548640"/>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HR</a:t>
            </a:r>
            <a:endParaRPr lang="en-US" sz="1100" dirty="0"/>
          </a:p>
        </p:txBody>
      </p:sp>
      <p:sp>
        <p:nvSpPr>
          <p:cNvPr id="21" name="Text 19"/>
          <p:cNvSpPr/>
          <p:nvPr/>
        </p:nvSpPr>
        <p:spPr>
          <a:xfrm>
            <a:off x="777240" y="5760720"/>
            <a:ext cx="5029200" cy="274320"/>
          </a:xfrm>
          <a:prstGeom prst="rect">
            <a:avLst/>
          </a:prstGeom>
          <a:noFill/>
          <a:ln/>
        </p:spPr>
        <p:txBody>
          <a:bodyPr wrap="square" rtlCol="0" anchor="ctr"/>
          <a:lstStyle/>
          <a:p>
            <a:pPr marL="0" indent="0" algn="ctr">
              <a:buNone/>
            </a:pPr>
            <a:r>
              <a:rPr lang="en-US" sz="1000" i="1" dirty="0">
                <a:solidFill>
                  <a:srgbClr val="8A94A6"/>
                </a:solidFill>
                <a:latin typeface="Segoe UI" pitchFamily="34" charset="0"/>
                <a:ea typeface="Segoe UI" pitchFamily="34" charset="-122"/>
                <a:cs typeface="Segoe UI" pitchFamily="34" charset="-120"/>
              </a:rPr>
              <a:t>Domain CoEs inherit standards from the central hub</a:t>
            </a:r>
            <a:endParaRPr lang="en-US" sz="1000" dirty="0"/>
          </a:p>
        </p:txBody>
      </p:sp>
      <p:sp>
        <p:nvSpPr>
          <p:cNvPr id="22" name="Shape 20"/>
          <p:cNvSpPr/>
          <p:nvPr/>
        </p:nvSpPr>
        <p:spPr>
          <a:xfrm>
            <a:off x="6172200" y="1828800"/>
            <a:ext cx="548640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23" name="Text 21"/>
          <p:cNvSpPr/>
          <p:nvPr/>
        </p:nvSpPr>
        <p:spPr>
          <a:xfrm>
            <a:off x="6400800" y="1965960"/>
            <a:ext cx="50292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WHAT FEDERATION UNLOCKS</a:t>
            </a:r>
            <a:endParaRPr lang="en-US" sz="1100" dirty="0"/>
          </a:p>
        </p:txBody>
      </p:sp>
      <p:sp>
        <p:nvSpPr>
          <p:cNvPr id="24" name="Shape 22"/>
          <p:cNvSpPr/>
          <p:nvPr/>
        </p:nvSpPr>
        <p:spPr>
          <a:xfrm>
            <a:off x="6492240" y="2514600"/>
            <a:ext cx="54864" cy="457200"/>
          </a:xfrm>
          <a:prstGeom prst="rect">
            <a:avLst/>
          </a:prstGeom>
          <a:solidFill>
            <a:srgbClr val="FFB900"/>
          </a:solidFill>
          <a:ln w="12700">
            <a:solidFill>
              <a:srgbClr val="FFB900"/>
            </a:solidFill>
            <a:prstDash val="solid"/>
          </a:ln>
        </p:spPr>
        <p:txBody>
          <a:bodyPr/>
          <a:lstStyle/>
          <a:p>
            <a:endParaRPr lang="en-ZA"/>
          </a:p>
        </p:txBody>
      </p:sp>
      <p:sp>
        <p:nvSpPr>
          <p:cNvPr id="25" name="Text 23"/>
          <p:cNvSpPr/>
          <p:nvPr/>
        </p:nvSpPr>
        <p:spPr>
          <a:xfrm>
            <a:off x="6720840" y="2423160"/>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Renewal step-up</a:t>
            </a:r>
            <a:endParaRPr lang="en-US" sz="1300" dirty="0"/>
          </a:p>
        </p:txBody>
      </p:sp>
      <p:sp>
        <p:nvSpPr>
          <p:cNvPr id="26" name="Text 24"/>
          <p:cNvSpPr/>
          <p:nvPr/>
        </p:nvSpPr>
        <p:spPr>
          <a:xfrm>
            <a:off x="6720840" y="2743200"/>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Frontier Firm E7 bundle conversation</a:t>
            </a:r>
            <a:endParaRPr lang="en-US" sz="1100" dirty="0"/>
          </a:p>
        </p:txBody>
      </p:sp>
      <p:sp>
        <p:nvSpPr>
          <p:cNvPr id="27" name="Shape 25"/>
          <p:cNvSpPr/>
          <p:nvPr/>
        </p:nvSpPr>
        <p:spPr>
          <a:xfrm>
            <a:off x="6492240" y="3227832"/>
            <a:ext cx="54864" cy="457200"/>
          </a:xfrm>
          <a:prstGeom prst="rect">
            <a:avLst/>
          </a:prstGeom>
          <a:solidFill>
            <a:srgbClr val="FFB900"/>
          </a:solidFill>
          <a:ln w="12700">
            <a:solidFill>
              <a:srgbClr val="FFB900"/>
            </a:solidFill>
            <a:prstDash val="solid"/>
          </a:ln>
        </p:spPr>
        <p:txBody>
          <a:bodyPr/>
          <a:lstStyle/>
          <a:p>
            <a:endParaRPr lang="en-ZA"/>
          </a:p>
        </p:txBody>
      </p:sp>
      <p:sp>
        <p:nvSpPr>
          <p:cNvPr id="28" name="Text 26"/>
          <p:cNvSpPr/>
          <p:nvPr/>
        </p:nvSpPr>
        <p:spPr>
          <a:xfrm>
            <a:off x="6720840" y="3136392"/>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Multi-year ACR</a:t>
            </a:r>
            <a:endParaRPr lang="en-US" sz="1300" dirty="0"/>
          </a:p>
        </p:txBody>
      </p:sp>
      <p:sp>
        <p:nvSpPr>
          <p:cNvPr id="29" name="Text 27"/>
          <p:cNvSpPr/>
          <p:nvPr/>
        </p:nvSpPr>
        <p:spPr>
          <a:xfrm>
            <a:off x="6720840" y="3456432"/>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MACC commit + consumption growth path</a:t>
            </a:r>
            <a:endParaRPr lang="en-US" sz="1100" dirty="0"/>
          </a:p>
        </p:txBody>
      </p:sp>
      <p:sp>
        <p:nvSpPr>
          <p:cNvPr id="30" name="Shape 28"/>
          <p:cNvSpPr/>
          <p:nvPr/>
        </p:nvSpPr>
        <p:spPr>
          <a:xfrm>
            <a:off x="6492240" y="3941064"/>
            <a:ext cx="54864" cy="457200"/>
          </a:xfrm>
          <a:prstGeom prst="rect">
            <a:avLst/>
          </a:prstGeom>
          <a:solidFill>
            <a:srgbClr val="FFB900"/>
          </a:solidFill>
          <a:ln w="12700">
            <a:solidFill>
              <a:srgbClr val="FFB900"/>
            </a:solidFill>
            <a:prstDash val="solid"/>
          </a:ln>
        </p:spPr>
        <p:txBody>
          <a:bodyPr/>
          <a:lstStyle/>
          <a:p>
            <a:endParaRPr lang="en-ZA"/>
          </a:p>
        </p:txBody>
      </p:sp>
      <p:sp>
        <p:nvSpPr>
          <p:cNvPr id="31" name="Text 29"/>
          <p:cNvSpPr/>
          <p:nvPr/>
        </p:nvSpPr>
        <p:spPr>
          <a:xfrm>
            <a:off x="6720840" y="3849624"/>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Tier 3 Managed Run</a:t>
            </a:r>
            <a:endParaRPr lang="en-US" sz="1300" dirty="0"/>
          </a:p>
        </p:txBody>
      </p:sp>
      <p:sp>
        <p:nvSpPr>
          <p:cNvPr id="32" name="Text 30"/>
          <p:cNvSpPr/>
          <p:nvPr/>
        </p:nvSpPr>
        <p:spPr>
          <a:xfrm>
            <a:off x="6720840" y="4169664"/>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Anchor Partner moves to recurring MSP fee</a:t>
            </a:r>
            <a:endParaRPr lang="en-US" sz="1100" dirty="0"/>
          </a:p>
        </p:txBody>
      </p:sp>
      <p:sp>
        <p:nvSpPr>
          <p:cNvPr id="33" name="Shape 31"/>
          <p:cNvSpPr/>
          <p:nvPr/>
        </p:nvSpPr>
        <p:spPr>
          <a:xfrm>
            <a:off x="6492240" y="4654296"/>
            <a:ext cx="54864" cy="457200"/>
          </a:xfrm>
          <a:prstGeom prst="rect">
            <a:avLst/>
          </a:prstGeom>
          <a:solidFill>
            <a:srgbClr val="FFB900"/>
          </a:solidFill>
          <a:ln w="12700">
            <a:solidFill>
              <a:srgbClr val="FFB900"/>
            </a:solidFill>
            <a:prstDash val="solid"/>
          </a:ln>
        </p:spPr>
        <p:txBody>
          <a:bodyPr/>
          <a:lstStyle/>
          <a:p>
            <a:endParaRPr lang="en-ZA"/>
          </a:p>
        </p:txBody>
      </p:sp>
      <p:sp>
        <p:nvSpPr>
          <p:cNvPr id="34" name="Text 32"/>
          <p:cNvSpPr/>
          <p:nvPr/>
        </p:nvSpPr>
        <p:spPr>
          <a:xfrm>
            <a:off x="6720840" y="4562856"/>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Reference customer</a:t>
            </a:r>
            <a:endParaRPr lang="en-US" sz="1300" dirty="0"/>
          </a:p>
        </p:txBody>
      </p:sp>
      <p:sp>
        <p:nvSpPr>
          <p:cNvPr id="35" name="Text 33"/>
          <p:cNvSpPr/>
          <p:nvPr/>
        </p:nvSpPr>
        <p:spPr>
          <a:xfrm>
            <a:off x="6720840" y="4882896"/>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Published story · peer reference call</a:t>
            </a:r>
            <a:endParaRPr lang="en-US" sz="1100" dirty="0"/>
          </a:p>
        </p:txBody>
      </p:sp>
      <p:sp>
        <p:nvSpPr>
          <p:cNvPr id="36" name="Shape 34"/>
          <p:cNvSpPr/>
          <p:nvPr/>
        </p:nvSpPr>
        <p:spPr>
          <a:xfrm>
            <a:off x="6492240" y="5367528"/>
            <a:ext cx="54864" cy="457200"/>
          </a:xfrm>
          <a:prstGeom prst="rect">
            <a:avLst/>
          </a:prstGeom>
          <a:solidFill>
            <a:srgbClr val="FFB900"/>
          </a:solidFill>
          <a:ln w="12700">
            <a:solidFill>
              <a:srgbClr val="FFB900"/>
            </a:solidFill>
            <a:prstDash val="solid"/>
          </a:ln>
        </p:spPr>
        <p:txBody>
          <a:bodyPr/>
          <a:lstStyle/>
          <a:p>
            <a:endParaRPr lang="en-ZA"/>
          </a:p>
        </p:txBody>
      </p:sp>
      <p:sp>
        <p:nvSpPr>
          <p:cNvPr id="37" name="Text 35"/>
          <p:cNvSpPr/>
          <p:nvPr/>
        </p:nvSpPr>
        <p:spPr>
          <a:xfrm>
            <a:off x="6720840" y="5276088"/>
            <a:ext cx="4800600" cy="32004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Cross-sell surfaces</a:t>
            </a:r>
            <a:endParaRPr lang="en-US" sz="1300" dirty="0"/>
          </a:p>
        </p:txBody>
      </p:sp>
      <p:sp>
        <p:nvSpPr>
          <p:cNvPr id="38" name="Text 36"/>
          <p:cNvSpPr/>
          <p:nvPr/>
        </p:nvSpPr>
        <p:spPr>
          <a:xfrm>
            <a:off x="6720840" y="5596128"/>
            <a:ext cx="4800600" cy="41148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If A only — now sell B and C</a:t>
            </a:r>
            <a:endParaRPr lang="en-US" sz="1100" dirty="0"/>
          </a:p>
        </p:txBody>
      </p:sp>
      <p:sp>
        <p:nvSpPr>
          <p:cNvPr id="39" name="Text 37"/>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FF5C39"/>
                </a:solidFill>
                <a:latin typeface="Segoe UI" pitchFamily="34" charset="0"/>
                <a:ea typeface="Segoe UI" pitchFamily="34" charset="-122"/>
                <a:cs typeface="Segoe UI" pitchFamily="34" charset="-120"/>
              </a:rPr>
              <a:t>Do not start federating before three production agents — premature federation creates governance vacuums.</a:t>
            </a:r>
            <a:endParaRPr lang="en-US" sz="1100" dirty="0"/>
          </a:p>
        </p:txBody>
      </p:sp>
      <p:pic>
        <p:nvPicPr>
          <p:cNvPr id="4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1" name="Text 38"/>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42" name="Text 3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ROLES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Who does what — field shorthand</a:t>
            </a:r>
            <a:endParaRPr lang="en-US" sz="3000" dirty="0"/>
          </a:p>
        </p:txBody>
      </p:sp>
      <p:sp>
        <p:nvSpPr>
          <p:cNvPr id="5" name="Shape 3"/>
          <p:cNvSpPr/>
          <p:nvPr/>
        </p:nvSpPr>
        <p:spPr>
          <a:xfrm>
            <a:off x="54864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1005840" cy="169164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54864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ATU</a:t>
            </a:r>
            <a:endParaRPr lang="en-US" sz="2200" dirty="0"/>
          </a:p>
        </p:txBody>
      </p:sp>
      <p:sp>
        <p:nvSpPr>
          <p:cNvPr id="8" name="Text 6"/>
          <p:cNvSpPr/>
          <p:nvPr/>
        </p:nvSpPr>
        <p:spPr>
          <a:xfrm>
            <a:off x="169164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Account Team Unit</a:t>
            </a:r>
            <a:endParaRPr lang="en-US" sz="1300" dirty="0"/>
          </a:p>
        </p:txBody>
      </p:sp>
      <p:sp>
        <p:nvSpPr>
          <p:cNvPr id="9" name="Text 7"/>
          <p:cNvSpPr/>
          <p:nvPr/>
        </p:nvSpPr>
        <p:spPr>
          <a:xfrm>
            <a:off x="169164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Qualifies. Holds the budget. Signs the SOW.</a:t>
            </a:r>
            <a:endParaRPr lang="en-US" sz="1100" dirty="0"/>
          </a:p>
        </p:txBody>
      </p:sp>
      <p:sp>
        <p:nvSpPr>
          <p:cNvPr id="10" name="Shape 8"/>
          <p:cNvSpPr/>
          <p:nvPr/>
        </p:nvSpPr>
        <p:spPr>
          <a:xfrm>
            <a:off x="429768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11" name="Shape 9"/>
          <p:cNvSpPr/>
          <p:nvPr/>
        </p:nvSpPr>
        <p:spPr>
          <a:xfrm>
            <a:off x="4297680" y="1828800"/>
            <a:ext cx="1005840" cy="1691640"/>
          </a:xfrm>
          <a:prstGeom prst="rect">
            <a:avLst/>
          </a:prstGeom>
          <a:solidFill>
            <a:srgbClr val="0057B8"/>
          </a:solidFill>
          <a:ln w="12700">
            <a:solidFill>
              <a:srgbClr val="0057B8"/>
            </a:solidFill>
            <a:prstDash val="solid"/>
          </a:ln>
        </p:spPr>
        <p:txBody>
          <a:bodyPr/>
          <a:lstStyle/>
          <a:p>
            <a:endParaRPr lang="en-ZA"/>
          </a:p>
        </p:txBody>
      </p:sp>
      <p:sp>
        <p:nvSpPr>
          <p:cNvPr id="12" name="Text 10"/>
          <p:cNvSpPr/>
          <p:nvPr/>
        </p:nvSpPr>
        <p:spPr>
          <a:xfrm>
            <a:off x="429768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STU</a:t>
            </a:r>
            <a:endParaRPr lang="en-US" sz="2200" dirty="0"/>
          </a:p>
        </p:txBody>
      </p:sp>
      <p:sp>
        <p:nvSpPr>
          <p:cNvPr id="13" name="Text 11"/>
          <p:cNvSpPr/>
          <p:nvPr/>
        </p:nvSpPr>
        <p:spPr>
          <a:xfrm>
            <a:off x="544068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Specialist Team Unit</a:t>
            </a:r>
            <a:endParaRPr lang="en-US" sz="1300" dirty="0"/>
          </a:p>
        </p:txBody>
      </p:sp>
      <p:sp>
        <p:nvSpPr>
          <p:cNvPr id="14" name="Text 12"/>
          <p:cNvSpPr/>
          <p:nvPr/>
        </p:nvSpPr>
        <p:spPr>
          <a:xfrm>
            <a:off x="544068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Co-designs the blueprint. Owns the technical pursuit.</a:t>
            </a:r>
            <a:endParaRPr lang="en-US" sz="1100" dirty="0"/>
          </a:p>
        </p:txBody>
      </p:sp>
      <p:sp>
        <p:nvSpPr>
          <p:cNvPr id="15" name="Shape 13"/>
          <p:cNvSpPr/>
          <p:nvPr/>
        </p:nvSpPr>
        <p:spPr>
          <a:xfrm>
            <a:off x="8046720" y="182880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8046720" y="1828800"/>
            <a:ext cx="1005840" cy="1691640"/>
          </a:xfrm>
          <a:prstGeom prst="rect">
            <a:avLst/>
          </a:prstGeom>
          <a:solidFill>
            <a:srgbClr val="225B62"/>
          </a:solidFill>
          <a:ln w="12700">
            <a:solidFill>
              <a:srgbClr val="225B62"/>
            </a:solidFill>
            <a:prstDash val="solid"/>
          </a:ln>
        </p:spPr>
        <p:txBody>
          <a:bodyPr/>
          <a:lstStyle/>
          <a:p>
            <a:endParaRPr lang="en-ZA"/>
          </a:p>
        </p:txBody>
      </p:sp>
      <p:sp>
        <p:nvSpPr>
          <p:cNvPr id="17" name="Text 15"/>
          <p:cNvSpPr/>
          <p:nvPr/>
        </p:nvSpPr>
        <p:spPr>
          <a:xfrm>
            <a:off x="8046720" y="219456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CSU</a:t>
            </a:r>
            <a:endParaRPr lang="en-US" sz="2200" dirty="0"/>
          </a:p>
        </p:txBody>
      </p:sp>
      <p:sp>
        <p:nvSpPr>
          <p:cNvPr id="18" name="Text 16"/>
          <p:cNvSpPr/>
          <p:nvPr/>
        </p:nvSpPr>
        <p:spPr>
          <a:xfrm>
            <a:off x="9189720" y="201168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Customer Success Unit</a:t>
            </a:r>
            <a:endParaRPr lang="en-US" sz="1300" dirty="0"/>
          </a:p>
        </p:txBody>
      </p:sp>
      <p:sp>
        <p:nvSpPr>
          <p:cNvPr id="19" name="Text 17"/>
          <p:cNvSpPr/>
          <p:nvPr/>
        </p:nvSpPr>
        <p:spPr>
          <a:xfrm>
            <a:off x="9189720" y="242316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CSA owns Stage 4 — Realize Value. The home of the offering.</a:t>
            </a:r>
            <a:endParaRPr lang="en-US" sz="1100" dirty="0"/>
          </a:p>
        </p:txBody>
      </p:sp>
      <p:sp>
        <p:nvSpPr>
          <p:cNvPr id="20" name="Shape 18"/>
          <p:cNvSpPr/>
          <p:nvPr/>
        </p:nvSpPr>
        <p:spPr>
          <a:xfrm>
            <a:off x="54864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21" name="Shape 19"/>
          <p:cNvSpPr/>
          <p:nvPr/>
        </p:nvSpPr>
        <p:spPr>
          <a:xfrm>
            <a:off x="548640" y="3703320"/>
            <a:ext cx="1005840" cy="1691640"/>
          </a:xfrm>
          <a:prstGeom prst="rect">
            <a:avLst/>
          </a:prstGeom>
          <a:solidFill>
            <a:srgbClr val="FFB900"/>
          </a:solidFill>
          <a:ln w="12700">
            <a:solidFill>
              <a:srgbClr val="FFB900"/>
            </a:solidFill>
            <a:prstDash val="solid"/>
          </a:ln>
        </p:spPr>
        <p:txBody>
          <a:bodyPr/>
          <a:lstStyle/>
          <a:p>
            <a:endParaRPr lang="en-ZA"/>
          </a:p>
        </p:txBody>
      </p:sp>
      <p:sp>
        <p:nvSpPr>
          <p:cNvPr id="22" name="Text 20"/>
          <p:cNvSpPr/>
          <p:nvPr/>
        </p:nvSpPr>
        <p:spPr>
          <a:xfrm>
            <a:off x="54864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EPS</a:t>
            </a:r>
            <a:endParaRPr lang="en-US" sz="2200" dirty="0"/>
          </a:p>
        </p:txBody>
      </p:sp>
      <p:sp>
        <p:nvSpPr>
          <p:cNvPr id="23" name="Text 21"/>
          <p:cNvSpPr/>
          <p:nvPr/>
        </p:nvSpPr>
        <p:spPr>
          <a:xfrm>
            <a:off x="169164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Enterprise Partner Sales</a:t>
            </a:r>
            <a:endParaRPr lang="en-US" sz="1300" dirty="0"/>
          </a:p>
        </p:txBody>
      </p:sp>
      <p:sp>
        <p:nvSpPr>
          <p:cNvPr id="24" name="Text 22"/>
          <p:cNvSpPr/>
          <p:nvPr/>
        </p:nvSpPr>
        <p:spPr>
          <a:xfrm>
            <a:off x="169164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PDM primes Anchor Partner lifecycle — not the CSA.</a:t>
            </a:r>
            <a:endParaRPr lang="en-US" sz="1100" dirty="0"/>
          </a:p>
        </p:txBody>
      </p:sp>
      <p:sp>
        <p:nvSpPr>
          <p:cNvPr id="25" name="Shape 23"/>
          <p:cNvSpPr/>
          <p:nvPr/>
        </p:nvSpPr>
        <p:spPr>
          <a:xfrm>
            <a:off x="429768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4297680" y="3703320"/>
            <a:ext cx="1005840" cy="1691640"/>
          </a:xfrm>
          <a:prstGeom prst="rect">
            <a:avLst/>
          </a:prstGeom>
          <a:solidFill>
            <a:srgbClr val="FF5C39"/>
          </a:solidFill>
          <a:ln w="12700">
            <a:solidFill>
              <a:srgbClr val="FF5C39"/>
            </a:solidFill>
            <a:prstDash val="solid"/>
          </a:ln>
        </p:spPr>
        <p:txBody>
          <a:bodyPr/>
          <a:lstStyle/>
          <a:p>
            <a:endParaRPr lang="en-ZA"/>
          </a:p>
        </p:txBody>
      </p:sp>
      <p:sp>
        <p:nvSpPr>
          <p:cNvPr id="27" name="Text 25"/>
          <p:cNvSpPr/>
          <p:nvPr/>
        </p:nvSpPr>
        <p:spPr>
          <a:xfrm>
            <a:off x="429768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ISD</a:t>
            </a:r>
            <a:endParaRPr lang="en-US" sz="2200" dirty="0"/>
          </a:p>
        </p:txBody>
      </p:sp>
      <p:sp>
        <p:nvSpPr>
          <p:cNvPr id="28" name="Text 26"/>
          <p:cNvSpPr/>
          <p:nvPr/>
        </p:nvSpPr>
        <p:spPr>
          <a:xfrm>
            <a:off x="544068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Industry Solutions Delivery</a:t>
            </a:r>
            <a:endParaRPr lang="en-US" sz="1300" dirty="0"/>
          </a:p>
        </p:txBody>
      </p:sp>
      <p:sp>
        <p:nvSpPr>
          <p:cNvPr id="29" name="Text 27"/>
          <p:cNvSpPr/>
          <p:nvPr/>
        </p:nvSpPr>
        <p:spPr>
          <a:xfrm>
            <a:off x="544068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Engaged only when Model A / B / C applies.</a:t>
            </a:r>
            <a:endParaRPr lang="en-US" sz="1100" dirty="0"/>
          </a:p>
        </p:txBody>
      </p:sp>
      <p:sp>
        <p:nvSpPr>
          <p:cNvPr id="30" name="Shape 28"/>
          <p:cNvSpPr/>
          <p:nvPr/>
        </p:nvSpPr>
        <p:spPr>
          <a:xfrm>
            <a:off x="8046720" y="3703320"/>
            <a:ext cx="3611880" cy="1691640"/>
          </a:xfrm>
          <a:prstGeom prst="roundRect">
            <a:avLst>
              <a:gd name="adj" fmla="val 5405"/>
            </a:avLst>
          </a:prstGeom>
          <a:solidFill>
            <a:srgbClr val="FFF8F5"/>
          </a:solidFill>
          <a:ln w="12700">
            <a:solidFill>
              <a:srgbClr val="E1E6EF"/>
            </a:solidFill>
            <a:prstDash val="solid"/>
          </a:ln>
        </p:spPr>
        <p:txBody>
          <a:bodyPr/>
          <a:lstStyle/>
          <a:p>
            <a:endParaRPr lang="en-ZA"/>
          </a:p>
        </p:txBody>
      </p:sp>
      <p:sp>
        <p:nvSpPr>
          <p:cNvPr id="31" name="Shape 29"/>
          <p:cNvSpPr/>
          <p:nvPr/>
        </p:nvSpPr>
        <p:spPr>
          <a:xfrm>
            <a:off x="8046720" y="3703320"/>
            <a:ext cx="1005840" cy="1691640"/>
          </a:xfrm>
          <a:prstGeom prst="rect">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8046720" y="4069080"/>
            <a:ext cx="100584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Ptn</a:t>
            </a:r>
            <a:endParaRPr lang="en-US" sz="2200" dirty="0"/>
          </a:p>
        </p:txBody>
      </p:sp>
      <p:sp>
        <p:nvSpPr>
          <p:cNvPr id="33" name="Text 31"/>
          <p:cNvSpPr/>
          <p:nvPr/>
        </p:nvSpPr>
        <p:spPr>
          <a:xfrm>
            <a:off x="9189720" y="3886200"/>
            <a:ext cx="2331720" cy="41148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Anchor Partner</a:t>
            </a:r>
            <a:endParaRPr lang="en-US" sz="1300" dirty="0"/>
          </a:p>
        </p:txBody>
      </p:sp>
      <p:sp>
        <p:nvSpPr>
          <p:cNvPr id="34" name="Text 32"/>
          <p:cNvSpPr/>
          <p:nvPr/>
        </p:nvSpPr>
        <p:spPr>
          <a:xfrm>
            <a:off x="9189720" y="4297680"/>
            <a:ext cx="2331720" cy="9601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Builds Tier 2. Runs Tier 3. Inside the customer CoE.</a:t>
            </a:r>
            <a:endParaRPr lang="en-US" sz="11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Full RACI lives in the playbook. This slide is the shorthand — when in doubt, route through the role that owns the stage.</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FUNDING</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Match the instrument to the stage</a:t>
            </a:r>
            <a:endParaRPr lang="en-US" sz="3000" dirty="0"/>
          </a:p>
        </p:txBody>
      </p:sp>
      <p:sp>
        <p:nvSpPr>
          <p:cNvPr id="5" name="Shape 3"/>
          <p:cNvSpPr/>
          <p:nvPr/>
        </p:nvSpPr>
        <p:spPr>
          <a:xfrm>
            <a:off x="548640" y="1920240"/>
            <a:ext cx="3108960" cy="502920"/>
          </a:xfrm>
          <a:prstGeom prst="rect">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548640" y="1920240"/>
            <a:ext cx="310896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Instrument</a:t>
            </a:r>
            <a:endParaRPr lang="en-US" sz="1200" dirty="0"/>
          </a:p>
        </p:txBody>
      </p:sp>
      <p:sp>
        <p:nvSpPr>
          <p:cNvPr id="7" name="Shape 5"/>
          <p:cNvSpPr/>
          <p:nvPr/>
        </p:nvSpPr>
        <p:spPr>
          <a:xfrm>
            <a:off x="3657600" y="1920240"/>
            <a:ext cx="3200400" cy="502920"/>
          </a:xfrm>
          <a:prstGeom prst="rect">
            <a:avLst/>
          </a:prstGeom>
          <a:solidFill>
            <a:srgbClr val="091F2C"/>
          </a:solidFill>
          <a:ln w="12700">
            <a:solidFill>
              <a:srgbClr val="091F2C"/>
            </a:solidFill>
            <a:prstDash val="solid"/>
          </a:ln>
        </p:spPr>
        <p:txBody>
          <a:bodyPr/>
          <a:lstStyle/>
          <a:p>
            <a:endParaRPr lang="en-ZA"/>
          </a:p>
        </p:txBody>
      </p:sp>
      <p:sp>
        <p:nvSpPr>
          <p:cNvPr id="8" name="Text 6"/>
          <p:cNvSpPr/>
          <p:nvPr/>
        </p:nvSpPr>
        <p:spPr>
          <a:xfrm>
            <a:off x="3657600" y="1920240"/>
            <a:ext cx="320040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When to use</a:t>
            </a:r>
            <a:endParaRPr lang="en-US" sz="1200" dirty="0"/>
          </a:p>
        </p:txBody>
      </p:sp>
      <p:sp>
        <p:nvSpPr>
          <p:cNvPr id="9" name="Shape 7"/>
          <p:cNvSpPr/>
          <p:nvPr/>
        </p:nvSpPr>
        <p:spPr>
          <a:xfrm>
            <a:off x="6858000" y="1920240"/>
            <a:ext cx="2834640" cy="502920"/>
          </a:xfrm>
          <a:prstGeom prst="rect">
            <a:avLst/>
          </a:prstGeom>
          <a:solidFill>
            <a:srgbClr val="091F2C"/>
          </a:solidFill>
          <a:ln w="12700">
            <a:solidFill>
              <a:srgbClr val="091F2C"/>
            </a:solidFill>
            <a:prstDash val="solid"/>
          </a:ln>
        </p:spPr>
        <p:txBody>
          <a:bodyPr/>
          <a:lstStyle/>
          <a:p>
            <a:endParaRPr lang="en-ZA"/>
          </a:p>
        </p:txBody>
      </p:sp>
      <p:sp>
        <p:nvSpPr>
          <p:cNvPr id="10" name="Text 8"/>
          <p:cNvSpPr/>
          <p:nvPr/>
        </p:nvSpPr>
        <p:spPr>
          <a:xfrm>
            <a:off x="6858000" y="1920240"/>
            <a:ext cx="283464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Envelope</a:t>
            </a:r>
            <a:endParaRPr lang="en-US" sz="1200" dirty="0"/>
          </a:p>
        </p:txBody>
      </p:sp>
      <p:sp>
        <p:nvSpPr>
          <p:cNvPr id="11" name="Shape 9"/>
          <p:cNvSpPr/>
          <p:nvPr/>
        </p:nvSpPr>
        <p:spPr>
          <a:xfrm>
            <a:off x="9692640" y="1920240"/>
            <a:ext cx="1920240" cy="502920"/>
          </a:xfrm>
          <a:prstGeom prst="rect">
            <a:avLst/>
          </a:prstGeom>
          <a:solidFill>
            <a:srgbClr val="091F2C"/>
          </a:solidFill>
          <a:ln w="12700">
            <a:solidFill>
              <a:srgbClr val="091F2C"/>
            </a:solidFill>
            <a:prstDash val="solid"/>
          </a:ln>
        </p:spPr>
        <p:txBody>
          <a:bodyPr/>
          <a:lstStyle/>
          <a:p>
            <a:endParaRPr lang="en-ZA"/>
          </a:p>
        </p:txBody>
      </p:sp>
      <p:sp>
        <p:nvSpPr>
          <p:cNvPr id="12" name="Text 10"/>
          <p:cNvSpPr/>
          <p:nvPr/>
        </p:nvSpPr>
        <p:spPr>
          <a:xfrm>
            <a:off x="9692640" y="1920240"/>
            <a:ext cx="1920240" cy="502920"/>
          </a:xfrm>
          <a:prstGeom prst="rect">
            <a:avLst/>
          </a:prstGeom>
          <a:noFill/>
          <a:ln/>
        </p:spPr>
        <p:txBody>
          <a:bodyPr wrap="square" lIns="101600" tIns="101600" rIns="101600" bIns="101600" rtlCol="0" anchor="ctr"/>
          <a:lstStyle/>
          <a:p>
            <a:pPr marL="0" indent="0" algn="l">
              <a:buNone/>
            </a:pPr>
            <a:r>
              <a:rPr lang="en-US" sz="1200" b="1" dirty="0">
                <a:solidFill>
                  <a:srgbClr val="FFFFFF"/>
                </a:solidFill>
                <a:latin typeface="Segoe UI" pitchFamily="34" charset="0"/>
                <a:ea typeface="Segoe UI" pitchFamily="34" charset="-122"/>
                <a:cs typeface="Segoe UI" pitchFamily="34" charset="-120"/>
              </a:rPr>
              <a:t>Owner</a:t>
            </a:r>
            <a:endParaRPr lang="en-US" sz="1200" dirty="0"/>
          </a:p>
        </p:txBody>
      </p:sp>
      <p:sp>
        <p:nvSpPr>
          <p:cNvPr id="13" name="Shape 11"/>
          <p:cNvSpPr/>
          <p:nvPr/>
        </p:nvSpPr>
        <p:spPr>
          <a:xfrm>
            <a:off x="548640" y="2423160"/>
            <a:ext cx="3108960" cy="502920"/>
          </a:xfrm>
          <a:prstGeom prst="rect">
            <a:avLst/>
          </a:prstGeom>
          <a:solidFill>
            <a:srgbClr val="FFFFFF"/>
          </a:solidFill>
          <a:ln w="6350">
            <a:solidFill>
              <a:srgbClr val="E1E6EF"/>
            </a:solidFill>
            <a:prstDash val="solid"/>
          </a:ln>
        </p:spPr>
        <p:txBody>
          <a:bodyPr/>
          <a:lstStyle/>
          <a:p>
            <a:endParaRPr lang="en-ZA"/>
          </a:p>
        </p:txBody>
      </p:sp>
      <p:sp>
        <p:nvSpPr>
          <p:cNvPr id="14" name="Text 12"/>
          <p:cNvSpPr/>
          <p:nvPr/>
        </p:nvSpPr>
        <p:spPr>
          <a:xfrm>
            <a:off x="548640" y="242316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ECIF — pre-sales</a:t>
            </a:r>
            <a:endParaRPr lang="en-US" sz="1100" dirty="0"/>
          </a:p>
        </p:txBody>
      </p:sp>
      <p:sp>
        <p:nvSpPr>
          <p:cNvPr id="15" name="Shape 13"/>
          <p:cNvSpPr/>
          <p:nvPr/>
        </p:nvSpPr>
        <p:spPr>
          <a:xfrm>
            <a:off x="3657600" y="2423160"/>
            <a:ext cx="3200400" cy="502920"/>
          </a:xfrm>
          <a:prstGeom prst="rect">
            <a:avLst/>
          </a:prstGeom>
          <a:solidFill>
            <a:srgbClr val="FFFFFF"/>
          </a:solidFill>
          <a:ln w="6350">
            <a:solidFill>
              <a:srgbClr val="E1E6EF"/>
            </a:solidFill>
            <a:prstDash val="solid"/>
          </a:ln>
        </p:spPr>
        <p:txBody>
          <a:bodyPr/>
          <a:lstStyle/>
          <a:p>
            <a:endParaRPr lang="en-ZA"/>
          </a:p>
        </p:txBody>
      </p:sp>
      <p:sp>
        <p:nvSpPr>
          <p:cNvPr id="16" name="Text 14"/>
          <p:cNvSpPr/>
          <p:nvPr/>
        </p:nvSpPr>
        <p:spPr>
          <a:xfrm>
            <a:off x="3657600" y="242316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1–2 · Envisioning</a:t>
            </a:r>
            <a:endParaRPr lang="en-US" sz="1100" dirty="0"/>
          </a:p>
        </p:txBody>
      </p:sp>
      <p:sp>
        <p:nvSpPr>
          <p:cNvPr id="17" name="Shape 15"/>
          <p:cNvSpPr/>
          <p:nvPr/>
        </p:nvSpPr>
        <p:spPr>
          <a:xfrm>
            <a:off x="6858000" y="2423160"/>
            <a:ext cx="2834640" cy="502920"/>
          </a:xfrm>
          <a:prstGeom prst="rect">
            <a:avLst/>
          </a:prstGeom>
          <a:solidFill>
            <a:srgbClr val="FFFFFF"/>
          </a:solidFill>
          <a:ln w="6350">
            <a:solidFill>
              <a:srgbClr val="E1E6EF"/>
            </a:solidFill>
            <a:prstDash val="solid"/>
          </a:ln>
        </p:spPr>
        <p:txBody>
          <a:bodyPr/>
          <a:lstStyle/>
          <a:p>
            <a:endParaRPr lang="en-ZA"/>
          </a:p>
        </p:txBody>
      </p:sp>
      <p:sp>
        <p:nvSpPr>
          <p:cNvPr id="18" name="Text 16"/>
          <p:cNvSpPr/>
          <p:nvPr/>
        </p:nvSpPr>
        <p:spPr>
          <a:xfrm>
            <a:off x="6858000" y="242316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$50k · 1:5 ROI</a:t>
            </a:r>
            <a:endParaRPr lang="en-US" sz="1100" dirty="0"/>
          </a:p>
        </p:txBody>
      </p:sp>
      <p:sp>
        <p:nvSpPr>
          <p:cNvPr id="19" name="Shape 17"/>
          <p:cNvSpPr/>
          <p:nvPr/>
        </p:nvSpPr>
        <p:spPr>
          <a:xfrm>
            <a:off x="9692640" y="2423160"/>
            <a:ext cx="1920240" cy="502920"/>
          </a:xfrm>
          <a:prstGeom prst="rect">
            <a:avLst/>
          </a:prstGeom>
          <a:solidFill>
            <a:srgbClr val="FFFFFF"/>
          </a:solidFill>
          <a:ln w="6350">
            <a:solidFill>
              <a:srgbClr val="E1E6EF"/>
            </a:solidFill>
            <a:prstDash val="solid"/>
          </a:ln>
        </p:spPr>
        <p:txBody>
          <a:bodyPr/>
          <a:lstStyle/>
          <a:p>
            <a:endParaRPr lang="en-ZA"/>
          </a:p>
        </p:txBody>
      </p:sp>
      <p:sp>
        <p:nvSpPr>
          <p:cNvPr id="20" name="Text 18"/>
          <p:cNvSpPr/>
          <p:nvPr/>
        </p:nvSpPr>
        <p:spPr>
          <a:xfrm>
            <a:off x="9692640" y="242316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 + ATS</a:t>
            </a:r>
            <a:endParaRPr lang="en-US" sz="1100" dirty="0"/>
          </a:p>
        </p:txBody>
      </p:sp>
      <p:sp>
        <p:nvSpPr>
          <p:cNvPr id="21" name="Shape 19"/>
          <p:cNvSpPr/>
          <p:nvPr/>
        </p:nvSpPr>
        <p:spPr>
          <a:xfrm>
            <a:off x="548640" y="2926080"/>
            <a:ext cx="3108960" cy="502920"/>
          </a:xfrm>
          <a:prstGeom prst="rect">
            <a:avLst/>
          </a:prstGeom>
          <a:solidFill>
            <a:srgbClr val="FFF8F5"/>
          </a:solidFill>
          <a:ln w="6350">
            <a:solidFill>
              <a:srgbClr val="E1E6EF"/>
            </a:solidFill>
            <a:prstDash val="solid"/>
          </a:ln>
        </p:spPr>
        <p:txBody>
          <a:bodyPr/>
          <a:lstStyle/>
          <a:p>
            <a:endParaRPr lang="en-ZA"/>
          </a:p>
        </p:txBody>
      </p:sp>
      <p:sp>
        <p:nvSpPr>
          <p:cNvPr id="22" name="Text 20"/>
          <p:cNvSpPr/>
          <p:nvPr/>
        </p:nvSpPr>
        <p:spPr>
          <a:xfrm>
            <a:off x="548640" y="292608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ECIF — post-sales</a:t>
            </a:r>
            <a:endParaRPr lang="en-US" sz="1100" dirty="0"/>
          </a:p>
        </p:txBody>
      </p:sp>
      <p:sp>
        <p:nvSpPr>
          <p:cNvPr id="23" name="Shape 21"/>
          <p:cNvSpPr/>
          <p:nvPr/>
        </p:nvSpPr>
        <p:spPr>
          <a:xfrm>
            <a:off x="3657600" y="2926080"/>
            <a:ext cx="3200400" cy="502920"/>
          </a:xfrm>
          <a:prstGeom prst="rect">
            <a:avLst/>
          </a:prstGeom>
          <a:solidFill>
            <a:srgbClr val="FFF8F5"/>
          </a:solidFill>
          <a:ln w="6350">
            <a:solidFill>
              <a:srgbClr val="E1E6EF"/>
            </a:solidFill>
            <a:prstDash val="solid"/>
          </a:ln>
        </p:spPr>
        <p:txBody>
          <a:bodyPr/>
          <a:lstStyle/>
          <a:p>
            <a:endParaRPr lang="en-ZA"/>
          </a:p>
        </p:txBody>
      </p:sp>
      <p:sp>
        <p:nvSpPr>
          <p:cNvPr id="24" name="Text 22"/>
          <p:cNvSpPr/>
          <p:nvPr/>
        </p:nvSpPr>
        <p:spPr>
          <a:xfrm>
            <a:off x="3657600" y="292608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2–4 · Foundation + Agent Factory</a:t>
            </a:r>
            <a:endParaRPr lang="en-US" sz="1100" dirty="0"/>
          </a:p>
        </p:txBody>
      </p:sp>
      <p:sp>
        <p:nvSpPr>
          <p:cNvPr id="25" name="Shape 23"/>
          <p:cNvSpPr/>
          <p:nvPr/>
        </p:nvSpPr>
        <p:spPr>
          <a:xfrm>
            <a:off x="6858000" y="2926080"/>
            <a:ext cx="2834640" cy="502920"/>
          </a:xfrm>
          <a:prstGeom prst="rect">
            <a:avLst/>
          </a:prstGeom>
          <a:solidFill>
            <a:srgbClr val="FFF8F5"/>
          </a:solidFill>
          <a:ln w="6350">
            <a:solidFill>
              <a:srgbClr val="E1E6EF"/>
            </a:solidFill>
            <a:prstDash val="solid"/>
          </a:ln>
        </p:spPr>
        <p:txBody>
          <a:bodyPr/>
          <a:lstStyle/>
          <a:p>
            <a:endParaRPr lang="en-ZA"/>
          </a:p>
        </p:txBody>
      </p:sp>
      <p:sp>
        <p:nvSpPr>
          <p:cNvPr id="26" name="Text 24"/>
          <p:cNvSpPr/>
          <p:nvPr/>
        </p:nvSpPr>
        <p:spPr>
          <a:xfrm>
            <a:off x="6858000" y="292608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$500k · 1:2 ROI</a:t>
            </a:r>
            <a:endParaRPr lang="en-US" sz="1100" dirty="0"/>
          </a:p>
        </p:txBody>
      </p:sp>
      <p:sp>
        <p:nvSpPr>
          <p:cNvPr id="27" name="Shape 25"/>
          <p:cNvSpPr/>
          <p:nvPr/>
        </p:nvSpPr>
        <p:spPr>
          <a:xfrm>
            <a:off x="9692640" y="2926080"/>
            <a:ext cx="1920240" cy="502920"/>
          </a:xfrm>
          <a:prstGeom prst="rect">
            <a:avLst/>
          </a:prstGeom>
          <a:solidFill>
            <a:srgbClr val="FFF8F5"/>
          </a:solidFill>
          <a:ln w="6350">
            <a:solidFill>
              <a:srgbClr val="E1E6EF"/>
            </a:solidFill>
            <a:prstDash val="solid"/>
          </a:ln>
        </p:spPr>
        <p:txBody>
          <a:bodyPr/>
          <a:lstStyle/>
          <a:p>
            <a:endParaRPr lang="en-ZA"/>
          </a:p>
        </p:txBody>
      </p:sp>
      <p:sp>
        <p:nvSpPr>
          <p:cNvPr id="28" name="Text 26"/>
          <p:cNvSpPr/>
          <p:nvPr/>
        </p:nvSpPr>
        <p:spPr>
          <a:xfrm>
            <a:off x="9692640" y="292608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 + CSU</a:t>
            </a:r>
            <a:endParaRPr lang="en-US" sz="1100" dirty="0"/>
          </a:p>
        </p:txBody>
      </p:sp>
      <p:sp>
        <p:nvSpPr>
          <p:cNvPr id="29" name="Shape 27"/>
          <p:cNvSpPr/>
          <p:nvPr/>
        </p:nvSpPr>
        <p:spPr>
          <a:xfrm>
            <a:off x="548640" y="3429000"/>
            <a:ext cx="3108960" cy="502920"/>
          </a:xfrm>
          <a:prstGeom prst="rect">
            <a:avLst/>
          </a:prstGeom>
          <a:solidFill>
            <a:srgbClr val="FFFFFF"/>
          </a:solidFill>
          <a:ln w="6350">
            <a:solidFill>
              <a:srgbClr val="E1E6EF"/>
            </a:solidFill>
            <a:prstDash val="solid"/>
          </a:ln>
        </p:spPr>
        <p:txBody>
          <a:bodyPr/>
          <a:lstStyle/>
          <a:p>
            <a:endParaRPr lang="en-ZA"/>
          </a:p>
        </p:txBody>
      </p:sp>
      <p:sp>
        <p:nvSpPr>
          <p:cNvPr id="30" name="Text 28"/>
          <p:cNvSpPr/>
          <p:nvPr/>
        </p:nvSpPr>
        <p:spPr>
          <a:xfrm>
            <a:off x="548640" y="342900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ACO — Azure Consumption</a:t>
            </a:r>
            <a:endParaRPr lang="en-US" sz="1100" dirty="0"/>
          </a:p>
        </p:txBody>
      </p:sp>
      <p:sp>
        <p:nvSpPr>
          <p:cNvPr id="31" name="Shape 29"/>
          <p:cNvSpPr/>
          <p:nvPr/>
        </p:nvSpPr>
        <p:spPr>
          <a:xfrm>
            <a:off x="3657600" y="3429000"/>
            <a:ext cx="3200400" cy="502920"/>
          </a:xfrm>
          <a:prstGeom prst="rect">
            <a:avLst/>
          </a:prstGeom>
          <a:solidFill>
            <a:srgbClr val="FFFFFF"/>
          </a:solidFill>
          <a:ln w="6350">
            <a:solidFill>
              <a:srgbClr val="E1E6EF"/>
            </a:solidFill>
            <a:prstDash val="solid"/>
          </a:ln>
        </p:spPr>
        <p:txBody>
          <a:bodyPr/>
          <a:lstStyle/>
          <a:p>
            <a:endParaRPr lang="en-ZA"/>
          </a:p>
        </p:txBody>
      </p:sp>
      <p:sp>
        <p:nvSpPr>
          <p:cNvPr id="32" name="Text 30"/>
          <p:cNvSpPr/>
          <p:nvPr/>
        </p:nvSpPr>
        <p:spPr>
          <a:xfrm>
            <a:off x="3657600" y="342900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3–4 · production scale</a:t>
            </a:r>
            <a:endParaRPr lang="en-US" sz="1100" dirty="0"/>
          </a:p>
        </p:txBody>
      </p:sp>
      <p:sp>
        <p:nvSpPr>
          <p:cNvPr id="33" name="Shape 31"/>
          <p:cNvSpPr/>
          <p:nvPr/>
        </p:nvSpPr>
        <p:spPr>
          <a:xfrm>
            <a:off x="6858000" y="3429000"/>
            <a:ext cx="2834640" cy="502920"/>
          </a:xfrm>
          <a:prstGeom prst="rect">
            <a:avLst/>
          </a:prstGeom>
          <a:solidFill>
            <a:srgbClr val="FFFFFF"/>
          </a:solidFill>
          <a:ln w="6350">
            <a:solidFill>
              <a:srgbClr val="E1E6EF"/>
            </a:solidFill>
            <a:prstDash val="solid"/>
          </a:ln>
        </p:spPr>
        <p:txBody>
          <a:bodyPr/>
          <a:lstStyle/>
          <a:p>
            <a:endParaRPr lang="en-ZA"/>
          </a:p>
        </p:txBody>
      </p:sp>
      <p:sp>
        <p:nvSpPr>
          <p:cNvPr id="34" name="Text 32"/>
          <p:cNvSpPr/>
          <p:nvPr/>
        </p:nvSpPr>
        <p:spPr>
          <a:xfrm>
            <a:off x="6858000" y="342900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Up to $500k · 1:2 ROI</a:t>
            </a:r>
            <a:endParaRPr lang="en-US" sz="1100" dirty="0"/>
          </a:p>
        </p:txBody>
      </p:sp>
      <p:sp>
        <p:nvSpPr>
          <p:cNvPr id="35" name="Shape 33"/>
          <p:cNvSpPr/>
          <p:nvPr/>
        </p:nvSpPr>
        <p:spPr>
          <a:xfrm>
            <a:off x="9692640" y="3429000"/>
            <a:ext cx="1920240" cy="502920"/>
          </a:xfrm>
          <a:prstGeom prst="rect">
            <a:avLst/>
          </a:prstGeom>
          <a:solidFill>
            <a:srgbClr val="FFFFFF"/>
          </a:solidFill>
          <a:ln w="6350">
            <a:solidFill>
              <a:srgbClr val="E1E6EF"/>
            </a:solidFill>
            <a:prstDash val="solid"/>
          </a:ln>
        </p:spPr>
        <p:txBody>
          <a:bodyPr/>
          <a:lstStyle/>
          <a:p>
            <a:endParaRPr lang="en-ZA"/>
          </a:p>
        </p:txBody>
      </p:sp>
      <p:sp>
        <p:nvSpPr>
          <p:cNvPr id="36" name="Text 34"/>
          <p:cNvSpPr/>
          <p:nvPr/>
        </p:nvSpPr>
        <p:spPr>
          <a:xfrm>
            <a:off x="9692640" y="342900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CSU lead</a:t>
            </a:r>
            <a:endParaRPr lang="en-US" sz="1100" dirty="0"/>
          </a:p>
        </p:txBody>
      </p:sp>
      <p:sp>
        <p:nvSpPr>
          <p:cNvPr id="37" name="Shape 35"/>
          <p:cNvSpPr/>
          <p:nvPr/>
        </p:nvSpPr>
        <p:spPr>
          <a:xfrm>
            <a:off x="548640" y="3931920"/>
            <a:ext cx="3108960" cy="502920"/>
          </a:xfrm>
          <a:prstGeom prst="rect">
            <a:avLst/>
          </a:prstGeom>
          <a:solidFill>
            <a:srgbClr val="FFF8F5"/>
          </a:solidFill>
          <a:ln w="6350">
            <a:solidFill>
              <a:srgbClr val="E1E6EF"/>
            </a:solidFill>
            <a:prstDash val="solid"/>
          </a:ln>
        </p:spPr>
        <p:txBody>
          <a:bodyPr/>
          <a:lstStyle/>
          <a:p>
            <a:endParaRPr lang="en-ZA"/>
          </a:p>
        </p:txBody>
      </p:sp>
      <p:sp>
        <p:nvSpPr>
          <p:cNvPr id="38" name="Text 36"/>
          <p:cNvSpPr/>
          <p:nvPr/>
        </p:nvSpPr>
        <p:spPr>
          <a:xfrm>
            <a:off x="548640" y="393192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AMM</a:t>
            </a:r>
            <a:endParaRPr lang="en-US" sz="1100" dirty="0"/>
          </a:p>
        </p:txBody>
      </p:sp>
      <p:sp>
        <p:nvSpPr>
          <p:cNvPr id="39" name="Shape 37"/>
          <p:cNvSpPr/>
          <p:nvPr/>
        </p:nvSpPr>
        <p:spPr>
          <a:xfrm>
            <a:off x="3657600" y="3931920"/>
            <a:ext cx="3200400" cy="502920"/>
          </a:xfrm>
          <a:prstGeom prst="rect">
            <a:avLst/>
          </a:prstGeom>
          <a:solidFill>
            <a:srgbClr val="FFF8F5"/>
          </a:solidFill>
          <a:ln w="6350">
            <a:solidFill>
              <a:srgbClr val="E1E6EF"/>
            </a:solidFill>
            <a:prstDash val="solid"/>
          </a:ln>
        </p:spPr>
        <p:txBody>
          <a:bodyPr/>
          <a:lstStyle/>
          <a:p>
            <a:endParaRPr lang="en-ZA"/>
          </a:p>
        </p:txBody>
      </p:sp>
      <p:sp>
        <p:nvSpPr>
          <p:cNvPr id="40" name="Text 38"/>
          <p:cNvSpPr/>
          <p:nvPr/>
        </p:nvSpPr>
        <p:spPr>
          <a:xfrm>
            <a:off x="3657600" y="393192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3 · migration workloads</a:t>
            </a:r>
            <a:endParaRPr lang="en-US" sz="1100" dirty="0"/>
          </a:p>
        </p:txBody>
      </p:sp>
      <p:sp>
        <p:nvSpPr>
          <p:cNvPr id="41" name="Shape 39"/>
          <p:cNvSpPr/>
          <p:nvPr/>
        </p:nvSpPr>
        <p:spPr>
          <a:xfrm>
            <a:off x="6858000" y="3931920"/>
            <a:ext cx="2834640" cy="502920"/>
          </a:xfrm>
          <a:prstGeom prst="rect">
            <a:avLst/>
          </a:prstGeom>
          <a:solidFill>
            <a:srgbClr val="FFF8F5"/>
          </a:solidFill>
          <a:ln w="6350">
            <a:solidFill>
              <a:srgbClr val="E1E6EF"/>
            </a:solidFill>
            <a:prstDash val="solid"/>
          </a:ln>
        </p:spPr>
        <p:txBody>
          <a:bodyPr/>
          <a:lstStyle/>
          <a:p>
            <a:endParaRPr lang="en-ZA"/>
          </a:p>
        </p:txBody>
      </p:sp>
      <p:sp>
        <p:nvSpPr>
          <p:cNvPr id="42" name="Text 40"/>
          <p:cNvSpPr/>
          <p:nvPr/>
        </p:nvSpPr>
        <p:spPr>
          <a:xfrm>
            <a:off x="6858000" y="393192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Tiered · workload-specific</a:t>
            </a:r>
            <a:endParaRPr lang="en-US" sz="1100" dirty="0"/>
          </a:p>
        </p:txBody>
      </p:sp>
      <p:sp>
        <p:nvSpPr>
          <p:cNvPr id="43" name="Shape 41"/>
          <p:cNvSpPr/>
          <p:nvPr/>
        </p:nvSpPr>
        <p:spPr>
          <a:xfrm>
            <a:off x="9692640" y="3931920"/>
            <a:ext cx="1920240" cy="502920"/>
          </a:xfrm>
          <a:prstGeom prst="rect">
            <a:avLst/>
          </a:prstGeom>
          <a:solidFill>
            <a:srgbClr val="FFF8F5"/>
          </a:solidFill>
          <a:ln w="6350">
            <a:solidFill>
              <a:srgbClr val="E1E6EF"/>
            </a:solidFill>
            <a:prstDash val="solid"/>
          </a:ln>
        </p:spPr>
        <p:txBody>
          <a:bodyPr/>
          <a:lstStyle/>
          <a:p>
            <a:endParaRPr lang="en-ZA"/>
          </a:p>
        </p:txBody>
      </p:sp>
      <p:sp>
        <p:nvSpPr>
          <p:cNvPr id="44" name="Text 42"/>
          <p:cNvSpPr/>
          <p:nvPr/>
        </p:nvSpPr>
        <p:spPr>
          <a:xfrm>
            <a:off x="9692640" y="393192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Specialist</a:t>
            </a:r>
            <a:endParaRPr lang="en-US" sz="1100" dirty="0"/>
          </a:p>
        </p:txBody>
      </p:sp>
      <p:sp>
        <p:nvSpPr>
          <p:cNvPr id="45" name="Shape 43"/>
          <p:cNvSpPr/>
          <p:nvPr/>
        </p:nvSpPr>
        <p:spPr>
          <a:xfrm>
            <a:off x="548640" y="4434840"/>
            <a:ext cx="3108960" cy="502920"/>
          </a:xfrm>
          <a:prstGeom prst="rect">
            <a:avLst/>
          </a:prstGeom>
          <a:solidFill>
            <a:srgbClr val="FFFFFF"/>
          </a:solidFill>
          <a:ln w="6350">
            <a:solidFill>
              <a:srgbClr val="E1E6EF"/>
            </a:solidFill>
            <a:prstDash val="solid"/>
          </a:ln>
        </p:spPr>
        <p:txBody>
          <a:bodyPr/>
          <a:lstStyle/>
          <a:p>
            <a:endParaRPr lang="en-ZA"/>
          </a:p>
        </p:txBody>
      </p:sp>
      <p:sp>
        <p:nvSpPr>
          <p:cNvPr id="46" name="Text 44"/>
          <p:cNvSpPr/>
          <p:nvPr/>
        </p:nvSpPr>
        <p:spPr>
          <a:xfrm>
            <a:off x="548640" y="443484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Cloud Accelerate Factory</a:t>
            </a:r>
            <a:endParaRPr lang="en-US" sz="1100" dirty="0"/>
          </a:p>
        </p:txBody>
      </p:sp>
      <p:sp>
        <p:nvSpPr>
          <p:cNvPr id="47" name="Shape 45"/>
          <p:cNvSpPr/>
          <p:nvPr/>
        </p:nvSpPr>
        <p:spPr>
          <a:xfrm>
            <a:off x="3657600" y="4434840"/>
            <a:ext cx="3200400" cy="502920"/>
          </a:xfrm>
          <a:prstGeom prst="rect">
            <a:avLst/>
          </a:prstGeom>
          <a:solidFill>
            <a:srgbClr val="FFFFFF"/>
          </a:solidFill>
          <a:ln w="6350">
            <a:solidFill>
              <a:srgbClr val="E1E6EF"/>
            </a:solidFill>
            <a:prstDash val="solid"/>
          </a:ln>
        </p:spPr>
        <p:txBody>
          <a:bodyPr/>
          <a:lstStyle/>
          <a:p>
            <a:endParaRPr lang="en-ZA"/>
          </a:p>
        </p:txBody>
      </p:sp>
      <p:sp>
        <p:nvSpPr>
          <p:cNvPr id="48" name="Text 46"/>
          <p:cNvSpPr/>
          <p:nvPr/>
        </p:nvSpPr>
        <p:spPr>
          <a:xfrm>
            <a:off x="3657600" y="443484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2–3 · F1/F2 foundation</a:t>
            </a:r>
            <a:endParaRPr lang="en-US" sz="1100" dirty="0"/>
          </a:p>
        </p:txBody>
      </p:sp>
      <p:sp>
        <p:nvSpPr>
          <p:cNvPr id="49" name="Shape 47"/>
          <p:cNvSpPr/>
          <p:nvPr/>
        </p:nvSpPr>
        <p:spPr>
          <a:xfrm>
            <a:off x="6858000" y="4434840"/>
            <a:ext cx="2834640" cy="502920"/>
          </a:xfrm>
          <a:prstGeom prst="rect">
            <a:avLst/>
          </a:prstGeom>
          <a:solidFill>
            <a:srgbClr val="FFFFFF"/>
          </a:solidFill>
          <a:ln w="6350">
            <a:solidFill>
              <a:srgbClr val="E1E6EF"/>
            </a:solidFill>
            <a:prstDash val="solid"/>
          </a:ln>
        </p:spPr>
        <p:txBody>
          <a:bodyPr/>
          <a:lstStyle/>
          <a:p>
            <a:endParaRPr lang="en-ZA"/>
          </a:p>
        </p:txBody>
      </p:sp>
      <p:sp>
        <p:nvSpPr>
          <p:cNvPr id="50" name="Text 48"/>
          <p:cNvSpPr/>
          <p:nvPr/>
        </p:nvSpPr>
        <p:spPr>
          <a:xfrm>
            <a:off x="6858000" y="443484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Zero cost · funded by AMM/Innovate</a:t>
            </a:r>
            <a:endParaRPr lang="en-US" sz="1100" dirty="0"/>
          </a:p>
        </p:txBody>
      </p:sp>
      <p:sp>
        <p:nvSpPr>
          <p:cNvPr id="51" name="Shape 49"/>
          <p:cNvSpPr/>
          <p:nvPr/>
        </p:nvSpPr>
        <p:spPr>
          <a:xfrm>
            <a:off x="9692640" y="4434840"/>
            <a:ext cx="1920240" cy="502920"/>
          </a:xfrm>
          <a:prstGeom prst="rect">
            <a:avLst/>
          </a:prstGeom>
          <a:solidFill>
            <a:srgbClr val="FFFFFF"/>
          </a:solidFill>
          <a:ln w="6350">
            <a:solidFill>
              <a:srgbClr val="E1E6EF"/>
            </a:solidFill>
            <a:prstDash val="solid"/>
          </a:ln>
        </p:spPr>
        <p:txBody>
          <a:bodyPr/>
          <a:lstStyle/>
          <a:p>
            <a:endParaRPr lang="en-ZA"/>
          </a:p>
        </p:txBody>
      </p:sp>
      <p:sp>
        <p:nvSpPr>
          <p:cNvPr id="52" name="Text 50"/>
          <p:cNvSpPr/>
          <p:nvPr/>
        </p:nvSpPr>
        <p:spPr>
          <a:xfrm>
            <a:off x="9692640" y="443484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CSU + Factory PM</a:t>
            </a:r>
            <a:endParaRPr lang="en-US" sz="1100" dirty="0"/>
          </a:p>
        </p:txBody>
      </p:sp>
      <p:sp>
        <p:nvSpPr>
          <p:cNvPr id="53" name="Shape 51"/>
          <p:cNvSpPr/>
          <p:nvPr/>
        </p:nvSpPr>
        <p:spPr>
          <a:xfrm>
            <a:off x="548640" y="4937760"/>
            <a:ext cx="3108960" cy="502920"/>
          </a:xfrm>
          <a:prstGeom prst="rect">
            <a:avLst/>
          </a:prstGeom>
          <a:solidFill>
            <a:srgbClr val="FFF8F5"/>
          </a:solidFill>
          <a:ln w="6350">
            <a:solidFill>
              <a:srgbClr val="E1E6EF"/>
            </a:solidFill>
            <a:prstDash val="solid"/>
          </a:ln>
        </p:spPr>
        <p:txBody>
          <a:bodyPr/>
          <a:lstStyle/>
          <a:p>
            <a:endParaRPr lang="en-ZA"/>
          </a:p>
        </p:txBody>
      </p:sp>
      <p:sp>
        <p:nvSpPr>
          <p:cNvPr id="54" name="Text 52"/>
          <p:cNvSpPr/>
          <p:nvPr/>
        </p:nvSpPr>
        <p:spPr>
          <a:xfrm>
            <a:off x="548640" y="493776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Solution Assessment</a:t>
            </a:r>
            <a:endParaRPr lang="en-US" sz="1100" dirty="0"/>
          </a:p>
        </p:txBody>
      </p:sp>
      <p:sp>
        <p:nvSpPr>
          <p:cNvPr id="55" name="Shape 53"/>
          <p:cNvSpPr/>
          <p:nvPr/>
        </p:nvSpPr>
        <p:spPr>
          <a:xfrm>
            <a:off x="3657600" y="4937760"/>
            <a:ext cx="3200400" cy="502920"/>
          </a:xfrm>
          <a:prstGeom prst="rect">
            <a:avLst/>
          </a:prstGeom>
          <a:solidFill>
            <a:srgbClr val="FFF8F5"/>
          </a:solidFill>
          <a:ln w="6350">
            <a:solidFill>
              <a:srgbClr val="E1E6EF"/>
            </a:solidFill>
            <a:prstDash val="solid"/>
          </a:ln>
        </p:spPr>
        <p:txBody>
          <a:bodyPr/>
          <a:lstStyle/>
          <a:p>
            <a:endParaRPr lang="en-ZA"/>
          </a:p>
        </p:txBody>
      </p:sp>
      <p:sp>
        <p:nvSpPr>
          <p:cNvPr id="56" name="Text 54"/>
          <p:cNvSpPr/>
          <p:nvPr/>
        </p:nvSpPr>
        <p:spPr>
          <a:xfrm>
            <a:off x="3657600" y="493776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Stage 1 · pre-Envisioning if not ready</a:t>
            </a:r>
            <a:endParaRPr lang="en-US" sz="1100" dirty="0"/>
          </a:p>
        </p:txBody>
      </p:sp>
      <p:sp>
        <p:nvSpPr>
          <p:cNvPr id="57" name="Shape 55"/>
          <p:cNvSpPr/>
          <p:nvPr/>
        </p:nvSpPr>
        <p:spPr>
          <a:xfrm>
            <a:off x="6858000" y="4937760"/>
            <a:ext cx="2834640" cy="502920"/>
          </a:xfrm>
          <a:prstGeom prst="rect">
            <a:avLst/>
          </a:prstGeom>
          <a:solidFill>
            <a:srgbClr val="FFF8F5"/>
          </a:solidFill>
          <a:ln w="6350">
            <a:solidFill>
              <a:srgbClr val="E1E6EF"/>
            </a:solidFill>
            <a:prstDash val="solid"/>
          </a:ln>
        </p:spPr>
        <p:txBody>
          <a:bodyPr/>
          <a:lstStyle/>
          <a:p>
            <a:endParaRPr lang="en-ZA"/>
          </a:p>
        </p:txBody>
      </p:sp>
      <p:sp>
        <p:nvSpPr>
          <p:cNvPr id="58" name="Text 56"/>
          <p:cNvSpPr/>
          <p:nvPr/>
        </p:nvSpPr>
        <p:spPr>
          <a:xfrm>
            <a:off x="6858000" y="493776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Per the SA programme</a:t>
            </a:r>
            <a:endParaRPr lang="en-US" sz="1100" dirty="0"/>
          </a:p>
        </p:txBody>
      </p:sp>
      <p:sp>
        <p:nvSpPr>
          <p:cNvPr id="59" name="Shape 57"/>
          <p:cNvSpPr/>
          <p:nvPr/>
        </p:nvSpPr>
        <p:spPr>
          <a:xfrm>
            <a:off x="9692640" y="4937760"/>
            <a:ext cx="1920240" cy="502920"/>
          </a:xfrm>
          <a:prstGeom prst="rect">
            <a:avLst/>
          </a:prstGeom>
          <a:solidFill>
            <a:srgbClr val="FFF8F5"/>
          </a:solidFill>
          <a:ln w="6350">
            <a:solidFill>
              <a:srgbClr val="E1E6EF"/>
            </a:solidFill>
            <a:prstDash val="solid"/>
          </a:ln>
        </p:spPr>
        <p:txBody>
          <a:bodyPr/>
          <a:lstStyle/>
          <a:p>
            <a:endParaRPr lang="en-ZA"/>
          </a:p>
        </p:txBody>
      </p:sp>
      <p:sp>
        <p:nvSpPr>
          <p:cNvPr id="60" name="Text 58"/>
          <p:cNvSpPr/>
          <p:nvPr/>
        </p:nvSpPr>
        <p:spPr>
          <a:xfrm>
            <a:off x="9692640" y="493776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ATU</a:t>
            </a:r>
            <a:endParaRPr lang="en-US" sz="1100" dirty="0"/>
          </a:p>
        </p:txBody>
      </p:sp>
      <p:sp>
        <p:nvSpPr>
          <p:cNvPr id="61" name="Shape 59"/>
          <p:cNvSpPr/>
          <p:nvPr/>
        </p:nvSpPr>
        <p:spPr>
          <a:xfrm>
            <a:off x="548640" y="5440680"/>
            <a:ext cx="3108960" cy="502920"/>
          </a:xfrm>
          <a:prstGeom prst="rect">
            <a:avLst/>
          </a:prstGeom>
          <a:solidFill>
            <a:srgbClr val="FFFFFF"/>
          </a:solidFill>
          <a:ln w="6350">
            <a:solidFill>
              <a:srgbClr val="E1E6EF"/>
            </a:solidFill>
            <a:prstDash val="solid"/>
          </a:ln>
        </p:spPr>
        <p:txBody>
          <a:bodyPr/>
          <a:lstStyle/>
          <a:p>
            <a:endParaRPr lang="en-ZA"/>
          </a:p>
        </p:txBody>
      </p:sp>
      <p:sp>
        <p:nvSpPr>
          <p:cNvPr id="62" name="Text 60"/>
          <p:cNvSpPr/>
          <p:nvPr/>
        </p:nvSpPr>
        <p:spPr>
          <a:xfrm>
            <a:off x="548640" y="5440680"/>
            <a:ext cx="3108960" cy="502920"/>
          </a:xfrm>
          <a:prstGeom prst="rect">
            <a:avLst/>
          </a:prstGeom>
          <a:noFill/>
          <a:ln/>
        </p:spPr>
        <p:txBody>
          <a:bodyPr wrap="square" lIns="101600" tIns="101600" rIns="101600" bIns="101600" rtlCol="0" anchor="ctr"/>
          <a:lstStyle/>
          <a:p>
            <a:pPr marL="0" indent="0" algn="l">
              <a:buNone/>
            </a:pPr>
            <a:r>
              <a:rPr lang="en-US" sz="1100" b="1" dirty="0">
                <a:solidFill>
                  <a:srgbClr val="091F2C"/>
                </a:solidFill>
                <a:latin typeface="Segoe UI" pitchFamily="34" charset="0"/>
                <a:ea typeface="Segoe UI" pitchFamily="34" charset="-122"/>
                <a:cs typeface="Segoe UI" pitchFamily="34" charset="-120"/>
              </a:rPr>
              <a:t>MAICPP</a:t>
            </a:r>
            <a:endParaRPr lang="en-US" sz="1100" dirty="0"/>
          </a:p>
        </p:txBody>
      </p:sp>
      <p:sp>
        <p:nvSpPr>
          <p:cNvPr id="63" name="Shape 61"/>
          <p:cNvSpPr/>
          <p:nvPr/>
        </p:nvSpPr>
        <p:spPr>
          <a:xfrm>
            <a:off x="3657600" y="5440680"/>
            <a:ext cx="3200400" cy="502920"/>
          </a:xfrm>
          <a:prstGeom prst="rect">
            <a:avLst/>
          </a:prstGeom>
          <a:solidFill>
            <a:srgbClr val="FFFFFF"/>
          </a:solidFill>
          <a:ln w="6350">
            <a:solidFill>
              <a:srgbClr val="E1E6EF"/>
            </a:solidFill>
            <a:prstDash val="solid"/>
          </a:ln>
        </p:spPr>
        <p:txBody>
          <a:bodyPr/>
          <a:lstStyle/>
          <a:p>
            <a:endParaRPr lang="en-ZA"/>
          </a:p>
        </p:txBody>
      </p:sp>
      <p:sp>
        <p:nvSpPr>
          <p:cNvPr id="64" name="Text 62"/>
          <p:cNvSpPr/>
          <p:nvPr/>
        </p:nvSpPr>
        <p:spPr>
          <a:xfrm>
            <a:off x="3657600" y="5440680"/>
            <a:ext cx="320040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Across · Anchor Partner co-investment</a:t>
            </a:r>
            <a:endParaRPr lang="en-US" sz="1100" dirty="0"/>
          </a:p>
        </p:txBody>
      </p:sp>
      <p:sp>
        <p:nvSpPr>
          <p:cNvPr id="65" name="Shape 63"/>
          <p:cNvSpPr/>
          <p:nvPr/>
        </p:nvSpPr>
        <p:spPr>
          <a:xfrm>
            <a:off x="6858000" y="5440680"/>
            <a:ext cx="2834640" cy="502920"/>
          </a:xfrm>
          <a:prstGeom prst="rect">
            <a:avLst/>
          </a:prstGeom>
          <a:solidFill>
            <a:srgbClr val="FFFFFF"/>
          </a:solidFill>
          <a:ln w="6350">
            <a:solidFill>
              <a:srgbClr val="E1E6EF"/>
            </a:solidFill>
            <a:prstDash val="solid"/>
          </a:ln>
        </p:spPr>
        <p:txBody>
          <a:bodyPr/>
          <a:lstStyle/>
          <a:p>
            <a:endParaRPr lang="en-ZA"/>
          </a:p>
        </p:txBody>
      </p:sp>
      <p:sp>
        <p:nvSpPr>
          <p:cNvPr id="66" name="Text 64"/>
          <p:cNvSpPr/>
          <p:nvPr/>
        </p:nvSpPr>
        <p:spPr>
          <a:xfrm>
            <a:off x="6858000" y="5440680"/>
            <a:ext cx="28346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Partner-claimed</a:t>
            </a:r>
            <a:endParaRPr lang="en-US" sz="1100" dirty="0"/>
          </a:p>
        </p:txBody>
      </p:sp>
      <p:sp>
        <p:nvSpPr>
          <p:cNvPr id="67" name="Shape 65"/>
          <p:cNvSpPr/>
          <p:nvPr/>
        </p:nvSpPr>
        <p:spPr>
          <a:xfrm>
            <a:off x="9692640" y="5440680"/>
            <a:ext cx="1920240" cy="502920"/>
          </a:xfrm>
          <a:prstGeom prst="rect">
            <a:avLst/>
          </a:prstGeom>
          <a:solidFill>
            <a:srgbClr val="FFFFFF"/>
          </a:solidFill>
          <a:ln w="6350">
            <a:solidFill>
              <a:srgbClr val="E1E6EF"/>
            </a:solidFill>
            <a:prstDash val="solid"/>
          </a:ln>
        </p:spPr>
        <p:txBody>
          <a:bodyPr/>
          <a:lstStyle/>
          <a:p>
            <a:endParaRPr lang="en-ZA"/>
          </a:p>
        </p:txBody>
      </p:sp>
      <p:sp>
        <p:nvSpPr>
          <p:cNvPr id="68" name="Text 66"/>
          <p:cNvSpPr/>
          <p:nvPr/>
        </p:nvSpPr>
        <p:spPr>
          <a:xfrm>
            <a:off x="9692640" y="5440680"/>
            <a:ext cx="1920240" cy="502920"/>
          </a:xfrm>
          <a:prstGeom prst="rect">
            <a:avLst/>
          </a:prstGeom>
          <a:noFill/>
          <a:ln/>
        </p:spPr>
        <p:txBody>
          <a:bodyPr wrap="square" lIns="101600" tIns="101600" rIns="101600" bIns="101600" rtlCol="0" anchor="ctr"/>
          <a:lstStyle/>
          <a:p>
            <a:pPr marL="0" indent="0" algn="l">
              <a:buNone/>
            </a:pPr>
            <a:r>
              <a:rPr lang="en-US" sz="1100" dirty="0">
                <a:solidFill>
                  <a:srgbClr val="091F2C"/>
                </a:solidFill>
                <a:latin typeface="Segoe UI" pitchFamily="34" charset="0"/>
                <a:ea typeface="Segoe UI" pitchFamily="34" charset="-122"/>
                <a:cs typeface="Segoe UI" pitchFamily="34" charset="-120"/>
              </a:rPr>
              <a:t>EPS PDM</a:t>
            </a:r>
            <a:endParaRPr lang="en-US" sz="1100" dirty="0"/>
          </a:p>
        </p:txBody>
      </p:sp>
      <p:sp>
        <p:nvSpPr>
          <p:cNvPr id="69" name="Text 67"/>
          <p:cNvSpPr/>
          <p:nvPr/>
        </p:nvSpPr>
        <p:spPr>
          <a:xfrm>
            <a:off x="548640" y="6263640"/>
            <a:ext cx="11155680" cy="274320"/>
          </a:xfrm>
          <a:prstGeom prst="rect">
            <a:avLst/>
          </a:prstGeom>
          <a:noFill/>
          <a:ln/>
        </p:spPr>
        <p:txBody>
          <a:bodyPr wrap="square" rtlCol="0" anchor="ctr"/>
          <a:lstStyle/>
          <a:p>
            <a:pPr marL="0" indent="0">
              <a:buNone/>
            </a:pPr>
            <a:r>
              <a:rPr lang="en-US" sz="1100" b="1" i="1" dirty="0">
                <a:solidFill>
                  <a:srgbClr val="FF5C39"/>
                </a:solidFill>
                <a:latin typeface="Segoe UI" pitchFamily="34" charset="0"/>
                <a:ea typeface="Segoe UI" pitchFamily="34" charset="-122"/>
                <a:cs typeface="Segoe UI" pitchFamily="34" charset="-120"/>
              </a:rPr>
              <a:t>Stack instruments only when each gate is named. Compliance reviews catch un-gated stacking.</a:t>
            </a:r>
            <a:endParaRPr lang="en-US" sz="1100" dirty="0"/>
          </a:p>
        </p:txBody>
      </p:sp>
      <p:pic>
        <p:nvPicPr>
          <p:cNvPr id="7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71" name="Text 68"/>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72" name="Text 6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FIELD DISCIPLINE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Do's and Don'ts</a:t>
            </a:r>
            <a:endParaRPr lang="en-US" sz="3000" dirty="0"/>
          </a:p>
        </p:txBody>
      </p:sp>
      <p:sp>
        <p:nvSpPr>
          <p:cNvPr id="5" name="Shape 3"/>
          <p:cNvSpPr/>
          <p:nvPr/>
        </p:nvSpPr>
        <p:spPr>
          <a:xfrm>
            <a:off x="548640" y="1828800"/>
            <a:ext cx="5486400" cy="4297680"/>
          </a:xfrm>
          <a:prstGeom prst="roundRect">
            <a:avLst>
              <a:gd name="adj" fmla="val 2553"/>
            </a:avLst>
          </a:prstGeom>
          <a:solidFill>
            <a:srgbClr val="F1F8F1"/>
          </a:solidFill>
          <a:ln w="12700">
            <a:solidFill>
              <a:srgbClr val="225B62"/>
            </a:solidFill>
            <a:prstDash val="solid"/>
          </a:ln>
        </p:spPr>
        <p:txBody>
          <a:bodyPr/>
          <a:lstStyle/>
          <a:p>
            <a:endParaRPr lang="en-ZA"/>
          </a:p>
        </p:txBody>
      </p:sp>
      <p:sp>
        <p:nvSpPr>
          <p:cNvPr id="6" name="Text 4"/>
          <p:cNvSpPr/>
          <p:nvPr/>
        </p:nvSpPr>
        <p:spPr>
          <a:xfrm>
            <a:off x="777240" y="1965960"/>
            <a:ext cx="5029200" cy="365760"/>
          </a:xfrm>
          <a:prstGeom prst="rect">
            <a:avLst/>
          </a:prstGeom>
          <a:noFill/>
          <a:ln/>
        </p:spPr>
        <p:txBody>
          <a:bodyPr wrap="square" rtlCol="0" anchor="ctr"/>
          <a:lstStyle/>
          <a:p>
            <a:pPr marL="0" indent="0">
              <a:buNone/>
            </a:pPr>
            <a:r>
              <a:rPr lang="en-US" sz="1600" b="1" kern="0" spc="300" dirty="0">
                <a:solidFill>
                  <a:srgbClr val="225B62"/>
                </a:solidFill>
                <a:latin typeface="Segoe UI" pitchFamily="34" charset="0"/>
                <a:ea typeface="Segoe UI" pitchFamily="34" charset="-122"/>
                <a:cs typeface="Segoe UI" pitchFamily="34" charset="-120"/>
              </a:rPr>
              <a:t>DO</a:t>
            </a:r>
            <a:endParaRPr lang="en-US" sz="1600" dirty="0"/>
          </a:p>
        </p:txBody>
      </p:sp>
      <p:sp>
        <p:nvSpPr>
          <p:cNvPr id="7" name="Text 5"/>
          <p:cNvSpPr/>
          <p:nvPr/>
        </p:nvSpPr>
        <p:spPr>
          <a:xfrm>
            <a:off x="868680" y="24688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8" name="Text 6"/>
          <p:cNvSpPr/>
          <p:nvPr/>
        </p:nvSpPr>
        <p:spPr>
          <a:xfrm>
            <a:off x="1188720" y="25146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Sign the Readiness Scorecard before kickoff — every time</a:t>
            </a:r>
            <a:endParaRPr lang="en-US" sz="1250" dirty="0"/>
          </a:p>
        </p:txBody>
      </p:sp>
      <p:sp>
        <p:nvSpPr>
          <p:cNvPr id="9" name="Text 7"/>
          <p:cNvSpPr/>
          <p:nvPr/>
        </p:nvSpPr>
        <p:spPr>
          <a:xfrm>
            <a:off x="868680" y="306324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0" name="Text 8"/>
          <p:cNvSpPr/>
          <p:nvPr/>
        </p:nvSpPr>
        <p:spPr>
          <a:xfrm>
            <a:off x="1188720" y="310896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Lead with the customer's problem, not our SKU</a:t>
            </a:r>
            <a:endParaRPr lang="en-US" sz="1250" dirty="0"/>
          </a:p>
        </p:txBody>
      </p:sp>
      <p:sp>
        <p:nvSpPr>
          <p:cNvPr id="11" name="Text 9"/>
          <p:cNvSpPr/>
          <p:nvPr/>
        </p:nvSpPr>
        <p:spPr>
          <a:xfrm>
            <a:off x="868680" y="365760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2" name="Text 10"/>
          <p:cNvSpPr/>
          <p:nvPr/>
        </p:nvSpPr>
        <p:spPr>
          <a:xfrm>
            <a:off x="1188720" y="370332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Name Tier · ATO Component · Delivery (Partner / Factory / ISD) in the account plan</a:t>
            </a:r>
            <a:endParaRPr lang="en-US" sz="1250" dirty="0"/>
          </a:p>
        </p:txBody>
      </p:sp>
      <p:sp>
        <p:nvSpPr>
          <p:cNvPr id="13" name="Text 11"/>
          <p:cNvSpPr/>
          <p:nvPr/>
        </p:nvSpPr>
        <p:spPr>
          <a:xfrm>
            <a:off x="868680" y="425196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4" name="Text 12"/>
          <p:cNvSpPr/>
          <p:nvPr/>
        </p:nvSpPr>
        <p:spPr>
          <a:xfrm>
            <a:off x="1188720" y="429768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Refresh the value dashboard before every steerco</a:t>
            </a:r>
            <a:endParaRPr lang="en-US" sz="1250" dirty="0"/>
          </a:p>
        </p:txBody>
      </p:sp>
      <p:sp>
        <p:nvSpPr>
          <p:cNvPr id="15" name="Text 13"/>
          <p:cNvSpPr/>
          <p:nvPr/>
        </p:nvSpPr>
        <p:spPr>
          <a:xfrm>
            <a:off x="868680" y="484632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6" name="Text 14"/>
          <p:cNvSpPr/>
          <p:nvPr/>
        </p:nvSpPr>
        <p:spPr>
          <a:xfrm>
            <a:off x="1188720" y="489204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Escalate same-day if a partner pushes past their lane</a:t>
            </a:r>
            <a:endParaRPr lang="en-US" sz="1250" dirty="0"/>
          </a:p>
        </p:txBody>
      </p:sp>
      <p:sp>
        <p:nvSpPr>
          <p:cNvPr id="17" name="Text 15"/>
          <p:cNvSpPr/>
          <p:nvPr/>
        </p:nvSpPr>
        <p:spPr>
          <a:xfrm>
            <a:off x="868680" y="5440680"/>
            <a:ext cx="274320" cy="365760"/>
          </a:xfrm>
          <a:prstGeom prst="rect">
            <a:avLst/>
          </a:prstGeom>
          <a:noFill/>
          <a:ln/>
        </p:spPr>
        <p:txBody>
          <a:bodyPr wrap="square" rtlCol="0" anchor="ctr"/>
          <a:lstStyle/>
          <a:p>
            <a:pPr marL="0" indent="0">
              <a:buNone/>
            </a:pPr>
            <a:r>
              <a:rPr lang="en-US" sz="1800" b="1" dirty="0">
                <a:solidFill>
                  <a:srgbClr val="225B62"/>
                </a:solidFill>
                <a:latin typeface="Segoe UI" pitchFamily="34" charset="0"/>
                <a:ea typeface="Segoe UI" pitchFamily="34" charset="-122"/>
                <a:cs typeface="Segoe UI" pitchFamily="34" charset="-120"/>
              </a:rPr>
              <a:t>✓</a:t>
            </a:r>
            <a:endParaRPr lang="en-US" sz="1800" dirty="0"/>
          </a:p>
        </p:txBody>
      </p:sp>
      <p:sp>
        <p:nvSpPr>
          <p:cNvPr id="18" name="Text 16"/>
          <p:cNvSpPr/>
          <p:nvPr/>
        </p:nvSpPr>
        <p:spPr>
          <a:xfrm>
            <a:off x="1188720" y="54864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Keep the maturity baseline visible at every QBR</a:t>
            </a:r>
            <a:endParaRPr lang="en-US" sz="1250" dirty="0"/>
          </a:p>
        </p:txBody>
      </p:sp>
      <p:sp>
        <p:nvSpPr>
          <p:cNvPr id="19" name="Shape 17"/>
          <p:cNvSpPr/>
          <p:nvPr/>
        </p:nvSpPr>
        <p:spPr>
          <a:xfrm>
            <a:off x="6172200" y="1828800"/>
            <a:ext cx="5486400" cy="4297680"/>
          </a:xfrm>
          <a:prstGeom prst="roundRect">
            <a:avLst>
              <a:gd name="adj" fmla="val 2553"/>
            </a:avLst>
          </a:prstGeom>
          <a:solidFill>
            <a:srgbClr val="FDF3F2"/>
          </a:solidFill>
          <a:ln w="12700">
            <a:solidFill>
              <a:srgbClr val="FF5C39"/>
            </a:solidFill>
            <a:prstDash val="solid"/>
          </a:ln>
        </p:spPr>
        <p:txBody>
          <a:bodyPr/>
          <a:lstStyle/>
          <a:p>
            <a:endParaRPr lang="en-ZA"/>
          </a:p>
        </p:txBody>
      </p:sp>
      <p:sp>
        <p:nvSpPr>
          <p:cNvPr id="20" name="Text 18"/>
          <p:cNvSpPr/>
          <p:nvPr/>
        </p:nvSpPr>
        <p:spPr>
          <a:xfrm>
            <a:off x="6400800" y="1965960"/>
            <a:ext cx="5029200" cy="365760"/>
          </a:xfrm>
          <a:prstGeom prst="rect">
            <a:avLst/>
          </a:prstGeom>
          <a:noFill/>
          <a:ln/>
        </p:spPr>
        <p:txBody>
          <a:bodyPr wrap="square" rtlCol="0" anchor="ctr"/>
          <a:lstStyle/>
          <a:p>
            <a:pPr marL="0" indent="0">
              <a:buNone/>
            </a:pPr>
            <a:r>
              <a:rPr lang="en-US" sz="1600" b="1" kern="0" spc="300" dirty="0">
                <a:solidFill>
                  <a:srgbClr val="FF5C39"/>
                </a:solidFill>
                <a:latin typeface="Segoe UI" pitchFamily="34" charset="0"/>
                <a:ea typeface="Segoe UI" pitchFamily="34" charset="-122"/>
                <a:cs typeface="Segoe UI" pitchFamily="34" charset="-120"/>
              </a:rPr>
              <a:t>DON'T</a:t>
            </a:r>
            <a:endParaRPr lang="en-US" sz="1600" dirty="0"/>
          </a:p>
        </p:txBody>
      </p:sp>
      <p:sp>
        <p:nvSpPr>
          <p:cNvPr id="21" name="Text 19"/>
          <p:cNvSpPr/>
          <p:nvPr/>
        </p:nvSpPr>
        <p:spPr>
          <a:xfrm>
            <a:off x="6492240" y="24688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2" name="Text 20"/>
          <p:cNvSpPr/>
          <p:nvPr/>
        </p:nvSpPr>
        <p:spPr>
          <a:xfrm>
            <a:off x="6812280" y="25146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skip the maturity assessment — it's the QBR anchor</a:t>
            </a:r>
            <a:endParaRPr lang="en-US" sz="1250" dirty="0"/>
          </a:p>
        </p:txBody>
      </p:sp>
      <p:sp>
        <p:nvSpPr>
          <p:cNvPr id="23" name="Text 21"/>
          <p:cNvSpPr/>
          <p:nvPr/>
        </p:nvSpPr>
        <p:spPr>
          <a:xfrm>
            <a:off x="6492240" y="306324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4" name="Text 22"/>
          <p:cNvSpPr/>
          <p:nvPr/>
        </p:nvSpPr>
        <p:spPr>
          <a:xfrm>
            <a:off x="6812280" y="310896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let the partner own envisioning — that's CSA + STU</a:t>
            </a:r>
            <a:endParaRPr lang="en-US" sz="1250" dirty="0"/>
          </a:p>
        </p:txBody>
      </p:sp>
      <p:sp>
        <p:nvSpPr>
          <p:cNvPr id="25" name="Text 23"/>
          <p:cNvSpPr/>
          <p:nvPr/>
        </p:nvSpPr>
        <p:spPr>
          <a:xfrm>
            <a:off x="6492240" y="365760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6" name="Text 24"/>
          <p:cNvSpPr/>
          <p:nvPr/>
        </p:nvSpPr>
        <p:spPr>
          <a:xfrm>
            <a:off x="6812280" y="370332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stack ECIF + ACO without naming the gate that unlocks each</a:t>
            </a:r>
            <a:endParaRPr lang="en-US" sz="1250" dirty="0"/>
          </a:p>
        </p:txBody>
      </p:sp>
      <p:sp>
        <p:nvSpPr>
          <p:cNvPr id="27" name="Text 25"/>
          <p:cNvSpPr/>
          <p:nvPr/>
        </p:nvSpPr>
        <p:spPr>
          <a:xfrm>
            <a:off x="6492240" y="425196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28" name="Text 26"/>
          <p:cNvSpPr/>
          <p:nvPr/>
        </p:nvSpPr>
        <p:spPr>
          <a:xfrm>
            <a:off x="6812280" y="429768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federate before three production agents are live</a:t>
            </a:r>
            <a:endParaRPr lang="en-US" sz="1250" dirty="0"/>
          </a:p>
        </p:txBody>
      </p:sp>
      <p:sp>
        <p:nvSpPr>
          <p:cNvPr id="29" name="Text 27"/>
          <p:cNvSpPr/>
          <p:nvPr/>
        </p:nvSpPr>
        <p:spPr>
          <a:xfrm>
            <a:off x="6492240" y="484632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0" name="Text 28"/>
          <p:cNvSpPr/>
          <p:nvPr/>
        </p:nvSpPr>
        <p:spPr>
          <a:xfrm>
            <a:off x="6812280" y="489204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improvise to ISD mid-delivery — name it in Stage 1</a:t>
            </a:r>
            <a:endParaRPr lang="en-US" sz="1250" dirty="0"/>
          </a:p>
        </p:txBody>
      </p:sp>
      <p:sp>
        <p:nvSpPr>
          <p:cNvPr id="31" name="Text 29"/>
          <p:cNvSpPr/>
          <p:nvPr/>
        </p:nvSpPr>
        <p:spPr>
          <a:xfrm>
            <a:off x="6492240" y="5440680"/>
            <a:ext cx="274320" cy="365760"/>
          </a:xfrm>
          <a:prstGeom prst="rect">
            <a:avLst/>
          </a:prstGeom>
          <a:noFill/>
          <a:ln/>
        </p:spPr>
        <p:txBody>
          <a:bodyPr wrap="square" rtlCol="0" anchor="ctr"/>
          <a:lstStyle/>
          <a:p>
            <a:pPr marL="0" indent="0">
              <a:buNone/>
            </a:pPr>
            <a:r>
              <a:rPr lang="en-US" sz="1800" b="1" dirty="0">
                <a:solidFill>
                  <a:srgbClr val="FF5C39"/>
                </a:solidFill>
                <a:latin typeface="Segoe UI" pitchFamily="34" charset="0"/>
                <a:ea typeface="Segoe UI" pitchFamily="34" charset="-122"/>
                <a:cs typeface="Segoe UI" pitchFamily="34" charset="-120"/>
              </a:rPr>
              <a:t>✕</a:t>
            </a:r>
            <a:endParaRPr lang="en-US" sz="1800" dirty="0"/>
          </a:p>
        </p:txBody>
      </p:sp>
      <p:sp>
        <p:nvSpPr>
          <p:cNvPr id="32" name="Text 30"/>
          <p:cNvSpPr/>
          <p:nvPr/>
        </p:nvSpPr>
        <p:spPr>
          <a:xfrm>
            <a:off x="6812280" y="5486400"/>
            <a:ext cx="4754880" cy="502920"/>
          </a:xfrm>
          <a:prstGeom prst="rect">
            <a:avLst/>
          </a:prstGeom>
          <a:noFill/>
          <a:ln/>
        </p:spPr>
        <p:txBody>
          <a:bodyPr wrap="square" rtlCol="0" anchor="ctr"/>
          <a:lstStyle/>
          <a:p>
            <a:pPr marL="0" indent="0">
              <a:buNone/>
            </a:pPr>
            <a:r>
              <a:rPr lang="en-US" sz="1250" dirty="0">
                <a:solidFill>
                  <a:srgbClr val="091F2C"/>
                </a:solidFill>
                <a:latin typeface="Segoe UI" pitchFamily="34" charset="0"/>
                <a:ea typeface="Segoe UI" pitchFamily="34" charset="-122"/>
                <a:cs typeface="Segoe UI" pitchFamily="34" charset="-120"/>
              </a:rPr>
              <a:t>Don't show ACR to the CIO — show outcomes (hours, NPS, NSAT)</a:t>
            </a:r>
            <a:endParaRPr lang="en-US" sz="1250" dirty="0"/>
          </a:p>
        </p:txBody>
      </p:sp>
      <p:pic>
        <p:nvPicPr>
          <p:cNvPr id="3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4" name="Text 31"/>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5" name="Text 3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PACK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Where to find each artefact</a:t>
            </a:r>
            <a:endParaRPr lang="en-US" sz="3000" dirty="0"/>
          </a:p>
        </p:txBody>
      </p:sp>
      <p:sp>
        <p:nvSpPr>
          <p:cNvPr id="5" name="Shape 3"/>
          <p:cNvSpPr/>
          <p:nvPr/>
        </p:nvSpPr>
        <p:spPr>
          <a:xfrm>
            <a:off x="54864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548640" y="1828800"/>
            <a:ext cx="3611880" cy="73152"/>
          </a:xfrm>
          <a:prstGeom prst="rect">
            <a:avLst/>
          </a:prstGeom>
          <a:solidFill>
            <a:srgbClr val="0078D4"/>
          </a:solidFill>
          <a:ln/>
        </p:spPr>
        <p:txBody>
          <a:bodyPr/>
          <a:lstStyle/>
          <a:p>
            <a:endParaRPr lang="en-ZA"/>
          </a:p>
        </p:txBody>
      </p:sp>
      <p:sp>
        <p:nvSpPr>
          <p:cNvPr id="7" name="Text 5"/>
          <p:cNvSpPr/>
          <p:nvPr/>
        </p:nvSpPr>
        <p:spPr>
          <a:xfrm>
            <a:off x="77724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Operating Playbook</a:t>
            </a:r>
            <a:endParaRPr lang="en-US" sz="1500" dirty="0"/>
          </a:p>
        </p:txBody>
      </p:sp>
      <p:sp>
        <p:nvSpPr>
          <p:cNvPr id="8" name="Text 6"/>
          <p:cNvSpPr/>
          <p:nvPr/>
        </p:nvSpPr>
        <p:spPr>
          <a:xfrm>
            <a:off x="77724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End-to-end delivery manual</a:t>
            </a:r>
            <a:endParaRPr lang="en-US" sz="1100" dirty="0"/>
          </a:p>
        </p:txBody>
      </p:sp>
      <p:sp>
        <p:nvSpPr>
          <p:cNvPr id="9" name="Text 7"/>
          <p:cNvSpPr/>
          <p:nvPr/>
        </p:nvSpPr>
        <p:spPr>
          <a:xfrm>
            <a:off x="77724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Source of truth — read sections as you hit each step</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297680" y="1828800"/>
            <a:ext cx="3611880" cy="73152"/>
          </a:xfrm>
          <a:prstGeom prst="rect">
            <a:avLst/>
          </a:prstGeom>
          <a:solidFill>
            <a:srgbClr val="0057B8"/>
          </a:solidFill>
          <a:ln/>
        </p:spPr>
        <p:txBody>
          <a:bodyPr/>
          <a:lstStyle/>
          <a:p>
            <a:endParaRPr lang="en-ZA"/>
          </a:p>
        </p:txBody>
      </p:sp>
      <p:sp>
        <p:nvSpPr>
          <p:cNvPr id="12" name="Text 10"/>
          <p:cNvSpPr/>
          <p:nvPr/>
        </p:nvSpPr>
        <p:spPr>
          <a:xfrm>
            <a:off x="452628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Pitch Deck</a:t>
            </a:r>
            <a:endParaRPr lang="en-US" sz="1500" dirty="0"/>
          </a:p>
        </p:txBody>
      </p:sp>
      <p:sp>
        <p:nvSpPr>
          <p:cNvPr id="13" name="Text 11"/>
          <p:cNvSpPr/>
          <p:nvPr/>
        </p:nvSpPr>
        <p:spPr>
          <a:xfrm>
            <a:off x="452628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External narrative · 18 slides</a:t>
            </a:r>
            <a:endParaRPr lang="en-US" sz="1100" dirty="0"/>
          </a:p>
        </p:txBody>
      </p:sp>
      <p:sp>
        <p:nvSpPr>
          <p:cNvPr id="14" name="Text 12"/>
          <p:cNvSpPr/>
          <p:nvPr/>
        </p:nvSpPr>
        <p:spPr>
          <a:xfrm>
            <a:off x="452628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Customer C-suite · MCAPS leadership endorsement</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046720" y="1828800"/>
            <a:ext cx="3611880" cy="73152"/>
          </a:xfrm>
          <a:prstGeom prst="rect">
            <a:avLst/>
          </a:prstGeom>
          <a:solidFill>
            <a:srgbClr val="225B62"/>
          </a:solidFill>
          <a:ln/>
        </p:spPr>
        <p:txBody>
          <a:bodyPr/>
          <a:lstStyle/>
          <a:p>
            <a:endParaRPr lang="en-ZA"/>
          </a:p>
        </p:txBody>
      </p:sp>
      <p:sp>
        <p:nvSpPr>
          <p:cNvPr id="17" name="Text 15"/>
          <p:cNvSpPr/>
          <p:nvPr/>
        </p:nvSpPr>
        <p:spPr>
          <a:xfrm>
            <a:off x="8275320" y="201168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Executive One-Pager</a:t>
            </a:r>
            <a:endParaRPr lang="en-US" sz="1500" dirty="0"/>
          </a:p>
        </p:txBody>
      </p:sp>
      <p:sp>
        <p:nvSpPr>
          <p:cNvPr id="18" name="Text 16"/>
          <p:cNvSpPr/>
          <p:nvPr/>
        </p:nvSpPr>
        <p:spPr>
          <a:xfrm>
            <a:off x="8275320" y="242316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Single-page summary</a:t>
            </a:r>
            <a:endParaRPr lang="en-US" sz="1100" dirty="0"/>
          </a:p>
        </p:txBody>
      </p:sp>
      <p:sp>
        <p:nvSpPr>
          <p:cNvPr id="19" name="Text 17"/>
          <p:cNvSpPr/>
          <p:nvPr/>
        </p:nvSpPr>
        <p:spPr>
          <a:xfrm>
            <a:off x="8275320" y="278892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CIO inbox · steerco pre-read · email attachment</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548640" y="3794760"/>
            <a:ext cx="3611880" cy="73152"/>
          </a:xfrm>
          <a:prstGeom prst="rect">
            <a:avLst/>
          </a:prstGeom>
          <a:solidFill>
            <a:srgbClr val="FF5C39"/>
          </a:solidFill>
          <a:ln/>
        </p:spPr>
        <p:txBody>
          <a:bodyPr/>
          <a:lstStyle/>
          <a:p>
            <a:endParaRPr lang="en-ZA"/>
          </a:p>
        </p:txBody>
      </p:sp>
      <p:sp>
        <p:nvSpPr>
          <p:cNvPr id="22" name="Text 20"/>
          <p:cNvSpPr/>
          <p:nvPr/>
        </p:nvSpPr>
        <p:spPr>
          <a:xfrm>
            <a:off x="77724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Partner Recruitment Kit</a:t>
            </a:r>
            <a:endParaRPr lang="en-US" sz="1500" dirty="0"/>
          </a:p>
        </p:txBody>
      </p:sp>
      <p:sp>
        <p:nvSpPr>
          <p:cNvPr id="23" name="Text 21"/>
          <p:cNvSpPr/>
          <p:nvPr/>
        </p:nvSpPr>
        <p:spPr>
          <a:xfrm>
            <a:off x="77724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Anchor onboarding deck</a:t>
            </a:r>
            <a:endParaRPr lang="en-US" sz="1100" dirty="0"/>
          </a:p>
        </p:txBody>
      </p:sp>
      <p:sp>
        <p:nvSpPr>
          <p:cNvPr id="24" name="Text 22"/>
          <p:cNvSpPr/>
          <p:nvPr/>
        </p:nvSpPr>
        <p:spPr>
          <a:xfrm>
            <a:off x="77724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Partner summit · Anchor qualification call</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297680" y="3794760"/>
            <a:ext cx="3611880" cy="73152"/>
          </a:xfrm>
          <a:prstGeom prst="rect">
            <a:avLst/>
          </a:prstGeom>
          <a:solidFill>
            <a:srgbClr val="FFB900"/>
          </a:solidFill>
          <a:ln/>
        </p:spPr>
        <p:txBody>
          <a:bodyPr/>
          <a:lstStyle/>
          <a:p>
            <a:endParaRPr lang="en-ZA"/>
          </a:p>
        </p:txBody>
      </p:sp>
      <p:sp>
        <p:nvSpPr>
          <p:cNvPr id="27" name="Text 25"/>
          <p:cNvSpPr/>
          <p:nvPr/>
        </p:nvSpPr>
        <p:spPr>
          <a:xfrm>
            <a:off x="452628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Partner Scorecard</a:t>
            </a:r>
            <a:endParaRPr lang="en-US" sz="1500" dirty="0"/>
          </a:p>
        </p:txBody>
      </p:sp>
      <p:sp>
        <p:nvSpPr>
          <p:cNvPr id="28" name="Text 26"/>
          <p:cNvSpPr/>
          <p:nvPr/>
        </p:nvSpPr>
        <p:spPr>
          <a:xfrm>
            <a:off x="452628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Excel · qualification grid</a:t>
            </a:r>
            <a:endParaRPr lang="en-US" sz="1100" dirty="0"/>
          </a:p>
        </p:txBody>
      </p:sp>
      <p:sp>
        <p:nvSpPr>
          <p:cNvPr id="29" name="Text 27"/>
          <p:cNvSpPr/>
          <p:nvPr/>
        </p:nvSpPr>
        <p:spPr>
          <a:xfrm>
            <a:off x="452628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Score the candidate Anchor list before MoU</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046720" y="3794760"/>
            <a:ext cx="3611880" cy="73152"/>
          </a:xfrm>
          <a:prstGeom prst="rect">
            <a:avLst/>
          </a:prstGeom>
          <a:solidFill>
            <a:srgbClr val="C03BC4"/>
          </a:solidFill>
          <a:ln/>
        </p:spPr>
        <p:txBody>
          <a:bodyPr/>
          <a:lstStyle/>
          <a:p>
            <a:endParaRPr lang="en-ZA"/>
          </a:p>
        </p:txBody>
      </p:sp>
      <p:sp>
        <p:nvSpPr>
          <p:cNvPr id="32" name="Text 30"/>
          <p:cNvSpPr/>
          <p:nvPr/>
        </p:nvSpPr>
        <p:spPr>
          <a:xfrm>
            <a:off x="8275320" y="3977640"/>
            <a:ext cx="320040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FY27 Launch Plan</a:t>
            </a:r>
            <a:endParaRPr lang="en-US" sz="1500" dirty="0"/>
          </a:p>
        </p:txBody>
      </p:sp>
      <p:sp>
        <p:nvSpPr>
          <p:cNvPr id="33" name="Text 31"/>
          <p:cNvSpPr/>
          <p:nvPr/>
        </p:nvSpPr>
        <p:spPr>
          <a:xfrm>
            <a:off x="8275320" y="4389120"/>
            <a:ext cx="320040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Internal area motion plan</a:t>
            </a:r>
            <a:endParaRPr lang="en-US" sz="1100" dirty="0"/>
          </a:p>
        </p:txBody>
      </p:sp>
      <p:sp>
        <p:nvSpPr>
          <p:cNvPr id="34" name="Text 32"/>
          <p:cNvSpPr/>
          <p:nvPr/>
        </p:nvSpPr>
        <p:spPr>
          <a:xfrm>
            <a:off x="8275320" y="4754880"/>
            <a:ext cx="3200400" cy="7772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Area leadership · MCAPS RSA endorsement</a:t>
            </a:r>
            <a:endParaRPr lang="en-US" sz="11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Plus the Frontier AI CoE deck pack (5 decks · one per pillar) — used as customer-facing reference content during Stage 2 envisioning.</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QUICK REFERENCE</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What do I do next? — Decision tree</a:t>
            </a:r>
            <a:endParaRPr lang="en-US" sz="3000" dirty="0"/>
          </a:p>
        </p:txBody>
      </p:sp>
      <p:sp>
        <p:nvSpPr>
          <p:cNvPr id="5" name="Shape 3"/>
          <p:cNvSpPr/>
          <p:nvPr/>
        </p:nvSpPr>
        <p:spPr>
          <a:xfrm>
            <a:off x="47228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47228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74660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Q1</a:t>
            </a:r>
            <a:endParaRPr lang="en-US" sz="1100" dirty="0"/>
          </a:p>
        </p:txBody>
      </p:sp>
      <p:sp>
        <p:nvSpPr>
          <p:cNvPr id="8" name="Text 6"/>
          <p:cNvSpPr/>
          <p:nvPr/>
        </p:nvSpPr>
        <p:spPr>
          <a:xfrm>
            <a:off x="74660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 the customer qualified?</a:t>
            </a:r>
            <a:endParaRPr lang="en-US" sz="1600" dirty="0"/>
          </a:p>
        </p:txBody>
      </p:sp>
      <p:sp>
        <p:nvSpPr>
          <p:cNvPr id="9" name="Shape 7"/>
          <p:cNvSpPr/>
          <p:nvPr/>
        </p:nvSpPr>
        <p:spPr>
          <a:xfrm>
            <a:off x="70088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10" name="Text 8"/>
          <p:cNvSpPr/>
          <p:nvPr/>
        </p:nvSpPr>
        <p:spPr>
          <a:xfrm>
            <a:off x="83804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11" name="Text 9"/>
          <p:cNvSpPr/>
          <p:nvPr/>
        </p:nvSpPr>
        <p:spPr>
          <a:xfrm>
            <a:off x="83804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Step 2 · Pick entry point</a:t>
            </a:r>
            <a:endParaRPr lang="en-US" sz="1300" dirty="0"/>
          </a:p>
        </p:txBody>
      </p:sp>
      <p:sp>
        <p:nvSpPr>
          <p:cNvPr id="12" name="Shape 10"/>
          <p:cNvSpPr/>
          <p:nvPr/>
        </p:nvSpPr>
        <p:spPr>
          <a:xfrm>
            <a:off x="70088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13" name="Text 11"/>
          <p:cNvSpPr/>
          <p:nvPr/>
        </p:nvSpPr>
        <p:spPr>
          <a:xfrm>
            <a:off x="83804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14" name="Text 12"/>
          <p:cNvSpPr/>
          <p:nvPr/>
        </p:nvSpPr>
        <p:spPr>
          <a:xfrm>
            <a:off x="83804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Run Solution Assessment first (Stage 1)</a:t>
            </a:r>
            <a:endParaRPr lang="en-US" sz="1300" dirty="0"/>
          </a:p>
        </p:txBody>
      </p:sp>
      <p:sp>
        <p:nvSpPr>
          <p:cNvPr id="15" name="Shape 13"/>
          <p:cNvSpPr/>
          <p:nvPr/>
        </p:nvSpPr>
        <p:spPr>
          <a:xfrm>
            <a:off x="426704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426704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17" name="Text 15"/>
          <p:cNvSpPr/>
          <p:nvPr/>
        </p:nvSpPr>
        <p:spPr>
          <a:xfrm>
            <a:off x="454136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Q2</a:t>
            </a:r>
            <a:endParaRPr lang="en-US" sz="1100" dirty="0"/>
          </a:p>
        </p:txBody>
      </p:sp>
      <p:sp>
        <p:nvSpPr>
          <p:cNvPr id="18" name="Text 16"/>
          <p:cNvSpPr/>
          <p:nvPr/>
        </p:nvSpPr>
        <p:spPr>
          <a:xfrm>
            <a:off x="454136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 the gate met for ATO C2?</a:t>
            </a:r>
            <a:endParaRPr lang="en-US" sz="1600" dirty="0"/>
          </a:p>
        </p:txBody>
      </p:sp>
      <p:sp>
        <p:nvSpPr>
          <p:cNvPr id="19" name="Shape 17"/>
          <p:cNvSpPr/>
          <p:nvPr/>
        </p:nvSpPr>
        <p:spPr>
          <a:xfrm>
            <a:off x="449564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20" name="Text 18"/>
          <p:cNvSpPr/>
          <p:nvPr/>
        </p:nvSpPr>
        <p:spPr>
          <a:xfrm>
            <a:off x="463280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21" name="Text 19"/>
          <p:cNvSpPr/>
          <p:nvPr/>
        </p:nvSpPr>
        <p:spPr>
          <a:xfrm>
            <a:off x="463280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Unlock $1M envelope · proceed to Step 6</a:t>
            </a:r>
            <a:endParaRPr lang="en-US" sz="1300" dirty="0"/>
          </a:p>
        </p:txBody>
      </p:sp>
      <p:sp>
        <p:nvSpPr>
          <p:cNvPr id="22" name="Shape 20"/>
          <p:cNvSpPr/>
          <p:nvPr/>
        </p:nvSpPr>
        <p:spPr>
          <a:xfrm>
            <a:off x="449564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23" name="Text 21"/>
          <p:cNvSpPr/>
          <p:nvPr/>
        </p:nvSpPr>
        <p:spPr>
          <a:xfrm>
            <a:off x="463280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24" name="Text 22"/>
          <p:cNvSpPr/>
          <p:nvPr/>
        </p:nvSpPr>
        <p:spPr>
          <a:xfrm>
            <a:off x="463280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Stay in C2 build · close the gate gap</a:t>
            </a:r>
            <a:endParaRPr lang="en-US" sz="1300" dirty="0"/>
          </a:p>
        </p:txBody>
      </p:sp>
      <p:sp>
        <p:nvSpPr>
          <p:cNvPr id="25" name="Shape 23"/>
          <p:cNvSpPr/>
          <p:nvPr/>
        </p:nvSpPr>
        <p:spPr>
          <a:xfrm>
            <a:off x="8061808" y="1828800"/>
            <a:ext cx="3657600" cy="4114800"/>
          </a:xfrm>
          <a:prstGeom prst="roundRect">
            <a:avLst>
              <a:gd name="adj" fmla="val 2500"/>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8061808" y="1828800"/>
            <a:ext cx="3657600" cy="1005840"/>
          </a:xfrm>
          <a:prstGeom prst="rect">
            <a:avLst/>
          </a:prstGeom>
          <a:solidFill>
            <a:srgbClr val="091F2C"/>
          </a:solidFill>
          <a:ln w="12700">
            <a:solidFill>
              <a:srgbClr val="091F2C"/>
            </a:solidFill>
            <a:prstDash val="solid"/>
          </a:ln>
        </p:spPr>
        <p:txBody>
          <a:bodyPr/>
          <a:lstStyle/>
          <a:p>
            <a:endParaRPr lang="en-ZA"/>
          </a:p>
        </p:txBody>
      </p:sp>
      <p:sp>
        <p:nvSpPr>
          <p:cNvPr id="27" name="Text 25"/>
          <p:cNvSpPr/>
          <p:nvPr/>
        </p:nvSpPr>
        <p:spPr>
          <a:xfrm>
            <a:off x="8336128" y="196596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Q3</a:t>
            </a:r>
            <a:endParaRPr lang="en-US" sz="1100" dirty="0"/>
          </a:p>
        </p:txBody>
      </p:sp>
      <p:sp>
        <p:nvSpPr>
          <p:cNvPr id="28" name="Text 26"/>
          <p:cNvSpPr/>
          <p:nvPr/>
        </p:nvSpPr>
        <p:spPr>
          <a:xfrm>
            <a:off x="8336128" y="2240280"/>
            <a:ext cx="3200400" cy="54864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Are 3+ agents in production?</a:t>
            </a:r>
            <a:endParaRPr lang="en-US" sz="1600" dirty="0"/>
          </a:p>
        </p:txBody>
      </p:sp>
      <p:sp>
        <p:nvSpPr>
          <p:cNvPr id="29" name="Shape 27"/>
          <p:cNvSpPr/>
          <p:nvPr/>
        </p:nvSpPr>
        <p:spPr>
          <a:xfrm>
            <a:off x="8290408" y="3017520"/>
            <a:ext cx="3200400" cy="1325880"/>
          </a:xfrm>
          <a:prstGeom prst="roundRect">
            <a:avLst>
              <a:gd name="adj" fmla="val 4138"/>
            </a:avLst>
          </a:prstGeom>
          <a:solidFill>
            <a:srgbClr val="F1F8F1"/>
          </a:solidFill>
          <a:ln w="12700">
            <a:solidFill>
              <a:srgbClr val="225B62"/>
            </a:solidFill>
            <a:prstDash val="solid"/>
          </a:ln>
        </p:spPr>
        <p:txBody>
          <a:bodyPr/>
          <a:lstStyle/>
          <a:p>
            <a:endParaRPr lang="en-ZA"/>
          </a:p>
        </p:txBody>
      </p:sp>
      <p:sp>
        <p:nvSpPr>
          <p:cNvPr id="30" name="Text 28"/>
          <p:cNvSpPr/>
          <p:nvPr/>
        </p:nvSpPr>
        <p:spPr>
          <a:xfrm>
            <a:off x="8427568" y="3108960"/>
            <a:ext cx="292608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YES</a:t>
            </a:r>
            <a:endParaRPr lang="en-US" sz="1100" dirty="0"/>
          </a:p>
        </p:txBody>
      </p:sp>
      <p:sp>
        <p:nvSpPr>
          <p:cNvPr id="31" name="Text 29"/>
          <p:cNvSpPr/>
          <p:nvPr/>
        </p:nvSpPr>
        <p:spPr>
          <a:xfrm>
            <a:off x="8427568" y="338328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Federate · open renewal step-up</a:t>
            </a:r>
            <a:endParaRPr lang="en-US" sz="1300" dirty="0"/>
          </a:p>
        </p:txBody>
      </p:sp>
      <p:sp>
        <p:nvSpPr>
          <p:cNvPr id="32" name="Shape 30"/>
          <p:cNvSpPr/>
          <p:nvPr/>
        </p:nvSpPr>
        <p:spPr>
          <a:xfrm>
            <a:off x="8290408" y="4526280"/>
            <a:ext cx="3200400" cy="1325880"/>
          </a:xfrm>
          <a:prstGeom prst="roundRect">
            <a:avLst>
              <a:gd name="adj" fmla="val 4138"/>
            </a:avLst>
          </a:prstGeom>
          <a:solidFill>
            <a:srgbClr val="FDF3F2"/>
          </a:solidFill>
          <a:ln w="12700">
            <a:solidFill>
              <a:srgbClr val="FF5C39"/>
            </a:solidFill>
            <a:prstDash val="solid"/>
          </a:ln>
        </p:spPr>
        <p:txBody>
          <a:bodyPr/>
          <a:lstStyle/>
          <a:p>
            <a:endParaRPr lang="en-ZA"/>
          </a:p>
        </p:txBody>
      </p:sp>
      <p:sp>
        <p:nvSpPr>
          <p:cNvPr id="33" name="Text 31"/>
          <p:cNvSpPr/>
          <p:nvPr/>
        </p:nvSpPr>
        <p:spPr>
          <a:xfrm>
            <a:off x="8427568" y="4617720"/>
            <a:ext cx="2926080" cy="274320"/>
          </a:xfrm>
          <a:prstGeom prst="rect">
            <a:avLst/>
          </a:prstGeom>
          <a:noFill/>
          <a:ln/>
        </p:spPr>
        <p:txBody>
          <a:bodyPr wrap="square" rtlCol="0" anchor="ctr"/>
          <a:lstStyle/>
          <a:p>
            <a:pPr marL="0" indent="0">
              <a:buNone/>
            </a:pPr>
            <a:r>
              <a:rPr lang="en-US" sz="1100" b="1" kern="0" spc="300" dirty="0">
                <a:solidFill>
                  <a:srgbClr val="FF5C39"/>
                </a:solidFill>
                <a:latin typeface="Segoe UI" pitchFamily="34" charset="0"/>
                <a:ea typeface="Segoe UI" pitchFamily="34" charset="-122"/>
                <a:cs typeface="Segoe UI" pitchFamily="34" charset="-120"/>
              </a:rPr>
              <a:t>NO</a:t>
            </a:r>
            <a:endParaRPr lang="en-US" sz="1100" dirty="0"/>
          </a:p>
        </p:txBody>
      </p:sp>
      <p:sp>
        <p:nvSpPr>
          <p:cNvPr id="34" name="Text 32"/>
          <p:cNvSpPr/>
          <p:nvPr/>
        </p:nvSpPr>
        <p:spPr>
          <a:xfrm>
            <a:off x="8427568" y="4892040"/>
            <a:ext cx="2926080" cy="91440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 Stay central · run the Agent Factory</a:t>
            </a:r>
            <a:endParaRPr lang="en-US" sz="1300" dirty="0"/>
          </a:p>
        </p:txBody>
      </p:sp>
      <p:sp>
        <p:nvSpPr>
          <p:cNvPr id="35" name="Text 33"/>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Print this slide. Pin it above your desk. Three questions answer 80% of next-step situations.</a:t>
            </a:r>
            <a:endParaRPr lang="en-US" sz="12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100584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GET STARTED</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000" b="1" dirty="0">
                <a:solidFill>
                  <a:srgbClr val="091F2C"/>
                </a:solidFill>
                <a:latin typeface="Segoe UI" pitchFamily="34" charset="0"/>
                <a:ea typeface="Segoe UI" pitchFamily="34" charset="-122"/>
                <a:cs typeface="Segoe UI" pitchFamily="34" charset="-120"/>
              </a:rPr>
              <a:t>Your first 30 days on a CoE account</a:t>
            </a:r>
            <a:endParaRPr lang="en-US" sz="3000" dirty="0"/>
          </a:p>
        </p:txBody>
      </p:sp>
      <p:sp>
        <p:nvSpPr>
          <p:cNvPr id="5" name="Shape 3"/>
          <p:cNvSpPr/>
          <p:nvPr/>
        </p:nvSpPr>
        <p:spPr>
          <a:xfrm>
            <a:off x="40370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403708" y="1828800"/>
            <a:ext cx="2743200" cy="640080"/>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58658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1</a:t>
            </a:r>
            <a:endParaRPr lang="en-US" sz="1100" dirty="0"/>
          </a:p>
        </p:txBody>
      </p:sp>
      <p:sp>
        <p:nvSpPr>
          <p:cNvPr id="8" name="Text 6"/>
          <p:cNvSpPr/>
          <p:nvPr/>
        </p:nvSpPr>
        <p:spPr>
          <a:xfrm>
            <a:off x="58658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Read &amp; meet</a:t>
            </a:r>
            <a:endParaRPr lang="en-US" sz="1400" dirty="0"/>
          </a:p>
        </p:txBody>
      </p:sp>
      <p:sp>
        <p:nvSpPr>
          <p:cNvPr id="9" name="Shape 7"/>
          <p:cNvSpPr/>
          <p:nvPr/>
        </p:nvSpPr>
        <p:spPr>
          <a:xfrm>
            <a:off x="632308" y="2788920"/>
            <a:ext cx="164592" cy="164592"/>
          </a:xfrm>
          <a:prstGeom prst="ellipse">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090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Read playbook Sections 1–4</a:t>
            </a:r>
            <a:endParaRPr lang="en-US" sz="1100" dirty="0"/>
          </a:p>
        </p:txBody>
      </p:sp>
      <p:sp>
        <p:nvSpPr>
          <p:cNvPr id="11" name="Shape 9"/>
          <p:cNvSpPr/>
          <p:nvPr/>
        </p:nvSpPr>
        <p:spPr>
          <a:xfrm>
            <a:off x="632308" y="3566160"/>
            <a:ext cx="164592" cy="164592"/>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Meet ATU AE + ATS</a:t>
            </a:r>
            <a:endParaRPr lang="en-US" sz="1100" dirty="0"/>
          </a:p>
        </p:txBody>
      </p:sp>
      <p:sp>
        <p:nvSpPr>
          <p:cNvPr id="13" name="Shape 11"/>
          <p:cNvSpPr/>
          <p:nvPr/>
        </p:nvSpPr>
        <p:spPr>
          <a:xfrm>
            <a:off x="632308" y="4343400"/>
            <a:ext cx="164592" cy="164592"/>
          </a:xfrm>
          <a:prstGeom prst="ellipse">
            <a:avLst/>
          </a:prstGeom>
          <a:solidFill>
            <a:srgbClr val="0078D4"/>
          </a:solidFill>
          <a:ln w="12700">
            <a:solidFill>
              <a:srgbClr val="0078D4"/>
            </a:solidFill>
            <a:prstDash val="solid"/>
          </a:ln>
        </p:spPr>
        <p:txBody>
          <a:bodyPr/>
          <a:lstStyle/>
          <a:p>
            <a:endParaRPr lang="en-ZA"/>
          </a:p>
        </p:txBody>
      </p:sp>
      <p:sp>
        <p:nvSpPr>
          <p:cNvPr id="14" name="Text 12"/>
          <p:cNvSpPr/>
          <p:nvPr/>
        </p:nvSpPr>
        <p:spPr>
          <a:xfrm>
            <a:off x="86090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Meet STU lead + EPS PDM</a:t>
            </a:r>
            <a:endParaRPr lang="en-US" sz="1100" dirty="0"/>
          </a:p>
        </p:txBody>
      </p:sp>
      <p:sp>
        <p:nvSpPr>
          <p:cNvPr id="15" name="Shape 13"/>
          <p:cNvSpPr/>
          <p:nvPr/>
        </p:nvSpPr>
        <p:spPr>
          <a:xfrm>
            <a:off x="632308" y="5120640"/>
            <a:ext cx="164592" cy="164592"/>
          </a:xfrm>
          <a:prstGeom prst="ellipse">
            <a:avLst/>
          </a:prstGeom>
          <a:solidFill>
            <a:srgbClr val="0078D4"/>
          </a:solidFill>
          <a:ln w="12700">
            <a:solidFill>
              <a:srgbClr val="0078D4"/>
            </a:solidFill>
            <a:prstDash val="solid"/>
          </a:ln>
        </p:spPr>
        <p:txBody>
          <a:bodyPr/>
          <a:lstStyle/>
          <a:p>
            <a:endParaRPr lang="en-ZA"/>
          </a:p>
        </p:txBody>
      </p:sp>
      <p:sp>
        <p:nvSpPr>
          <p:cNvPr id="16" name="Text 14"/>
          <p:cNvSpPr/>
          <p:nvPr/>
        </p:nvSpPr>
        <p:spPr>
          <a:xfrm>
            <a:off x="86090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Read existing account plan</a:t>
            </a:r>
            <a:endParaRPr lang="en-US" sz="1100" dirty="0"/>
          </a:p>
        </p:txBody>
      </p:sp>
      <p:sp>
        <p:nvSpPr>
          <p:cNvPr id="17" name="Shape 15"/>
          <p:cNvSpPr/>
          <p:nvPr/>
        </p:nvSpPr>
        <p:spPr>
          <a:xfrm>
            <a:off x="328406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3284068" y="1828800"/>
            <a:ext cx="2743200" cy="640080"/>
          </a:xfrm>
          <a:prstGeom prst="rect">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346694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2</a:t>
            </a:r>
            <a:endParaRPr lang="en-US" sz="1100" dirty="0"/>
          </a:p>
        </p:txBody>
      </p:sp>
      <p:sp>
        <p:nvSpPr>
          <p:cNvPr id="20" name="Text 18"/>
          <p:cNvSpPr/>
          <p:nvPr/>
        </p:nvSpPr>
        <p:spPr>
          <a:xfrm>
            <a:off x="346694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Score the readiness</a:t>
            </a:r>
            <a:endParaRPr lang="en-US" sz="1400" dirty="0"/>
          </a:p>
        </p:txBody>
      </p:sp>
      <p:sp>
        <p:nvSpPr>
          <p:cNvPr id="21" name="Shape 19"/>
          <p:cNvSpPr/>
          <p:nvPr/>
        </p:nvSpPr>
        <p:spPr>
          <a:xfrm>
            <a:off x="3512668" y="2788920"/>
            <a:ext cx="164592" cy="164592"/>
          </a:xfrm>
          <a:prstGeom prst="ellipse">
            <a:avLst/>
          </a:prstGeom>
          <a:solidFill>
            <a:srgbClr val="0057B8"/>
          </a:solidFill>
          <a:ln w="12700">
            <a:solidFill>
              <a:srgbClr val="0057B8"/>
            </a:solidFill>
            <a:prstDash val="solid"/>
          </a:ln>
        </p:spPr>
        <p:txBody>
          <a:bodyPr/>
          <a:lstStyle/>
          <a:p>
            <a:endParaRPr lang="en-ZA"/>
          </a:p>
        </p:txBody>
      </p:sp>
      <p:sp>
        <p:nvSpPr>
          <p:cNvPr id="22" name="Text 20"/>
          <p:cNvSpPr/>
          <p:nvPr/>
        </p:nvSpPr>
        <p:spPr>
          <a:xfrm>
            <a:off x="374126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Run Readiness Scorecard with ATU</a:t>
            </a:r>
            <a:endParaRPr lang="en-US" sz="1100" dirty="0"/>
          </a:p>
        </p:txBody>
      </p:sp>
      <p:sp>
        <p:nvSpPr>
          <p:cNvPr id="23" name="Shape 21"/>
          <p:cNvSpPr/>
          <p:nvPr/>
        </p:nvSpPr>
        <p:spPr>
          <a:xfrm>
            <a:off x="3512668" y="3566160"/>
            <a:ext cx="164592" cy="164592"/>
          </a:xfrm>
          <a:prstGeom prst="ellipse">
            <a:avLst/>
          </a:prstGeom>
          <a:solidFill>
            <a:srgbClr val="0057B8"/>
          </a:solidFill>
          <a:ln w="12700">
            <a:solidFill>
              <a:srgbClr val="0057B8"/>
            </a:solidFill>
            <a:prstDash val="solid"/>
          </a:ln>
        </p:spPr>
        <p:txBody>
          <a:bodyPr/>
          <a:lstStyle/>
          <a:p>
            <a:endParaRPr lang="en-ZA"/>
          </a:p>
        </p:txBody>
      </p:sp>
      <p:sp>
        <p:nvSpPr>
          <p:cNvPr id="24" name="Text 22"/>
          <p:cNvSpPr/>
          <p:nvPr/>
        </p:nvSpPr>
        <p:spPr>
          <a:xfrm>
            <a:off x="374126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Validate exec sponsor</a:t>
            </a:r>
            <a:endParaRPr lang="en-US" sz="1100" dirty="0"/>
          </a:p>
        </p:txBody>
      </p:sp>
      <p:sp>
        <p:nvSpPr>
          <p:cNvPr id="25" name="Shape 23"/>
          <p:cNvSpPr/>
          <p:nvPr/>
        </p:nvSpPr>
        <p:spPr>
          <a:xfrm>
            <a:off x="3512668" y="4343400"/>
            <a:ext cx="164592" cy="164592"/>
          </a:xfrm>
          <a:prstGeom prst="ellipse">
            <a:avLst/>
          </a:prstGeom>
          <a:solidFill>
            <a:srgbClr val="0057B8"/>
          </a:solidFill>
          <a:ln w="12700">
            <a:solidFill>
              <a:srgbClr val="0057B8"/>
            </a:solidFill>
            <a:prstDash val="solid"/>
          </a:ln>
        </p:spPr>
        <p:txBody>
          <a:bodyPr/>
          <a:lstStyle/>
          <a:p>
            <a:endParaRPr lang="en-ZA"/>
          </a:p>
        </p:txBody>
      </p:sp>
      <p:sp>
        <p:nvSpPr>
          <p:cNvPr id="26" name="Text 24"/>
          <p:cNvSpPr/>
          <p:nvPr/>
        </p:nvSpPr>
        <p:spPr>
          <a:xfrm>
            <a:off x="374126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Map data estate</a:t>
            </a:r>
            <a:endParaRPr lang="en-US" sz="1100" dirty="0"/>
          </a:p>
        </p:txBody>
      </p:sp>
      <p:sp>
        <p:nvSpPr>
          <p:cNvPr id="27" name="Shape 25"/>
          <p:cNvSpPr/>
          <p:nvPr/>
        </p:nvSpPr>
        <p:spPr>
          <a:xfrm>
            <a:off x="3512668" y="5120640"/>
            <a:ext cx="164592" cy="164592"/>
          </a:xfrm>
          <a:prstGeom prst="ellipse">
            <a:avLst/>
          </a:prstGeom>
          <a:solidFill>
            <a:srgbClr val="0057B8"/>
          </a:solidFill>
          <a:ln w="12700">
            <a:solidFill>
              <a:srgbClr val="0057B8"/>
            </a:solidFill>
            <a:prstDash val="solid"/>
          </a:ln>
        </p:spPr>
        <p:txBody>
          <a:bodyPr/>
          <a:lstStyle/>
          <a:p>
            <a:endParaRPr lang="en-ZA"/>
          </a:p>
        </p:txBody>
      </p:sp>
      <p:sp>
        <p:nvSpPr>
          <p:cNvPr id="28" name="Text 26"/>
          <p:cNvSpPr/>
          <p:nvPr/>
        </p:nvSpPr>
        <p:spPr>
          <a:xfrm>
            <a:off x="374126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Surface use-case backlog</a:t>
            </a:r>
            <a:endParaRPr lang="en-US" sz="1100" dirty="0"/>
          </a:p>
        </p:txBody>
      </p:sp>
      <p:sp>
        <p:nvSpPr>
          <p:cNvPr id="29" name="Shape 27"/>
          <p:cNvSpPr/>
          <p:nvPr/>
        </p:nvSpPr>
        <p:spPr>
          <a:xfrm>
            <a:off x="616442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30" name="Shape 28"/>
          <p:cNvSpPr/>
          <p:nvPr/>
        </p:nvSpPr>
        <p:spPr>
          <a:xfrm>
            <a:off x="6164428" y="1828800"/>
            <a:ext cx="2743200" cy="640080"/>
          </a:xfrm>
          <a:prstGeom prst="rect">
            <a:avLst/>
          </a:prstGeom>
          <a:solidFill>
            <a:srgbClr val="225B62"/>
          </a:solidFill>
          <a:ln w="12700">
            <a:solidFill>
              <a:srgbClr val="225B62"/>
            </a:solidFill>
            <a:prstDash val="solid"/>
          </a:ln>
        </p:spPr>
        <p:txBody>
          <a:bodyPr/>
          <a:lstStyle/>
          <a:p>
            <a:endParaRPr lang="en-ZA"/>
          </a:p>
        </p:txBody>
      </p:sp>
      <p:sp>
        <p:nvSpPr>
          <p:cNvPr id="31" name="Text 29"/>
          <p:cNvSpPr/>
          <p:nvPr/>
        </p:nvSpPr>
        <p:spPr>
          <a:xfrm>
            <a:off x="634730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3</a:t>
            </a:r>
            <a:endParaRPr lang="en-US" sz="1100" dirty="0"/>
          </a:p>
        </p:txBody>
      </p:sp>
      <p:sp>
        <p:nvSpPr>
          <p:cNvPr id="32" name="Text 30"/>
          <p:cNvSpPr/>
          <p:nvPr/>
        </p:nvSpPr>
        <p:spPr>
          <a:xfrm>
            <a:off x="634730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Choose the shape</a:t>
            </a:r>
            <a:endParaRPr lang="en-US" sz="1400" dirty="0"/>
          </a:p>
        </p:txBody>
      </p:sp>
      <p:sp>
        <p:nvSpPr>
          <p:cNvPr id="33" name="Shape 31"/>
          <p:cNvSpPr/>
          <p:nvPr/>
        </p:nvSpPr>
        <p:spPr>
          <a:xfrm>
            <a:off x="6393028" y="2788920"/>
            <a:ext cx="164592" cy="164592"/>
          </a:xfrm>
          <a:prstGeom prst="ellipse">
            <a:avLst/>
          </a:prstGeom>
          <a:solidFill>
            <a:srgbClr val="225B62"/>
          </a:solidFill>
          <a:ln w="12700">
            <a:solidFill>
              <a:srgbClr val="225B62"/>
            </a:solidFill>
            <a:prstDash val="solid"/>
          </a:ln>
        </p:spPr>
        <p:txBody>
          <a:bodyPr/>
          <a:lstStyle/>
          <a:p>
            <a:endParaRPr lang="en-ZA"/>
          </a:p>
        </p:txBody>
      </p:sp>
      <p:sp>
        <p:nvSpPr>
          <p:cNvPr id="34" name="Text 32"/>
          <p:cNvSpPr/>
          <p:nvPr/>
        </p:nvSpPr>
        <p:spPr>
          <a:xfrm>
            <a:off x="662162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entry surface (A/B/C)</a:t>
            </a:r>
            <a:endParaRPr lang="en-US" sz="1100" dirty="0"/>
          </a:p>
        </p:txBody>
      </p:sp>
      <p:sp>
        <p:nvSpPr>
          <p:cNvPr id="35" name="Shape 33"/>
          <p:cNvSpPr/>
          <p:nvPr/>
        </p:nvSpPr>
        <p:spPr>
          <a:xfrm>
            <a:off x="6393028" y="3566160"/>
            <a:ext cx="164592" cy="164592"/>
          </a:xfrm>
          <a:prstGeom prst="ellipse">
            <a:avLst/>
          </a:prstGeom>
          <a:solidFill>
            <a:srgbClr val="225B62"/>
          </a:solidFill>
          <a:ln w="12700">
            <a:solidFill>
              <a:srgbClr val="225B62"/>
            </a:solidFill>
            <a:prstDash val="solid"/>
          </a:ln>
        </p:spPr>
        <p:txBody>
          <a:bodyPr/>
          <a:lstStyle/>
          <a:p>
            <a:endParaRPr lang="en-ZA"/>
          </a:p>
        </p:txBody>
      </p:sp>
      <p:sp>
        <p:nvSpPr>
          <p:cNvPr id="36" name="Text 34"/>
          <p:cNvSpPr/>
          <p:nvPr/>
        </p:nvSpPr>
        <p:spPr>
          <a:xfrm>
            <a:off x="662162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Tier (1/2/3)</a:t>
            </a:r>
            <a:endParaRPr lang="en-US" sz="1100" dirty="0"/>
          </a:p>
        </p:txBody>
      </p:sp>
      <p:sp>
        <p:nvSpPr>
          <p:cNvPr id="37" name="Shape 35"/>
          <p:cNvSpPr/>
          <p:nvPr/>
        </p:nvSpPr>
        <p:spPr>
          <a:xfrm>
            <a:off x="6393028" y="4343400"/>
            <a:ext cx="164592" cy="164592"/>
          </a:xfrm>
          <a:prstGeom prst="ellipse">
            <a:avLst/>
          </a:prstGeom>
          <a:solidFill>
            <a:srgbClr val="225B62"/>
          </a:solidFill>
          <a:ln w="12700">
            <a:solidFill>
              <a:srgbClr val="225B62"/>
            </a:solidFill>
            <a:prstDash val="solid"/>
          </a:ln>
        </p:spPr>
        <p:txBody>
          <a:bodyPr/>
          <a:lstStyle/>
          <a:p>
            <a:endParaRPr lang="en-ZA"/>
          </a:p>
        </p:txBody>
      </p:sp>
      <p:sp>
        <p:nvSpPr>
          <p:cNvPr id="38" name="Text 36"/>
          <p:cNvSpPr/>
          <p:nvPr/>
        </p:nvSpPr>
        <p:spPr>
          <a:xfrm>
            <a:off x="662162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Pick ATO Component (C1/C2/C3)</a:t>
            </a:r>
            <a:endParaRPr lang="en-US" sz="1100" dirty="0"/>
          </a:p>
        </p:txBody>
      </p:sp>
      <p:sp>
        <p:nvSpPr>
          <p:cNvPr id="39" name="Shape 37"/>
          <p:cNvSpPr/>
          <p:nvPr/>
        </p:nvSpPr>
        <p:spPr>
          <a:xfrm>
            <a:off x="6393028" y="5120640"/>
            <a:ext cx="164592" cy="164592"/>
          </a:xfrm>
          <a:prstGeom prst="ellipse">
            <a:avLst/>
          </a:prstGeom>
          <a:solidFill>
            <a:srgbClr val="225B62"/>
          </a:solidFill>
          <a:ln w="12700">
            <a:solidFill>
              <a:srgbClr val="225B62"/>
            </a:solidFill>
            <a:prstDash val="solid"/>
          </a:ln>
        </p:spPr>
        <p:txBody>
          <a:bodyPr/>
          <a:lstStyle/>
          <a:p>
            <a:endParaRPr lang="en-ZA"/>
          </a:p>
        </p:txBody>
      </p:sp>
      <p:sp>
        <p:nvSpPr>
          <p:cNvPr id="40" name="Text 38"/>
          <p:cNvSpPr/>
          <p:nvPr/>
        </p:nvSpPr>
        <p:spPr>
          <a:xfrm>
            <a:off x="662162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Decide Partner-led or ISD</a:t>
            </a:r>
            <a:endParaRPr lang="en-US" sz="1100" dirty="0"/>
          </a:p>
        </p:txBody>
      </p:sp>
      <p:sp>
        <p:nvSpPr>
          <p:cNvPr id="41" name="Shape 39"/>
          <p:cNvSpPr/>
          <p:nvPr/>
        </p:nvSpPr>
        <p:spPr>
          <a:xfrm>
            <a:off x="9044788" y="1828800"/>
            <a:ext cx="2743200" cy="4114800"/>
          </a:xfrm>
          <a:prstGeom prst="roundRect">
            <a:avLst>
              <a:gd name="adj" fmla="val 2667"/>
            </a:avLst>
          </a:prstGeom>
          <a:solidFill>
            <a:srgbClr val="FFFFFF"/>
          </a:solidFill>
          <a:ln w="12700">
            <a:solidFill>
              <a:srgbClr val="E1E6EF"/>
            </a:solidFill>
            <a:prstDash val="solid"/>
          </a:ln>
        </p:spPr>
        <p:txBody>
          <a:bodyPr/>
          <a:lstStyle/>
          <a:p>
            <a:endParaRPr lang="en-ZA"/>
          </a:p>
        </p:txBody>
      </p:sp>
      <p:sp>
        <p:nvSpPr>
          <p:cNvPr id="42" name="Shape 40"/>
          <p:cNvSpPr/>
          <p:nvPr/>
        </p:nvSpPr>
        <p:spPr>
          <a:xfrm>
            <a:off x="9044788" y="1828800"/>
            <a:ext cx="2743200" cy="640080"/>
          </a:xfrm>
          <a:prstGeom prst="rect">
            <a:avLst/>
          </a:prstGeom>
          <a:solidFill>
            <a:srgbClr val="FF5C39"/>
          </a:solidFill>
          <a:ln w="12700">
            <a:solidFill>
              <a:srgbClr val="FF5C39"/>
            </a:solidFill>
            <a:prstDash val="solid"/>
          </a:ln>
        </p:spPr>
        <p:txBody>
          <a:bodyPr/>
          <a:lstStyle/>
          <a:p>
            <a:endParaRPr lang="en-ZA"/>
          </a:p>
        </p:txBody>
      </p:sp>
      <p:sp>
        <p:nvSpPr>
          <p:cNvPr id="43" name="Text 41"/>
          <p:cNvSpPr/>
          <p:nvPr/>
        </p:nvSpPr>
        <p:spPr>
          <a:xfrm>
            <a:off x="9227668" y="1874520"/>
            <a:ext cx="2377440" cy="274320"/>
          </a:xfrm>
          <a:prstGeom prst="rect">
            <a:avLst/>
          </a:prstGeom>
          <a:noFill/>
          <a:ln/>
        </p:spPr>
        <p:txBody>
          <a:bodyPr wrap="square" rtlCol="0" anchor="ctr"/>
          <a:lstStyle/>
          <a:p>
            <a:pPr marL="0" indent="0">
              <a:buNone/>
            </a:pPr>
            <a:r>
              <a:rPr lang="en-US" sz="1100" b="1" kern="0" spc="300" dirty="0">
                <a:solidFill>
                  <a:srgbClr val="FFFFFF"/>
                </a:solidFill>
                <a:latin typeface="Segoe UI" pitchFamily="34" charset="0"/>
                <a:ea typeface="Segoe UI" pitchFamily="34" charset="-122"/>
                <a:cs typeface="Segoe UI" pitchFamily="34" charset="-120"/>
              </a:rPr>
              <a:t>WEEK 4</a:t>
            </a:r>
            <a:endParaRPr lang="en-US" sz="1100" dirty="0"/>
          </a:p>
        </p:txBody>
      </p:sp>
      <p:sp>
        <p:nvSpPr>
          <p:cNvPr id="44" name="Text 42"/>
          <p:cNvSpPr/>
          <p:nvPr/>
        </p:nvSpPr>
        <p:spPr>
          <a:xfrm>
            <a:off x="9227668" y="2148840"/>
            <a:ext cx="2377440" cy="274320"/>
          </a:xfrm>
          <a:prstGeom prst="rect">
            <a:avLst/>
          </a:prstGeom>
          <a:noFill/>
          <a:ln/>
        </p:spPr>
        <p:txBody>
          <a:bodyPr wrap="square"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Plan &amp; kick off</a:t>
            </a:r>
            <a:endParaRPr lang="en-US" sz="1400" dirty="0"/>
          </a:p>
        </p:txBody>
      </p:sp>
      <p:sp>
        <p:nvSpPr>
          <p:cNvPr id="45" name="Shape 43"/>
          <p:cNvSpPr/>
          <p:nvPr/>
        </p:nvSpPr>
        <p:spPr>
          <a:xfrm>
            <a:off x="9273388" y="2788920"/>
            <a:ext cx="164592" cy="164592"/>
          </a:xfrm>
          <a:prstGeom prst="ellipse">
            <a:avLst/>
          </a:prstGeom>
          <a:solidFill>
            <a:srgbClr val="FF5C39"/>
          </a:solidFill>
          <a:ln w="12700">
            <a:solidFill>
              <a:srgbClr val="FF5C39"/>
            </a:solidFill>
            <a:prstDash val="solid"/>
          </a:ln>
        </p:spPr>
        <p:txBody>
          <a:bodyPr/>
          <a:lstStyle/>
          <a:p>
            <a:endParaRPr lang="en-ZA"/>
          </a:p>
        </p:txBody>
      </p:sp>
      <p:sp>
        <p:nvSpPr>
          <p:cNvPr id="46" name="Text 44"/>
          <p:cNvSpPr/>
          <p:nvPr/>
        </p:nvSpPr>
        <p:spPr>
          <a:xfrm>
            <a:off x="9501988" y="269748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Draft Tier 1 SOW</a:t>
            </a:r>
            <a:endParaRPr lang="en-US" sz="1100" dirty="0"/>
          </a:p>
        </p:txBody>
      </p:sp>
      <p:sp>
        <p:nvSpPr>
          <p:cNvPr id="47" name="Shape 45"/>
          <p:cNvSpPr/>
          <p:nvPr/>
        </p:nvSpPr>
        <p:spPr>
          <a:xfrm>
            <a:off x="9273388" y="3566160"/>
            <a:ext cx="164592" cy="164592"/>
          </a:xfrm>
          <a:prstGeom prst="ellipse">
            <a:avLst/>
          </a:prstGeom>
          <a:solidFill>
            <a:srgbClr val="FF5C39"/>
          </a:solidFill>
          <a:ln w="12700">
            <a:solidFill>
              <a:srgbClr val="FF5C39"/>
            </a:solidFill>
            <a:prstDash val="solid"/>
          </a:ln>
        </p:spPr>
        <p:txBody>
          <a:bodyPr/>
          <a:lstStyle/>
          <a:p>
            <a:endParaRPr lang="en-ZA"/>
          </a:p>
        </p:txBody>
      </p:sp>
      <p:sp>
        <p:nvSpPr>
          <p:cNvPr id="48" name="Text 46"/>
          <p:cNvSpPr/>
          <p:nvPr/>
        </p:nvSpPr>
        <p:spPr>
          <a:xfrm>
            <a:off x="9501988" y="347472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Lock Envisioning workshop dates</a:t>
            </a:r>
            <a:endParaRPr lang="en-US" sz="1100" dirty="0"/>
          </a:p>
        </p:txBody>
      </p:sp>
      <p:sp>
        <p:nvSpPr>
          <p:cNvPr id="49" name="Shape 47"/>
          <p:cNvSpPr/>
          <p:nvPr/>
        </p:nvSpPr>
        <p:spPr>
          <a:xfrm>
            <a:off x="9273388" y="4343400"/>
            <a:ext cx="164592" cy="164592"/>
          </a:xfrm>
          <a:prstGeom prst="ellipse">
            <a:avLst/>
          </a:prstGeom>
          <a:solidFill>
            <a:srgbClr val="FF5C39"/>
          </a:solidFill>
          <a:ln w="12700">
            <a:solidFill>
              <a:srgbClr val="FF5C39"/>
            </a:solidFill>
            <a:prstDash val="solid"/>
          </a:ln>
        </p:spPr>
        <p:txBody>
          <a:bodyPr/>
          <a:lstStyle/>
          <a:p>
            <a:endParaRPr lang="en-ZA"/>
          </a:p>
        </p:txBody>
      </p:sp>
      <p:sp>
        <p:nvSpPr>
          <p:cNvPr id="50" name="Text 48"/>
          <p:cNvSpPr/>
          <p:nvPr/>
        </p:nvSpPr>
        <p:spPr>
          <a:xfrm>
            <a:off x="9501988" y="425196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Brief Anchor Partner</a:t>
            </a:r>
            <a:endParaRPr lang="en-US" sz="1100" dirty="0"/>
          </a:p>
        </p:txBody>
      </p:sp>
      <p:sp>
        <p:nvSpPr>
          <p:cNvPr id="51" name="Shape 49"/>
          <p:cNvSpPr/>
          <p:nvPr/>
        </p:nvSpPr>
        <p:spPr>
          <a:xfrm>
            <a:off x="9273388" y="5120640"/>
            <a:ext cx="164592" cy="164592"/>
          </a:xfrm>
          <a:prstGeom prst="ellipse">
            <a:avLst/>
          </a:prstGeom>
          <a:solidFill>
            <a:srgbClr val="FF5C39"/>
          </a:solidFill>
          <a:ln w="12700">
            <a:solidFill>
              <a:srgbClr val="FF5C39"/>
            </a:solidFill>
            <a:prstDash val="solid"/>
          </a:ln>
        </p:spPr>
        <p:txBody>
          <a:bodyPr/>
          <a:lstStyle/>
          <a:p>
            <a:endParaRPr lang="en-ZA"/>
          </a:p>
        </p:txBody>
      </p:sp>
      <p:sp>
        <p:nvSpPr>
          <p:cNvPr id="52" name="Text 50"/>
          <p:cNvSpPr/>
          <p:nvPr/>
        </p:nvSpPr>
        <p:spPr>
          <a:xfrm>
            <a:off x="9501988" y="5029200"/>
            <a:ext cx="2103120" cy="685800"/>
          </a:xfrm>
          <a:prstGeom prst="rect">
            <a:avLst/>
          </a:prstGeom>
          <a:noFill/>
          <a:ln/>
        </p:spPr>
        <p:txBody>
          <a:bodyPr wrap="square" rtlCol="0" anchor="t"/>
          <a:lstStyle/>
          <a:p>
            <a:pPr marL="0" indent="0">
              <a:buNone/>
            </a:pPr>
            <a:r>
              <a:rPr lang="en-US" sz="1100" dirty="0">
                <a:solidFill>
                  <a:srgbClr val="091F2C"/>
                </a:solidFill>
                <a:latin typeface="Segoe UI" pitchFamily="34" charset="0"/>
                <a:ea typeface="Segoe UI" pitchFamily="34" charset="-122"/>
                <a:cs typeface="Segoe UI" pitchFamily="34" charset="-120"/>
              </a:rPr>
              <a:t>Stage 3 kickoff</a:t>
            </a:r>
            <a:endParaRPr lang="en-US" sz="1100" dirty="0"/>
          </a:p>
        </p:txBody>
      </p:sp>
      <p:sp>
        <p:nvSpPr>
          <p:cNvPr id="53" name="Text 51"/>
          <p:cNvSpPr/>
          <p:nvPr/>
        </p:nvSpPr>
        <p:spPr>
          <a:xfrm>
            <a:off x="548640" y="6126480"/>
            <a:ext cx="11155680" cy="320040"/>
          </a:xfrm>
          <a:prstGeom prst="rect">
            <a:avLst/>
          </a:prstGeom>
          <a:noFill/>
          <a:ln/>
        </p:spPr>
        <p:txBody>
          <a:bodyPr wrap="square" rtlCol="0" anchor="ctr"/>
          <a:lstStyle/>
          <a:p>
            <a:pPr marL="0" indent="0">
              <a:buNone/>
            </a:pPr>
            <a:r>
              <a:rPr lang="en-US" sz="1200" b="1" i="1" dirty="0">
                <a:solidFill>
                  <a:srgbClr val="0078D4"/>
                </a:solidFill>
                <a:latin typeface="Segoe UI" pitchFamily="34" charset="0"/>
                <a:ea typeface="Segoe UI" pitchFamily="34" charset="-122"/>
                <a:cs typeface="Segoe UI" pitchFamily="34" charset="-120"/>
              </a:rPr>
              <a:t>Compress where you can — but never skip the Readiness Scorecard.</a:t>
            </a:r>
            <a:endParaRPr lang="en-US" sz="1200" dirty="0"/>
          </a:p>
        </p:txBody>
      </p:sp>
      <p:pic>
        <p:nvPicPr>
          <p:cNvPr id="5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55" name="Text 52"/>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56" name="Text 5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1920240"/>
            <a:ext cx="12191695" cy="73152"/>
          </a:xfrm>
          <a:prstGeom prst="rect">
            <a:avLst/>
          </a:prstGeom>
          <a:solidFill>
            <a:srgbClr val="C03BC4"/>
          </a:solidFill>
          <a:ln/>
        </p:spPr>
        <p:txBody>
          <a:bodyPr/>
          <a:lstStyle/>
          <a:p>
            <a:endParaRPr lang="en-ZA"/>
          </a:p>
        </p:txBody>
      </p:sp>
      <p:sp>
        <p:nvSpPr>
          <p:cNvPr id="3" name="Shape 1"/>
          <p:cNvSpPr/>
          <p:nvPr/>
        </p:nvSpPr>
        <p:spPr>
          <a:xfrm>
            <a:off x="0" y="2057400"/>
            <a:ext cx="3047924" cy="27432"/>
          </a:xfrm>
          <a:prstGeom prst="rect">
            <a:avLst/>
          </a:prstGeom>
          <a:solidFill>
            <a:srgbClr val="FFB900"/>
          </a:solidFill>
          <a:ln/>
        </p:spPr>
        <p:txBody>
          <a:bodyPr/>
          <a:lstStyle/>
          <a:p>
            <a:endParaRPr lang="en-ZA"/>
          </a:p>
        </p:txBody>
      </p:sp>
      <p:sp>
        <p:nvSpPr>
          <p:cNvPr id="4" name="Text 2"/>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WHEN YOU GET STUCK</a:t>
            </a:r>
            <a:endParaRPr lang="en-US" sz="1200" dirty="0"/>
          </a:p>
        </p:txBody>
      </p:sp>
      <p:sp>
        <p:nvSpPr>
          <p:cNvPr id="5" name="Text 3"/>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Get help</a:t>
            </a:r>
            <a:endParaRPr lang="en-US" sz="4400" dirty="0"/>
          </a:p>
        </p:txBody>
      </p:sp>
      <p:sp>
        <p:nvSpPr>
          <p:cNvPr id="6" name="Shape 4"/>
          <p:cNvSpPr/>
          <p:nvPr/>
        </p:nvSpPr>
        <p:spPr>
          <a:xfrm>
            <a:off x="40370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7" name="Text 5"/>
          <p:cNvSpPr/>
          <p:nvPr/>
        </p:nvSpPr>
        <p:spPr>
          <a:xfrm>
            <a:off x="63230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Delivery question</a:t>
            </a:r>
            <a:endParaRPr lang="en-US" sz="1600" dirty="0"/>
          </a:p>
        </p:txBody>
      </p:sp>
      <p:sp>
        <p:nvSpPr>
          <p:cNvPr id="8" name="Text 6"/>
          <p:cNvSpPr/>
          <p:nvPr/>
        </p:nvSpPr>
        <p:spPr>
          <a:xfrm>
            <a:off x="63230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Area CSU Lead · CoE practitioner Teams channel</a:t>
            </a:r>
            <a:endParaRPr lang="en-US" sz="1200" dirty="0"/>
          </a:p>
        </p:txBody>
      </p:sp>
      <p:sp>
        <p:nvSpPr>
          <p:cNvPr id="9" name="Shape 7"/>
          <p:cNvSpPr/>
          <p:nvPr/>
        </p:nvSpPr>
        <p:spPr>
          <a:xfrm>
            <a:off x="328406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0" name="Text 8"/>
          <p:cNvSpPr/>
          <p:nvPr/>
        </p:nvSpPr>
        <p:spPr>
          <a:xfrm>
            <a:off x="351266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Funding question</a:t>
            </a:r>
            <a:endParaRPr lang="en-US" sz="1600" dirty="0"/>
          </a:p>
        </p:txBody>
      </p:sp>
      <p:sp>
        <p:nvSpPr>
          <p:cNvPr id="11" name="Text 9"/>
          <p:cNvSpPr/>
          <p:nvPr/>
        </p:nvSpPr>
        <p:spPr>
          <a:xfrm>
            <a:off x="351266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ATU AE + ATS · Area Funding Manager</a:t>
            </a:r>
            <a:endParaRPr lang="en-US" sz="1200" dirty="0"/>
          </a:p>
        </p:txBody>
      </p:sp>
      <p:sp>
        <p:nvSpPr>
          <p:cNvPr id="12" name="Shape 10"/>
          <p:cNvSpPr/>
          <p:nvPr/>
        </p:nvSpPr>
        <p:spPr>
          <a:xfrm>
            <a:off x="616442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3" name="Text 11"/>
          <p:cNvSpPr/>
          <p:nvPr/>
        </p:nvSpPr>
        <p:spPr>
          <a:xfrm>
            <a:off x="639302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Partner question</a:t>
            </a:r>
            <a:endParaRPr lang="en-US" sz="1600" dirty="0"/>
          </a:p>
        </p:txBody>
      </p:sp>
      <p:sp>
        <p:nvSpPr>
          <p:cNvPr id="14" name="Text 12"/>
          <p:cNvSpPr/>
          <p:nvPr/>
        </p:nvSpPr>
        <p:spPr>
          <a:xfrm>
            <a:off x="639302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EPS PDM · Area Partner Lead</a:t>
            </a:r>
            <a:endParaRPr lang="en-US" sz="1200" dirty="0"/>
          </a:p>
        </p:txBody>
      </p:sp>
      <p:sp>
        <p:nvSpPr>
          <p:cNvPr id="15" name="Shape 13"/>
          <p:cNvSpPr/>
          <p:nvPr/>
        </p:nvSpPr>
        <p:spPr>
          <a:xfrm>
            <a:off x="9044788" y="2468880"/>
            <a:ext cx="2743200" cy="2194560"/>
          </a:xfrm>
          <a:prstGeom prst="roundRect">
            <a:avLst>
              <a:gd name="adj" fmla="val 3333"/>
            </a:avLst>
          </a:prstGeom>
          <a:solidFill>
            <a:srgbClr val="0057B8"/>
          </a:solidFill>
          <a:ln w="12700">
            <a:solidFill>
              <a:srgbClr val="0057B8"/>
            </a:solidFill>
            <a:prstDash val="solid"/>
          </a:ln>
        </p:spPr>
        <p:txBody>
          <a:bodyPr/>
          <a:lstStyle/>
          <a:p>
            <a:endParaRPr lang="en-ZA"/>
          </a:p>
        </p:txBody>
      </p:sp>
      <p:sp>
        <p:nvSpPr>
          <p:cNvPr id="16" name="Text 14"/>
          <p:cNvSpPr/>
          <p:nvPr/>
        </p:nvSpPr>
        <p:spPr>
          <a:xfrm>
            <a:off x="9273388" y="2651760"/>
            <a:ext cx="22860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ISD question</a:t>
            </a:r>
            <a:endParaRPr lang="en-US" sz="1600" dirty="0"/>
          </a:p>
        </p:txBody>
      </p:sp>
      <p:sp>
        <p:nvSpPr>
          <p:cNvPr id="17" name="Text 15"/>
          <p:cNvSpPr/>
          <p:nvPr/>
        </p:nvSpPr>
        <p:spPr>
          <a:xfrm>
            <a:off x="9273388" y="3200400"/>
            <a:ext cx="22860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Area ISD Lead · escalation via CSU</a:t>
            </a:r>
            <a:endParaRPr lang="en-US" sz="1200" dirty="0"/>
          </a:p>
        </p:txBody>
      </p:sp>
      <p:sp>
        <p:nvSpPr>
          <p:cNvPr id="18" name="Shape 16"/>
          <p:cNvSpPr/>
          <p:nvPr/>
        </p:nvSpPr>
        <p:spPr>
          <a:xfrm>
            <a:off x="822960" y="5120640"/>
            <a:ext cx="10515600" cy="1234440"/>
          </a:xfrm>
          <a:prstGeom prst="roundRect">
            <a:avLst>
              <a:gd name="adj" fmla="val 7407"/>
            </a:avLst>
          </a:prstGeom>
          <a:solidFill>
            <a:srgbClr val="0057B8"/>
          </a:solidFill>
          <a:ln w="12700">
            <a:solidFill>
              <a:srgbClr val="0057B8"/>
            </a:solidFill>
            <a:prstDash val="solid"/>
          </a:ln>
        </p:spPr>
        <p:txBody>
          <a:bodyPr/>
          <a:lstStyle/>
          <a:p>
            <a:endParaRPr lang="en-ZA"/>
          </a:p>
        </p:txBody>
      </p:sp>
      <p:sp>
        <p:nvSpPr>
          <p:cNvPr id="19" name="Text 17"/>
          <p:cNvSpPr/>
          <p:nvPr/>
        </p:nvSpPr>
        <p:spPr>
          <a:xfrm>
            <a:off x="1097280" y="5257800"/>
            <a:ext cx="36576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OFFERING OWNER</a:t>
            </a:r>
            <a:endParaRPr lang="en-US" sz="1100" dirty="0"/>
          </a:p>
        </p:txBody>
      </p:sp>
      <p:sp>
        <p:nvSpPr>
          <p:cNvPr id="20" name="Text 18"/>
          <p:cNvSpPr/>
          <p:nvPr/>
        </p:nvSpPr>
        <p:spPr>
          <a:xfrm>
            <a:off x="1097280" y="553212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589788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82296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Field guide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3407</Words>
  <Application>Microsoft Office PowerPoint</Application>
  <PresentationFormat>Widescreen</PresentationFormat>
  <Paragraphs>484</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Use the AI Centre of Excellence Offering</dc:title>
  <dc:subject>PptxGenJS Presentation</dc:subject>
  <dc:creator>Yuri Baijnath</dc:creator>
  <cp:lastModifiedBy>Yuri Baijnath</cp:lastModifiedBy>
  <cp:revision>2</cp:revision>
  <dcterms:created xsi:type="dcterms:W3CDTF">2026-05-12T07:17:40Z</dcterms:created>
  <dcterms:modified xsi:type="dcterms:W3CDTF">2026-05-12T07:19:50Z</dcterms:modified>
</cp:coreProperties>
</file>