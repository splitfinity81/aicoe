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320040" cy="2011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164592" cy="2011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Microsoft AI Center of Excellence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0">
                <a:solidFill>
                  <a:srgbClr val="50E6FF"/>
                </a:solidFill>
                <a:latin typeface="Segoe UI"/>
              </a:rPr>
              <a:t>for South Africa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Segoe UI"/>
              </a:rPr>
              <a:t>Three AI surfaces. Three funding streams. One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0E6FF"/>
                </a:solidFill>
                <a:latin typeface="Segoe UI"/>
              </a:rPr>
              <a:t>Yuri Baijnath · CSU Cloud &amp; AI Lead (South Africa), Microsoft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"We have AI initiatives. We don't have an AI capability."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02020"/>
                </a:solidFill>
                <a:latin typeface="Segoe UI"/>
              </a:rPr>
              <a:t>The three failure modes we hear from RSA customers in 2026: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5029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Pilot purgatory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3657600" cy="338328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12+ proofs-of-concept, none in production. No funded path from pilot to platform. Cost without compounding.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657600" cy="5029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Shadow AI sprawl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31720"/>
            <a:ext cx="3657600" cy="338328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46888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Knowledge workers paste customer data into consumer chatbots. CISO has no visibility. POPIA exposure rising.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657600" cy="5029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Governance debt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331720"/>
            <a:ext cx="3657600" cy="338328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RAI policy in slideware, not in controls. AGSA/SARB/FSCA can't sample evidence. No quarterly attestation.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The AI CoE collapses all three. The next slide shows how.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The customer's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moat: three surfaces × three streams = nine cells only Microsoft can fill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MCAPS-sponsored
(landing &amp; enable)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Factory zero-cost
(F1–F10 build)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Partner build-run
(MAICPP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1828800" cy="15544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9164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Copilot Adoption
Acceleration ECIF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F3 SOE rollout +
F7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Partner-led change
&amp; measurement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1828800" cy="15544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4612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Agent envisioning
(ACO funded)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F4 Studio agent
factory pattern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agent
build-and-run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54880"/>
            <a:ext cx="1828800" cy="15544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0060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Azure AI Foundry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Foundry envisioning
+ landing zone (ACO)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6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F5 Foundry pattern
+ F8 eval harness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build-run
MAICPP commitment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No hyperscaler controls all three surfaces. No SI controls all three streams. The grid is the moat.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The moat grid (anchor)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Why this grid is unmatched — competitive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Hyperscaler A (AWS)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09728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18872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Has Foundry-equivalent (Bedrock). No M365 install base, no agent runtime sitting in the productivity workflow. Loses surfaces 1 and 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Hyperscaler B (Google)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05740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14884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Has Workspace + Gemini, has Vertex. Workspace install base in RSA enterprise &lt;15%. Loses surface 1 at scale.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Pure-play SI (Accenture / IBM)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01752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10896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Strong on stream 3 (build-run). No equivalent of stream 1 (sponsored landing) or stream 2 (zero-cost factory). Customer pays for everything.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6908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Niche AI vendor (OpenAI direct, Anthropic direct)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97764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06908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Substrate only. No grounding in customer's M365 graph, no policy plane, no Purview AI Hub, no AGSA-sample-ready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37760"/>
            <a:ext cx="3200400" cy="868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Microsoft AI CoE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93776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02920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All nine cells. Funded landing, funded factory, partner-scaled run. One CoE charter, one governance posture, one consumption commit.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Competitive 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ATO economics — the funding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Segoe UI"/>
              </a:rPr>
              <a:t>One Azure Consumption commitment unlocks funded landing, funded factory, and funded first three production use-cases.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657600" cy="23774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Customer commits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Segoe UI"/>
              </a:rPr>
              <a:t>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of ACR commitment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737360"/>
            <a:ext cx="6858000" cy="23774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Microsoft + partner-funded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286000"/>
            <a:ext cx="64922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6600" b="1">
                <a:solidFill>
                  <a:srgbClr val="0067B8"/>
                </a:solidFill>
                <a:latin typeface="Segoe UI"/>
              </a:rPr>
              <a:t>$3 – $5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52044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02020"/>
                </a:solidFill>
                <a:latin typeface="Segoe UI"/>
              </a:rPr>
              <a:t>of envisioning, landing zone, factory builds, change &amp; adoption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Instruments stacked behind the ATO: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ECIF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Envisioning, pilot, adoption acceleration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MAICPP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Partner build-and-run subsidy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ACO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Azure Consumption commitment offset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SA / CF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Strategic Architect / Customer Factory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ATO economics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operating model — one CoE, three surfaces, three streams, four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7448" y="2926080"/>
            <a:ext cx="274320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27448" y="301752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AI CoE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356616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0E6FF"/>
                </a:solidFill>
                <a:latin typeface="Segoe UI"/>
              </a:rPr>
              <a:t>charter • RACI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0E6FF"/>
                </a:solidFill>
                <a:latin typeface="Segoe UI"/>
              </a:rPr>
              <a:t>quarterly attestation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097280"/>
            <a:ext cx="274320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97280"/>
            <a:ext cx="2743200" cy="9144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097280"/>
            <a:ext cx="2743200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Foundry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MCAPS-sponsored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2900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Factory zero-cost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Partner build-run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56032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60604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G1 Envision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15467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320039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G2 Pre-pilot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74903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379475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G3 Pre-prod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3434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3891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G4 Attestation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Three surfaces deliver. Three streams fund. Four gates govern. One CoE owns the spine.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Operating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What customers ship in 90 days — three outcomes per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65760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657600" cy="36576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Tier-1 SOE rollout to 5,000 seats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30%+ weekly active by day 90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1.0–1.5 hr/user/week recovered (T&amp;M measured)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657600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14300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36576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First production agent (HR or service-desk)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Containment ≥45% on intent-routed cases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HITL queue live; reviewer feedback loop closing weekly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097280"/>
            <a:ext cx="3657600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14300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Azure AI Foundry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657600" cy="36576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82880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First Foundry pattern in production (DocIntel)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Eval harness live; RAI controls signed off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Unit economics validated via TCO calculator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0B1F3A"/>
                </a:solidFill>
                <a:latin typeface="Segoe UI"/>
              </a:rPr>
              <a:t>Every outcome is measurable. Every cost is modelled in AI-CoE-AI-TCO-Calculator.xlsx.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90-day proof 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What we ask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0E6FF"/>
                </a:solidFill>
                <a:latin typeface="Segoe UI"/>
              </a:rPr>
              <a:t>Four asks. Nothing else needed to start.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31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named executive sponsor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C-suite or direct report. Owns the AI CoE charter end-to-end.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measurable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6118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Cycle time, cost-to-serve, or FTE-hours per unit on the chosen workload.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690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signed 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4805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Azure Consumption commitment. Unlocks the funded landing zone and first three use-cases.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quarterly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3492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Sponsor + CISO + Internal Audit. Attestation evidence sampled and signed.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Next step: a 90-minute envisioning workshop. We bring the surfaces, the streams, and a draft charter.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Surface 1 — M365 Copilot: economics + adoption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Per-seat economics: $30/user/month commercial; ACO can offset against ACR commit on enterprise SKUs.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Adoption is the variable that determines ROI — not the licence price.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T&amp;M-measured recovery target: 1.0–1.5 hr/user/week by day 90; 2.0+ hr/user/week by month 6 in change-led cohorts.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Default offer: Copilot Adoption Acceleration ECIF + Champion network + 12-week measured rhythm.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Anchor accelerator: ACC-3 (M365 Copilot SOE Adoption Playbook).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97280"/>
            <a:ext cx="5303520" cy="48463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18872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Adoption rhythm (RSA reference cohort)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Sponsor brief, persona mapping, baseline T&amp;M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78892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3–6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8892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Champion training, scenario rollout, comms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74904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7–10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74904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Use-case clinics, exec dashboard, weekly KPI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70916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11–12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70916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Re-baseline T&amp;M, hand-off to BAU, MAICPP partner takes change-mgmt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Surface deep-dive — M365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Surface 2 — Copilot Studio: agent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Four patterns cover ~85% of first-agent customer demand in RSA: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Intent-routing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73736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Service-desk triage, HR FAQ. Containment 40-60% by month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Document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69748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78892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Policy lookups, regulator extracts, contract Q&amp;A. Grounded on Purview-labelled SharePoint.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4904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Process agent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5760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374904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Onboarding, leave, expense pre-check. Dataverse + Power Automate flow integration.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1772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Specialist 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61772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Loan pre-screen, claims pre-decision, KYC pre-check. HITL on every regulated output.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Surface deep-dive — Copilot 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50E6FF"/>
                </a:solidFill>
                <a:latin typeface="Segoe UI"/>
              </a:rPr>
              <a:t>Surface 3 — Azure AI Foundry: build-and-run with RAI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43200" cy="868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18872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Custom UI / API / embedded surfaces; reasoning trace surfaced to reviewer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27432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10312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Foundry prompt-flow, agent SDK, function calling, retrieval pipelines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2743200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10896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320040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Model mix: gpt-4o, gpt-4o-mini, Phi-3, fine-tuned specialists; routing by cost &amp; 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2743200" cy="868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Data &amp; grounding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11480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420624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AI Search, Cosmos DB vector, Purview lineage, region-pinned residency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27432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21208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Governance &amp; safety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512064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521208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Content Safety, Prompt Shields, Defender for Cloud AI, Purview AI Hub, eval harness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Surface deep-dive — Foundry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Stream 2 execution — the F1–F10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Envision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Landing zone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M365 rollout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59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59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799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Studio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Foundry pattern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Data &amp; RAG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Governance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Eval harness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59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59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59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799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Change &amp; adoption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2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Run &amp; FinOps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0B1F3A"/>
                </a:solidFill>
                <a:latin typeface="Segoe UI"/>
              </a:rPr>
              <a:t>Each F is a re-usable pattern with code, docs, and ECIF backing. Zero-cost to the customer through stream 2.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F1–F10 Factory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Stream 3 — Partner build-run via MAICPP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MAICPP funds partner-led envisioning, build, deployment, and adoption against named workloads.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RSA partner shortlist (12 named) qualified via AI-CoE-Partner-Scorecard.xlsx — coverage across BFSI, public sector, retail, telco, mining, healthcare.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Partner takes per-unit delivery risk in outcome-based archetypes (see Operating Playbook Addendum).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Microsoft retains the platform commitment; partner owns the run. Single CoE charter binds both.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Partner exit: 90-day notice on operational delivery; CoE charter and ATO remain with Microsoft.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Partner build-run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Sovereign AI for regulated buyers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017520" cy="12801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Data sovereignty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18872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32588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Residency in SA North / West; CMK in customer-controlled Key Vault; Purview lineage; region-pin via Azure Policy.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3017520" cy="12801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Operational sovereignty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74320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88036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RSA-based support &amp; operations; named clearance; partner-DPA addendum; AGSA-ready evidence pack.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3017520" cy="12801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Digital sovereignty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429768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443484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Microsoft Cloud for Sovereignty constructs; SLM/Phi options for sensitive workloads; open Foundry models for portability.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Full offer: AI-CoE-Sovereign-AI-RSA.pptx. Underlying platform: ACC-2 POPIA Landing Zone.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Sovereign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Governance &amp; RAI posture — four gates + the control plane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G1 Envision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18872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28016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Use-case registered, sponsor named, value hypothesis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G2 Pre-pilot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19456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28600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Impact assessment signed, controls selected, partner DPA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G3 Pre-production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20040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29184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Eval harness, HITL queue, kill-switch, Purview AI Hub onboarded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G4 Attestation (quarterly)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420624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29768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Controls re-verified, drift surfaced, AGSA-sample-ready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Full operating manual: AI-CoE-AI-Governance-Playbook.docx + AI-CoE-AI-Impact-Assessment.xlsx.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Governance &amp; RAI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KPI scaffold — what we measure every quarter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5029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Weekly active users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Use-cases in production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Champion network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486400" cy="5029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143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FTE-hrs recovered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Cost-per-unit decline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Cycle-time reduction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5486400" cy="5029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Segoe UI"/>
              </a:rPr>
              <a:t>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6908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Open RAI findings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Incident MTTR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Audit-sample pass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566160"/>
            <a:ext cx="5486400" cy="5029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Cost / FinOps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06908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206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$/query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$/user/month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Cache-hit &amp; routing efficiency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KPI scaffold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Reference customers — anonymised RSA + global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Global SI partner — NTT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Scaled M365 Copilot to 30,000+ knowledge workers; CoE-led adoption playbook.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Global SI partner — Capgemini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Foundry-built agent factory across BFSI clients; MAICPP economics.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RSA tier-1 bank (anonymised)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69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Contact-centre agent + KYC DocIntel; AGSA-ready evidence pack.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474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RSA SOE (anonymised)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069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160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Citizen-services agent + PFMA evidence trail; sovereign deployment SA North.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the 5+1 Pillars as coverage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Segoe UI"/>
              </a:rPr>
              <a:t>Used by the CoE to confirm an engagement covers every pillar. Not used as the customer-facing spine.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P1 Business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Value hypothesis, sponsor, baseline, target ROI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P2 Org &amp; Culture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Champion network, change-mgmt, role-based skilling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718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P3 AI Strategy &amp;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718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Surface choice, agent patterns, user-experience standards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118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6576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P4 Tech &amp;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6576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Landing zone, grounding data, integration, FinOps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976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976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P5 Governance &amp; 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3434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Four gates, RAI controls, attestation cadence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9834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0292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P+1 Co-sell &amp; Partner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292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MAICPP partner alignment, joint GTM, hand-off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Pillars coverage checklist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3-tier CoE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017520" cy="12801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T1 Foundational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28016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41732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Landing zone, governance baseline, first M365 SOE cohort, first agent. 0–6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39"/>
            <a:ext cx="3017520" cy="12801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T2 Scaling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834639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971799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Multi-surface agents in production, partner build-run live, factory rhythm established. 6–18 months.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3017520" cy="12801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T3 Industrialised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438912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452628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AI capability is a P&amp;L line; FinOps mature; sovereign posture; quarterly attestation routine. 18+ months.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Climb only as far as the customer's value hypothesis justifies. T3 is not the default goal.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CoE ladder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industry vertical briefings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Six sector-tailored 9-slide briefings, each naming regulators, top 3 use-cases, anonymised RSA reference, ATO sizing: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82880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Banking &amp; Insurance (SARB · FSCA · PA · FAIS · FICA)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82880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6596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Retail (POPIA · PCI-DSS · CPA · NCA)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01752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15468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Telco (ICASA · RICA · POPIA)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01752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01752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01752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315468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Mining (DMRE · MHSA · DFFE · NEMA)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20624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34340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Public Sector / SOE (PFMA · MFMA · AGSA · SITA)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20624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420624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20624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434340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Healthcare (HPCSA · CMS · NHI · SAHPRA)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Segoe UI"/>
              </a:rPr>
              <a:t>Files: AI-CoE-Sector-Briefing-{Banking-Insurance | Retail | Telco | Mining | Public-Sector | Healthcare}.pptx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Verticals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commercial archetypes (risk-share &amp; outcome-based)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Per-resolved-case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18872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28016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Service desk, claims, complaints. Unit price per case to SLA.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Per-document-processed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19456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28600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KYC, permits, contracts. Unit price per document, auditor sample.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Per-hour-recovered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20040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29184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Copilot adoption. Fee tied to T&amp;M-measured FTE-hour recovery.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Gain-share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420624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29768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% of audited P&amp;L uplift. CFO + Internal Audit + Legal sign-off.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Full archetype detail: AI-CoE-Operating-Playbook-Addendum.docx.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Commercial archetypes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Linked artefacts — the pack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Customer-facing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4680" y="146304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Customer-Pitch · Pitch-Deck · Executive-OnePager · Horizon-Assessment · Sovereign-AI-RSA · Sector briefings (×6)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19456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AI-Impact-Assessment.xlsx · AI-Governance-Playbook.docx · Academy-Curriculum.xlsx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4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Internal delivery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83464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292608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Operating-Playbook (+ Addendum) · Delivery-RACI · FY27-Launch-Plan · How-To-Use · VBD-Reference-Deck · Objection-Handling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5760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Economics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356616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365760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AI-TCO-Calculator.xlsx · Partner-Scorecard.xlsx · ATO economics slide (deck 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9768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8912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429768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438912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Partner-Recruitment-Kit · Partner-Scorecard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2920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12064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Accelerators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502920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512064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ACC-1 Banking CX · ACC-2 POPIA LZ · ACC-3 SOE Copilot · ACC-4 Regulated Pilot · ACC-5 DocIntel+Foundry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