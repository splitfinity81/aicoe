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/>
              <a:t>Opening. This is the Mining sector briefing - 9 slides, ~20 minutes. Spine: sector context -&gt; regulators -&gt; top 3 use-cases -&gt; reference architecture -&gt; sovereignty -&gt; ATO sizing -&gt; accelerators -&gt; next steps. Set expectation that we will name regulators, name use-cases, and name the ATO envelope. No abstractions.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/>
              <a:t>Sector context for Mining. Lead with the structural drivers from the slide. Translate market pressure into AI demand: which board-level metrics move when AI is applied here? Ask the room to validate or reorder the drivers - their answer informs which of the top 3 use-cases to lead with in slide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/>
              <a:t>Regulators and frameworks for Mining. Walk the sector-specific regulators first, then the cross-cutting frameworks (RAI v2, ISO 42001, NIST AI RMF). Land the point: every use-case in slide 4 is engineered to map to these controls. Governance is the spine, not a tax. If the buyer is a CRO or compliance officer, dwell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/>
              <a:t>The three named use-cases. For each: surface (M365 / Studio / Foundry), value range, what it does, key controls. Ask the room which one their executive sponsor would fund first - that is the workload for the pilot. Do not pitch all three; let them pick.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/>
              <a:t>Reference architecture for Mining. Five layers: experience, orchestration, reasoning and retrieval, data and grounding, governance. Stress the governance wrap - Purview, Defender, impact assessments, eval harness. Architecture is sector-tailored but built on the same CoE foundation, so partner delivery scales.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/>
              <a:t>Sovereignty posture for Mining. Map data residency, network segregation, key custody, and audit posture to this sector's specific regulators (named on slide 3). For regulated buyers, this slide alongside AI-CoE-Sovereign-AI-RSA.pptx is the unlock. ACC-2 POPIA Landing Zone is the underlying platform.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/>
              <a:t>ATO sizing for Mining. Walk the envelopes by phase: Envision workshop, pilot, scale. Numbers in USD; vehicles named (ECIF, MCI, MAICPP). The point: every phase has a funding vehicle, so the customer commits ACR and we fund the work around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/>
              <a:t>Pre-built CoE accelerators that compress weeks 1-8 for Mining. Point to ACC-2 POPIA Landing Zone, ACC-3 SOE Adoption Playbook, sector-specific patterns from accelerators/. These are what make 'first outcome by day 90' a default, not a stretch.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/>
              <a:t>Close. Three concrete next steps: book the Envision workshop ($50K ECIF); stand up the M365 SOE adoption path in parallel; reserve the lead agent build for the post-Envision window. Pair this briefing with the Pitch-Deck, Sovereign-AI deck, and Objection-Handling in the follow-up pack. Confirm sponsor and baseline before the meeting ends.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10789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50E6FF"/>
                </a:solidFill>
                <a:latin typeface="Segoe UI"/>
              </a:rPr>
              <a:t>AI Center of Excellence | Mining (RSA)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078992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Segoe UI"/>
              </a:rPr>
              <a:t>AI for safety, ESG reporting, and predictive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789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EAF4FB"/>
                </a:solidFill>
                <a:latin typeface="Segoe UI"/>
              </a:rPr>
              <a:t>Executive briefing | 9 slides | Internal seller reference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663440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EAF4FB"/>
                </a:solidFill>
                <a:latin typeface="Segoe UI"/>
              </a:rPr>
              <a:t>Yuri Baijnath - CSU Cloud &amp; AI Lead (South Africa), Microsoft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029200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Segoe UI"/>
              </a:rPr>
              <a:t>Version 1.0 | 2026-06-03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AI CoE | RSA Sector Briefing | Mining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Segoe UI"/>
              </a:rPr>
              <a:t>1 / 9</a:t>
            </a:r>
          </a:p>
        </p:txBody>
      </p:sp>
      <p:sp>
        <p:nvSpPr>
          <p:cNvPr id="13" name="AICOE_GEO_ACCENT_Right Triangle 12"/>
          <p:cNvSpPr/>
          <p:nvPr/>
        </p:nvSpPr>
        <p:spPr>
          <a:xfrm>
            <a:off x="11368735" y="445770"/>
            <a:ext cx="822960" cy="822960"/>
          </a:xfrm>
          <a:prstGeom prst="rtTriangl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AICOE_GEO_ACCENT_Right Triangle 13"/>
          <p:cNvSpPr/>
          <p:nvPr/>
        </p:nvSpPr>
        <p:spPr>
          <a:xfrm rot="10800000">
            <a:off x="11368735" y="2160270"/>
            <a:ext cx="822960" cy="822960"/>
          </a:xfrm>
          <a:prstGeom prst="rtTriangle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ICOE_GEO_ACCENT_Right Triangle 14"/>
          <p:cNvSpPr/>
          <p:nvPr/>
        </p:nvSpPr>
        <p:spPr>
          <a:xfrm>
            <a:off x="11368735" y="3874770"/>
            <a:ext cx="822960" cy="822960"/>
          </a:xfrm>
          <a:prstGeom prst="rtTriangle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ICOE_GEO_ACCENT_Right Triangle 15"/>
          <p:cNvSpPr/>
          <p:nvPr/>
        </p:nvSpPr>
        <p:spPr>
          <a:xfrm rot="5400000">
            <a:off x="11368735" y="5589270"/>
            <a:ext cx="822960" cy="822960"/>
          </a:xfrm>
          <a:prstGeom prst="rtTriangle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ICOE_GEO_ACCENT_Rectangle 16"/>
          <p:cNvSpPr/>
          <p:nvPr/>
        </p:nvSpPr>
        <p:spPr>
          <a:xfrm>
            <a:off x="11295583" y="0"/>
            <a:ext cx="73152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88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2. Sector context | what's driving AI in this 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0B1F3A"/>
                </a:solidFill>
                <a:latin typeface="Segoe UI"/>
              </a:rPr>
              <a:t>RSA mining: MHSA-driven safety obligation, ESG-driven disclosure obligation, capex-heavy operations where prediction is leverage.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>
                <a:solidFill>
                  <a:srgbClr val="0B1F3A"/>
                </a:solidFill>
                <a:latin typeface="Segoe UI"/>
              </a:rPr>
              <a:t>•  MHSA safety regime makes every incident regulator-actionable - AI must support, not replace, the SHE function.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0B1F3A"/>
                </a:solidFill>
                <a:latin typeface="Segoe UI"/>
              </a:rPr>
              <a:t>•  ESG disclosure (JSE + GRI + ISSB) is now data-intensive; AI co-pilots for sustainability reporting are board-priority.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0B1F3A"/>
                </a:solidFill>
                <a:latin typeface="Segoe UI"/>
              </a:rPr>
              <a:t>•  Predictive maintenance on haul trucks + crushers is the highest-ROI operations AI use-case.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0B1F3A"/>
                </a:solidFill>
                <a:latin typeface="Segoe UI"/>
              </a:rPr>
              <a:t>•  Geological reasoning agents over historical core + assay data shorten exploration cycles.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0B1F3A"/>
                </a:solidFill>
                <a:latin typeface="Segoe UI"/>
              </a:rPr>
              <a:t>•  Workforce safety: edge AI for hazard detection (PPE, exclusion zones) is mature; cloud is for reasoning + reporting.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0B1F3A"/>
                </a:solidFill>
                <a:latin typeface="Segoe UI"/>
              </a:rPr>
              <a:t>•  DMRE oversight is data-driven - regulator engagement increasingly relies on auditable submissions.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AI CoE | RSA Sector Briefing | Mining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Segoe UI"/>
              </a:rPr>
              <a:t>2 / 9</a:t>
            </a:r>
          </a:p>
        </p:txBody>
      </p:sp>
      <p:sp>
        <p:nvSpPr>
          <p:cNvPr id="10" name="AICOE_GEO_ACCENT_Right Triangle 9"/>
          <p:cNvSpPr/>
          <p:nvPr/>
        </p:nvSpPr>
        <p:spPr>
          <a:xfrm rot="5400000">
            <a:off x="11761927" y="109728"/>
            <a:ext cx="320040" cy="320040"/>
          </a:xfrm>
          <a:prstGeom prst="rtTriangl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ICOE_GEO_ACCENT_Right Triangle 10"/>
          <p:cNvSpPr/>
          <p:nvPr/>
        </p:nvSpPr>
        <p:spPr>
          <a:xfrm rot="5400000">
            <a:off x="11873941" y="109728"/>
            <a:ext cx="208026" cy="208026"/>
          </a:xfrm>
          <a:prstGeom prst="rtTriangle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88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3. Regulators &amp; frameworks | what governs the AI use-case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22960"/>
            <a:ext cx="5669280" cy="4572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877824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Sector regulators (RSA)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DMRE (Department of Mineral Resources &amp; Energy)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MHSA (Mine Health &amp; Safety Act) - DMR Inspectorate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AGSA - if state-affiliated entity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DFFE - environmental authorisation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Information Regulator - POPIA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JSE / ISSB - sustainability disclosure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822960"/>
            <a:ext cx="5669280" cy="45720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877824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Cross-cutting frameworks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3716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Microsoft RAI v2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ISO/IEC 42001:2023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ISO 45001 + 14001 (SHE)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GRI Standards + ISSB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NIST AI RMF 1.0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Microsoft Industry Cloud (Sustainability + Mining patterns)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AI CoE | RSA Sector Briefing | Mining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Segoe UI"/>
              </a:rPr>
              <a:t>3 / 9</a:t>
            </a:r>
          </a:p>
        </p:txBody>
      </p:sp>
      <p:sp>
        <p:nvSpPr>
          <p:cNvPr id="14" name="AICOE_GEO_ACCENT_Right Triangle 13"/>
          <p:cNvSpPr/>
          <p:nvPr/>
        </p:nvSpPr>
        <p:spPr>
          <a:xfrm rot="5400000">
            <a:off x="11761927" y="109728"/>
            <a:ext cx="320040" cy="320040"/>
          </a:xfrm>
          <a:prstGeom prst="rtTriangl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ICOE_GEO_ACCENT_Right Triangle 14"/>
          <p:cNvSpPr/>
          <p:nvPr/>
        </p:nvSpPr>
        <p:spPr>
          <a:xfrm rot="5400000">
            <a:off x="11873941" y="109728"/>
            <a:ext cx="208026" cy="208026"/>
          </a:xfrm>
          <a:prstGeom prst="rtTriangle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88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4. Top 3 named AI use-cases for this sector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22960"/>
            <a:ext cx="3749039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886968"/>
            <a:ext cx="3566159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Safety &amp; ESG reporting co-pilot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3749039" cy="493776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3474719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42A9B"/>
                </a:solidFill>
                <a:latin typeface="Segoe UI"/>
              </a:rPr>
              <a:t>Surface: M365 Copilot + Foundry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920240"/>
            <a:ext cx="3474719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Value: Reporting cycle 60% faster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468880"/>
            <a:ext cx="3474719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What it does: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788920"/>
            <a:ext cx="3474719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Synthesise incident + observation data</a:t>
            </a:r>
          </a:p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Draft DMRE submissions with citations</a:t>
            </a:r>
          </a:p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GRI / ISSB-aligned narrative drafting</a:t>
            </a:r>
          </a:p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Trend reasoning over 12-month window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120640"/>
            <a:ext cx="3474719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Key controls: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440680"/>
            <a:ext cx="347471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Reasoning trace; SHE-officer HITL; Purview AI Hub log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59" y="822960"/>
            <a:ext cx="3749039" cy="54864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399" y="886968"/>
            <a:ext cx="3566159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Predictive maintenance reasoning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59" y="1371600"/>
            <a:ext cx="3749039" cy="493776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19" y="1463040"/>
            <a:ext cx="3474719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42A9B"/>
                </a:solidFill>
                <a:latin typeface="Segoe UI"/>
              </a:rPr>
              <a:t>Surface: Foundry + IoT + Fabric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19" y="1920240"/>
            <a:ext cx="3474719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Value: Unplanned downtime -25%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19" y="2468880"/>
            <a:ext cx="3474719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What it does: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19" y="2788920"/>
            <a:ext cx="3474719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Telemetry pattern synthesis (vibration / heat / load)</a:t>
            </a:r>
          </a:p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Failure-mode hypothesis with confidence</a:t>
            </a:r>
          </a:p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Work-order draft for planner</a:t>
            </a:r>
          </a:p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Spares pre-positioning recommendation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19" y="5120640"/>
            <a:ext cx="3474719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Key controls: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19" y="5440680"/>
            <a:ext cx="347471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HITL on shutdown decision; Defender posture; cost guard-rails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38158" y="822960"/>
            <a:ext cx="3749039" cy="54864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8" y="886968"/>
            <a:ext cx="3566159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0B1F3A"/>
                </a:solidFill>
                <a:latin typeface="Segoe UI"/>
              </a:rPr>
              <a:t>Geological reasoning agent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8158" y="1371600"/>
            <a:ext cx="3749039" cy="493776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75318" y="1463040"/>
            <a:ext cx="3474719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42A9B"/>
                </a:solidFill>
                <a:latin typeface="Segoe UI"/>
              </a:rPr>
              <a:t>Surface: Azure AI Foundry over IP-protected corpus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8" y="1920240"/>
            <a:ext cx="3474719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Value: Exploration cycle 30% shorter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8" y="2468880"/>
            <a:ext cx="3474719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What it does: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18" y="2788920"/>
            <a:ext cx="3474719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Historical core + assay synthesis</a:t>
            </a:r>
          </a:p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Drill-target recommendation with rationale</a:t>
            </a:r>
          </a:p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Resource-classification co-pilot for CRIRSCO / SAMREC</a:t>
            </a:r>
          </a:p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Cross-tenement comparison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18" y="5120640"/>
            <a:ext cx="3474719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Key controls: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18" y="5440680"/>
            <a:ext cx="347471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IP-sensitive corpus in CMK-encrypted store; reasoning trace; restricted access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AI CoE | RSA Sector Briefing | Mining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Segoe UI"/>
              </a:rPr>
              <a:t>4 / 9</a:t>
            </a:r>
          </a:p>
        </p:txBody>
      </p:sp>
      <p:sp>
        <p:nvSpPr>
          <p:cNvPr id="35" name="AICOE_GEO_ACCENT_Right Triangle 34"/>
          <p:cNvSpPr/>
          <p:nvPr/>
        </p:nvSpPr>
        <p:spPr>
          <a:xfrm rot="5400000">
            <a:off x="11761927" y="109728"/>
            <a:ext cx="320040" cy="320040"/>
          </a:xfrm>
          <a:prstGeom prst="rtTriangl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AICOE_GEO_ACCENT_Right Triangle 35"/>
          <p:cNvSpPr/>
          <p:nvPr/>
        </p:nvSpPr>
        <p:spPr>
          <a:xfrm rot="5400000">
            <a:off x="11873941" y="109728"/>
            <a:ext cx="208026" cy="208026"/>
          </a:xfrm>
          <a:prstGeom prst="rtTriangle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88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5. Sample 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0B1F3A"/>
                </a:solidFill>
                <a:latin typeface="Segoe UI"/>
              </a:rPr>
              <a:t>Five-layer reference: SHE + ops + geology surfaces over agents over telemetry + ERP + IP corpus.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2743200" cy="96012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554480"/>
            <a:ext cx="24688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Experience layer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1280160"/>
            <a:ext cx="8595360" cy="96012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37560" y="1463040"/>
            <a:ext cx="832104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M365 Copilot for SHE + reporting; Power Apps for incident capture; Teams for shift handover.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313432"/>
            <a:ext cx="2743200" cy="96012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587752"/>
            <a:ext cx="24688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Orchestration / agents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2313432"/>
            <a:ext cx="8595360" cy="96012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7560" y="2496312"/>
            <a:ext cx="832104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Foundry agents for predictive + geological reasoning; Copilot Studio for SHE intents.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346704"/>
            <a:ext cx="2743200" cy="96012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621024"/>
            <a:ext cx="24688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0B1F3A"/>
                </a:solidFill>
                <a:latin typeface="Segoe UI"/>
              </a:rPr>
              <a:t>Reasoning &amp; retrieval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3346704"/>
            <a:ext cx="8595360" cy="96012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37560" y="3529584"/>
            <a:ext cx="832104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gpt-4o for geological reasoning; gpt-4o-mini default; vector index over IP-protected corpus.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379976"/>
            <a:ext cx="2743200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654296"/>
            <a:ext cx="24688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Data foundation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0" y="4379976"/>
            <a:ext cx="8595360" cy="96012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37560" y="4562856"/>
            <a:ext cx="832104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Fabric + Synapse + Event Hubs (IoT); SAP / ERP via APIM; CMK-encrypted IP corpus.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413248"/>
            <a:ext cx="2743200" cy="96012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5687568"/>
            <a:ext cx="24688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Governance &amp; security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0" y="5413248"/>
            <a:ext cx="8595360" cy="96012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37560" y="5596128"/>
            <a:ext cx="832104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Purview AI Hub; Defender for Cloud AI; MHSA + ISO 45001 + 14001 controls.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AI CoE | RSA Sector Briefing | Mining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Segoe UI"/>
              </a:rPr>
              <a:t>5 / 9</a:t>
            </a:r>
          </a:p>
        </p:txBody>
      </p:sp>
      <p:sp>
        <p:nvSpPr>
          <p:cNvPr id="29" name="AICOE_GEO_ACCENT_Right Triangle 28"/>
          <p:cNvSpPr/>
          <p:nvPr/>
        </p:nvSpPr>
        <p:spPr>
          <a:xfrm rot="5400000">
            <a:off x="11761927" y="109728"/>
            <a:ext cx="320040" cy="320040"/>
          </a:xfrm>
          <a:prstGeom prst="rtTriangl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AICOE_GEO_ACCENT_Right Triangle 29"/>
          <p:cNvSpPr/>
          <p:nvPr/>
        </p:nvSpPr>
        <p:spPr>
          <a:xfrm rot="5400000">
            <a:off x="11873941" y="109728"/>
            <a:ext cx="208026" cy="208026"/>
          </a:xfrm>
          <a:prstGeom prst="rtTriangle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88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6. Sovereignty &amp; governance posture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0B1F3A"/>
                </a:solidFill>
                <a:latin typeface="Segoe UI"/>
              </a:rPr>
              <a:t>IP protection on geological data + MHSA on safety: sovereignty is operational, not optional.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SA North + SA West dual-region; geological IP in CMK-encrypted store with private endpoints.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Foundry data-zone scoping for SA-resident operational data.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Reasoning trace for DMRE + AGSA + audit firm review.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Defender for Cloud AI surfaces shadow-AI in engineering tools.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Quarterly attestation via the Impact Assessment workbook.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Air-gapped option (sovereign AI cloud) available for state-affiliated operators.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AI CoE | RSA Sector Briefing | Mining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Segoe UI"/>
              </a:rPr>
              <a:t>6 / 9</a:t>
            </a:r>
          </a:p>
        </p:txBody>
      </p:sp>
      <p:sp>
        <p:nvSpPr>
          <p:cNvPr id="10" name="AICOE_GEO_ACCENT_Right Triangle 9"/>
          <p:cNvSpPr/>
          <p:nvPr/>
        </p:nvSpPr>
        <p:spPr>
          <a:xfrm rot="5400000">
            <a:off x="11761927" y="109728"/>
            <a:ext cx="320040" cy="320040"/>
          </a:xfrm>
          <a:prstGeom prst="rtTriangl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ICOE_GEO_ACCENT_Right Triangle 10"/>
          <p:cNvSpPr/>
          <p:nvPr/>
        </p:nvSpPr>
        <p:spPr>
          <a:xfrm rot="5400000">
            <a:off x="11873941" y="109728"/>
            <a:ext cx="208026" cy="208026"/>
          </a:xfrm>
          <a:prstGeom prst="rtTriangle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88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7. Engagement shape | ATO sizing &amp; funding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22960"/>
            <a:ext cx="2560320" cy="45720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886968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Segoe UI"/>
              </a:rPr>
              <a:t>Phase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0" y="822960"/>
            <a:ext cx="2926080" cy="45720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17520" y="886968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Segoe UI"/>
              </a:rPr>
              <a:t>Vehicle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822960"/>
            <a:ext cx="2011680" cy="45720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0" y="886968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Segoe UI"/>
              </a:rPr>
              <a:t>Envelope (USD)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63840" y="822960"/>
            <a:ext cx="4297680" cy="45720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0" y="886968"/>
            <a:ext cx="42976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Segoe UI"/>
              </a:rPr>
              <a:t>Output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280160"/>
            <a:ext cx="256032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1371600"/>
            <a:ext cx="24231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Envision workshop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26080" y="1280160"/>
            <a:ext cx="292608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17520" y="1371600"/>
            <a:ext cx="2788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Pre-sales ECIF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52160" y="1280160"/>
            <a:ext cx="201168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1371600"/>
            <a:ext cx="1874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50,000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63840" y="1280160"/>
            <a:ext cx="429768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80" y="1371600"/>
            <a:ext cx="4160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Safety + ops + geology shortlist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1828800"/>
            <a:ext cx="256032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1920240"/>
            <a:ext cx="24231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Safety/ESG co-pilot (8 wk)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26080" y="1828800"/>
            <a:ext cx="292608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17520" y="1920240"/>
            <a:ext cx="2788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ECIF + ACO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52160" y="1828800"/>
            <a:ext cx="201168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0" y="1920240"/>
            <a:ext cx="1874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250,000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0" y="1828800"/>
            <a:ext cx="429768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5280" y="1920240"/>
            <a:ext cx="4160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Reporting cycle prototype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2377440"/>
            <a:ext cx="256032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2468880"/>
            <a:ext cx="24231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Predictive maintenance (12 wk)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26080" y="2377440"/>
            <a:ext cx="292608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17520" y="2468880"/>
            <a:ext cx="2788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ATO + partner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52160" y="2377440"/>
            <a:ext cx="201168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0" y="2468880"/>
            <a:ext cx="1874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500,000-1,000,000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63840" y="2377440"/>
            <a:ext cx="429768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55280" y="2468880"/>
            <a:ext cx="4160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Pilot on 1 site / 1 fleet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2926080"/>
            <a:ext cx="256032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3017520"/>
            <a:ext cx="24231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Geological pilot (12 wk)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926080" y="2926080"/>
            <a:ext cx="292608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017520" y="3017520"/>
            <a:ext cx="2788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ATO + partner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852160" y="2926080"/>
            <a:ext cx="201168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0" y="3017520"/>
            <a:ext cx="1874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500,000-1,000,000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63840" y="2926080"/>
            <a:ext cx="429768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55280" y="3017520"/>
            <a:ext cx="4160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Reasoning agent over 1 tenement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474720"/>
            <a:ext cx="256032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3566160"/>
            <a:ext cx="24231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Production run-rate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926080" y="3474720"/>
            <a:ext cx="292608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017520" y="3566160"/>
            <a:ext cx="2788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MAICPP + partner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852160" y="3474720"/>
            <a:ext cx="201168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943600" y="3566160"/>
            <a:ext cx="1874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by partner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63840" y="3474720"/>
            <a:ext cx="429768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955280" y="3566160"/>
            <a:ext cx="4160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Scale + FinOps + governance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5029200"/>
            <a:ext cx="11430000" cy="45720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02920" y="5093208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Segoe UI"/>
              </a:rPr>
              <a:t>Anonymised reference: SA-listed diversified miner - safety + ESG reporting co-pilot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920" y="5577840"/>
            <a:ext cx="1124712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DMRE submission cycle reduced from 14 to 5 days; SHE-officer satisfaction up; auditor-sample pass-rate 100%. Reference under NDA via account team.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AI CoE | RSA Sector Briefing | Mining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Segoe UI"/>
              </a:rPr>
              <a:t>7 / 9</a:t>
            </a:r>
          </a:p>
        </p:txBody>
      </p:sp>
      <p:sp>
        <p:nvSpPr>
          <p:cNvPr id="59" name="AICOE_GEO_ACCENT_Right Triangle 58"/>
          <p:cNvSpPr/>
          <p:nvPr/>
        </p:nvSpPr>
        <p:spPr>
          <a:xfrm rot="5400000">
            <a:off x="11761927" y="109728"/>
            <a:ext cx="320040" cy="320040"/>
          </a:xfrm>
          <a:prstGeom prst="rtTriangl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AICOE_GEO_ACCENT_Right Triangle 59"/>
          <p:cNvSpPr/>
          <p:nvPr/>
        </p:nvSpPr>
        <p:spPr>
          <a:xfrm rot="5400000">
            <a:off x="11873941" y="109728"/>
            <a:ext cx="208026" cy="208026"/>
          </a:xfrm>
          <a:prstGeom prst="rtTriangle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88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8. Anchored accelerators (from accelerators/)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0B1F3A"/>
                </a:solidFill>
                <a:latin typeface="Segoe UI"/>
              </a:rPr>
              <a:t>Pre-built CoE assets that compress weeks 1-8 of pilot delivery for this sector.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ACC-3 M365 Copilot SOE Adoption - the SHE-team adoption path.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ACC-2 POPIA Landing Zone - foundation for personal + operational data.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ACC-4 Regulated-Industry Pilot Kit - DMRE + MHSA scoping.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ACC-5 DocIntel + Foundry Pattern - incident-report processing.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AI-CoE-AI-Impact-Assessment.xlsx - per-use-case governance.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AI-CoE-AI-TCO-Calculator.xlsx - cost forecast for IoT-driven workloads.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AI CoE | RSA Sector Briefing | Mining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Segoe UI"/>
              </a:rPr>
              <a:t>8 / 9</a:t>
            </a:r>
          </a:p>
        </p:txBody>
      </p:sp>
      <p:sp>
        <p:nvSpPr>
          <p:cNvPr id="10" name="AICOE_GEO_ACCENT_Right Triangle 9"/>
          <p:cNvSpPr/>
          <p:nvPr/>
        </p:nvSpPr>
        <p:spPr>
          <a:xfrm rot="5400000">
            <a:off x="11761927" y="109728"/>
            <a:ext cx="320040" cy="320040"/>
          </a:xfrm>
          <a:prstGeom prst="rtTriangl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ICOE_GEO_ACCENT_Right Triangle 10"/>
          <p:cNvSpPr/>
          <p:nvPr/>
        </p:nvSpPr>
        <p:spPr>
          <a:xfrm rot="5400000">
            <a:off x="11873941" y="109728"/>
            <a:ext cx="208026" cy="208026"/>
          </a:xfrm>
          <a:prstGeom prst="rtTriangle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914400"/>
            <a:ext cx="10789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50E6FF"/>
                </a:solidFill>
                <a:latin typeface="Segoe UI"/>
              </a:rPr>
              <a:t>9. What to do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1078992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Safety + ESG first - the regulator wins fund the operations build.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08960"/>
            <a:ext cx="107899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EAF4FB"/>
                </a:solidFill>
                <a:latin typeface="Segoe UI"/>
              </a:rPr>
              <a:t>•  Book the Envision workshop ($50K ECIF).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EAF4FB"/>
                </a:solidFill>
                <a:latin typeface="Segoe UI"/>
              </a:rPr>
              <a:t>•  Anchor on safety + ESG co-pilot - DMRE-facing wins compound.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EAF4FB"/>
                </a:solidFill>
                <a:latin typeface="Segoe UI"/>
              </a:rPr>
              <a:t>•  Sequence predictive maintenance once IoT telemetry is in Fabric.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EAF4FB"/>
                </a:solidFill>
                <a:latin typeface="Segoe UI"/>
              </a:rPr>
              <a:t>•  Reserve geological reasoning for tenement-by-tenement rollout; IP controls first.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43600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Segoe UI"/>
              </a:rPr>
              <a:t>Pair with: AI-CoE-Pitch-Deck.pptx | AI-CoE-Sovereign-AI-RSA.pptx | AI-CoE-Objection-Handling.pptx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AI CoE | RSA Sector Briefing | Mining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Segoe UI"/>
              </a:rPr>
              <a:t>9 / 9</a:t>
            </a:r>
          </a:p>
        </p:txBody>
      </p:sp>
      <p:sp>
        <p:nvSpPr>
          <p:cNvPr id="12" name="AICOE_GEO_ACCENT_Right Triangle 11"/>
          <p:cNvSpPr/>
          <p:nvPr/>
        </p:nvSpPr>
        <p:spPr>
          <a:xfrm rot="5400000">
            <a:off x="11761927" y="109728"/>
            <a:ext cx="320040" cy="320040"/>
          </a:xfrm>
          <a:prstGeom prst="rtTriangl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AICOE_GEO_ACCENT_Right Triangle 12"/>
          <p:cNvSpPr/>
          <p:nvPr/>
        </p:nvSpPr>
        <p:spPr>
          <a:xfrm rot="5400000">
            <a:off x="11873941" y="109728"/>
            <a:ext cx="208026" cy="208026"/>
          </a:xfrm>
          <a:prstGeom prst="rtTriangle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