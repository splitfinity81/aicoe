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651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 min). Welcome the room. Confirm who is present (CEO, COO, CFO, CIO, Group Exec for Generation/Transmission/Distribution, Chief People Officer, Risk/Audit). State the goal of the next 40 minutes very plainly: 'Eskom has put 20,000 Copilot seats into the hands of your people. The question we want to answer together today is: how do you turn that investment into measurable, governed business value across the generation, transmission, and distribution business — and avoid the pattern that traps most enterprises after a large AI deployment.' Acknowledge the operating context — energy availability, the recovery agenda, the scale of the workforce and asset base, and the public accountability that frames every Eskom decision. Promise: 'I will spend 40 minutes; I will leave 20 for your questions; I will not pitch you a product.' Land the close: 'I want to leave with one decision today — whether we run a half-day discovery workshop in the next four weeks.'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(4 min). Lead with what Eskom has already done — 20,000 Copilot seats live is one of the largest single-tenant Copilot deployments in South Africa. That is not a small thing. Then introduce the trap: industry research is consistent that 60% of organisations are reaping hardly any material value despite substantial AI spend; two-thirds have not yet begun to scale beyond pilots. The reason is almost never the technology. It is the operating model — strategy, organisation, data, governance, partner ecosystem. Pause on this line: 'The gap between deploying AI and scaling AI is the single biggest determinant of whether your investment compounds or quietly disappears.' Then tie it to the audience in the room: 'You have the licences. You have the data. You have the workforce. The question is whether the operating model around them is built to scale value at the same speed your competitors are scaling theirs.' If the audience nods, you have your opening.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PATTERNS FOR A UTILITY (5 min). Walk the six patterns and tie each to an Eskom function. (1) ASSET HEALTH &amp; PREDICTIVE MAINTENANCE — vibration, thermal, oil-analysis, SCADA telemetry feeding models that predict boiler-tube failures, transformer faults, and turbine deratings before they take a unit offline. Connect to EAF and unplanned-outage targets. (2) GRID OPS &amp; DEMAND FORECASTING — load-forecasting and renewables-integration models for the System Operator; agentic dispatch decision support across the national grid. (3) CUSTOMER &amp; DISPUTE RESOLUTION — agents that resolve billing queries, electrification applications, and large-power-user disputes; reduces handle time and escalations. (4) FIELD WORKFORCE PRODUCTIVITY — Copilot in Teams for outage crews; agents that draft work orders, pull SOPs, and capture incident reports. (5) AUDIT, COMPLIANCE &amp; REGULATORY REPORTING — agents that draft NERSA submissions, compile audit packs, and surface PFMA exceptions. (6) PROCUREMENT &amp; SUPPLIER RISK — anomaly detection and supplier-due-diligence agents to address the SIU and Auditor-General focus areas. Then PAUSE: 'Of these six, which two would matter most to this leadership team in the next 12 months?' Listen. Whatever they pick becomes the centre of gravity for the rest of the briefing.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PROPOSE (4 min). Introduce the AI Centre of Excellence. Not a team, not a tool — a structural operating model that sits inside Eskom and answers a single question: how do you scale AI across Generation, Transmission, and Distribution under one governance model the country can trust. Walk the 5+1 pillars: (1) Business Strategy — AI tied to Eskom's recovery and operational KPIs (EAF, unplanned outages, debtors' book, time-to-connect), not technology vanity metrics; (2) Organisation &amp; Culture — AI fluency across the workforce, not just the IT function; (3) AI Strategy &amp; Experience — a managed portfolio of use cases with prioritisation, gates, and value capture; (4) Technology &amp; Data — a unified data platform that works across all Eskom divisions, with the right surfaces on top; (5) Governance &amp; Security — Responsible AI, POPIA, PFMA, NERSA-grade controls; (+1) Partner — Microsoft and a specialist partner sitting INSIDE the operating model, not next to it. Land the message: 'A CoE is the difference between 20,000 people using AI and an enterprise running on 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AI SURFACES (4 min). Eskom needs more than M365 Copilot. Three surfaces work together. (1) M365 COPILOT — already deployed; productivity gains in Outlook, Teams, Word, Excel for 20,000 seats. The question now is adoption depth, not access. (2) COPILOT STUDIO — custom agents that sit on Eskom data and Eskom workflows: the work-order agent for field teams, the dispute-resolution agent for the contact centre, the procurement-due-diligence agent for SCM, the SOP agent for plant operations. These are built on Microsoft Graph, Dataverse, and your existing line-of-business connectors — typically delivered in weeks, not quarters. (3) AZURE AI FOUNDRY — bespoke models and agentic workflows where the value is industry-specific: predictive-maintenance models on plant telemetry, demand-forecasting models for the System Operator, vision models for substation inspections, RAG over decades of engineering documentation. Frame the staging clearly: surfaces 2 and 3 are how Copilot stops being a productivity tool and becomes a business 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 JOURNEY (4 min). Show the staircase. H0 = pre-deployment. H1 = initial — Copilot live, scattered pilots, no measured value. H2 = departmental scale — agents in production in two or three line-of-business areas, governance live, value being measured. H3 = enterprise — AI is a board-level value driver, the agent portfolio runs production workflows end to end, and Responsible AI is audit-grade. Be honest about where Eskom likely sits TODAY: 'With 20,000 seats live but no agent portfolio in production yet, you are between H1 and H2.' Then ASK: 'Where on this staircase does the executive team want Eskom to be at the end of the next financial year?' Listen. The honest answer from most utilities is H2, with three or four anchor workflows running in production by then. Use that target to bridge to slide 7 — at H2 and above, governance is the constraint, not the technology. So we have to talk about governance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 THE EARLIEST CONVERSATION (4 min). For an SOE, governance is not the last conversation. It is the first. Walk the framework. (1) DATA RESIDENCY &amp; SOVEREIGNTY — your data stays in Microsoft's South Africa North/West regions; POPIA compliance is engineered in, not bolted on. (2) PURVIEW AI HUB — every prompt, every response, every agent action is monitored, attributable, and audit-reviewable. Sensitivity labels and oversharing assessments are foundational — done before agents touch sensitive data. (3) AGENT INVENTORY &amp; MODEL RISK REGISTER — every agent and model in production has an owner, a risk classification, a review cadence, and a kill-switch. This is the artefact NERSA, the Auditor-General, and the Audit &amp; Risk Committee will ask for. (4) RESPONSIBLE AI COUNCIL — chaired at the executive level, populated by Risk, Legal, Internal Audit, Cyber, HR, and Operations. Reviews high-risk use cases before deployment. (5) HUMAN-IN-THE-LOOP rules — codified for every category of decision an agent can support. The message: 'The reason this offering is appropriate for Eskom — and not every AI offering is — is that we lead with governance.'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DELIVER (4 min). One journey. Five phases — each with a defined exit gate before the next phase begins. DISCOVER: a half-day to score readiness across the 5+1 pillars and place Eskom on the Horizon ladder. DESIGN: charter the CoE, prioritise use cases, name a single executive sponsor. BUILD: stand up the Azure AI landing zone and deliver a first agent in production in 8–12 weeks. REALISE: scale across two to three line-of-business areas with measured value. EVOLVE: federate the CoE so each Eskom division can run its own agent portfolio under common governance. THREE TEAMS deliver this. (a) Microsoft architects co-design and govern alongside your team. (b) Microsoft engineering delivers your foundation — a GenAI assistant MVP and the Azure landing zone — at no cost to Eskom. (c) A specialist partner brings utility industry depth — typically a partner who has delivered for utilities globally — and sits inside the joint plan. Then the co-investment line: 'Microsoft funds the envisioning workshop, funds the foundation build, and shares investment in your first pilot to value. We are committing capital to your success, not just licences.'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(4 min). We agree leading and lagging indicators BEFORE the build phase begins. LEADING — CoE health: governance cadence (RAI reviews held), skilling completions vs plan, use-case pipeline by stage, champion network active in the priority Eskom divisions. LAGGING — business impact: production AI workloads in service (asset-health models, grid-forecasting models, dispute-resolution agents); adoption (monthly active users) in priority workflows; cost-out and revenue-up per use case (e.g., reduction in unplanned-outage hours, reduction in dispute-resolution time, supplier-due-diligence cycle time); employee NSAT and time-saved metrics. All of this lands in a Power BI value-realisation dashboard reviewed at every CoE steering committee. The summary line: 'A live Horizon position — one number, jointly tracked by your team and ours, reported at every Audit &amp; Risk Committee.' For a SOE this is non-negotiable — the value story has to be defensible to Parliament, to NERSA, and to the Auditor-General.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(4 min, then 20 min Q&amp;A). The ask is specific and time-bound: 'Approve a half-day discovery workshop in the next four weeks. We will bring a Microsoft architect and a shortlist of specialist partners. You will walk out with a scored CoE readiness map, your Horizon position today, the named next gate to clear in 90 days, and the Microsoft co-investment available to you.' Name the date in the room — do not leave without it. Three things to do before the workshop: (1) Eskom names a single executive sponsor — typically Group Chief Information Officer or COO, not the AI lead; (2) Eskom names two or three priority business areas to scope the pilot use cases; (3) Microsoft runs the partner shortlist past Eskom procurement so it lands inside your supplier framework. Then turn the floor over for 20 minutes of questions. Listen for: where they think the value gap is greatest, who in the room has the strongest concerns about governance, and which divisions are most ready to absorb the first agents. Those answers tell you how to scope the workshop.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sp>
        <p:nvSpPr>
          <p:cNvPr id="2" name="Shape 0"/>
          <p:cNvSpPr/>
          <p:nvPr/>
        </p:nvSpPr>
        <p:spPr>
          <a:xfrm>
            <a:off x="0" y="4937760"/>
            <a:ext cx="12191695" cy="73152"/>
          </a:xfrm>
          <a:prstGeom prst="rect">
            <a:avLst/>
          </a:prstGeom>
          <a:solidFill>
            <a:srgbClr val="C03BC4"/>
          </a:solidFill>
          <a:ln/>
        </p:spPr>
        <p:txBody>
          <a:bodyPr/>
          <a:lstStyle/>
          <a:p>
            <a:endParaRPr lang="en-ZA"/>
          </a:p>
        </p:txBody>
      </p:sp>
      <p:sp>
        <p:nvSpPr>
          <p:cNvPr id="3" name="Shape 1"/>
          <p:cNvSpPr/>
          <p:nvPr/>
        </p:nvSpPr>
        <p:spPr>
          <a:xfrm>
            <a:off x="0" y="5074920"/>
            <a:ext cx="3657509" cy="27432"/>
          </a:xfrm>
          <a:prstGeom prst="rect">
            <a:avLst/>
          </a:prstGeom>
          <a:solidFill>
            <a:srgbClr val="702573"/>
          </a:solidFill>
          <a:ln/>
        </p:spPr>
        <p:txBody>
          <a:bodyPr/>
          <a:lstStyle/>
          <a:p>
            <a:endParaRPr lang="en-ZA"/>
          </a:p>
        </p:txBody>
      </p:sp>
      <p:pic>
        <p:nvPicPr>
          <p:cNvPr id="4" name="Image 0" descr="assets/microsoft-mark.png"/>
          <p:cNvPicPr>
            <a:picLocks noChangeAspect="1"/>
          </p:cNvPicPr>
          <p:nvPr/>
        </p:nvPicPr>
        <p:blipFill>
          <a:blip r:embed="rId3"/>
          <a:stretch>
            <a:fillRect/>
          </a:stretch>
        </p:blipFill>
        <p:spPr>
          <a:xfrm>
            <a:off x="822960" y="502920"/>
            <a:ext cx="457200" cy="457200"/>
          </a:xfrm>
          <a:prstGeom prst="rect">
            <a:avLst/>
          </a:prstGeom>
        </p:spPr>
      </p:pic>
      <p:sp>
        <p:nvSpPr>
          <p:cNvPr id="5" name="Text 2"/>
          <p:cNvSpPr/>
          <p:nvPr/>
        </p:nvSpPr>
        <p:spPr>
          <a:xfrm>
            <a:off x="1371600" y="502920"/>
            <a:ext cx="2743200" cy="457200"/>
          </a:xfrm>
          <a:prstGeom prst="rect">
            <a:avLst/>
          </a:prstGeom>
          <a:noFill/>
          <a:ln/>
        </p:spPr>
        <p:txBody>
          <a:bodyPr wrap="square" rtlCol="0" anchor="ctr"/>
          <a:lstStyle/>
          <a:p>
            <a:pPr marL="0" indent="0">
              <a:buNone/>
            </a:pPr>
            <a:r>
              <a:rPr lang="en-US" sz="2200" b="1" dirty="0">
                <a:solidFill>
                  <a:srgbClr val="FFFFFF"/>
                </a:solidFill>
                <a:latin typeface="Segoe UI" pitchFamily="34" charset="0"/>
                <a:ea typeface="Segoe UI" pitchFamily="34" charset="-122"/>
                <a:cs typeface="Segoe UI" pitchFamily="34" charset="-120"/>
              </a:rPr>
              <a:t>Microsoft</a:t>
            </a:r>
            <a:endParaRPr lang="en-US" sz="2200" dirty="0"/>
          </a:p>
        </p:txBody>
      </p:sp>
      <p:sp>
        <p:nvSpPr>
          <p:cNvPr id="6" name="Text 3"/>
          <p:cNvSpPr/>
          <p:nvPr/>
        </p:nvSpPr>
        <p:spPr>
          <a:xfrm>
            <a:off x="822960" y="1234440"/>
            <a:ext cx="10972800" cy="320040"/>
          </a:xfrm>
          <a:prstGeom prst="rect">
            <a:avLst/>
          </a:prstGeom>
          <a:noFill/>
          <a:ln/>
        </p:spPr>
        <p:txBody>
          <a:bodyPr wrap="square" rtlCol="0" anchor="ctr"/>
          <a:lstStyle/>
          <a:p>
            <a:pPr marL="0" indent="0">
              <a:buNone/>
            </a:pPr>
            <a:r>
              <a:rPr lang="en-US" sz="1200" b="1" kern="0" spc="600" dirty="0">
                <a:solidFill>
                  <a:srgbClr val="C03BC4"/>
                </a:solidFill>
                <a:latin typeface="Segoe UI" pitchFamily="34" charset="0"/>
                <a:ea typeface="Segoe UI" pitchFamily="34" charset="-122"/>
                <a:cs typeface="Segoe UI" pitchFamily="34" charset="-120"/>
              </a:rPr>
              <a:t>PREPARED FOR THE ESKOM EXECUTIVE TEAM</a:t>
            </a:r>
            <a:endParaRPr lang="en-US" sz="1200" dirty="0"/>
          </a:p>
        </p:txBody>
      </p:sp>
      <p:sp>
        <p:nvSpPr>
          <p:cNvPr id="7" name="Text 4"/>
          <p:cNvSpPr/>
          <p:nvPr/>
        </p:nvSpPr>
        <p:spPr>
          <a:xfrm>
            <a:off x="822960" y="1691640"/>
            <a:ext cx="10515600" cy="1188720"/>
          </a:xfrm>
          <a:prstGeom prst="rect">
            <a:avLst/>
          </a:prstGeom>
          <a:noFill/>
          <a:ln/>
        </p:spPr>
        <p:txBody>
          <a:bodyPr wrap="square" rtlCol="0" anchor="ctr"/>
          <a:lstStyle/>
          <a:p>
            <a:pPr marL="0" indent="0">
              <a:buNone/>
            </a:pPr>
            <a:r>
              <a:rPr lang="en-US" sz="5000" b="1" dirty="0">
                <a:solidFill>
                  <a:srgbClr val="FFFFFF"/>
                </a:solidFill>
                <a:latin typeface="Segoe UI" pitchFamily="34" charset="0"/>
                <a:ea typeface="Segoe UI" pitchFamily="34" charset="-122"/>
                <a:cs typeface="Segoe UI" pitchFamily="34" charset="-120"/>
              </a:rPr>
              <a:t>AI Centre of Excellence</a:t>
            </a:r>
            <a:endParaRPr lang="en-US" sz="5000" dirty="0"/>
          </a:p>
        </p:txBody>
      </p:sp>
      <p:sp>
        <p:nvSpPr>
          <p:cNvPr id="8" name="Text 5"/>
          <p:cNvSpPr/>
          <p:nvPr/>
        </p:nvSpPr>
        <p:spPr>
          <a:xfrm>
            <a:off x="822960" y="2971800"/>
            <a:ext cx="10515600" cy="640080"/>
          </a:xfrm>
          <a:prstGeom prst="rect">
            <a:avLst/>
          </a:prstGeom>
          <a:noFill/>
          <a:ln/>
        </p:spPr>
        <p:txBody>
          <a:bodyPr wrap="square" rtlCol="0" anchor="ctr"/>
          <a:lstStyle/>
          <a:p>
            <a:pPr marL="0" indent="0">
              <a:buNone/>
            </a:pPr>
            <a:r>
              <a:rPr lang="en-US" sz="2400" i="1" dirty="0">
                <a:solidFill>
                  <a:srgbClr val="F5E6F0"/>
                </a:solidFill>
                <a:latin typeface="Segoe UI" pitchFamily="34" charset="0"/>
                <a:ea typeface="Segoe UI" pitchFamily="34" charset="-122"/>
                <a:cs typeface="Segoe UI" pitchFamily="34" charset="-120"/>
              </a:rPr>
              <a:t>Turning 20,000 Copilot seats into measurable business value.</a:t>
            </a:r>
            <a:endParaRPr lang="en-US" sz="2400" dirty="0"/>
          </a:p>
        </p:txBody>
      </p:sp>
      <p:sp>
        <p:nvSpPr>
          <p:cNvPr id="9" name="Text 6"/>
          <p:cNvSpPr/>
          <p:nvPr/>
        </p:nvSpPr>
        <p:spPr>
          <a:xfrm>
            <a:off x="822960" y="3703320"/>
            <a:ext cx="10515600" cy="731520"/>
          </a:xfrm>
          <a:prstGeom prst="rect">
            <a:avLst/>
          </a:prstGeom>
          <a:noFill/>
          <a:ln/>
        </p:spPr>
        <p:txBody>
          <a:bodyPr wrap="square" rtlCol="0" anchor="ctr"/>
          <a:lstStyle/>
          <a:p>
            <a:pPr marL="0" indent="0">
              <a:buNone/>
            </a:pPr>
            <a:r>
              <a:rPr lang="en-US" sz="1400" dirty="0">
                <a:solidFill>
                  <a:srgbClr val="B8C5DB"/>
                </a:solidFill>
                <a:latin typeface="Segoe UI" pitchFamily="34" charset="0"/>
                <a:ea typeface="Segoe UI" pitchFamily="34" charset="-122"/>
                <a:cs typeface="Segoe UI" pitchFamily="34" charset="-120"/>
              </a:rPr>
              <a:t>A governed operating model for AI at scale across Generation, Transmission, Distribution, and Corporate.</a:t>
            </a:r>
            <a:endParaRPr lang="en-US" sz="1400" dirty="0"/>
          </a:p>
        </p:txBody>
      </p:sp>
      <p:sp>
        <p:nvSpPr>
          <p:cNvPr id="10" name="Text 7"/>
          <p:cNvSpPr/>
          <p:nvPr/>
        </p:nvSpPr>
        <p:spPr>
          <a:xfrm>
            <a:off x="822960" y="5532120"/>
            <a:ext cx="8229600" cy="27432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Eskom executive briefing</a:t>
            </a:r>
            <a:endParaRPr lang="en-US" sz="1200" dirty="0"/>
          </a:p>
        </p:txBody>
      </p:sp>
      <p:sp>
        <p:nvSpPr>
          <p:cNvPr id="11" name="Text 8"/>
          <p:cNvSpPr/>
          <p:nvPr/>
        </p:nvSpPr>
        <p:spPr>
          <a:xfrm>
            <a:off x="822960" y="5852160"/>
            <a:ext cx="8229600" cy="274320"/>
          </a:xfrm>
          <a:prstGeom prst="rect">
            <a:avLst/>
          </a:prstGeom>
          <a:noFill/>
          <a:ln/>
        </p:spPr>
        <p:txBody>
          <a:bodyPr wrap="square" rtlCol="0" anchor="ctr"/>
          <a:lstStyle/>
          <a:p>
            <a:pPr marL="0" indent="0">
              <a:buNone/>
            </a:pPr>
            <a:r>
              <a:rPr lang="en-US" sz="1100" dirty="0">
                <a:solidFill>
                  <a:srgbClr val="8A94A6"/>
                </a:solidFill>
                <a:latin typeface="Segoe UI" pitchFamily="34" charset="0"/>
                <a:ea typeface="Segoe UI" pitchFamily="34" charset="-122"/>
                <a:cs typeface="Segoe UI" pitchFamily="34" charset="-120"/>
              </a:rPr>
              <a:t>60 minutes  ·  40-minute briefing  ·  20-minute discussion</a:t>
            </a:r>
            <a:endParaRPr lang="en-US" sz="1100" dirty="0"/>
          </a:p>
        </p:txBody>
      </p:sp>
      <p:sp>
        <p:nvSpPr>
          <p:cNvPr id="12" name="AICOE_GEO_ACCENT_Right Triangle 11"/>
          <p:cNvSpPr/>
          <p:nvPr/>
        </p:nvSpPr>
        <p:spPr>
          <a:xfrm>
            <a:off x="11369040" y="445770"/>
            <a:ext cx="822960" cy="82296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ICOE_GEO_ACCENT_Right Triangle 12"/>
          <p:cNvSpPr/>
          <p:nvPr/>
        </p:nvSpPr>
        <p:spPr>
          <a:xfrm rot="10800000">
            <a:off x="11369040" y="2160270"/>
            <a:ext cx="822960" cy="822960"/>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ICOE_GEO_ACCENT_Right Triangle 13"/>
          <p:cNvSpPr/>
          <p:nvPr/>
        </p:nvSpPr>
        <p:spPr>
          <a:xfrm>
            <a:off x="11369040" y="3874770"/>
            <a:ext cx="822960" cy="822960"/>
          </a:xfrm>
          <a:prstGeom prst="rtTriangle">
            <a:avLst/>
          </a:prstGeom>
          <a:solidFill>
            <a:srgbClr val="006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ICOE_GEO_ACCENT_Right Triangle 14"/>
          <p:cNvSpPr/>
          <p:nvPr/>
        </p:nvSpPr>
        <p:spPr>
          <a:xfrm rot="5400000">
            <a:off x="11369040" y="5589270"/>
            <a:ext cx="822960" cy="822960"/>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ICOE_GEO_ACCENT_Rectangle 15"/>
          <p:cNvSpPr/>
          <p:nvPr/>
        </p:nvSpPr>
        <p:spPr>
          <a:xfrm>
            <a:off x="11295888" y="0"/>
            <a:ext cx="73152"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9728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THE MOMENT</a:t>
            </a:r>
            <a:endParaRPr lang="en-US" sz="1200" dirty="0"/>
          </a:p>
        </p:txBody>
      </p:sp>
      <p:sp>
        <p:nvSpPr>
          <p:cNvPr id="4" name="Text 2"/>
          <p:cNvSpPr/>
          <p:nvPr/>
        </p:nvSpPr>
        <p:spPr>
          <a:xfrm>
            <a:off x="548640" y="777240"/>
            <a:ext cx="11155680" cy="777240"/>
          </a:xfrm>
          <a:prstGeom prst="rect">
            <a:avLst/>
          </a:prstGeom>
          <a:noFill/>
          <a:ln/>
        </p:spPr>
        <p:txBody>
          <a:bodyPr wrap="square" rtlCol="0" anchor="ctr"/>
          <a:lstStyle/>
          <a:p>
            <a:pPr marL="0" indent="0">
              <a:buNone/>
            </a:pPr>
            <a:r>
              <a:rPr lang="en-US" sz="2800" b="1" dirty="0">
                <a:solidFill>
                  <a:srgbClr val="091F2C"/>
                </a:solidFill>
                <a:latin typeface="Segoe UI" pitchFamily="34" charset="0"/>
                <a:ea typeface="Segoe UI" pitchFamily="34" charset="-122"/>
                <a:cs typeface="Segoe UI" pitchFamily="34" charset="-120"/>
              </a:rPr>
              <a:t>20,000 Copilot seats deployed. Now what?</a:t>
            </a:r>
            <a:endParaRPr lang="en-US" sz="2800" dirty="0"/>
          </a:p>
        </p:txBody>
      </p:sp>
      <p:sp>
        <p:nvSpPr>
          <p:cNvPr id="5" name="Shape 3"/>
          <p:cNvSpPr/>
          <p:nvPr/>
        </p:nvSpPr>
        <p:spPr>
          <a:xfrm>
            <a:off x="609448" y="1874520"/>
            <a:ext cx="2606040" cy="2743200"/>
          </a:xfrm>
          <a:prstGeom prst="roundRect">
            <a:avLst>
              <a:gd name="adj" fmla="val 3509"/>
            </a:avLst>
          </a:prstGeom>
          <a:solidFill>
            <a:srgbClr val="FFFFFF"/>
          </a:solidFill>
          <a:ln w="12700">
            <a:solidFill>
              <a:srgbClr val="E8DDD1"/>
            </a:solidFill>
            <a:prstDash val="solid"/>
          </a:ln>
        </p:spPr>
        <p:txBody>
          <a:bodyPr/>
          <a:lstStyle/>
          <a:p>
            <a:endParaRPr lang="en-ZA"/>
          </a:p>
        </p:txBody>
      </p:sp>
      <p:sp>
        <p:nvSpPr>
          <p:cNvPr id="6" name="Shape 4"/>
          <p:cNvSpPr/>
          <p:nvPr/>
        </p:nvSpPr>
        <p:spPr>
          <a:xfrm>
            <a:off x="609448" y="1874520"/>
            <a:ext cx="2606040" cy="73152"/>
          </a:xfrm>
          <a:prstGeom prst="rect">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700888" y="2240280"/>
            <a:ext cx="2423160" cy="1371600"/>
          </a:xfrm>
          <a:prstGeom prst="rect">
            <a:avLst/>
          </a:prstGeom>
          <a:noFill/>
          <a:ln/>
        </p:spPr>
        <p:txBody>
          <a:bodyPr wrap="square" rtlCol="0" anchor="ctr"/>
          <a:lstStyle/>
          <a:p>
            <a:pPr marL="0" indent="0" algn="ctr">
              <a:buNone/>
            </a:pPr>
            <a:r>
              <a:rPr lang="en-US" sz="4400" b="1" dirty="0">
                <a:solidFill>
                  <a:srgbClr val="0078D4"/>
                </a:solidFill>
                <a:latin typeface="Segoe UI" pitchFamily="34" charset="0"/>
                <a:ea typeface="Segoe UI" pitchFamily="34" charset="-122"/>
                <a:cs typeface="Segoe UI" pitchFamily="34" charset="-120"/>
              </a:rPr>
              <a:t>20,000</a:t>
            </a:r>
            <a:endParaRPr lang="en-US" sz="4400" dirty="0"/>
          </a:p>
        </p:txBody>
      </p:sp>
      <p:sp>
        <p:nvSpPr>
          <p:cNvPr id="8" name="Text 6"/>
          <p:cNvSpPr/>
          <p:nvPr/>
        </p:nvSpPr>
        <p:spPr>
          <a:xfrm>
            <a:off x="792328" y="3703320"/>
            <a:ext cx="2240280" cy="868680"/>
          </a:xfrm>
          <a:prstGeom prst="rect">
            <a:avLst/>
          </a:prstGeom>
          <a:noFill/>
          <a:ln/>
        </p:spPr>
        <p:txBody>
          <a:bodyPr wrap="square"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Copilot seats live across Eskom — your starting line</a:t>
            </a:r>
            <a:endParaRPr lang="en-US" sz="1200" dirty="0"/>
          </a:p>
        </p:txBody>
      </p:sp>
      <p:sp>
        <p:nvSpPr>
          <p:cNvPr id="9" name="Shape 7"/>
          <p:cNvSpPr/>
          <p:nvPr/>
        </p:nvSpPr>
        <p:spPr>
          <a:xfrm>
            <a:off x="3398368" y="1874520"/>
            <a:ext cx="2606040" cy="2743200"/>
          </a:xfrm>
          <a:prstGeom prst="roundRect">
            <a:avLst>
              <a:gd name="adj" fmla="val 3509"/>
            </a:avLst>
          </a:prstGeom>
          <a:solidFill>
            <a:srgbClr val="FFFFFF"/>
          </a:solidFill>
          <a:ln w="12700">
            <a:solidFill>
              <a:srgbClr val="E8DDD1"/>
            </a:solidFill>
            <a:prstDash val="solid"/>
          </a:ln>
        </p:spPr>
        <p:txBody>
          <a:bodyPr/>
          <a:lstStyle/>
          <a:p>
            <a:endParaRPr lang="en-ZA"/>
          </a:p>
        </p:txBody>
      </p:sp>
      <p:sp>
        <p:nvSpPr>
          <p:cNvPr id="10" name="Shape 8"/>
          <p:cNvSpPr/>
          <p:nvPr/>
        </p:nvSpPr>
        <p:spPr>
          <a:xfrm>
            <a:off x="3398368" y="1874520"/>
            <a:ext cx="2606040" cy="73152"/>
          </a:xfrm>
          <a:prstGeom prst="rect">
            <a:avLst/>
          </a:prstGeom>
          <a:solidFill>
            <a:srgbClr val="FF5C39"/>
          </a:solidFill>
          <a:ln w="12700">
            <a:solidFill>
              <a:srgbClr val="FF5C39"/>
            </a:solidFill>
            <a:prstDash val="solid"/>
          </a:ln>
        </p:spPr>
        <p:txBody>
          <a:bodyPr/>
          <a:lstStyle/>
          <a:p>
            <a:endParaRPr lang="en-ZA"/>
          </a:p>
        </p:txBody>
      </p:sp>
      <p:sp>
        <p:nvSpPr>
          <p:cNvPr id="11" name="Text 9"/>
          <p:cNvSpPr/>
          <p:nvPr/>
        </p:nvSpPr>
        <p:spPr>
          <a:xfrm>
            <a:off x="3489808" y="2240280"/>
            <a:ext cx="2423160" cy="1371600"/>
          </a:xfrm>
          <a:prstGeom prst="rect">
            <a:avLst/>
          </a:prstGeom>
          <a:noFill/>
          <a:ln/>
        </p:spPr>
        <p:txBody>
          <a:bodyPr wrap="square" rtlCol="0" anchor="ctr"/>
          <a:lstStyle/>
          <a:p>
            <a:pPr marL="0" indent="0" algn="ctr">
              <a:buNone/>
            </a:pPr>
            <a:r>
              <a:rPr lang="en-US" sz="6000" b="1" dirty="0">
                <a:solidFill>
                  <a:srgbClr val="FF5C39"/>
                </a:solidFill>
                <a:latin typeface="Segoe UI" pitchFamily="34" charset="0"/>
                <a:ea typeface="Segoe UI" pitchFamily="34" charset="-122"/>
                <a:cs typeface="Segoe UI" pitchFamily="34" charset="-120"/>
              </a:rPr>
              <a:t>60%</a:t>
            </a:r>
            <a:endParaRPr lang="en-US" sz="6000" dirty="0"/>
          </a:p>
        </p:txBody>
      </p:sp>
      <p:sp>
        <p:nvSpPr>
          <p:cNvPr id="12" name="Text 10"/>
          <p:cNvSpPr/>
          <p:nvPr/>
        </p:nvSpPr>
        <p:spPr>
          <a:xfrm>
            <a:off x="3581248" y="3703320"/>
            <a:ext cx="2240280" cy="868680"/>
          </a:xfrm>
          <a:prstGeom prst="rect">
            <a:avLst/>
          </a:prstGeom>
          <a:noFill/>
          <a:ln/>
        </p:spPr>
        <p:txBody>
          <a:bodyPr wrap="square"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of organisations reap hardly any material value from AI investment</a:t>
            </a:r>
            <a:endParaRPr lang="en-US" sz="1200" dirty="0"/>
          </a:p>
        </p:txBody>
      </p:sp>
      <p:sp>
        <p:nvSpPr>
          <p:cNvPr id="13" name="Shape 11"/>
          <p:cNvSpPr/>
          <p:nvPr/>
        </p:nvSpPr>
        <p:spPr>
          <a:xfrm>
            <a:off x="6187288" y="1874520"/>
            <a:ext cx="2606040" cy="2743200"/>
          </a:xfrm>
          <a:prstGeom prst="roundRect">
            <a:avLst>
              <a:gd name="adj" fmla="val 3509"/>
            </a:avLst>
          </a:prstGeom>
          <a:solidFill>
            <a:srgbClr val="FFFFFF"/>
          </a:solidFill>
          <a:ln w="12700">
            <a:solidFill>
              <a:srgbClr val="E8DDD1"/>
            </a:solidFill>
            <a:prstDash val="solid"/>
          </a:ln>
        </p:spPr>
        <p:txBody>
          <a:bodyPr/>
          <a:lstStyle/>
          <a:p>
            <a:endParaRPr lang="en-ZA"/>
          </a:p>
        </p:txBody>
      </p:sp>
      <p:sp>
        <p:nvSpPr>
          <p:cNvPr id="14" name="Shape 12"/>
          <p:cNvSpPr/>
          <p:nvPr/>
        </p:nvSpPr>
        <p:spPr>
          <a:xfrm>
            <a:off x="6187288" y="1874520"/>
            <a:ext cx="2606040" cy="73152"/>
          </a:xfrm>
          <a:prstGeom prst="rect">
            <a:avLst/>
          </a:prstGeom>
          <a:solidFill>
            <a:srgbClr val="FFB900"/>
          </a:solidFill>
          <a:ln w="12700">
            <a:solidFill>
              <a:srgbClr val="FFB900"/>
            </a:solidFill>
            <a:prstDash val="solid"/>
          </a:ln>
        </p:spPr>
        <p:txBody>
          <a:bodyPr/>
          <a:lstStyle/>
          <a:p>
            <a:endParaRPr lang="en-ZA"/>
          </a:p>
        </p:txBody>
      </p:sp>
      <p:sp>
        <p:nvSpPr>
          <p:cNvPr id="15" name="Text 13"/>
          <p:cNvSpPr/>
          <p:nvPr/>
        </p:nvSpPr>
        <p:spPr>
          <a:xfrm>
            <a:off x="6278728" y="2240280"/>
            <a:ext cx="2423160" cy="1371600"/>
          </a:xfrm>
          <a:prstGeom prst="rect">
            <a:avLst/>
          </a:prstGeom>
          <a:noFill/>
          <a:ln/>
        </p:spPr>
        <p:txBody>
          <a:bodyPr wrap="square" rtlCol="0" anchor="ctr"/>
          <a:lstStyle/>
          <a:p>
            <a:pPr marL="0" indent="0" algn="ctr">
              <a:buNone/>
            </a:pPr>
            <a:r>
              <a:rPr lang="en-US" sz="6000" b="1" dirty="0">
                <a:solidFill>
                  <a:srgbClr val="FFB900"/>
                </a:solidFill>
                <a:latin typeface="Segoe UI" pitchFamily="34" charset="0"/>
                <a:ea typeface="Segoe UI" pitchFamily="34" charset="-122"/>
                <a:cs typeface="Segoe UI" pitchFamily="34" charset="-120"/>
              </a:rPr>
              <a:t>⅔</a:t>
            </a:r>
            <a:endParaRPr lang="en-US" sz="6000" dirty="0"/>
          </a:p>
        </p:txBody>
      </p:sp>
      <p:sp>
        <p:nvSpPr>
          <p:cNvPr id="16" name="Text 14"/>
          <p:cNvSpPr/>
          <p:nvPr/>
        </p:nvSpPr>
        <p:spPr>
          <a:xfrm>
            <a:off x="6370168" y="3703320"/>
            <a:ext cx="2240280" cy="868680"/>
          </a:xfrm>
          <a:prstGeom prst="rect">
            <a:avLst/>
          </a:prstGeom>
          <a:noFill/>
          <a:ln/>
        </p:spPr>
        <p:txBody>
          <a:bodyPr wrap="square"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of organisations have not yet begun scaling AI across the enterprise</a:t>
            </a:r>
            <a:endParaRPr lang="en-US" sz="1200" dirty="0"/>
          </a:p>
        </p:txBody>
      </p:sp>
      <p:sp>
        <p:nvSpPr>
          <p:cNvPr id="17" name="Shape 15"/>
          <p:cNvSpPr/>
          <p:nvPr/>
        </p:nvSpPr>
        <p:spPr>
          <a:xfrm>
            <a:off x="8976208" y="1874520"/>
            <a:ext cx="2606040" cy="2743200"/>
          </a:xfrm>
          <a:prstGeom prst="roundRect">
            <a:avLst>
              <a:gd name="adj" fmla="val 3509"/>
            </a:avLst>
          </a:prstGeom>
          <a:solidFill>
            <a:srgbClr val="FFFFFF"/>
          </a:solidFill>
          <a:ln w="12700">
            <a:solidFill>
              <a:srgbClr val="E8DDD1"/>
            </a:solidFill>
            <a:prstDash val="solid"/>
          </a:ln>
        </p:spPr>
        <p:txBody>
          <a:bodyPr/>
          <a:lstStyle/>
          <a:p>
            <a:endParaRPr lang="en-ZA"/>
          </a:p>
        </p:txBody>
      </p:sp>
      <p:sp>
        <p:nvSpPr>
          <p:cNvPr id="18" name="Shape 16"/>
          <p:cNvSpPr/>
          <p:nvPr/>
        </p:nvSpPr>
        <p:spPr>
          <a:xfrm>
            <a:off x="8976208" y="1874520"/>
            <a:ext cx="2606040" cy="73152"/>
          </a:xfrm>
          <a:prstGeom prst="rect">
            <a:avLst/>
          </a:prstGeom>
          <a:solidFill>
            <a:srgbClr val="225B62"/>
          </a:solidFill>
          <a:ln w="12700">
            <a:solidFill>
              <a:srgbClr val="225B62"/>
            </a:solidFill>
            <a:prstDash val="solid"/>
          </a:ln>
        </p:spPr>
        <p:txBody>
          <a:bodyPr/>
          <a:lstStyle/>
          <a:p>
            <a:endParaRPr lang="en-ZA"/>
          </a:p>
        </p:txBody>
      </p:sp>
      <p:sp>
        <p:nvSpPr>
          <p:cNvPr id="19" name="Text 17"/>
          <p:cNvSpPr/>
          <p:nvPr/>
        </p:nvSpPr>
        <p:spPr>
          <a:xfrm>
            <a:off x="9067648" y="2240280"/>
            <a:ext cx="2423160" cy="1371600"/>
          </a:xfrm>
          <a:prstGeom prst="rect">
            <a:avLst/>
          </a:prstGeom>
          <a:noFill/>
          <a:ln/>
        </p:spPr>
        <p:txBody>
          <a:bodyPr wrap="square" rtlCol="0" anchor="ctr"/>
          <a:lstStyle/>
          <a:p>
            <a:pPr marL="0" indent="0" algn="ctr">
              <a:buNone/>
            </a:pPr>
            <a:r>
              <a:rPr lang="en-US" sz="6000" b="1" dirty="0">
                <a:solidFill>
                  <a:srgbClr val="225B62"/>
                </a:solidFill>
                <a:latin typeface="Segoe UI" pitchFamily="34" charset="0"/>
                <a:ea typeface="Segoe UI" pitchFamily="34" charset="-122"/>
                <a:cs typeface="Segoe UI" pitchFamily="34" charset="-120"/>
              </a:rPr>
              <a:t>5×</a:t>
            </a:r>
            <a:endParaRPr lang="en-US" sz="6000" dirty="0"/>
          </a:p>
        </p:txBody>
      </p:sp>
      <p:sp>
        <p:nvSpPr>
          <p:cNvPr id="20" name="Text 18"/>
          <p:cNvSpPr/>
          <p:nvPr/>
        </p:nvSpPr>
        <p:spPr>
          <a:xfrm>
            <a:off x="9159088" y="3703320"/>
            <a:ext cx="2240280" cy="868680"/>
          </a:xfrm>
          <a:prstGeom prst="rect">
            <a:avLst/>
          </a:prstGeom>
          <a:noFill/>
          <a:ln/>
        </p:spPr>
        <p:txBody>
          <a:bodyPr wrap="square" rtlCol="0" anchor="ctr"/>
          <a:lstStyle/>
          <a:p>
            <a:pPr marL="0" indent="0" algn="ctr">
              <a:buNone/>
            </a:pPr>
            <a:r>
              <a:rPr lang="en-US" sz="1200" dirty="0">
                <a:solidFill>
                  <a:srgbClr val="091F2C"/>
                </a:solidFill>
                <a:latin typeface="Segoe UI" pitchFamily="34" charset="0"/>
                <a:ea typeface="Segoe UI" pitchFamily="34" charset="-122"/>
                <a:cs typeface="Segoe UI" pitchFamily="34" charset="-120"/>
              </a:rPr>
              <a:t>the revenue growth of peers achieved by Frontier organisations</a:t>
            </a:r>
            <a:endParaRPr lang="en-US" sz="1200" dirty="0"/>
          </a:p>
        </p:txBody>
      </p:sp>
      <p:sp>
        <p:nvSpPr>
          <p:cNvPr id="21" name="Shape 19"/>
          <p:cNvSpPr/>
          <p:nvPr/>
        </p:nvSpPr>
        <p:spPr>
          <a:xfrm>
            <a:off x="548640" y="4937760"/>
            <a:ext cx="11091672" cy="1051560"/>
          </a:xfrm>
          <a:prstGeom prst="roundRect">
            <a:avLst>
              <a:gd name="adj" fmla="val 8696"/>
            </a:avLst>
          </a:prstGeom>
          <a:solidFill>
            <a:srgbClr val="091F2C"/>
          </a:solidFill>
          <a:ln w="12700">
            <a:solidFill>
              <a:srgbClr val="091F2C"/>
            </a:solidFill>
            <a:prstDash val="solid"/>
          </a:ln>
        </p:spPr>
        <p:txBody>
          <a:bodyPr/>
          <a:lstStyle/>
          <a:p>
            <a:endParaRPr lang="en-ZA"/>
          </a:p>
        </p:txBody>
      </p:sp>
      <p:sp>
        <p:nvSpPr>
          <p:cNvPr id="22" name="Text 20"/>
          <p:cNvSpPr/>
          <p:nvPr/>
        </p:nvSpPr>
        <p:spPr>
          <a:xfrm>
            <a:off x="777240" y="5029200"/>
            <a:ext cx="10607040" cy="411480"/>
          </a:xfrm>
          <a:prstGeom prst="rect">
            <a:avLst/>
          </a:prstGeom>
          <a:noFill/>
          <a:ln/>
        </p:spPr>
        <p:txBody>
          <a:bodyPr wrap="square" rtlCol="0" anchor="ctr"/>
          <a:lstStyle/>
          <a:p>
            <a:pPr marL="0" indent="0">
              <a:buNone/>
            </a:pPr>
            <a:r>
              <a:rPr lang="en-US" sz="1800" b="1" dirty="0">
                <a:solidFill>
                  <a:srgbClr val="FFFFFF"/>
                </a:solidFill>
                <a:latin typeface="Segoe UI" pitchFamily="34" charset="0"/>
                <a:ea typeface="Segoe UI" pitchFamily="34" charset="-122"/>
                <a:cs typeface="Segoe UI" pitchFamily="34" charset="-120"/>
              </a:rPr>
              <a:t>The gap is not the technology. It is the operating model.</a:t>
            </a:r>
            <a:endParaRPr lang="en-US" sz="1800" dirty="0"/>
          </a:p>
        </p:txBody>
      </p:sp>
      <p:sp>
        <p:nvSpPr>
          <p:cNvPr id="23" name="Text 21"/>
          <p:cNvSpPr/>
          <p:nvPr/>
        </p:nvSpPr>
        <p:spPr>
          <a:xfrm>
            <a:off x="777240" y="5440680"/>
            <a:ext cx="10607040" cy="502920"/>
          </a:xfrm>
          <a:prstGeom prst="rect">
            <a:avLst/>
          </a:prstGeom>
          <a:noFill/>
          <a:ln/>
        </p:spPr>
        <p:txBody>
          <a:bodyPr wrap="square" rtlCol="0" anchor="ctr"/>
          <a:lstStyle/>
          <a:p>
            <a:pPr marL="0" indent="0">
              <a:buNone/>
            </a:pPr>
            <a:r>
              <a:rPr lang="en-US" sz="1200" i="1" dirty="0">
                <a:solidFill>
                  <a:srgbClr val="F5E6F0"/>
                </a:solidFill>
                <a:latin typeface="Segoe UI" pitchFamily="34" charset="0"/>
                <a:ea typeface="Segoe UI" pitchFamily="34" charset="-122"/>
                <a:cs typeface="Segoe UI" pitchFamily="34" charset="-120"/>
              </a:rPr>
              <a:t>Strategy, organisation, data, governance, and partner ecosystem must scale together. That is what an AI Centre of Excellence does — and that is the conversation we want to start with you today.</a:t>
            </a:r>
            <a:endParaRPr lang="en-US" sz="1200" dirty="0"/>
          </a:p>
        </p:txBody>
      </p:sp>
      <p:sp>
        <p:nvSpPr>
          <p:cNvPr id="24" name="Text 22"/>
          <p:cNvSpPr/>
          <p:nvPr/>
        </p:nvSpPr>
        <p:spPr>
          <a:xfrm>
            <a:off x="548640" y="6080760"/>
            <a:ext cx="10972800" cy="228600"/>
          </a:xfrm>
          <a:prstGeom prst="rect">
            <a:avLst/>
          </a:prstGeom>
          <a:noFill/>
          <a:ln/>
        </p:spPr>
        <p:txBody>
          <a:bodyPr wrap="square" rtlCol="0" anchor="ctr"/>
          <a:lstStyle/>
          <a:p>
            <a:pPr marL="0" indent="0">
              <a:buNone/>
            </a:pPr>
            <a:r>
              <a:rPr lang="en-US" sz="900" i="1" dirty="0">
                <a:solidFill>
                  <a:srgbClr val="8A94A6"/>
                </a:solidFill>
                <a:latin typeface="Segoe UI" pitchFamily="34" charset="0"/>
                <a:ea typeface="Segoe UI" pitchFamily="34" charset="-122"/>
                <a:cs typeface="Segoe UI" pitchFamily="34" charset="-120"/>
              </a:rPr>
              <a:t>Sources: BCG · Build for the Future 2025 (Sep 2025, n=1,250) · McKinsey · The State of AI 2025 (Nov 2025, n=1,993)</a:t>
            </a:r>
            <a:endParaRPr lang="en-US" sz="900" dirty="0"/>
          </a:p>
        </p:txBody>
      </p:sp>
      <p:pic>
        <p:nvPicPr>
          <p:cNvPr id="25"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6" name="Text 23"/>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Prepared for Eskom executive briefing  ·  Confidential</a:t>
            </a:r>
            <a:endParaRPr lang="en-US" sz="900" dirty="0"/>
          </a:p>
        </p:txBody>
      </p:sp>
      <p:sp>
        <p:nvSpPr>
          <p:cNvPr id="27" name="Text 24"/>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2 / 10</a:t>
            </a:r>
            <a:endParaRPr lang="en-US" sz="900" dirty="0"/>
          </a:p>
        </p:txBody>
      </p:sp>
      <p:sp>
        <p:nvSpPr>
          <p:cNvPr id="28" name="AICOE_GEO_ACCENT_Right Triangle 27"/>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ICOE_GEO_ACCENT_Right Triangle 28"/>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9728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VALUE PATTERNS</a:t>
            </a:r>
            <a:endParaRPr lang="en-US" sz="1200" dirty="0"/>
          </a:p>
        </p:txBody>
      </p:sp>
      <p:sp>
        <p:nvSpPr>
          <p:cNvPr id="4" name="Text 2"/>
          <p:cNvSpPr/>
          <p:nvPr/>
        </p:nvSpPr>
        <p:spPr>
          <a:xfrm>
            <a:off x="548640" y="777240"/>
            <a:ext cx="11155680" cy="777240"/>
          </a:xfrm>
          <a:prstGeom prst="rect">
            <a:avLst/>
          </a:prstGeom>
          <a:noFill/>
          <a:ln/>
        </p:spPr>
        <p:txBody>
          <a:bodyPr wrap="square" rtlCol="0" anchor="ctr"/>
          <a:lstStyle/>
          <a:p>
            <a:pPr marL="0" indent="0">
              <a:buNone/>
            </a:pPr>
            <a:r>
              <a:rPr lang="en-US" sz="2800" b="1" dirty="0">
                <a:solidFill>
                  <a:srgbClr val="091F2C"/>
                </a:solidFill>
                <a:latin typeface="Segoe UI" pitchFamily="34" charset="0"/>
                <a:ea typeface="Segoe UI" pitchFamily="34" charset="-122"/>
                <a:cs typeface="Segoe UI" pitchFamily="34" charset="-120"/>
              </a:rPr>
              <a:t>Where AI moves the needle for Eskom.</a:t>
            </a:r>
            <a:endParaRPr lang="en-US" sz="2800" dirty="0"/>
          </a:p>
        </p:txBody>
      </p:sp>
      <p:sp>
        <p:nvSpPr>
          <p:cNvPr id="5" name="Shape 3"/>
          <p:cNvSpPr/>
          <p:nvPr/>
        </p:nvSpPr>
        <p:spPr>
          <a:xfrm>
            <a:off x="548640" y="1691640"/>
            <a:ext cx="3588410" cy="2057400"/>
          </a:xfrm>
          <a:prstGeom prst="roundRect">
            <a:avLst>
              <a:gd name="adj" fmla="val 4444"/>
            </a:avLst>
          </a:prstGeom>
          <a:solidFill>
            <a:srgbClr val="FFFFFF"/>
          </a:solidFill>
          <a:ln w="12700">
            <a:solidFill>
              <a:srgbClr val="E8DDD1"/>
            </a:solidFill>
            <a:prstDash val="solid"/>
          </a:ln>
        </p:spPr>
        <p:txBody>
          <a:bodyPr/>
          <a:lstStyle/>
          <a:p>
            <a:endParaRPr lang="en-ZA"/>
          </a:p>
        </p:txBody>
      </p:sp>
      <p:sp>
        <p:nvSpPr>
          <p:cNvPr id="6" name="Shape 4"/>
          <p:cNvSpPr/>
          <p:nvPr/>
        </p:nvSpPr>
        <p:spPr>
          <a:xfrm>
            <a:off x="548640" y="1691640"/>
            <a:ext cx="3588410" cy="73152"/>
          </a:xfrm>
          <a:prstGeom prst="rect">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777240" y="1874520"/>
            <a:ext cx="3131210" cy="50292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Asset health &amp; predictive maintenance</a:t>
            </a:r>
            <a:endParaRPr lang="en-US" sz="1400" dirty="0"/>
          </a:p>
        </p:txBody>
      </p:sp>
      <p:sp>
        <p:nvSpPr>
          <p:cNvPr id="8" name="Text 6"/>
          <p:cNvSpPr/>
          <p:nvPr/>
        </p:nvSpPr>
        <p:spPr>
          <a:xfrm>
            <a:off x="777240" y="2423160"/>
            <a:ext cx="3131210" cy="96012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Vibration, thermal, and SCADA telemetry feeding models that predict boiler-tube, transformer, and turbine failures before they take a unit offline.</a:t>
            </a:r>
            <a:endParaRPr lang="en-US" sz="1050" dirty="0"/>
          </a:p>
        </p:txBody>
      </p:sp>
      <p:sp>
        <p:nvSpPr>
          <p:cNvPr id="9" name="Text 7"/>
          <p:cNvSpPr/>
          <p:nvPr/>
        </p:nvSpPr>
        <p:spPr>
          <a:xfrm>
            <a:off x="777240" y="3383280"/>
            <a:ext cx="3131210" cy="274320"/>
          </a:xfrm>
          <a:prstGeom prst="rect">
            <a:avLst/>
          </a:prstGeom>
          <a:noFill/>
          <a:ln/>
        </p:spPr>
        <p:txBody>
          <a:bodyPr wrap="square" rtlCol="0" anchor="ctr"/>
          <a:lstStyle/>
          <a:p>
            <a:pPr marL="0" indent="0">
              <a:buNone/>
            </a:pPr>
            <a:r>
              <a:rPr lang="en-US" sz="900" b="1" kern="0" spc="200" dirty="0">
                <a:solidFill>
                  <a:srgbClr val="0078D4"/>
                </a:solidFill>
                <a:latin typeface="Segoe UI" pitchFamily="34" charset="0"/>
                <a:ea typeface="Segoe UI" pitchFamily="34" charset="-122"/>
                <a:cs typeface="Segoe UI" pitchFamily="34" charset="-120"/>
              </a:rPr>
              <a:t>Generation · EAF impact</a:t>
            </a:r>
            <a:endParaRPr lang="en-US" sz="900" dirty="0"/>
          </a:p>
        </p:txBody>
      </p:sp>
      <p:sp>
        <p:nvSpPr>
          <p:cNvPr id="10" name="Shape 8"/>
          <p:cNvSpPr/>
          <p:nvPr/>
        </p:nvSpPr>
        <p:spPr>
          <a:xfrm>
            <a:off x="4301642" y="1691640"/>
            <a:ext cx="3588410" cy="2057400"/>
          </a:xfrm>
          <a:prstGeom prst="roundRect">
            <a:avLst>
              <a:gd name="adj" fmla="val 4444"/>
            </a:avLst>
          </a:prstGeom>
          <a:solidFill>
            <a:srgbClr val="FFFFFF"/>
          </a:solidFill>
          <a:ln w="12700">
            <a:solidFill>
              <a:srgbClr val="E8DDD1"/>
            </a:solidFill>
            <a:prstDash val="solid"/>
          </a:ln>
        </p:spPr>
        <p:txBody>
          <a:bodyPr/>
          <a:lstStyle/>
          <a:p>
            <a:endParaRPr lang="en-ZA"/>
          </a:p>
        </p:txBody>
      </p:sp>
      <p:sp>
        <p:nvSpPr>
          <p:cNvPr id="11" name="Shape 9"/>
          <p:cNvSpPr/>
          <p:nvPr/>
        </p:nvSpPr>
        <p:spPr>
          <a:xfrm>
            <a:off x="4301642" y="1691640"/>
            <a:ext cx="3588410" cy="73152"/>
          </a:xfrm>
          <a:prstGeom prst="rect">
            <a:avLst/>
          </a:prstGeom>
          <a:solidFill>
            <a:srgbClr val="0057B8"/>
          </a:solidFill>
          <a:ln w="12700">
            <a:solidFill>
              <a:srgbClr val="0057B8"/>
            </a:solidFill>
            <a:prstDash val="solid"/>
          </a:ln>
        </p:spPr>
        <p:txBody>
          <a:bodyPr/>
          <a:lstStyle/>
          <a:p>
            <a:endParaRPr lang="en-ZA"/>
          </a:p>
        </p:txBody>
      </p:sp>
      <p:sp>
        <p:nvSpPr>
          <p:cNvPr id="12" name="Text 10"/>
          <p:cNvSpPr/>
          <p:nvPr/>
        </p:nvSpPr>
        <p:spPr>
          <a:xfrm>
            <a:off x="4530242" y="1874520"/>
            <a:ext cx="3131210" cy="50292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Grid operations &amp; demand forecasting</a:t>
            </a:r>
            <a:endParaRPr lang="en-US" sz="1400" dirty="0"/>
          </a:p>
        </p:txBody>
      </p:sp>
      <p:sp>
        <p:nvSpPr>
          <p:cNvPr id="13" name="Text 11"/>
          <p:cNvSpPr/>
          <p:nvPr/>
        </p:nvSpPr>
        <p:spPr>
          <a:xfrm>
            <a:off x="4530242" y="2423160"/>
            <a:ext cx="3131210" cy="96012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Load and renewables-integration forecasting for the System Operator; agentic dispatch decision support across the national grid.</a:t>
            </a:r>
            <a:endParaRPr lang="en-US" sz="1050" dirty="0"/>
          </a:p>
        </p:txBody>
      </p:sp>
      <p:sp>
        <p:nvSpPr>
          <p:cNvPr id="14" name="Text 12"/>
          <p:cNvSpPr/>
          <p:nvPr/>
        </p:nvSpPr>
        <p:spPr>
          <a:xfrm>
            <a:off x="4530242" y="3383280"/>
            <a:ext cx="3131210" cy="274320"/>
          </a:xfrm>
          <a:prstGeom prst="rect">
            <a:avLst/>
          </a:prstGeom>
          <a:noFill/>
          <a:ln/>
        </p:spPr>
        <p:txBody>
          <a:bodyPr wrap="square" rtlCol="0" anchor="ctr"/>
          <a:lstStyle/>
          <a:p>
            <a:pPr marL="0" indent="0">
              <a:buNone/>
            </a:pPr>
            <a:r>
              <a:rPr lang="en-US" sz="900" b="1" kern="0" spc="200" dirty="0">
                <a:solidFill>
                  <a:srgbClr val="0057B8"/>
                </a:solidFill>
                <a:latin typeface="Segoe UI" pitchFamily="34" charset="0"/>
                <a:ea typeface="Segoe UI" pitchFamily="34" charset="-122"/>
                <a:cs typeface="Segoe UI" pitchFamily="34" charset="-120"/>
              </a:rPr>
              <a:t>Transmission · System Operator</a:t>
            </a:r>
            <a:endParaRPr lang="en-US" sz="900" dirty="0"/>
          </a:p>
        </p:txBody>
      </p:sp>
      <p:sp>
        <p:nvSpPr>
          <p:cNvPr id="15" name="Shape 13"/>
          <p:cNvSpPr/>
          <p:nvPr/>
        </p:nvSpPr>
        <p:spPr>
          <a:xfrm>
            <a:off x="8054645" y="1691640"/>
            <a:ext cx="3588410" cy="2057400"/>
          </a:xfrm>
          <a:prstGeom prst="roundRect">
            <a:avLst>
              <a:gd name="adj" fmla="val 4444"/>
            </a:avLst>
          </a:prstGeom>
          <a:solidFill>
            <a:srgbClr val="FFFFFF"/>
          </a:solidFill>
          <a:ln w="12700">
            <a:solidFill>
              <a:srgbClr val="E8DDD1"/>
            </a:solidFill>
            <a:prstDash val="solid"/>
          </a:ln>
        </p:spPr>
        <p:txBody>
          <a:bodyPr/>
          <a:lstStyle/>
          <a:p>
            <a:endParaRPr lang="en-ZA"/>
          </a:p>
        </p:txBody>
      </p:sp>
      <p:sp>
        <p:nvSpPr>
          <p:cNvPr id="16" name="Shape 14"/>
          <p:cNvSpPr/>
          <p:nvPr/>
        </p:nvSpPr>
        <p:spPr>
          <a:xfrm>
            <a:off x="8054645" y="1691640"/>
            <a:ext cx="3588410" cy="73152"/>
          </a:xfrm>
          <a:prstGeom prst="rect">
            <a:avLst/>
          </a:prstGeom>
          <a:solidFill>
            <a:srgbClr val="225B62"/>
          </a:solidFill>
          <a:ln w="12700">
            <a:solidFill>
              <a:srgbClr val="225B62"/>
            </a:solidFill>
            <a:prstDash val="solid"/>
          </a:ln>
        </p:spPr>
        <p:txBody>
          <a:bodyPr/>
          <a:lstStyle/>
          <a:p>
            <a:endParaRPr lang="en-ZA"/>
          </a:p>
        </p:txBody>
      </p:sp>
      <p:sp>
        <p:nvSpPr>
          <p:cNvPr id="17" name="Text 15"/>
          <p:cNvSpPr/>
          <p:nvPr/>
        </p:nvSpPr>
        <p:spPr>
          <a:xfrm>
            <a:off x="8283245" y="1874520"/>
            <a:ext cx="3131210" cy="50292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Customer &amp; dispute resolution</a:t>
            </a:r>
            <a:endParaRPr lang="en-US" sz="1400" dirty="0"/>
          </a:p>
        </p:txBody>
      </p:sp>
      <p:sp>
        <p:nvSpPr>
          <p:cNvPr id="18" name="Text 16"/>
          <p:cNvSpPr/>
          <p:nvPr/>
        </p:nvSpPr>
        <p:spPr>
          <a:xfrm>
            <a:off x="8283245" y="2423160"/>
            <a:ext cx="3131210" cy="96012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Agents that resolve billing queries, electrification applications, and large-power-user disputes — reducing handle time and escalations.</a:t>
            </a:r>
            <a:endParaRPr lang="en-US" sz="1050" dirty="0"/>
          </a:p>
        </p:txBody>
      </p:sp>
      <p:sp>
        <p:nvSpPr>
          <p:cNvPr id="19" name="Text 17"/>
          <p:cNvSpPr/>
          <p:nvPr/>
        </p:nvSpPr>
        <p:spPr>
          <a:xfrm>
            <a:off x="8283245" y="3383280"/>
            <a:ext cx="3131210" cy="274320"/>
          </a:xfrm>
          <a:prstGeom prst="rect">
            <a:avLst/>
          </a:prstGeom>
          <a:noFill/>
          <a:ln/>
        </p:spPr>
        <p:txBody>
          <a:bodyPr wrap="square" rtlCol="0" anchor="ctr"/>
          <a:lstStyle/>
          <a:p>
            <a:pPr marL="0" indent="0">
              <a:buNone/>
            </a:pPr>
            <a:r>
              <a:rPr lang="en-US" sz="900" b="1" kern="0" spc="200" dirty="0">
                <a:solidFill>
                  <a:srgbClr val="225B62"/>
                </a:solidFill>
                <a:latin typeface="Segoe UI" pitchFamily="34" charset="0"/>
                <a:ea typeface="Segoe UI" pitchFamily="34" charset="-122"/>
                <a:cs typeface="Segoe UI" pitchFamily="34" charset="-120"/>
              </a:rPr>
              <a:t>Distribution · Customer Services</a:t>
            </a:r>
            <a:endParaRPr lang="en-US" sz="900" dirty="0"/>
          </a:p>
        </p:txBody>
      </p:sp>
      <p:sp>
        <p:nvSpPr>
          <p:cNvPr id="20" name="Shape 18"/>
          <p:cNvSpPr/>
          <p:nvPr/>
        </p:nvSpPr>
        <p:spPr>
          <a:xfrm>
            <a:off x="548640" y="3913632"/>
            <a:ext cx="3588410" cy="2057400"/>
          </a:xfrm>
          <a:prstGeom prst="roundRect">
            <a:avLst>
              <a:gd name="adj" fmla="val 4444"/>
            </a:avLst>
          </a:prstGeom>
          <a:solidFill>
            <a:srgbClr val="FFFFFF"/>
          </a:solidFill>
          <a:ln w="12700">
            <a:solidFill>
              <a:srgbClr val="E8DDD1"/>
            </a:solidFill>
            <a:prstDash val="solid"/>
          </a:ln>
        </p:spPr>
        <p:txBody>
          <a:bodyPr/>
          <a:lstStyle/>
          <a:p>
            <a:endParaRPr lang="en-ZA"/>
          </a:p>
        </p:txBody>
      </p:sp>
      <p:sp>
        <p:nvSpPr>
          <p:cNvPr id="21" name="Shape 19"/>
          <p:cNvSpPr/>
          <p:nvPr/>
        </p:nvSpPr>
        <p:spPr>
          <a:xfrm>
            <a:off x="548640" y="3913632"/>
            <a:ext cx="3588410" cy="73152"/>
          </a:xfrm>
          <a:prstGeom prst="rect">
            <a:avLst/>
          </a:prstGeom>
          <a:solidFill>
            <a:srgbClr val="225B62"/>
          </a:solidFill>
          <a:ln w="12700">
            <a:solidFill>
              <a:srgbClr val="225B62"/>
            </a:solidFill>
            <a:prstDash val="solid"/>
          </a:ln>
        </p:spPr>
        <p:txBody>
          <a:bodyPr/>
          <a:lstStyle/>
          <a:p>
            <a:endParaRPr lang="en-ZA"/>
          </a:p>
        </p:txBody>
      </p:sp>
      <p:sp>
        <p:nvSpPr>
          <p:cNvPr id="22" name="Text 20"/>
          <p:cNvSpPr/>
          <p:nvPr/>
        </p:nvSpPr>
        <p:spPr>
          <a:xfrm>
            <a:off x="777240" y="4096512"/>
            <a:ext cx="3131210" cy="50292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Field workforce productivity</a:t>
            </a:r>
            <a:endParaRPr lang="en-US" sz="1400" dirty="0"/>
          </a:p>
        </p:txBody>
      </p:sp>
      <p:sp>
        <p:nvSpPr>
          <p:cNvPr id="23" name="Text 21"/>
          <p:cNvSpPr/>
          <p:nvPr/>
        </p:nvSpPr>
        <p:spPr>
          <a:xfrm>
            <a:off x="777240" y="4645152"/>
            <a:ext cx="3131210" cy="96012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Copilot for outage and maintenance crews; agents that draft work orders, surface SOPs, and capture incident reports from the field.</a:t>
            </a:r>
            <a:endParaRPr lang="en-US" sz="1050" dirty="0"/>
          </a:p>
        </p:txBody>
      </p:sp>
      <p:sp>
        <p:nvSpPr>
          <p:cNvPr id="24" name="Text 22"/>
          <p:cNvSpPr/>
          <p:nvPr/>
        </p:nvSpPr>
        <p:spPr>
          <a:xfrm>
            <a:off x="777240" y="5605272"/>
            <a:ext cx="3131210" cy="274320"/>
          </a:xfrm>
          <a:prstGeom prst="rect">
            <a:avLst/>
          </a:prstGeom>
          <a:noFill/>
          <a:ln/>
        </p:spPr>
        <p:txBody>
          <a:bodyPr wrap="square" rtlCol="0" anchor="ctr"/>
          <a:lstStyle/>
          <a:p>
            <a:pPr marL="0" indent="0">
              <a:buNone/>
            </a:pPr>
            <a:r>
              <a:rPr lang="en-US" sz="900" b="1" kern="0" spc="200" dirty="0">
                <a:solidFill>
                  <a:srgbClr val="225B62"/>
                </a:solidFill>
                <a:latin typeface="Segoe UI" pitchFamily="34" charset="0"/>
                <a:ea typeface="Segoe UI" pitchFamily="34" charset="-122"/>
                <a:cs typeface="Segoe UI" pitchFamily="34" charset="-120"/>
              </a:rPr>
              <a:t>Operations · Field teams</a:t>
            </a:r>
            <a:endParaRPr lang="en-US" sz="900" dirty="0"/>
          </a:p>
        </p:txBody>
      </p:sp>
      <p:sp>
        <p:nvSpPr>
          <p:cNvPr id="25" name="Shape 23"/>
          <p:cNvSpPr/>
          <p:nvPr/>
        </p:nvSpPr>
        <p:spPr>
          <a:xfrm>
            <a:off x="4301642" y="3913632"/>
            <a:ext cx="3588410" cy="2057400"/>
          </a:xfrm>
          <a:prstGeom prst="roundRect">
            <a:avLst>
              <a:gd name="adj" fmla="val 4444"/>
            </a:avLst>
          </a:prstGeom>
          <a:solidFill>
            <a:srgbClr val="FFFFFF"/>
          </a:solidFill>
          <a:ln w="12700">
            <a:solidFill>
              <a:srgbClr val="E8DDD1"/>
            </a:solidFill>
            <a:prstDash val="solid"/>
          </a:ln>
        </p:spPr>
        <p:txBody>
          <a:bodyPr/>
          <a:lstStyle/>
          <a:p>
            <a:endParaRPr lang="en-ZA"/>
          </a:p>
        </p:txBody>
      </p:sp>
      <p:sp>
        <p:nvSpPr>
          <p:cNvPr id="26" name="Shape 24"/>
          <p:cNvSpPr/>
          <p:nvPr/>
        </p:nvSpPr>
        <p:spPr>
          <a:xfrm>
            <a:off x="4301642" y="3913632"/>
            <a:ext cx="3588410" cy="73152"/>
          </a:xfrm>
          <a:prstGeom prst="rect">
            <a:avLst/>
          </a:prstGeom>
          <a:solidFill>
            <a:srgbClr val="FFB900"/>
          </a:solidFill>
          <a:ln w="12700">
            <a:solidFill>
              <a:srgbClr val="FFB900"/>
            </a:solidFill>
            <a:prstDash val="solid"/>
          </a:ln>
        </p:spPr>
        <p:txBody>
          <a:bodyPr/>
          <a:lstStyle/>
          <a:p>
            <a:endParaRPr lang="en-ZA"/>
          </a:p>
        </p:txBody>
      </p:sp>
      <p:sp>
        <p:nvSpPr>
          <p:cNvPr id="27" name="Text 25"/>
          <p:cNvSpPr/>
          <p:nvPr/>
        </p:nvSpPr>
        <p:spPr>
          <a:xfrm>
            <a:off x="4530242" y="4096512"/>
            <a:ext cx="3131210" cy="50292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Audit, compliance &amp; regulatory reporting</a:t>
            </a:r>
            <a:endParaRPr lang="en-US" sz="1400" dirty="0"/>
          </a:p>
        </p:txBody>
      </p:sp>
      <p:sp>
        <p:nvSpPr>
          <p:cNvPr id="28" name="Text 26"/>
          <p:cNvSpPr/>
          <p:nvPr/>
        </p:nvSpPr>
        <p:spPr>
          <a:xfrm>
            <a:off x="4530242" y="4645152"/>
            <a:ext cx="3131210" cy="96012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Agents that draft NERSA submissions, compile audit packs, and surface PFMA exceptions for the Audit &amp; Risk Committee.</a:t>
            </a:r>
            <a:endParaRPr lang="en-US" sz="1050" dirty="0"/>
          </a:p>
        </p:txBody>
      </p:sp>
      <p:sp>
        <p:nvSpPr>
          <p:cNvPr id="29" name="Text 27"/>
          <p:cNvSpPr/>
          <p:nvPr/>
        </p:nvSpPr>
        <p:spPr>
          <a:xfrm>
            <a:off x="4530242" y="5605272"/>
            <a:ext cx="3131210" cy="274320"/>
          </a:xfrm>
          <a:prstGeom prst="rect">
            <a:avLst/>
          </a:prstGeom>
          <a:noFill/>
          <a:ln/>
        </p:spPr>
        <p:txBody>
          <a:bodyPr wrap="square" rtlCol="0" anchor="ctr"/>
          <a:lstStyle/>
          <a:p>
            <a:pPr marL="0" indent="0">
              <a:buNone/>
            </a:pPr>
            <a:r>
              <a:rPr lang="en-US" sz="900" b="1" kern="0" spc="200" dirty="0">
                <a:solidFill>
                  <a:srgbClr val="FFB900"/>
                </a:solidFill>
                <a:latin typeface="Segoe UI" pitchFamily="34" charset="0"/>
                <a:ea typeface="Segoe UI" pitchFamily="34" charset="-122"/>
                <a:cs typeface="Segoe UI" pitchFamily="34" charset="-120"/>
              </a:rPr>
              <a:t>Risk · Internal Audit · Legal</a:t>
            </a:r>
            <a:endParaRPr lang="en-US" sz="900" dirty="0"/>
          </a:p>
        </p:txBody>
      </p:sp>
      <p:sp>
        <p:nvSpPr>
          <p:cNvPr id="30" name="Shape 28"/>
          <p:cNvSpPr/>
          <p:nvPr/>
        </p:nvSpPr>
        <p:spPr>
          <a:xfrm>
            <a:off x="8054645" y="3913632"/>
            <a:ext cx="3588410" cy="2057400"/>
          </a:xfrm>
          <a:prstGeom prst="roundRect">
            <a:avLst>
              <a:gd name="adj" fmla="val 4444"/>
            </a:avLst>
          </a:prstGeom>
          <a:solidFill>
            <a:srgbClr val="FFFFFF"/>
          </a:solidFill>
          <a:ln w="12700">
            <a:solidFill>
              <a:srgbClr val="E8DDD1"/>
            </a:solidFill>
            <a:prstDash val="solid"/>
          </a:ln>
        </p:spPr>
        <p:txBody>
          <a:bodyPr/>
          <a:lstStyle/>
          <a:p>
            <a:endParaRPr lang="en-ZA"/>
          </a:p>
        </p:txBody>
      </p:sp>
      <p:sp>
        <p:nvSpPr>
          <p:cNvPr id="31" name="Shape 29"/>
          <p:cNvSpPr/>
          <p:nvPr/>
        </p:nvSpPr>
        <p:spPr>
          <a:xfrm>
            <a:off x="8054645" y="3913632"/>
            <a:ext cx="3588410" cy="73152"/>
          </a:xfrm>
          <a:prstGeom prst="rect">
            <a:avLst/>
          </a:prstGeom>
          <a:solidFill>
            <a:srgbClr val="FF5C39"/>
          </a:solidFill>
          <a:ln w="12700">
            <a:solidFill>
              <a:srgbClr val="FF5C39"/>
            </a:solidFill>
            <a:prstDash val="solid"/>
          </a:ln>
        </p:spPr>
        <p:txBody>
          <a:bodyPr/>
          <a:lstStyle/>
          <a:p>
            <a:endParaRPr lang="en-ZA"/>
          </a:p>
        </p:txBody>
      </p:sp>
      <p:sp>
        <p:nvSpPr>
          <p:cNvPr id="32" name="Text 30"/>
          <p:cNvSpPr/>
          <p:nvPr/>
        </p:nvSpPr>
        <p:spPr>
          <a:xfrm>
            <a:off x="8283245" y="4096512"/>
            <a:ext cx="3131210" cy="50292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Procurement &amp; supplier risk</a:t>
            </a:r>
            <a:endParaRPr lang="en-US" sz="1400" dirty="0"/>
          </a:p>
        </p:txBody>
      </p:sp>
      <p:sp>
        <p:nvSpPr>
          <p:cNvPr id="33" name="Text 31"/>
          <p:cNvSpPr/>
          <p:nvPr/>
        </p:nvSpPr>
        <p:spPr>
          <a:xfrm>
            <a:off x="8283245" y="4645152"/>
            <a:ext cx="3131210" cy="96012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Anomaly detection and supplier-due-diligence agents addressing SIU and Auditor-General focus areas, integrated with SCM workflows.</a:t>
            </a:r>
            <a:endParaRPr lang="en-US" sz="1050" dirty="0"/>
          </a:p>
        </p:txBody>
      </p:sp>
      <p:sp>
        <p:nvSpPr>
          <p:cNvPr id="34" name="Text 32"/>
          <p:cNvSpPr/>
          <p:nvPr/>
        </p:nvSpPr>
        <p:spPr>
          <a:xfrm>
            <a:off x="8283245" y="5605272"/>
            <a:ext cx="3131210" cy="274320"/>
          </a:xfrm>
          <a:prstGeom prst="rect">
            <a:avLst/>
          </a:prstGeom>
          <a:noFill/>
          <a:ln/>
        </p:spPr>
        <p:txBody>
          <a:bodyPr wrap="square" rtlCol="0" anchor="ctr"/>
          <a:lstStyle/>
          <a:p>
            <a:pPr marL="0" indent="0">
              <a:buNone/>
            </a:pPr>
            <a:r>
              <a:rPr lang="en-US" sz="900" b="1" kern="0" spc="200" dirty="0">
                <a:solidFill>
                  <a:srgbClr val="FF5C39"/>
                </a:solidFill>
                <a:latin typeface="Segoe UI" pitchFamily="34" charset="0"/>
                <a:ea typeface="Segoe UI" pitchFamily="34" charset="-122"/>
                <a:cs typeface="Segoe UI" pitchFamily="34" charset="-120"/>
              </a:rPr>
              <a:t>SCM · Risk · Forensics</a:t>
            </a:r>
            <a:endParaRPr lang="en-US" sz="900" dirty="0"/>
          </a:p>
        </p:txBody>
      </p:sp>
      <p:sp>
        <p:nvSpPr>
          <p:cNvPr id="35" name="Text 33"/>
          <p:cNvSpPr/>
          <p:nvPr/>
        </p:nvSpPr>
        <p:spPr>
          <a:xfrm>
            <a:off x="548640" y="5989320"/>
            <a:ext cx="10972800" cy="274320"/>
          </a:xfrm>
          <a:prstGeom prst="rect">
            <a:avLst/>
          </a:prstGeom>
          <a:noFill/>
          <a:ln/>
        </p:spPr>
        <p:txBody>
          <a:bodyPr wrap="square" rtlCol="0" anchor="ctr"/>
          <a:lstStyle/>
          <a:p>
            <a:pPr marL="0" indent="0" algn="ctr">
              <a:buNone/>
            </a:pPr>
            <a:r>
              <a:rPr lang="en-US" sz="1200" i="1" dirty="0">
                <a:solidFill>
                  <a:srgbClr val="091F2C"/>
                </a:solidFill>
                <a:latin typeface="Segoe UI" pitchFamily="34" charset="0"/>
                <a:ea typeface="Segoe UI" pitchFamily="34" charset="-122"/>
                <a:cs typeface="Segoe UI" pitchFamily="34" charset="-120"/>
              </a:rPr>
              <a:t>Discussion: of these six, which two matter most to this leadership team in the next 12 months?</a:t>
            </a:r>
            <a:endParaRPr lang="en-US" sz="1200" dirty="0"/>
          </a:p>
        </p:txBody>
      </p:sp>
      <p:pic>
        <p:nvPicPr>
          <p:cNvPr id="36"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7" name="Text 34"/>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Prepared for Eskom executive briefing  ·  Confidential</a:t>
            </a:r>
            <a:endParaRPr lang="en-US" sz="900" dirty="0"/>
          </a:p>
        </p:txBody>
      </p:sp>
      <p:sp>
        <p:nvSpPr>
          <p:cNvPr id="38" name="Text 35"/>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3 / 10</a:t>
            </a:r>
            <a:endParaRPr lang="en-US" sz="900" dirty="0"/>
          </a:p>
        </p:txBody>
      </p:sp>
      <p:sp>
        <p:nvSpPr>
          <p:cNvPr id="39" name="AICOE_GEO_ACCENT_Right Triangle 38"/>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ICOE_GEO_ACCENT_Right Triangle 39"/>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9728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WHAT WE PROPOSE</a:t>
            </a:r>
            <a:endParaRPr lang="en-US" sz="1200" dirty="0"/>
          </a:p>
        </p:txBody>
      </p:sp>
      <p:sp>
        <p:nvSpPr>
          <p:cNvPr id="4" name="Text 2"/>
          <p:cNvSpPr/>
          <p:nvPr/>
        </p:nvSpPr>
        <p:spPr>
          <a:xfrm>
            <a:off x="548640" y="777240"/>
            <a:ext cx="11155680" cy="777240"/>
          </a:xfrm>
          <a:prstGeom prst="rect">
            <a:avLst/>
          </a:prstGeom>
          <a:noFill/>
          <a:ln/>
        </p:spPr>
        <p:txBody>
          <a:bodyPr wrap="square" rtlCol="0" anchor="ctr"/>
          <a:lstStyle/>
          <a:p>
            <a:pPr marL="0" indent="0">
              <a:buNone/>
            </a:pPr>
            <a:r>
              <a:rPr lang="en-US" sz="2800" b="1" dirty="0">
                <a:solidFill>
                  <a:srgbClr val="091F2C"/>
                </a:solidFill>
                <a:latin typeface="Segoe UI" pitchFamily="34" charset="0"/>
                <a:ea typeface="Segoe UI" pitchFamily="34" charset="-122"/>
                <a:cs typeface="Segoe UI" pitchFamily="34" charset="-120"/>
              </a:rPr>
              <a:t>An AI Centre of Excellence built for Eskom.</a:t>
            </a:r>
            <a:endParaRPr lang="en-US" sz="2800" dirty="0"/>
          </a:p>
        </p:txBody>
      </p:sp>
      <p:sp>
        <p:nvSpPr>
          <p:cNvPr id="5" name="Shape 3"/>
          <p:cNvSpPr/>
          <p:nvPr/>
        </p:nvSpPr>
        <p:spPr>
          <a:xfrm>
            <a:off x="548640" y="1691640"/>
            <a:ext cx="6858000" cy="4160520"/>
          </a:xfrm>
          <a:prstGeom prst="roundRect">
            <a:avLst>
              <a:gd name="adj" fmla="val 2637"/>
            </a:avLst>
          </a:prstGeom>
          <a:solidFill>
            <a:srgbClr val="FFFFFF"/>
          </a:solidFill>
          <a:ln w="12700">
            <a:solidFill>
              <a:srgbClr val="E8DDD1"/>
            </a:solidFill>
            <a:prstDash val="solid"/>
          </a:ln>
        </p:spPr>
        <p:txBody>
          <a:bodyPr/>
          <a:lstStyle/>
          <a:p>
            <a:endParaRPr lang="en-ZA"/>
          </a:p>
        </p:txBody>
      </p:sp>
      <p:sp>
        <p:nvSpPr>
          <p:cNvPr id="6" name="Text 4"/>
          <p:cNvSpPr/>
          <p:nvPr/>
        </p:nvSpPr>
        <p:spPr>
          <a:xfrm>
            <a:off x="777240" y="1828800"/>
            <a:ext cx="6400800" cy="274320"/>
          </a:xfrm>
          <a:prstGeom prst="rect">
            <a:avLst/>
          </a:prstGeom>
          <a:noFill/>
          <a:ln/>
        </p:spPr>
        <p:txBody>
          <a:bodyPr wrap="square" rtlCol="0" anchor="ctr"/>
          <a:lstStyle/>
          <a:p>
            <a:pPr marL="0" indent="0">
              <a:buNone/>
            </a:pPr>
            <a:r>
              <a:rPr lang="en-US" sz="1100" b="1" kern="0" spc="300" dirty="0">
                <a:solidFill>
                  <a:srgbClr val="0078D4"/>
                </a:solidFill>
                <a:latin typeface="Segoe UI" pitchFamily="34" charset="0"/>
                <a:ea typeface="Segoe UI" pitchFamily="34" charset="-122"/>
                <a:cs typeface="Segoe UI" pitchFamily="34" charset="-120"/>
              </a:rPr>
              <a:t>THE 5+1 PILLAR FRAMEWORK</a:t>
            </a:r>
            <a:endParaRPr lang="en-US" sz="1100" dirty="0"/>
          </a:p>
        </p:txBody>
      </p:sp>
      <p:sp>
        <p:nvSpPr>
          <p:cNvPr id="7" name="Text 5"/>
          <p:cNvSpPr/>
          <p:nvPr/>
        </p:nvSpPr>
        <p:spPr>
          <a:xfrm>
            <a:off x="777240" y="2103120"/>
            <a:ext cx="6400800" cy="36576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How your CoE is structured</a:t>
            </a:r>
            <a:endParaRPr lang="en-US" sz="1600" dirty="0"/>
          </a:p>
        </p:txBody>
      </p:sp>
      <p:sp>
        <p:nvSpPr>
          <p:cNvPr id="8" name="Shape 6"/>
          <p:cNvSpPr/>
          <p:nvPr/>
        </p:nvSpPr>
        <p:spPr>
          <a:xfrm>
            <a:off x="841248" y="2606040"/>
            <a:ext cx="438912" cy="384048"/>
          </a:xfrm>
          <a:prstGeom prst="hexagon">
            <a:avLst/>
          </a:prstGeom>
          <a:solidFill>
            <a:srgbClr val="0078D4"/>
          </a:solidFill>
          <a:ln w="12700">
            <a:solidFill>
              <a:srgbClr val="0078D4"/>
            </a:solidFill>
            <a:prstDash val="solid"/>
          </a:ln>
        </p:spPr>
        <p:txBody>
          <a:bodyPr/>
          <a:lstStyle/>
          <a:p>
            <a:endParaRPr lang="en-ZA"/>
          </a:p>
        </p:txBody>
      </p:sp>
      <p:sp>
        <p:nvSpPr>
          <p:cNvPr id="9" name="Text 7"/>
          <p:cNvSpPr/>
          <p:nvPr/>
        </p:nvSpPr>
        <p:spPr>
          <a:xfrm>
            <a:off x="841248" y="2606040"/>
            <a:ext cx="438912" cy="384048"/>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0" name="Text 8"/>
          <p:cNvSpPr/>
          <p:nvPr/>
        </p:nvSpPr>
        <p:spPr>
          <a:xfrm>
            <a:off x="1371600" y="2587752"/>
            <a:ext cx="2468880" cy="41148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Business Strategy</a:t>
            </a:r>
            <a:endParaRPr lang="en-US" sz="1250" dirty="0"/>
          </a:p>
        </p:txBody>
      </p:sp>
      <p:sp>
        <p:nvSpPr>
          <p:cNvPr id="11" name="Text 9"/>
          <p:cNvSpPr/>
          <p:nvPr/>
        </p:nvSpPr>
        <p:spPr>
          <a:xfrm>
            <a:off x="3886200" y="2587752"/>
            <a:ext cx="3337560" cy="41148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AI tied to recovery and operational KPIs</a:t>
            </a:r>
            <a:endParaRPr lang="en-US" sz="1050" dirty="0"/>
          </a:p>
        </p:txBody>
      </p:sp>
      <p:sp>
        <p:nvSpPr>
          <p:cNvPr id="12" name="Shape 10"/>
          <p:cNvSpPr/>
          <p:nvPr/>
        </p:nvSpPr>
        <p:spPr>
          <a:xfrm>
            <a:off x="841248" y="3108960"/>
            <a:ext cx="438912" cy="384048"/>
          </a:xfrm>
          <a:prstGeom prst="hexagon">
            <a:avLst/>
          </a:prstGeom>
          <a:solidFill>
            <a:srgbClr val="0057B8"/>
          </a:solidFill>
          <a:ln w="12700">
            <a:solidFill>
              <a:srgbClr val="0057B8"/>
            </a:solidFill>
            <a:prstDash val="solid"/>
          </a:ln>
        </p:spPr>
        <p:txBody>
          <a:bodyPr/>
          <a:lstStyle/>
          <a:p>
            <a:endParaRPr lang="en-ZA"/>
          </a:p>
        </p:txBody>
      </p:sp>
      <p:sp>
        <p:nvSpPr>
          <p:cNvPr id="13" name="Text 11"/>
          <p:cNvSpPr/>
          <p:nvPr/>
        </p:nvSpPr>
        <p:spPr>
          <a:xfrm>
            <a:off x="841248" y="3108960"/>
            <a:ext cx="438912" cy="384048"/>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4" name="Text 12"/>
          <p:cNvSpPr/>
          <p:nvPr/>
        </p:nvSpPr>
        <p:spPr>
          <a:xfrm>
            <a:off x="1371600" y="3090672"/>
            <a:ext cx="2468880" cy="41148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Organisation &amp; Culture</a:t>
            </a:r>
            <a:endParaRPr lang="en-US" sz="1250" dirty="0"/>
          </a:p>
        </p:txBody>
      </p:sp>
      <p:sp>
        <p:nvSpPr>
          <p:cNvPr id="15" name="Text 13"/>
          <p:cNvSpPr/>
          <p:nvPr/>
        </p:nvSpPr>
        <p:spPr>
          <a:xfrm>
            <a:off x="3886200" y="3090672"/>
            <a:ext cx="3337560" cy="41148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AI fluency across the workforce</a:t>
            </a:r>
            <a:endParaRPr lang="en-US" sz="1050" dirty="0"/>
          </a:p>
        </p:txBody>
      </p:sp>
      <p:sp>
        <p:nvSpPr>
          <p:cNvPr id="16" name="Shape 14"/>
          <p:cNvSpPr/>
          <p:nvPr/>
        </p:nvSpPr>
        <p:spPr>
          <a:xfrm>
            <a:off x="841248" y="3611880"/>
            <a:ext cx="438912" cy="384048"/>
          </a:xfrm>
          <a:prstGeom prst="hexagon">
            <a:avLst/>
          </a:prstGeom>
          <a:solidFill>
            <a:srgbClr val="225B62"/>
          </a:solidFill>
          <a:ln w="12700">
            <a:solidFill>
              <a:srgbClr val="225B62"/>
            </a:solidFill>
            <a:prstDash val="solid"/>
          </a:ln>
        </p:spPr>
        <p:txBody>
          <a:bodyPr/>
          <a:lstStyle/>
          <a:p>
            <a:endParaRPr lang="en-ZA"/>
          </a:p>
        </p:txBody>
      </p:sp>
      <p:sp>
        <p:nvSpPr>
          <p:cNvPr id="17" name="Text 15"/>
          <p:cNvSpPr/>
          <p:nvPr/>
        </p:nvSpPr>
        <p:spPr>
          <a:xfrm>
            <a:off x="841248" y="3611880"/>
            <a:ext cx="438912" cy="384048"/>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18" name="Text 16"/>
          <p:cNvSpPr/>
          <p:nvPr/>
        </p:nvSpPr>
        <p:spPr>
          <a:xfrm>
            <a:off x="1371600" y="3593592"/>
            <a:ext cx="2468880" cy="41148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AI Strategy &amp; Experience</a:t>
            </a:r>
            <a:endParaRPr lang="en-US" sz="1250" dirty="0"/>
          </a:p>
        </p:txBody>
      </p:sp>
      <p:sp>
        <p:nvSpPr>
          <p:cNvPr id="19" name="Text 17"/>
          <p:cNvSpPr/>
          <p:nvPr/>
        </p:nvSpPr>
        <p:spPr>
          <a:xfrm>
            <a:off x="3886200" y="3593592"/>
            <a:ext cx="3337560" cy="41148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Managed portfolio, prioritisation, gates</a:t>
            </a:r>
            <a:endParaRPr lang="en-US" sz="1050" dirty="0"/>
          </a:p>
        </p:txBody>
      </p:sp>
      <p:sp>
        <p:nvSpPr>
          <p:cNvPr id="20" name="Shape 18"/>
          <p:cNvSpPr/>
          <p:nvPr/>
        </p:nvSpPr>
        <p:spPr>
          <a:xfrm>
            <a:off x="841248" y="4114800"/>
            <a:ext cx="438912" cy="384048"/>
          </a:xfrm>
          <a:prstGeom prst="hexagon">
            <a:avLst/>
          </a:prstGeom>
          <a:solidFill>
            <a:srgbClr val="225B62"/>
          </a:solidFill>
          <a:ln w="12700">
            <a:solidFill>
              <a:srgbClr val="225B62"/>
            </a:solidFill>
            <a:prstDash val="solid"/>
          </a:ln>
        </p:spPr>
        <p:txBody>
          <a:bodyPr/>
          <a:lstStyle/>
          <a:p>
            <a:endParaRPr lang="en-ZA"/>
          </a:p>
        </p:txBody>
      </p:sp>
      <p:sp>
        <p:nvSpPr>
          <p:cNvPr id="21" name="Text 19"/>
          <p:cNvSpPr/>
          <p:nvPr/>
        </p:nvSpPr>
        <p:spPr>
          <a:xfrm>
            <a:off x="841248" y="4114800"/>
            <a:ext cx="438912" cy="384048"/>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4</a:t>
            </a:r>
            <a:endParaRPr lang="en-US" sz="1200" dirty="0"/>
          </a:p>
        </p:txBody>
      </p:sp>
      <p:sp>
        <p:nvSpPr>
          <p:cNvPr id="22" name="Text 20"/>
          <p:cNvSpPr/>
          <p:nvPr/>
        </p:nvSpPr>
        <p:spPr>
          <a:xfrm>
            <a:off x="1371600" y="4096512"/>
            <a:ext cx="2468880" cy="41148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Technology &amp; Data</a:t>
            </a:r>
            <a:endParaRPr lang="en-US" sz="1250" dirty="0"/>
          </a:p>
        </p:txBody>
      </p:sp>
      <p:sp>
        <p:nvSpPr>
          <p:cNvPr id="23" name="Text 21"/>
          <p:cNvSpPr/>
          <p:nvPr/>
        </p:nvSpPr>
        <p:spPr>
          <a:xfrm>
            <a:off x="3886200" y="4096512"/>
            <a:ext cx="3337560" cy="41148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Unified platform across all Eskom divisions</a:t>
            </a:r>
            <a:endParaRPr lang="en-US" sz="1050" dirty="0"/>
          </a:p>
        </p:txBody>
      </p:sp>
      <p:sp>
        <p:nvSpPr>
          <p:cNvPr id="24" name="Shape 22"/>
          <p:cNvSpPr/>
          <p:nvPr/>
        </p:nvSpPr>
        <p:spPr>
          <a:xfrm>
            <a:off x="841248" y="4617720"/>
            <a:ext cx="438912" cy="384048"/>
          </a:xfrm>
          <a:prstGeom prst="hexagon">
            <a:avLst/>
          </a:prstGeom>
          <a:solidFill>
            <a:srgbClr val="FFB900"/>
          </a:solidFill>
          <a:ln w="12700">
            <a:solidFill>
              <a:srgbClr val="FFB900"/>
            </a:solidFill>
            <a:prstDash val="solid"/>
          </a:ln>
        </p:spPr>
        <p:txBody>
          <a:bodyPr/>
          <a:lstStyle/>
          <a:p>
            <a:endParaRPr lang="en-ZA"/>
          </a:p>
        </p:txBody>
      </p:sp>
      <p:sp>
        <p:nvSpPr>
          <p:cNvPr id="25" name="Text 23"/>
          <p:cNvSpPr/>
          <p:nvPr/>
        </p:nvSpPr>
        <p:spPr>
          <a:xfrm>
            <a:off x="841248" y="4617720"/>
            <a:ext cx="438912" cy="384048"/>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5</a:t>
            </a:r>
            <a:endParaRPr lang="en-US" sz="1200" dirty="0"/>
          </a:p>
        </p:txBody>
      </p:sp>
      <p:sp>
        <p:nvSpPr>
          <p:cNvPr id="26" name="Text 24"/>
          <p:cNvSpPr/>
          <p:nvPr/>
        </p:nvSpPr>
        <p:spPr>
          <a:xfrm>
            <a:off x="1371600" y="4599432"/>
            <a:ext cx="2468880" cy="41148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Governance &amp; Security</a:t>
            </a:r>
            <a:endParaRPr lang="en-US" sz="1250" dirty="0"/>
          </a:p>
        </p:txBody>
      </p:sp>
      <p:sp>
        <p:nvSpPr>
          <p:cNvPr id="27" name="Text 25"/>
          <p:cNvSpPr/>
          <p:nvPr/>
        </p:nvSpPr>
        <p:spPr>
          <a:xfrm>
            <a:off x="3886200" y="4599432"/>
            <a:ext cx="3337560" cy="41148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POPIA · PFMA · NERSA-grade controls</a:t>
            </a:r>
            <a:endParaRPr lang="en-US" sz="1050" dirty="0"/>
          </a:p>
        </p:txBody>
      </p:sp>
      <p:sp>
        <p:nvSpPr>
          <p:cNvPr id="28" name="Shape 26"/>
          <p:cNvSpPr/>
          <p:nvPr/>
        </p:nvSpPr>
        <p:spPr>
          <a:xfrm>
            <a:off x="841248" y="5120640"/>
            <a:ext cx="438912" cy="384048"/>
          </a:xfrm>
          <a:prstGeom prst="hexagon">
            <a:avLst/>
          </a:prstGeom>
          <a:solidFill>
            <a:srgbClr val="FF5C39"/>
          </a:solidFill>
          <a:ln w="12700">
            <a:solidFill>
              <a:srgbClr val="FF5C39"/>
            </a:solidFill>
            <a:prstDash val="solid"/>
          </a:ln>
        </p:spPr>
        <p:txBody>
          <a:bodyPr/>
          <a:lstStyle/>
          <a:p>
            <a:endParaRPr lang="en-ZA"/>
          </a:p>
        </p:txBody>
      </p:sp>
      <p:sp>
        <p:nvSpPr>
          <p:cNvPr id="29" name="Text 27"/>
          <p:cNvSpPr/>
          <p:nvPr/>
        </p:nvSpPr>
        <p:spPr>
          <a:xfrm>
            <a:off x="841248" y="5120640"/>
            <a:ext cx="438912" cy="384048"/>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30" name="Text 28"/>
          <p:cNvSpPr/>
          <p:nvPr/>
        </p:nvSpPr>
        <p:spPr>
          <a:xfrm>
            <a:off x="1371600" y="5102352"/>
            <a:ext cx="2468880" cy="41148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Microsoft + Specialist Partner</a:t>
            </a:r>
            <a:endParaRPr lang="en-US" sz="1250" dirty="0"/>
          </a:p>
        </p:txBody>
      </p:sp>
      <p:sp>
        <p:nvSpPr>
          <p:cNvPr id="31" name="Text 29"/>
          <p:cNvSpPr/>
          <p:nvPr/>
        </p:nvSpPr>
        <p:spPr>
          <a:xfrm>
            <a:off x="3886200" y="5102352"/>
            <a:ext cx="3337560" cy="411480"/>
          </a:xfrm>
          <a:prstGeom prst="rect">
            <a:avLst/>
          </a:prstGeom>
          <a:noFill/>
          <a:ln/>
        </p:spPr>
        <p:txBody>
          <a:bodyPr wrap="square" rtlCol="0" anchor="ctr"/>
          <a:lstStyle/>
          <a:p>
            <a:pPr marL="0" indent="0">
              <a:buNone/>
            </a:pPr>
            <a:r>
              <a:rPr lang="en-US" sz="1050" dirty="0">
                <a:solidFill>
                  <a:srgbClr val="4B5563"/>
                </a:solidFill>
                <a:latin typeface="Segoe UI" pitchFamily="34" charset="0"/>
                <a:ea typeface="Segoe UI" pitchFamily="34" charset="-122"/>
                <a:cs typeface="Segoe UI" pitchFamily="34" charset="-120"/>
              </a:rPr>
              <a:t>Inside your operating model, not next to it</a:t>
            </a:r>
            <a:endParaRPr lang="en-US" sz="1050" dirty="0"/>
          </a:p>
        </p:txBody>
      </p:sp>
      <p:sp>
        <p:nvSpPr>
          <p:cNvPr id="32" name="Shape 30"/>
          <p:cNvSpPr/>
          <p:nvPr/>
        </p:nvSpPr>
        <p:spPr>
          <a:xfrm>
            <a:off x="7635240" y="1691640"/>
            <a:ext cx="4023360" cy="4160520"/>
          </a:xfrm>
          <a:prstGeom prst="roundRect">
            <a:avLst>
              <a:gd name="adj" fmla="val 2727"/>
            </a:avLst>
          </a:prstGeom>
          <a:solidFill>
            <a:srgbClr val="091F2C"/>
          </a:solidFill>
          <a:ln w="12700">
            <a:solidFill>
              <a:srgbClr val="091F2C"/>
            </a:solidFill>
            <a:prstDash val="solid"/>
          </a:ln>
        </p:spPr>
        <p:txBody>
          <a:bodyPr/>
          <a:lstStyle/>
          <a:p>
            <a:endParaRPr lang="en-ZA"/>
          </a:p>
        </p:txBody>
      </p:sp>
      <p:sp>
        <p:nvSpPr>
          <p:cNvPr id="33" name="Text 31"/>
          <p:cNvSpPr/>
          <p:nvPr/>
        </p:nvSpPr>
        <p:spPr>
          <a:xfrm>
            <a:off x="7863840" y="1874520"/>
            <a:ext cx="3566160" cy="274320"/>
          </a:xfrm>
          <a:prstGeom prst="rect">
            <a:avLst/>
          </a:prstGeom>
          <a:noFill/>
          <a:ln/>
        </p:spPr>
        <p:txBody>
          <a:bodyPr wrap="square" rtlCol="0" anchor="ctr"/>
          <a:lstStyle/>
          <a:p>
            <a:pPr marL="0" indent="0">
              <a:buNone/>
            </a:pPr>
            <a:r>
              <a:rPr lang="en-US" sz="1100" b="1" kern="0" spc="300" dirty="0">
                <a:solidFill>
                  <a:srgbClr val="C03BC4"/>
                </a:solidFill>
                <a:latin typeface="Segoe UI" pitchFamily="34" charset="0"/>
                <a:ea typeface="Segoe UI" pitchFamily="34" charset="-122"/>
                <a:cs typeface="Segoe UI" pitchFamily="34" charset="-120"/>
              </a:rPr>
              <a:t>THE QUESTION A CoE ANSWERS</a:t>
            </a:r>
            <a:endParaRPr lang="en-US" sz="1100" dirty="0"/>
          </a:p>
        </p:txBody>
      </p:sp>
      <p:sp>
        <p:nvSpPr>
          <p:cNvPr id="34" name="Text 32"/>
          <p:cNvSpPr/>
          <p:nvPr/>
        </p:nvSpPr>
        <p:spPr>
          <a:xfrm>
            <a:off x="7863840" y="2194560"/>
            <a:ext cx="3566160" cy="1280160"/>
          </a:xfrm>
          <a:prstGeom prst="rect">
            <a:avLst/>
          </a:prstGeom>
          <a:noFill/>
          <a:ln/>
        </p:spPr>
        <p:txBody>
          <a:bodyPr wrap="square" rtlCol="0" anchor="ctr"/>
          <a:lstStyle/>
          <a:p>
            <a:pPr marL="0" indent="0">
              <a:buNone/>
            </a:pPr>
            <a:r>
              <a:rPr lang="en-US" sz="1500" b="1" i="1" dirty="0">
                <a:solidFill>
                  <a:srgbClr val="FFFFFF"/>
                </a:solidFill>
                <a:latin typeface="Segoe UI" pitchFamily="34" charset="0"/>
                <a:ea typeface="Segoe UI" pitchFamily="34" charset="-122"/>
                <a:cs typeface="Segoe UI" pitchFamily="34" charset="-120"/>
              </a:rPr>
              <a:t>How do you scale AI across Generation, Transmission, and Distribution — under one governance model the country can trust?</a:t>
            </a:r>
            <a:endParaRPr lang="en-US" sz="1500" dirty="0"/>
          </a:p>
        </p:txBody>
      </p:sp>
      <p:sp>
        <p:nvSpPr>
          <p:cNvPr id="35" name="Shape 33"/>
          <p:cNvSpPr/>
          <p:nvPr/>
        </p:nvSpPr>
        <p:spPr>
          <a:xfrm>
            <a:off x="7863840" y="3657600"/>
            <a:ext cx="3566160" cy="18288"/>
          </a:xfrm>
          <a:prstGeom prst="rect">
            <a:avLst/>
          </a:prstGeom>
          <a:solidFill>
            <a:srgbClr val="C03BC4"/>
          </a:solidFill>
          <a:ln w="12700">
            <a:solidFill>
              <a:srgbClr val="C03BC4"/>
            </a:solidFill>
            <a:prstDash val="solid"/>
          </a:ln>
        </p:spPr>
        <p:txBody>
          <a:bodyPr/>
          <a:lstStyle/>
          <a:p>
            <a:endParaRPr lang="en-ZA"/>
          </a:p>
        </p:txBody>
      </p:sp>
      <p:sp>
        <p:nvSpPr>
          <p:cNvPr id="36" name="Text 34"/>
          <p:cNvSpPr/>
          <p:nvPr/>
        </p:nvSpPr>
        <p:spPr>
          <a:xfrm>
            <a:off x="7863840" y="3794760"/>
            <a:ext cx="3566160" cy="274320"/>
          </a:xfrm>
          <a:prstGeom prst="rect">
            <a:avLst/>
          </a:prstGeom>
          <a:noFill/>
          <a:ln/>
        </p:spPr>
        <p:txBody>
          <a:bodyPr wrap="square" rtlCol="0" anchor="ctr"/>
          <a:lstStyle/>
          <a:p>
            <a:pPr marL="0" indent="0">
              <a:buNone/>
            </a:pPr>
            <a:r>
              <a:rPr lang="en-US" sz="1100" b="1" kern="0" spc="200" dirty="0">
                <a:solidFill>
                  <a:srgbClr val="C03BC4"/>
                </a:solidFill>
                <a:latin typeface="Segoe UI" pitchFamily="34" charset="0"/>
                <a:ea typeface="Segoe UI" pitchFamily="34" charset="-122"/>
                <a:cs typeface="Segoe UI" pitchFamily="34" charset="-120"/>
              </a:rPr>
              <a:t>A CoE provides:</a:t>
            </a:r>
            <a:endParaRPr lang="en-US" sz="1100" dirty="0"/>
          </a:p>
        </p:txBody>
      </p:sp>
      <p:sp>
        <p:nvSpPr>
          <p:cNvPr id="37" name="Shape 35"/>
          <p:cNvSpPr/>
          <p:nvPr/>
        </p:nvSpPr>
        <p:spPr>
          <a:xfrm>
            <a:off x="7909560" y="4160520"/>
            <a:ext cx="128016" cy="128016"/>
          </a:xfrm>
          <a:prstGeom prst="ellipse">
            <a:avLst/>
          </a:prstGeom>
          <a:solidFill>
            <a:srgbClr val="C03BC4"/>
          </a:solidFill>
          <a:ln w="12700">
            <a:solidFill>
              <a:srgbClr val="C03BC4"/>
            </a:solidFill>
            <a:prstDash val="solid"/>
          </a:ln>
        </p:spPr>
        <p:txBody>
          <a:bodyPr/>
          <a:lstStyle/>
          <a:p>
            <a:endParaRPr lang="en-ZA"/>
          </a:p>
        </p:txBody>
      </p:sp>
      <p:sp>
        <p:nvSpPr>
          <p:cNvPr id="38" name="Text 36"/>
          <p:cNvSpPr/>
          <p:nvPr/>
        </p:nvSpPr>
        <p:spPr>
          <a:xfrm>
            <a:off x="8092440" y="4096512"/>
            <a:ext cx="3337560" cy="3657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A managed portfolio of AI use cases</a:t>
            </a:r>
            <a:endParaRPr lang="en-US" sz="1100" dirty="0"/>
          </a:p>
        </p:txBody>
      </p:sp>
      <p:sp>
        <p:nvSpPr>
          <p:cNvPr id="39" name="Shape 37"/>
          <p:cNvSpPr/>
          <p:nvPr/>
        </p:nvSpPr>
        <p:spPr>
          <a:xfrm>
            <a:off x="7909560" y="4544568"/>
            <a:ext cx="128016" cy="128016"/>
          </a:xfrm>
          <a:prstGeom prst="ellipse">
            <a:avLst/>
          </a:prstGeom>
          <a:solidFill>
            <a:srgbClr val="C03BC4"/>
          </a:solidFill>
          <a:ln w="12700">
            <a:solidFill>
              <a:srgbClr val="C03BC4"/>
            </a:solidFill>
            <a:prstDash val="solid"/>
          </a:ln>
        </p:spPr>
        <p:txBody>
          <a:bodyPr/>
          <a:lstStyle/>
          <a:p>
            <a:endParaRPr lang="en-ZA"/>
          </a:p>
        </p:txBody>
      </p:sp>
      <p:sp>
        <p:nvSpPr>
          <p:cNvPr id="40" name="Text 38"/>
          <p:cNvSpPr/>
          <p:nvPr/>
        </p:nvSpPr>
        <p:spPr>
          <a:xfrm>
            <a:off x="8092440" y="4480560"/>
            <a:ext cx="3337560" cy="3657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Common governance across divisions</a:t>
            </a:r>
            <a:endParaRPr lang="en-US" sz="1100" dirty="0"/>
          </a:p>
        </p:txBody>
      </p:sp>
      <p:sp>
        <p:nvSpPr>
          <p:cNvPr id="41" name="Shape 39"/>
          <p:cNvSpPr/>
          <p:nvPr/>
        </p:nvSpPr>
        <p:spPr>
          <a:xfrm>
            <a:off x="7909560" y="4928616"/>
            <a:ext cx="128016" cy="128016"/>
          </a:xfrm>
          <a:prstGeom prst="ellipse">
            <a:avLst/>
          </a:prstGeom>
          <a:solidFill>
            <a:srgbClr val="C03BC4"/>
          </a:solidFill>
          <a:ln w="12700">
            <a:solidFill>
              <a:srgbClr val="C03BC4"/>
            </a:solidFill>
            <a:prstDash val="solid"/>
          </a:ln>
        </p:spPr>
        <p:txBody>
          <a:bodyPr/>
          <a:lstStyle/>
          <a:p>
            <a:endParaRPr lang="en-ZA"/>
          </a:p>
        </p:txBody>
      </p:sp>
      <p:sp>
        <p:nvSpPr>
          <p:cNvPr id="42" name="Text 40"/>
          <p:cNvSpPr/>
          <p:nvPr/>
        </p:nvSpPr>
        <p:spPr>
          <a:xfrm>
            <a:off x="8092440" y="4864608"/>
            <a:ext cx="3337560" cy="3657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Skilling that compounds in your workforce</a:t>
            </a:r>
            <a:endParaRPr lang="en-US" sz="1100" dirty="0"/>
          </a:p>
        </p:txBody>
      </p:sp>
      <p:sp>
        <p:nvSpPr>
          <p:cNvPr id="43" name="Shape 41"/>
          <p:cNvSpPr/>
          <p:nvPr/>
        </p:nvSpPr>
        <p:spPr>
          <a:xfrm>
            <a:off x="7909560" y="5312664"/>
            <a:ext cx="128016" cy="128016"/>
          </a:xfrm>
          <a:prstGeom prst="ellipse">
            <a:avLst/>
          </a:prstGeom>
          <a:solidFill>
            <a:srgbClr val="C03BC4"/>
          </a:solidFill>
          <a:ln w="12700">
            <a:solidFill>
              <a:srgbClr val="C03BC4"/>
            </a:solidFill>
            <a:prstDash val="solid"/>
          </a:ln>
        </p:spPr>
        <p:txBody>
          <a:bodyPr/>
          <a:lstStyle/>
          <a:p>
            <a:endParaRPr lang="en-ZA"/>
          </a:p>
        </p:txBody>
      </p:sp>
      <p:sp>
        <p:nvSpPr>
          <p:cNvPr id="44" name="Text 42"/>
          <p:cNvSpPr/>
          <p:nvPr/>
        </p:nvSpPr>
        <p:spPr>
          <a:xfrm>
            <a:off x="8092440" y="5248656"/>
            <a:ext cx="3337560" cy="3657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A federated operating model across all divisions</a:t>
            </a:r>
            <a:endParaRPr lang="en-US" sz="1100" dirty="0"/>
          </a:p>
        </p:txBody>
      </p:sp>
      <p:sp>
        <p:nvSpPr>
          <p:cNvPr id="45" name="Text 43"/>
          <p:cNvSpPr/>
          <p:nvPr/>
        </p:nvSpPr>
        <p:spPr>
          <a:xfrm>
            <a:off x="548640" y="6035040"/>
            <a:ext cx="10972800" cy="274320"/>
          </a:xfrm>
          <a:prstGeom prst="rect">
            <a:avLst/>
          </a:prstGeom>
          <a:noFill/>
          <a:ln/>
        </p:spPr>
        <p:txBody>
          <a:bodyPr wrap="square" rtlCol="0" anchor="ctr"/>
          <a:lstStyle/>
          <a:p>
            <a:pPr marL="0" indent="0" algn="ctr">
              <a:buNone/>
            </a:pPr>
            <a:r>
              <a:rPr lang="en-US" sz="1200" i="1" dirty="0">
                <a:solidFill>
                  <a:srgbClr val="091F2C"/>
                </a:solidFill>
                <a:latin typeface="Segoe UI" pitchFamily="34" charset="0"/>
                <a:ea typeface="Segoe UI" pitchFamily="34" charset="-122"/>
                <a:cs typeface="Segoe UI" pitchFamily="34" charset="-120"/>
              </a:rPr>
              <a:t>"A CoE is the difference between 20,000 people using AI and an enterprise running on AI."</a:t>
            </a:r>
            <a:endParaRPr lang="en-US" sz="1200" dirty="0"/>
          </a:p>
        </p:txBody>
      </p:sp>
      <p:pic>
        <p:nvPicPr>
          <p:cNvPr id="46"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47" name="Text 44"/>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Prepared for Eskom executive briefing  ·  Confidential</a:t>
            </a:r>
            <a:endParaRPr lang="en-US" sz="900" dirty="0"/>
          </a:p>
        </p:txBody>
      </p:sp>
      <p:sp>
        <p:nvSpPr>
          <p:cNvPr id="48" name="Text 45"/>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4 / 10</a:t>
            </a:r>
            <a:endParaRPr lang="en-US" sz="900" dirty="0"/>
          </a:p>
        </p:txBody>
      </p:sp>
      <p:sp>
        <p:nvSpPr>
          <p:cNvPr id="49" name="AICOE_GEO_ACCENT_Right Triangle 48"/>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ICOE_GEO_ACCENT_Right Triangle 49"/>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9728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THREE AI SURFACES</a:t>
            </a:r>
            <a:endParaRPr lang="en-US" sz="1200" dirty="0"/>
          </a:p>
        </p:txBody>
      </p:sp>
      <p:sp>
        <p:nvSpPr>
          <p:cNvPr id="4" name="Text 2"/>
          <p:cNvSpPr/>
          <p:nvPr/>
        </p:nvSpPr>
        <p:spPr>
          <a:xfrm>
            <a:off x="548640" y="777240"/>
            <a:ext cx="11155680" cy="777240"/>
          </a:xfrm>
          <a:prstGeom prst="rect">
            <a:avLst/>
          </a:prstGeom>
          <a:noFill/>
          <a:ln/>
        </p:spPr>
        <p:txBody>
          <a:bodyPr wrap="square" rtlCol="0" anchor="ctr"/>
          <a:lstStyle/>
          <a:p>
            <a:pPr marL="0" indent="0">
              <a:buNone/>
            </a:pPr>
            <a:r>
              <a:rPr lang="en-US" sz="2800" b="1" dirty="0">
                <a:solidFill>
                  <a:srgbClr val="091F2C"/>
                </a:solidFill>
                <a:latin typeface="Segoe UI" pitchFamily="34" charset="0"/>
                <a:ea typeface="Segoe UI" pitchFamily="34" charset="-122"/>
                <a:cs typeface="Segoe UI" pitchFamily="34" charset="-120"/>
              </a:rPr>
              <a:t>Productivity → process → industry-specific.</a:t>
            </a:r>
            <a:endParaRPr lang="en-US" sz="2800" dirty="0"/>
          </a:p>
        </p:txBody>
      </p:sp>
      <p:sp>
        <p:nvSpPr>
          <p:cNvPr id="5" name="Shape 3"/>
          <p:cNvSpPr/>
          <p:nvPr/>
        </p:nvSpPr>
        <p:spPr>
          <a:xfrm>
            <a:off x="376276" y="1691640"/>
            <a:ext cx="3703320" cy="4160520"/>
          </a:xfrm>
          <a:prstGeom prst="roundRect">
            <a:avLst>
              <a:gd name="adj" fmla="val 2469"/>
            </a:avLst>
          </a:prstGeom>
          <a:solidFill>
            <a:srgbClr val="FFFFFF"/>
          </a:solidFill>
          <a:ln w="12700">
            <a:solidFill>
              <a:srgbClr val="E8DDD1"/>
            </a:solidFill>
            <a:prstDash val="solid"/>
          </a:ln>
        </p:spPr>
        <p:txBody>
          <a:bodyPr/>
          <a:lstStyle/>
          <a:p>
            <a:endParaRPr lang="en-ZA"/>
          </a:p>
        </p:txBody>
      </p:sp>
      <p:sp>
        <p:nvSpPr>
          <p:cNvPr id="6" name="Shape 4"/>
          <p:cNvSpPr/>
          <p:nvPr/>
        </p:nvSpPr>
        <p:spPr>
          <a:xfrm>
            <a:off x="376276" y="1691640"/>
            <a:ext cx="3703320" cy="73152"/>
          </a:xfrm>
          <a:prstGeom prst="rect">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604876" y="1874520"/>
            <a:ext cx="3246120" cy="41148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M365 Copilot</a:t>
            </a:r>
            <a:endParaRPr lang="en-US" sz="1800" dirty="0"/>
          </a:p>
        </p:txBody>
      </p:sp>
      <p:sp>
        <p:nvSpPr>
          <p:cNvPr id="8" name="Text 6"/>
          <p:cNvSpPr/>
          <p:nvPr/>
        </p:nvSpPr>
        <p:spPr>
          <a:xfrm>
            <a:off x="604876" y="2331720"/>
            <a:ext cx="3246120" cy="274320"/>
          </a:xfrm>
          <a:prstGeom prst="rect">
            <a:avLst/>
          </a:prstGeom>
          <a:noFill/>
          <a:ln/>
        </p:spPr>
        <p:txBody>
          <a:bodyPr wrap="square" rtlCol="0" anchor="ctr"/>
          <a:lstStyle/>
          <a:p>
            <a:pPr marL="0" indent="0">
              <a:buNone/>
            </a:pPr>
            <a:r>
              <a:rPr lang="en-US" sz="1000" b="1" kern="0" spc="200" dirty="0">
                <a:solidFill>
                  <a:srgbClr val="0078D4"/>
                </a:solidFill>
                <a:latin typeface="Segoe UI" pitchFamily="34" charset="0"/>
                <a:ea typeface="Segoe UI" pitchFamily="34" charset="-122"/>
                <a:cs typeface="Segoe UI" pitchFamily="34" charset="-120"/>
              </a:rPr>
              <a:t>Productivity · Already deployed</a:t>
            </a:r>
            <a:endParaRPr lang="en-US" sz="1000" dirty="0"/>
          </a:p>
        </p:txBody>
      </p:sp>
      <p:sp>
        <p:nvSpPr>
          <p:cNvPr id="9" name="Text 7"/>
          <p:cNvSpPr/>
          <p:nvPr/>
        </p:nvSpPr>
        <p:spPr>
          <a:xfrm>
            <a:off x="604876" y="2651760"/>
            <a:ext cx="3246120" cy="11430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20,000 seats live in Outlook, Teams, Word, Excel. The question now is depth of adoption — every Eskom employee using it for measurable time saved.</a:t>
            </a:r>
            <a:endParaRPr lang="en-US" sz="1100" dirty="0"/>
          </a:p>
        </p:txBody>
      </p:sp>
      <p:sp>
        <p:nvSpPr>
          <p:cNvPr id="10" name="Text 8"/>
          <p:cNvSpPr/>
          <p:nvPr/>
        </p:nvSpPr>
        <p:spPr>
          <a:xfrm>
            <a:off x="604876" y="3886200"/>
            <a:ext cx="3246120" cy="228600"/>
          </a:xfrm>
          <a:prstGeom prst="rect">
            <a:avLst/>
          </a:prstGeom>
          <a:noFill/>
          <a:ln/>
        </p:spPr>
        <p:txBody>
          <a:bodyPr wrap="square" rtlCol="0" anchor="ctr"/>
          <a:lstStyle/>
          <a:p>
            <a:pPr marL="0" indent="0">
              <a:buNone/>
            </a:pPr>
            <a:r>
              <a:rPr lang="en-US" sz="900" b="1" kern="0" spc="200" dirty="0">
                <a:solidFill>
                  <a:srgbClr val="091F2C"/>
                </a:solidFill>
                <a:latin typeface="Segoe UI" pitchFamily="34" charset="0"/>
                <a:ea typeface="Segoe UI" pitchFamily="34" charset="-122"/>
                <a:cs typeface="Segoe UI" pitchFamily="34" charset="-120"/>
              </a:rPr>
              <a:t>EXAMPLES FOR ESKOM</a:t>
            </a:r>
            <a:endParaRPr lang="en-US" sz="900" dirty="0"/>
          </a:p>
        </p:txBody>
      </p:sp>
      <p:sp>
        <p:nvSpPr>
          <p:cNvPr id="11" name="Shape 9"/>
          <p:cNvSpPr/>
          <p:nvPr/>
        </p:nvSpPr>
        <p:spPr>
          <a:xfrm>
            <a:off x="650596" y="4251960"/>
            <a:ext cx="91440" cy="91440"/>
          </a:xfrm>
          <a:prstGeom prst="ellipse">
            <a:avLst/>
          </a:prstGeom>
          <a:solidFill>
            <a:srgbClr val="0078D4"/>
          </a:solidFill>
          <a:ln w="12700">
            <a:solidFill>
              <a:srgbClr val="0078D4"/>
            </a:solidFill>
            <a:prstDash val="solid"/>
          </a:ln>
        </p:spPr>
        <p:txBody>
          <a:bodyPr/>
          <a:lstStyle/>
          <a:p>
            <a:endParaRPr lang="en-ZA"/>
          </a:p>
        </p:txBody>
      </p:sp>
      <p:sp>
        <p:nvSpPr>
          <p:cNvPr id="12" name="Text 10"/>
          <p:cNvSpPr/>
          <p:nvPr/>
        </p:nvSpPr>
        <p:spPr>
          <a:xfrm>
            <a:off x="833476" y="4160520"/>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Email triage and meeting prep</a:t>
            </a:r>
            <a:endParaRPr lang="en-US" sz="1050" dirty="0"/>
          </a:p>
        </p:txBody>
      </p:sp>
      <p:sp>
        <p:nvSpPr>
          <p:cNvPr id="13" name="Shape 11"/>
          <p:cNvSpPr/>
          <p:nvPr/>
        </p:nvSpPr>
        <p:spPr>
          <a:xfrm>
            <a:off x="650596" y="4581144"/>
            <a:ext cx="91440" cy="91440"/>
          </a:xfrm>
          <a:prstGeom prst="ellipse">
            <a:avLst/>
          </a:prstGeom>
          <a:solidFill>
            <a:srgbClr val="0078D4"/>
          </a:solidFill>
          <a:ln w="12700">
            <a:solidFill>
              <a:srgbClr val="0078D4"/>
            </a:solidFill>
            <a:prstDash val="solid"/>
          </a:ln>
        </p:spPr>
        <p:txBody>
          <a:bodyPr/>
          <a:lstStyle/>
          <a:p>
            <a:endParaRPr lang="en-ZA"/>
          </a:p>
        </p:txBody>
      </p:sp>
      <p:sp>
        <p:nvSpPr>
          <p:cNvPr id="14" name="Text 12"/>
          <p:cNvSpPr/>
          <p:nvPr/>
        </p:nvSpPr>
        <p:spPr>
          <a:xfrm>
            <a:off x="833476" y="4489704"/>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Drafting reports in Word</a:t>
            </a:r>
            <a:endParaRPr lang="en-US" sz="1050" dirty="0"/>
          </a:p>
        </p:txBody>
      </p:sp>
      <p:sp>
        <p:nvSpPr>
          <p:cNvPr id="15" name="Shape 13"/>
          <p:cNvSpPr/>
          <p:nvPr/>
        </p:nvSpPr>
        <p:spPr>
          <a:xfrm>
            <a:off x="650596" y="4910328"/>
            <a:ext cx="91440" cy="91440"/>
          </a:xfrm>
          <a:prstGeom prst="ellipse">
            <a:avLst/>
          </a:prstGeom>
          <a:solidFill>
            <a:srgbClr val="0078D4"/>
          </a:solidFill>
          <a:ln w="12700">
            <a:solidFill>
              <a:srgbClr val="0078D4"/>
            </a:solidFill>
            <a:prstDash val="solid"/>
          </a:ln>
        </p:spPr>
        <p:txBody>
          <a:bodyPr/>
          <a:lstStyle/>
          <a:p>
            <a:endParaRPr lang="en-ZA"/>
          </a:p>
        </p:txBody>
      </p:sp>
      <p:sp>
        <p:nvSpPr>
          <p:cNvPr id="16" name="Text 14"/>
          <p:cNvSpPr/>
          <p:nvPr/>
        </p:nvSpPr>
        <p:spPr>
          <a:xfrm>
            <a:off x="833476" y="4818888"/>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Excel analysis without formulas</a:t>
            </a:r>
            <a:endParaRPr lang="en-US" sz="1050" dirty="0"/>
          </a:p>
        </p:txBody>
      </p:sp>
      <p:sp>
        <p:nvSpPr>
          <p:cNvPr id="17" name="Shape 15"/>
          <p:cNvSpPr/>
          <p:nvPr/>
        </p:nvSpPr>
        <p:spPr>
          <a:xfrm>
            <a:off x="650596" y="5239512"/>
            <a:ext cx="91440" cy="91440"/>
          </a:xfrm>
          <a:prstGeom prst="ellipse">
            <a:avLst/>
          </a:prstGeom>
          <a:solidFill>
            <a:srgbClr val="0078D4"/>
          </a:solidFill>
          <a:ln w="12700">
            <a:solidFill>
              <a:srgbClr val="0078D4"/>
            </a:solidFill>
            <a:prstDash val="solid"/>
          </a:ln>
        </p:spPr>
        <p:txBody>
          <a:bodyPr/>
          <a:lstStyle/>
          <a:p>
            <a:endParaRPr lang="en-ZA"/>
          </a:p>
        </p:txBody>
      </p:sp>
      <p:sp>
        <p:nvSpPr>
          <p:cNvPr id="18" name="Text 16"/>
          <p:cNvSpPr/>
          <p:nvPr/>
        </p:nvSpPr>
        <p:spPr>
          <a:xfrm>
            <a:off x="833476" y="5148072"/>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Teams meeting recap and actions</a:t>
            </a:r>
            <a:endParaRPr lang="en-US" sz="1050" dirty="0"/>
          </a:p>
        </p:txBody>
      </p:sp>
      <p:sp>
        <p:nvSpPr>
          <p:cNvPr id="19" name="Shape 17"/>
          <p:cNvSpPr/>
          <p:nvPr/>
        </p:nvSpPr>
        <p:spPr>
          <a:xfrm>
            <a:off x="4244188" y="1691640"/>
            <a:ext cx="3703320" cy="4160520"/>
          </a:xfrm>
          <a:prstGeom prst="roundRect">
            <a:avLst>
              <a:gd name="adj" fmla="val 2469"/>
            </a:avLst>
          </a:prstGeom>
          <a:solidFill>
            <a:srgbClr val="FFFFFF"/>
          </a:solidFill>
          <a:ln w="12700">
            <a:solidFill>
              <a:srgbClr val="E8DDD1"/>
            </a:solidFill>
            <a:prstDash val="solid"/>
          </a:ln>
        </p:spPr>
        <p:txBody>
          <a:bodyPr/>
          <a:lstStyle/>
          <a:p>
            <a:endParaRPr lang="en-ZA"/>
          </a:p>
        </p:txBody>
      </p:sp>
      <p:sp>
        <p:nvSpPr>
          <p:cNvPr id="20" name="Shape 18"/>
          <p:cNvSpPr/>
          <p:nvPr/>
        </p:nvSpPr>
        <p:spPr>
          <a:xfrm>
            <a:off x="4244188" y="1691640"/>
            <a:ext cx="3703320" cy="73152"/>
          </a:xfrm>
          <a:prstGeom prst="rect">
            <a:avLst/>
          </a:prstGeom>
          <a:solidFill>
            <a:srgbClr val="0057B8"/>
          </a:solidFill>
          <a:ln w="12700">
            <a:solidFill>
              <a:srgbClr val="0057B8"/>
            </a:solidFill>
            <a:prstDash val="solid"/>
          </a:ln>
        </p:spPr>
        <p:txBody>
          <a:bodyPr/>
          <a:lstStyle/>
          <a:p>
            <a:endParaRPr lang="en-ZA"/>
          </a:p>
        </p:txBody>
      </p:sp>
      <p:sp>
        <p:nvSpPr>
          <p:cNvPr id="21" name="Text 19"/>
          <p:cNvSpPr/>
          <p:nvPr/>
        </p:nvSpPr>
        <p:spPr>
          <a:xfrm>
            <a:off x="4472788" y="1874520"/>
            <a:ext cx="3246120" cy="41148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Copilot Studio</a:t>
            </a:r>
            <a:endParaRPr lang="en-US" sz="1800" dirty="0"/>
          </a:p>
        </p:txBody>
      </p:sp>
      <p:sp>
        <p:nvSpPr>
          <p:cNvPr id="22" name="Text 20"/>
          <p:cNvSpPr/>
          <p:nvPr/>
        </p:nvSpPr>
        <p:spPr>
          <a:xfrm>
            <a:off x="4472788" y="2331720"/>
            <a:ext cx="3246120" cy="274320"/>
          </a:xfrm>
          <a:prstGeom prst="rect">
            <a:avLst/>
          </a:prstGeom>
          <a:noFill/>
          <a:ln/>
        </p:spPr>
        <p:txBody>
          <a:bodyPr wrap="square" rtlCol="0" anchor="ctr"/>
          <a:lstStyle/>
          <a:p>
            <a:pPr marL="0" indent="0">
              <a:buNone/>
            </a:pPr>
            <a:r>
              <a:rPr lang="en-US" sz="1000" b="1" kern="0" spc="200" dirty="0">
                <a:solidFill>
                  <a:srgbClr val="0057B8"/>
                </a:solidFill>
                <a:latin typeface="Segoe UI" pitchFamily="34" charset="0"/>
                <a:ea typeface="Segoe UI" pitchFamily="34" charset="-122"/>
                <a:cs typeface="Segoe UI" pitchFamily="34" charset="-120"/>
              </a:rPr>
              <a:t>Process agents · Weeks to deliver</a:t>
            </a:r>
            <a:endParaRPr lang="en-US" sz="1000" dirty="0"/>
          </a:p>
        </p:txBody>
      </p:sp>
      <p:sp>
        <p:nvSpPr>
          <p:cNvPr id="23" name="Text 21"/>
          <p:cNvSpPr/>
          <p:nvPr/>
        </p:nvSpPr>
        <p:spPr>
          <a:xfrm>
            <a:off x="4472788" y="2651760"/>
            <a:ext cx="3246120" cy="11430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Custom agents on Eskom data and workflows. Built on Graph, Dataverse, and your line-of-business systems. Delivered in weeks, not quarters.</a:t>
            </a:r>
            <a:endParaRPr lang="en-US" sz="1100" dirty="0"/>
          </a:p>
        </p:txBody>
      </p:sp>
      <p:sp>
        <p:nvSpPr>
          <p:cNvPr id="24" name="Text 22"/>
          <p:cNvSpPr/>
          <p:nvPr/>
        </p:nvSpPr>
        <p:spPr>
          <a:xfrm>
            <a:off x="4472788" y="3886200"/>
            <a:ext cx="3246120" cy="228600"/>
          </a:xfrm>
          <a:prstGeom prst="rect">
            <a:avLst/>
          </a:prstGeom>
          <a:noFill/>
          <a:ln/>
        </p:spPr>
        <p:txBody>
          <a:bodyPr wrap="square" rtlCol="0" anchor="ctr"/>
          <a:lstStyle/>
          <a:p>
            <a:pPr marL="0" indent="0">
              <a:buNone/>
            </a:pPr>
            <a:r>
              <a:rPr lang="en-US" sz="900" b="1" kern="0" spc="200" dirty="0">
                <a:solidFill>
                  <a:srgbClr val="091F2C"/>
                </a:solidFill>
                <a:latin typeface="Segoe UI" pitchFamily="34" charset="0"/>
                <a:ea typeface="Segoe UI" pitchFamily="34" charset="-122"/>
                <a:cs typeface="Segoe UI" pitchFamily="34" charset="-120"/>
              </a:rPr>
              <a:t>EXAMPLES FOR ESKOM</a:t>
            </a:r>
            <a:endParaRPr lang="en-US" sz="900" dirty="0"/>
          </a:p>
        </p:txBody>
      </p:sp>
      <p:sp>
        <p:nvSpPr>
          <p:cNvPr id="25" name="Shape 23"/>
          <p:cNvSpPr/>
          <p:nvPr/>
        </p:nvSpPr>
        <p:spPr>
          <a:xfrm>
            <a:off x="4518508" y="4251960"/>
            <a:ext cx="91440" cy="91440"/>
          </a:xfrm>
          <a:prstGeom prst="ellipse">
            <a:avLst/>
          </a:prstGeom>
          <a:solidFill>
            <a:srgbClr val="0057B8"/>
          </a:solidFill>
          <a:ln w="12700">
            <a:solidFill>
              <a:srgbClr val="0057B8"/>
            </a:solidFill>
            <a:prstDash val="solid"/>
          </a:ln>
        </p:spPr>
        <p:txBody>
          <a:bodyPr/>
          <a:lstStyle/>
          <a:p>
            <a:endParaRPr lang="en-ZA"/>
          </a:p>
        </p:txBody>
      </p:sp>
      <p:sp>
        <p:nvSpPr>
          <p:cNvPr id="26" name="Text 24"/>
          <p:cNvSpPr/>
          <p:nvPr/>
        </p:nvSpPr>
        <p:spPr>
          <a:xfrm>
            <a:off x="4701388" y="4160520"/>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Work-order agent for field crews</a:t>
            </a:r>
            <a:endParaRPr lang="en-US" sz="1050" dirty="0"/>
          </a:p>
        </p:txBody>
      </p:sp>
      <p:sp>
        <p:nvSpPr>
          <p:cNvPr id="27" name="Shape 25"/>
          <p:cNvSpPr/>
          <p:nvPr/>
        </p:nvSpPr>
        <p:spPr>
          <a:xfrm>
            <a:off x="4518508" y="4581144"/>
            <a:ext cx="91440" cy="91440"/>
          </a:xfrm>
          <a:prstGeom prst="ellipse">
            <a:avLst/>
          </a:prstGeom>
          <a:solidFill>
            <a:srgbClr val="0057B8"/>
          </a:solidFill>
          <a:ln w="12700">
            <a:solidFill>
              <a:srgbClr val="0057B8"/>
            </a:solidFill>
            <a:prstDash val="solid"/>
          </a:ln>
        </p:spPr>
        <p:txBody>
          <a:bodyPr/>
          <a:lstStyle/>
          <a:p>
            <a:endParaRPr lang="en-ZA"/>
          </a:p>
        </p:txBody>
      </p:sp>
      <p:sp>
        <p:nvSpPr>
          <p:cNvPr id="28" name="Text 26"/>
          <p:cNvSpPr/>
          <p:nvPr/>
        </p:nvSpPr>
        <p:spPr>
          <a:xfrm>
            <a:off x="4701388" y="4489704"/>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Dispute-resolution agent for contact centre</a:t>
            </a:r>
            <a:endParaRPr lang="en-US" sz="1050" dirty="0"/>
          </a:p>
        </p:txBody>
      </p:sp>
      <p:sp>
        <p:nvSpPr>
          <p:cNvPr id="29" name="Shape 27"/>
          <p:cNvSpPr/>
          <p:nvPr/>
        </p:nvSpPr>
        <p:spPr>
          <a:xfrm>
            <a:off x="4518508" y="4910328"/>
            <a:ext cx="91440" cy="91440"/>
          </a:xfrm>
          <a:prstGeom prst="ellipse">
            <a:avLst/>
          </a:prstGeom>
          <a:solidFill>
            <a:srgbClr val="0057B8"/>
          </a:solidFill>
          <a:ln w="12700">
            <a:solidFill>
              <a:srgbClr val="0057B8"/>
            </a:solidFill>
            <a:prstDash val="solid"/>
          </a:ln>
        </p:spPr>
        <p:txBody>
          <a:bodyPr/>
          <a:lstStyle/>
          <a:p>
            <a:endParaRPr lang="en-ZA"/>
          </a:p>
        </p:txBody>
      </p:sp>
      <p:sp>
        <p:nvSpPr>
          <p:cNvPr id="30" name="Text 28"/>
          <p:cNvSpPr/>
          <p:nvPr/>
        </p:nvSpPr>
        <p:spPr>
          <a:xfrm>
            <a:off x="4701388" y="4818888"/>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Procurement due-diligence agent</a:t>
            </a:r>
            <a:endParaRPr lang="en-US" sz="1050" dirty="0"/>
          </a:p>
        </p:txBody>
      </p:sp>
      <p:sp>
        <p:nvSpPr>
          <p:cNvPr id="31" name="Shape 29"/>
          <p:cNvSpPr/>
          <p:nvPr/>
        </p:nvSpPr>
        <p:spPr>
          <a:xfrm>
            <a:off x="4518508" y="5239512"/>
            <a:ext cx="91440" cy="91440"/>
          </a:xfrm>
          <a:prstGeom prst="ellipse">
            <a:avLst/>
          </a:prstGeom>
          <a:solidFill>
            <a:srgbClr val="0057B8"/>
          </a:solidFill>
          <a:ln w="12700">
            <a:solidFill>
              <a:srgbClr val="0057B8"/>
            </a:solidFill>
            <a:prstDash val="solid"/>
          </a:ln>
        </p:spPr>
        <p:txBody>
          <a:bodyPr/>
          <a:lstStyle/>
          <a:p>
            <a:endParaRPr lang="en-ZA"/>
          </a:p>
        </p:txBody>
      </p:sp>
      <p:sp>
        <p:nvSpPr>
          <p:cNvPr id="32" name="Text 30"/>
          <p:cNvSpPr/>
          <p:nvPr/>
        </p:nvSpPr>
        <p:spPr>
          <a:xfrm>
            <a:off x="4701388" y="5148072"/>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SOP and incident-report agents</a:t>
            </a:r>
            <a:endParaRPr lang="en-US" sz="1050" dirty="0"/>
          </a:p>
        </p:txBody>
      </p:sp>
      <p:sp>
        <p:nvSpPr>
          <p:cNvPr id="33" name="Shape 31"/>
          <p:cNvSpPr/>
          <p:nvPr/>
        </p:nvSpPr>
        <p:spPr>
          <a:xfrm>
            <a:off x="8112100" y="1691640"/>
            <a:ext cx="3703320" cy="4160520"/>
          </a:xfrm>
          <a:prstGeom prst="roundRect">
            <a:avLst>
              <a:gd name="adj" fmla="val 2469"/>
            </a:avLst>
          </a:prstGeom>
          <a:solidFill>
            <a:srgbClr val="FFFFFF"/>
          </a:solidFill>
          <a:ln w="12700">
            <a:solidFill>
              <a:srgbClr val="E8DDD1"/>
            </a:solidFill>
            <a:prstDash val="solid"/>
          </a:ln>
        </p:spPr>
        <p:txBody>
          <a:bodyPr/>
          <a:lstStyle/>
          <a:p>
            <a:endParaRPr lang="en-ZA"/>
          </a:p>
        </p:txBody>
      </p:sp>
      <p:sp>
        <p:nvSpPr>
          <p:cNvPr id="34" name="Shape 32"/>
          <p:cNvSpPr/>
          <p:nvPr/>
        </p:nvSpPr>
        <p:spPr>
          <a:xfrm>
            <a:off x="8112100" y="1691640"/>
            <a:ext cx="3703320" cy="73152"/>
          </a:xfrm>
          <a:prstGeom prst="rect">
            <a:avLst/>
          </a:prstGeom>
          <a:solidFill>
            <a:srgbClr val="225B62"/>
          </a:solidFill>
          <a:ln w="12700">
            <a:solidFill>
              <a:srgbClr val="225B62"/>
            </a:solidFill>
            <a:prstDash val="solid"/>
          </a:ln>
        </p:spPr>
        <p:txBody>
          <a:bodyPr/>
          <a:lstStyle/>
          <a:p>
            <a:endParaRPr lang="en-ZA"/>
          </a:p>
        </p:txBody>
      </p:sp>
      <p:sp>
        <p:nvSpPr>
          <p:cNvPr id="35" name="Text 33"/>
          <p:cNvSpPr/>
          <p:nvPr/>
        </p:nvSpPr>
        <p:spPr>
          <a:xfrm>
            <a:off x="8340700" y="1874520"/>
            <a:ext cx="3246120" cy="41148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Azure AI Foundry</a:t>
            </a:r>
            <a:endParaRPr lang="en-US" sz="1800" dirty="0"/>
          </a:p>
        </p:txBody>
      </p:sp>
      <p:sp>
        <p:nvSpPr>
          <p:cNvPr id="36" name="Text 34"/>
          <p:cNvSpPr/>
          <p:nvPr/>
        </p:nvSpPr>
        <p:spPr>
          <a:xfrm>
            <a:off x="8340700" y="2331720"/>
            <a:ext cx="3246120" cy="274320"/>
          </a:xfrm>
          <a:prstGeom prst="rect">
            <a:avLst/>
          </a:prstGeom>
          <a:noFill/>
          <a:ln/>
        </p:spPr>
        <p:txBody>
          <a:bodyPr wrap="square" rtlCol="0" anchor="ctr"/>
          <a:lstStyle/>
          <a:p>
            <a:pPr marL="0" indent="0">
              <a:buNone/>
            </a:pPr>
            <a:r>
              <a:rPr lang="en-US" sz="1000" b="1" kern="0" spc="200" dirty="0">
                <a:solidFill>
                  <a:srgbClr val="225B62"/>
                </a:solidFill>
                <a:latin typeface="Segoe UI" pitchFamily="34" charset="0"/>
                <a:ea typeface="Segoe UI" pitchFamily="34" charset="-122"/>
                <a:cs typeface="Segoe UI" pitchFamily="34" charset="-120"/>
              </a:rPr>
              <a:t>Industry models · Differentiated</a:t>
            </a:r>
            <a:endParaRPr lang="en-US" sz="1000" dirty="0"/>
          </a:p>
        </p:txBody>
      </p:sp>
      <p:sp>
        <p:nvSpPr>
          <p:cNvPr id="37" name="Text 35"/>
          <p:cNvSpPr/>
          <p:nvPr/>
        </p:nvSpPr>
        <p:spPr>
          <a:xfrm>
            <a:off x="8340700" y="2651760"/>
            <a:ext cx="3246120" cy="11430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Bespoke models and agentic workflows where the value is utility-specific — anchored in your data, your sensors, your engineering history.</a:t>
            </a:r>
            <a:endParaRPr lang="en-US" sz="1100" dirty="0"/>
          </a:p>
        </p:txBody>
      </p:sp>
      <p:sp>
        <p:nvSpPr>
          <p:cNvPr id="38" name="Text 36"/>
          <p:cNvSpPr/>
          <p:nvPr/>
        </p:nvSpPr>
        <p:spPr>
          <a:xfrm>
            <a:off x="8340700" y="3886200"/>
            <a:ext cx="3246120" cy="228600"/>
          </a:xfrm>
          <a:prstGeom prst="rect">
            <a:avLst/>
          </a:prstGeom>
          <a:noFill/>
          <a:ln/>
        </p:spPr>
        <p:txBody>
          <a:bodyPr wrap="square" rtlCol="0" anchor="ctr"/>
          <a:lstStyle/>
          <a:p>
            <a:pPr marL="0" indent="0">
              <a:buNone/>
            </a:pPr>
            <a:r>
              <a:rPr lang="en-US" sz="900" b="1" kern="0" spc="200" dirty="0">
                <a:solidFill>
                  <a:srgbClr val="091F2C"/>
                </a:solidFill>
                <a:latin typeface="Segoe UI" pitchFamily="34" charset="0"/>
                <a:ea typeface="Segoe UI" pitchFamily="34" charset="-122"/>
                <a:cs typeface="Segoe UI" pitchFamily="34" charset="-120"/>
              </a:rPr>
              <a:t>EXAMPLES FOR ESKOM</a:t>
            </a:r>
            <a:endParaRPr lang="en-US" sz="900" dirty="0"/>
          </a:p>
        </p:txBody>
      </p:sp>
      <p:sp>
        <p:nvSpPr>
          <p:cNvPr id="39" name="Shape 37"/>
          <p:cNvSpPr/>
          <p:nvPr/>
        </p:nvSpPr>
        <p:spPr>
          <a:xfrm>
            <a:off x="8386420" y="4251960"/>
            <a:ext cx="91440" cy="91440"/>
          </a:xfrm>
          <a:prstGeom prst="ellipse">
            <a:avLst/>
          </a:prstGeom>
          <a:solidFill>
            <a:srgbClr val="225B62"/>
          </a:solidFill>
          <a:ln w="12700">
            <a:solidFill>
              <a:srgbClr val="225B62"/>
            </a:solidFill>
            <a:prstDash val="solid"/>
          </a:ln>
        </p:spPr>
        <p:txBody>
          <a:bodyPr/>
          <a:lstStyle/>
          <a:p>
            <a:endParaRPr lang="en-ZA"/>
          </a:p>
        </p:txBody>
      </p:sp>
      <p:sp>
        <p:nvSpPr>
          <p:cNvPr id="40" name="Text 38"/>
          <p:cNvSpPr/>
          <p:nvPr/>
        </p:nvSpPr>
        <p:spPr>
          <a:xfrm>
            <a:off x="8569300" y="4160520"/>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Predictive-maintenance models on plant telemetry</a:t>
            </a:r>
            <a:endParaRPr lang="en-US" sz="1050" dirty="0"/>
          </a:p>
        </p:txBody>
      </p:sp>
      <p:sp>
        <p:nvSpPr>
          <p:cNvPr id="41" name="Shape 39"/>
          <p:cNvSpPr/>
          <p:nvPr/>
        </p:nvSpPr>
        <p:spPr>
          <a:xfrm>
            <a:off x="8386420" y="4581144"/>
            <a:ext cx="91440" cy="91440"/>
          </a:xfrm>
          <a:prstGeom prst="ellipse">
            <a:avLst/>
          </a:prstGeom>
          <a:solidFill>
            <a:srgbClr val="225B62"/>
          </a:solidFill>
          <a:ln w="12700">
            <a:solidFill>
              <a:srgbClr val="225B62"/>
            </a:solidFill>
            <a:prstDash val="solid"/>
          </a:ln>
        </p:spPr>
        <p:txBody>
          <a:bodyPr/>
          <a:lstStyle/>
          <a:p>
            <a:endParaRPr lang="en-ZA"/>
          </a:p>
        </p:txBody>
      </p:sp>
      <p:sp>
        <p:nvSpPr>
          <p:cNvPr id="42" name="Text 40"/>
          <p:cNvSpPr/>
          <p:nvPr/>
        </p:nvSpPr>
        <p:spPr>
          <a:xfrm>
            <a:off x="8569300" y="4489704"/>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Demand-forecasting for the System Operator</a:t>
            </a:r>
            <a:endParaRPr lang="en-US" sz="1050" dirty="0"/>
          </a:p>
        </p:txBody>
      </p:sp>
      <p:sp>
        <p:nvSpPr>
          <p:cNvPr id="43" name="Shape 41"/>
          <p:cNvSpPr/>
          <p:nvPr/>
        </p:nvSpPr>
        <p:spPr>
          <a:xfrm>
            <a:off x="8386420" y="4910328"/>
            <a:ext cx="91440" cy="91440"/>
          </a:xfrm>
          <a:prstGeom prst="ellipse">
            <a:avLst/>
          </a:prstGeom>
          <a:solidFill>
            <a:srgbClr val="225B62"/>
          </a:solidFill>
          <a:ln w="12700">
            <a:solidFill>
              <a:srgbClr val="225B62"/>
            </a:solidFill>
            <a:prstDash val="solid"/>
          </a:ln>
        </p:spPr>
        <p:txBody>
          <a:bodyPr/>
          <a:lstStyle/>
          <a:p>
            <a:endParaRPr lang="en-ZA"/>
          </a:p>
        </p:txBody>
      </p:sp>
      <p:sp>
        <p:nvSpPr>
          <p:cNvPr id="44" name="Text 42"/>
          <p:cNvSpPr/>
          <p:nvPr/>
        </p:nvSpPr>
        <p:spPr>
          <a:xfrm>
            <a:off x="8569300" y="4818888"/>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Vision models for substation inspections</a:t>
            </a:r>
            <a:endParaRPr lang="en-US" sz="1050" dirty="0"/>
          </a:p>
        </p:txBody>
      </p:sp>
      <p:sp>
        <p:nvSpPr>
          <p:cNvPr id="45" name="Shape 43"/>
          <p:cNvSpPr/>
          <p:nvPr/>
        </p:nvSpPr>
        <p:spPr>
          <a:xfrm>
            <a:off x="8386420" y="5239512"/>
            <a:ext cx="91440" cy="91440"/>
          </a:xfrm>
          <a:prstGeom prst="ellipse">
            <a:avLst/>
          </a:prstGeom>
          <a:solidFill>
            <a:srgbClr val="225B62"/>
          </a:solidFill>
          <a:ln w="12700">
            <a:solidFill>
              <a:srgbClr val="225B62"/>
            </a:solidFill>
            <a:prstDash val="solid"/>
          </a:ln>
        </p:spPr>
        <p:txBody>
          <a:bodyPr/>
          <a:lstStyle/>
          <a:p>
            <a:endParaRPr lang="en-ZA"/>
          </a:p>
        </p:txBody>
      </p:sp>
      <p:sp>
        <p:nvSpPr>
          <p:cNvPr id="46" name="Text 44"/>
          <p:cNvSpPr/>
          <p:nvPr/>
        </p:nvSpPr>
        <p:spPr>
          <a:xfrm>
            <a:off x="8569300" y="5148072"/>
            <a:ext cx="3063240" cy="292608"/>
          </a:xfrm>
          <a:prstGeom prst="rect">
            <a:avLst/>
          </a:prstGeom>
          <a:noFill/>
          <a:ln/>
        </p:spPr>
        <p:txBody>
          <a:bodyPr wrap="square" rtlCol="0" anchor="ctr"/>
          <a:lstStyle/>
          <a:p>
            <a:pPr marL="0" indent="0">
              <a:buNone/>
            </a:pPr>
            <a:r>
              <a:rPr lang="en-US" sz="1050" dirty="0">
                <a:solidFill>
                  <a:srgbClr val="091F2C"/>
                </a:solidFill>
                <a:latin typeface="Segoe UI" pitchFamily="34" charset="0"/>
                <a:ea typeface="Segoe UI" pitchFamily="34" charset="-122"/>
                <a:cs typeface="Segoe UI" pitchFamily="34" charset="-120"/>
              </a:rPr>
              <a:t>RAG over decades of engineering documentation</a:t>
            </a:r>
            <a:endParaRPr lang="en-US" sz="1050" dirty="0"/>
          </a:p>
        </p:txBody>
      </p:sp>
      <p:sp>
        <p:nvSpPr>
          <p:cNvPr id="47" name="Text 45"/>
          <p:cNvSpPr/>
          <p:nvPr/>
        </p:nvSpPr>
        <p:spPr>
          <a:xfrm>
            <a:off x="548640" y="6035040"/>
            <a:ext cx="10972800" cy="274320"/>
          </a:xfrm>
          <a:prstGeom prst="rect">
            <a:avLst/>
          </a:prstGeom>
          <a:noFill/>
          <a:ln/>
        </p:spPr>
        <p:txBody>
          <a:bodyPr wrap="square" rtlCol="0" anchor="ctr"/>
          <a:lstStyle/>
          <a:p>
            <a:pPr marL="0" indent="0" algn="ctr">
              <a:buNone/>
            </a:pPr>
            <a:r>
              <a:rPr lang="en-US" sz="1200" i="1" dirty="0">
                <a:solidFill>
                  <a:srgbClr val="091F2C"/>
                </a:solidFill>
                <a:latin typeface="Segoe UI" pitchFamily="34" charset="0"/>
                <a:ea typeface="Segoe UI" pitchFamily="34" charset="-122"/>
                <a:cs typeface="Segoe UI" pitchFamily="34" charset="-120"/>
              </a:rPr>
              <a:t>Surfaces 2 and 3 are how Copilot stops being a productivity tool and becomes a business platform.</a:t>
            </a:r>
            <a:endParaRPr lang="en-US" sz="1200" dirty="0"/>
          </a:p>
        </p:txBody>
      </p:sp>
      <p:pic>
        <p:nvPicPr>
          <p:cNvPr id="48"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49" name="Text 46"/>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Prepared for Eskom executive briefing  ·  Confidential</a:t>
            </a:r>
            <a:endParaRPr lang="en-US" sz="900" dirty="0"/>
          </a:p>
        </p:txBody>
      </p:sp>
      <p:sp>
        <p:nvSpPr>
          <p:cNvPr id="50" name="Text 47"/>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5 / 10</a:t>
            </a:r>
            <a:endParaRPr lang="en-US" sz="900" dirty="0"/>
          </a:p>
        </p:txBody>
      </p:sp>
      <p:sp>
        <p:nvSpPr>
          <p:cNvPr id="51" name="AICOE_GEO_ACCENT_Right Triangle 50"/>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ICOE_GEO_ACCENT_Right Triangle 51"/>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9728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HORIZON JOURNEY</a:t>
            </a:r>
            <a:endParaRPr lang="en-US" sz="1200" dirty="0"/>
          </a:p>
        </p:txBody>
      </p:sp>
      <p:sp>
        <p:nvSpPr>
          <p:cNvPr id="4" name="Text 2"/>
          <p:cNvSpPr/>
          <p:nvPr/>
        </p:nvSpPr>
        <p:spPr>
          <a:xfrm>
            <a:off x="548640" y="777240"/>
            <a:ext cx="11155680" cy="777240"/>
          </a:xfrm>
          <a:prstGeom prst="rect">
            <a:avLst/>
          </a:prstGeom>
          <a:noFill/>
          <a:ln/>
        </p:spPr>
        <p:txBody>
          <a:bodyPr wrap="square" rtlCol="0" anchor="ctr"/>
          <a:lstStyle/>
          <a:p>
            <a:pPr marL="0" indent="0">
              <a:buNone/>
            </a:pPr>
            <a:r>
              <a:rPr lang="en-US" sz="2800" b="1" dirty="0">
                <a:solidFill>
                  <a:srgbClr val="091F2C"/>
                </a:solidFill>
                <a:latin typeface="Segoe UI" pitchFamily="34" charset="0"/>
                <a:ea typeface="Segoe UI" pitchFamily="34" charset="-122"/>
                <a:cs typeface="Segoe UI" pitchFamily="34" charset="-120"/>
              </a:rPr>
              <a:t>Where Eskom is today — and where you could be.</a:t>
            </a:r>
            <a:endParaRPr lang="en-US" sz="2800" dirty="0"/>
          </a:p>
        </p:txBody>
      </p:sp>
      <p:sp>
        <p:nvSpPr>
          <p:cNvPr id="5" name="Shape 3"/>
          <p:cNvSpPr/>
          <p:nvPr/>
        </p:nvSpPr>
        <p:spPr>
          <a:xfrm>
            <a:off x="540868" y="1783080"/>
            <a:ext cx="2606040" cy="2743200"/>
          </a:xfrm>
          <a:prstGeom prst="roundRect">
            <a:avLst>
              <a:gd name="adj" fmla="val 3509"/>
            </a:avLst>
          </a:prstGeom>
          <a:solidFill>
            <a:srgbClr val="9AA8B7"/>
          </a:solidFill>
          <a:ln w="12700">
            <a:solidFill>
              <a:srgbClr val="9AA8B7"/>
            </a:solidFill>
            <a:prstDash val="solid"/>
          </a:ln>
        </p:spPr>
        <p:txBody>
          <a:bodyPr/>
          <a:lstStyle/>
          <a:p>
            <a:endParaRPr lang="en-ZA"/>
          </a:p>
        </p:txBody>
      </p:sp>
      <p:sp>
        <p:nvSpPr>
          <p:cNvPr id="6" name="Text 4"/>
          <p:cNvSpPr/>
          <p:nvPr/>
        </p:nvSpPr>
        <p:spPr>
          <a:xfrm>
            <a:off x="540868" y="2057400"/>
            <a:ext cx="2606040" cy="822960"/>
          </a:xfrm>
          <a:prstGeom prst="rect">
            <a:avLst/>
          </a:prstGeom>
          <a:noFill/>
          <a:ln/>
        </p:spPr>
        <p:txBody>
          <a:bodyPr wrap="square" rtlCol="0" anchor="ctr"/>
          <a:lstStyle/>
          <a:p>
            <a:pPr marL="0" indent="0" algn="ctr">
              <a:buNone/>
            </a:pPr>
            <a:r>
              <a:rPr lang="en-US" sz="5600" b="1" dirty="0">
                <a:solidFill>
                  <a:srgbClr val="FFFFFF"/>
                </a:solidFill>
                <a:latin typeface="Segoe UI" pitchFamily="34" charset="0"/>
                <a:ea typeface="Segoe UI" pitchFamily="34" charset="-122"/>
                <a:cs typeface="Segoe UI" pitchFamily="34" charset="-120"/>
              </a:rPr>
              <a:t>H0</a:t>
            </a:r>
            <a:endParaRPr lang="en-US" sz="5600" dirty="0"/>
          </a:p>
        </p:txBody>
      </p:sp>
      <p:sp>
        <p:nvSpPr>
          <p:cNvPr id="7" name="Text 5"/>
          <p:cNvSpPr/>
          <p:nvPr/>
        </p:nvSpPr>
        <p:spPr>
          <a:xfrm>
            <a:off x="540868" y="3017520"/>
            <a:ext cx="2606040" cy="45720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Pre-deployment</a:t>
            </a:r>
            <a:endParaRPr lang="en-US" sz="1800" dirty="0"/>
          </a:p>
        </p:txBody>
      </p:sp>
      <p:sp>
        <p:nvSpPr>
          <p:cNvPr id="8" name="Shape 6"/>
          <p:cNvSpPr/>
          <p:nvPr/>
        </p:nvSpPr>
        <p:spPr>
          <a:xfrm>
            <a:off x="1192378" y="3566160"/>
            <a:ext cx="1303020" cy="18288"/>
          </a:xfrm>
          <a:prstGeom prst="rect">
            <a:avLst/>
          </a:prstGeom>
          <a:solidFill>
            <a:srgbClr val="FFFFFF"/>
          </a:solidFill>
          <a:ln w="12700">
            <a:solidFill>
              <a:srgbClr val="FFFFFF"/>
            </a:solidFill>
            <a:prstDash val="solid"/>
          </a:ln>
        </p:spPr>
        <p:txBody>
          <a:bodyPr/>
          <a:lstStyle/>
          <a:p>
            <a:endParaRPr lang="en-ZA"/>
          </a:p>
        </p:txBody>
      </p:sp>
      <p:sp>
        <p:nvSpPr>
          <p:cNvPr id="9" name="Text 7"/>
          <p:cNvSpPr/>
          <p:nvPr/>
        </p:nvSpPr>
        <p:spPr>
          <a:xfrm>
            <a:off x="723748" y="3703320"/>
            <a:ext cx="2240280" cy="1097280"/>
          </a:xfrm>
          <a:prstGeom prst="rect">
            <a:avLst/>
          </a:prstGeom>
          <a:noFill/>
          <a:ln/>
        </p:spPr>
        <p:txBody>
          <a:bodyPr wrap="square" rtlCol="0" anchor="ctr"/>
          <a:lstStyle/>
          <a:p>
            <a:pPr marL="0" indent="0" algn="ctr">
              <a:buNone/>
            </a:pPr>
            <a:r>
              <a:rPr lang="en-US" sz="1100" dirty="0">
                <a:solidFill>
                  <a:srgbClr val="FFFFFF"/>
                </a:solidFill>
                <a:latin typeface="Segoe UI" pitchFamily="34" charset="0"/>
                <a:ea typeface="Segoe UI" pitchFamily="34" charset="-122"/>
                <a:cs typeface="Segoe UI" pitchFamily="34" charset="-120"/>
              </a:rPr>
              <a:t>Strategy mentions AI; no Copilot footprint; pilots only</a:t>
            </a:r>
            <a:endParaRPr lang="en-US" sz="1100" dirty="0"/>
          </a:p>
        </p:txBody>
      </p:sp>
      <p:sp>
        <p:nvSpPr>
          <p:cNvPr id="10" name="Shape 8"/>
          <p:cNvSpPr/>
          <p:nvPr/>
        </p:nvSpPr>
        <p:spPr>
          <a:xfrm>
            <a:off x="3375508" y="1783080"/>
            <a:ext cx="2606040" cy="2743200"/>
          </a:xfrm>
          <a:prstGeom prst="roundRect">
            <a:avLst>
              <a:gd name="adj" fmla="val 3509"/>
            </a:avLst>
          </a:prstGeom>
          <a:solidFill>
            <a:srgbClr val="5A8FBD"/>
          </a:solidFill>
          <a:ln w="12700">
            <a:solidFill>
              <a:srgbClr val="5A8FBD"/>
            </a:solidFill>
            <a:prstDash val="solid"/>
          </a:ln>
        </p:spPr>
        <p:txBody>
          <a:bodyPr/>
          <a:lstStyle/>
          <a:p>
            <a:endParaRPr lang="en-ZA"/>
          </a:p>
        </p:txBody>
      </p:sp>
      <p:sp>
        <p:nvSpPr>
          <p:cNvPr id="11" name="Text 9"/>
          <p:cNvSpPr/>
          <p:nvPr/>
        </p:nvSpPr>
        <p:spPr>
          <a:xfrm>
            <a:off x="3375508" y="2057400"/>
            <a:ext cx="2606040" cy="822960"/>
          </a:xfrm>
          <a:prstGeom prst="rect">
            <a:avLst/>
          </a:prstGeom>
          <a:noFill/>
          <a:ln/>
        </p:spPr>
        <p:txBody>
          <a:bodyPr wrap="square" rtlCol="0" anchor="ctr"/>
          <a:lstStyle/>
          <a:p>
            <a:pPr marL="0" indent="0" algn="ctr">
              <a:buNone/>
            </a:pPr>
            <a:r>
              <a:rPr lang="en-US" sz="5600" b="1" dirty="0">
                <a:solidFill>
                  <a:srgbClr val="FFFFFF"/>
                </a:solidFill>
                <a:latin typeface="Segoe UI" pitchFamily="34" charset="0"/>
                <a:ea typeface="Segoe UI" pitchFamily="34" charset="-122"/>
                <a:cs typeface="Segoe UI" pitchFamily="34" charset="-120"/>
              </a:rPr>
              <a:t>H1</a:t>
            </a:r>
            <a:endParaRPr lang="en-US" sz="5600" dirty="0"/>
          </a:p>
        </p:txBody>
      </p:sp>
      <p:sp>
        <p:nvSpPr>
          <p:cNvPr id="12" name="Text 10"/>
          <p:cNvSpPr/>
          <p:nvPr/>
        </p:nvSpPr>
        <p:spPr>
          <a:xfrm>
            <a:off x="3375508" y="3017520"/>
            <a:ext cx="2606040" cy="45720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Initial</a:t>
            </a:r>
            <a:endParaRPr lang="en-US" sz="1800" dirty="0"/>
          </a:p>
        </p:txBody>
      </p:sp>
      <p:sp>
        <p:nvSpPr>
          <p:cNvPr id="13" name="Shape 11"/>
          <p:cNvSpPr/>
          <p:nvPr/>
        </p:nvSpPr>
        <p:spPr>
          <a:xfrm>
            <a:off x="4027018" y="3566160"/>
            <a:ext cx="1303020" cy="18288"/>
          </a:xfrm>
          <a:prstGeom prst="rect">
            <a:avLst/>
          </a:prstGeom>
          <a:solidFill>
            <a:srgbClr val="FFFFFF"/>
          </a:solidFill>
          <a:ln w="12700">
            <a:solidFill>
              <a:srgbClr val="FFFFFF"/>
            </a:solidFill>
            <a:prstDash val="solid"/>
          </a:ln>
        </p:spPr>
        <p:txBody>
          <a:bodyPr/>
          <a:lstStyle/>
          <a:p>
            <a:endParaRPr lang="en-ZA"/>
          </a:p>
        </p:txBody>
      </p:sp>
      <p:sp>
        <p:nvSpPr>
          <p:cNvPr id="14" name="Text 12"/>
          <p:cNvSpPr/>
          <p:nvPr/>
        </p:nvSpPr>
        <p:spPr>
          <a:xfrm>
            <a:off x="3558388" y="3703320"/>
            <a:ext cx="2240280" cy="1097280"/>
          </a:xfrm>
          <a:prstGeom prst="rect">
            <a:avLst/>
          </a:prstGeom>
          <a:noFill/>
          <a:ln/>
        </p:spPr>
        <p:txBody>
          <a:bodyPr wrap="square" rtlCol="0" anchor="ctr"/>
          <a:lstStyle/>
          <a:p>
            <a:pPr marL="0" indent="0" algn="ctr">
              <a:buNone/>
            </a:pPr>
            <a:r>
              <a:rPr lang="en-US" sz="1100" dirty="0">
                <a:solidFill>
                  <a:srgbClr val="FFFFFF"/>
                </a:solidFill>
                <a:latin typeface="Segoe UI" pitchFamily="34" charset="0"/>
                <a:ea typeface="Segoe UI" pitchFamily="34" charset="-122"/>
                <a:cs typeface="Segoe UI" pitchFamily="34" charset="-120"/>
              </a:rPr>
              <a:t>Copilot deployed; scattered pilots; no measured value</a:t>
            </a:r>
            <a:endParaRPr lang="en-US" sz="1100" dirty="0"/>
          </a:p>
        </p:txBody>
      </p:sp>
      <p:sp>
        <p:nvSpPr>
          <p:cNvPr id="15" name="Shape 13"/>
          <p:cNvSpPr/>
          <p:nvPr/>
        </p:nvSpPr>
        <p:spPr>
          <a:xfrm>
            <a:off x="6210148" y="1783080"/>
            <a:ext cx="2606040" cy="2743200"/>
          </a:xfrm>
          <a:prstGeom prst="roundRect">
            <a:avLst>
              <a:gd name="adj" fmla="val 3509"/>
            </a:avLst>
          </a:prstGeom>
          <a:solidFill>
            <a:srgbClr val="1E6FB8"/>
          </a:solidFill>
          <a:ln w="12700">
            <a:solidFill>
              <a:srgbClr val="1E6FB8"/>
            </a:solidFill>
            <a:prstDash val="solid"/>
          </a:ln>
        </p:spPr>
        <p:txBody>
          <a:bodyPr/>
          <a:lstStyle/>
          <a:p>
            <a:endParaRPr lang="en-ZA"/>
          </a:p>
        </p:txBody>
      </p:sp>
      <p:sp>
        <p:nvSpPr>
          <p:cNvPr id="16" name="Text 14"/>
          <p:cNvSpPr/>
          <p:nvPr/>
        </p:nvSpPr>
        <p:spPr>
          <a:xfrm>
            <a:off x="6210148" y="2057400"/>
            <a:ext cx="2606040" cy="822960"/>
          </a:xfrm>
          <a:prstGeom prst="rect">
            <a:avLst/>
          </a:prstGeom>
          <a:noFill/>
          <a:ln/>
        </p:spPr>
        <p:txBody>
          <a:bodyPr wrap="square" rtlCol="0" anchor="ctr"/>
          <a:lstStyle/>
          <a:p>
            <a:pPr marL="0" indent="0" algn="ctr">
              <a:buNone/>
            </a:pPr>
            <a:r>
              <a:rPr lang="en-US" sz="5600" b="1" dirty="0">
                <a:solidFill>
                  <a:srgbClr val="FFFFFF"/>
                </a:solidFill>
                <a:latin typeface="Segoe UI" pitchFamily="34" charset="0"/>
                <a:ea typeface="Segoe UI" pitchFamily="34" charset="-122"/>
                <a:cs typeface="Segoe UI" pitchFamily="34" charset="-120"/>
              </a:rPr>
              <a:t>H2</a:t>
            </a:r>
            <a:endParaRPr lang="en-US" sz="5600" dirty="0"/>
          </a:p>
        </p:txBody>
      </p:sp>
      <p:sp>
        <p:nvSpPr>
          <p:cNvPr id="17" name="Text 15"/>
          <p:cNvSpPr/>
          <p:nvPr/>
        </p:nvSpPr>
        <p:spPr>
          <a:xfrm>
            <a:off x="6210148" y="3017520"/>
            <a:ext cx="2606040" cy="45720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Departmental</a:t>
            </a:r>
            <a:endParaRPr lang="en-US" sz="1800" dirty="0"/>
          </a:p>
        </p:txBody>
      </p:sp>
      <p:sp>
        <p:nvSpPr>
          <p:cNvPr id="18" name="Shape 16"/>
          <p:cNvSpPr/>
          <p:nvPr/>
        </p:nvSpPr>
        <p:spPr>
          <a:xfrm>
            <a:off x="6861658" y="3566160"/>
            <a:ext cx="1303020" cy="18288"/>
          </a:xfrm>
          <a:prstGeom prst="rect">
            <a:avLst/>
          </a:prstGeom>
          <a:solidFill>
            <a:srgbClr val="FFFFFF"/>
          </a:solidFill>
          <a:ln w="12700">
            <a:solidFill>
              <a:srgbClr val="FFFFFF"/>
            </a:solidFill>
            <a:prstDash val="solid"/>
          </a:ln>
        </p:spPr>
        <p:txBody>
          <a:bodyPr/>
          <a:lstStyle/>
          <a:p>
            <a:endParaRPr lang="en-ZA"/>
          </a:p>
        </p:txBody>
      </p:sp>
      <p:sp>
        <p:nvSpPr>
          <p:cNvPr id="19" name="Text 17"/>
          <p:cNvSpPr/>
          <p:nvPr/>
        </p:nvSpPr>
        <p:spPr>
          <a:xfrm>
            <a:off x="6393028" y="3703320"/>
            <a:ext cx="2240280" cy="1097280"/>
          </a:xfrm>
          <a:prstGeom prst="rect">
            <a:avLst/>
          </a:prstGeom>
          <a:noFill/>
          <a:ln/>
        </p:spPr>
        <p:txBody>
          <a:bodyPr wrap="square" rtlCol="0" anchor="ctr"/>
          <a:lstStyle/>
          <a:p>
            <a:pPr marL="0" indent="0" algn="ctr">
              <a:buNone/>
            </a:pPr>
            <a:r>
              <a:rPr lang="en-US" sz="1100" dirty="0">
                <a:solidFill>
                  <a:srgbClr val="FFFFFF"/>
                </a:solidFill>
                <a:latin typeface="Segoe UI" pitchFamily="34" charset="0"/>
                <a:ea typeface="Segoe UI" pitchFamily="34" charset="-122"/>
                <a:cs typeface="Segoe UI" pitchFamily="34" charset="-120"/>
              </a:rPr>
              <a:t>Agents in production in 2–3 LoB areas; governance live; value measured</a:t>
            </a:r>
            <a:endParaRPr lang="en-US" sz="1100" dirty="0"/>
          </a:p>
        </p:txBody>
      </p:sp>
      <p:sp>
        <p:nvSpPr>
          <p:cNvPr id="20" name="Shape 18"/>
          <p:cNvSpPr/>
          <p:nvPr/>
        </p:nvSpPr>
        <p:spPr>
          <a:xfrm>
            <a:off x="9044788" y="1783080"/>
            <a:ext cx="2606040" cy="2743200"/>
          </a:xfrm>
          <a:prstGeom prst="roundRect">
            <a:avLst>
              <a:gd name="adj" fmla="val 3509"/>
            </a:avLst>
          </a:prstGeom>
          <a:solidFill>
            <a:srgbClr val="0B3D7A"/>
          </a:solidFill>
          <a:ln w="12700">
            <a:solidFill>
              <a:srgbClr val="0B3D7A"/>
            </a:solidFill>
            <a:prstDash val="solid"/>
          </a:ln>
        </p:spPr>
        <p:txBody>
          <a:bodyPr/>
          <a:lstStyle/>
          <a:p>
            <a:endParaRPr lang="en-ZA"/>
          </a:p>
        </p:txBody>
      </p:sp>
      <p:sp>
        <p:nvSpPr>
          <p:cNvPr id="21" name="Text 19"/>
          <p:cNvSpPr/>
          <p:nvPr/>
        </p:nvSpPr>
        <p:spPr>
          <a:xfrm>
            <a:off x="9044788" y="2057400"/>
            <a:ext cx="2606040" cy="822960"/>
          </a:xfrm>
          <a:prstGeom prst="rect">
            <a:avLst/>
          </a:prstGeom>
          <a:noFill/>
          <a:ln/>
        </p:spPr>
        <p:txBody>
          <a:bodyPr wrap="square" rtlCol="0" anchor="ctr"/>
          <a:lstStyle/>
          <a:p>
            <a:pPr marL="0" indent="0" algn="ctr">
              <a:buNone/>
            </a:pPr>
            <a:r>
              <a:rPr lang="en-US" sz="5600" b="1" dirty="0">
                <a:solidFill>
                  <a:srgbClr val="FFFFFF"/>
                </a:solidFill>
                <a:latin typeface="Segoe UI" pitchFamily="34" charset="0"/>
                <a:ea typeface="Segoe UI" pitchFamily="34" charset="-122"/>
                <a:cs typeface="Segoe UI" pitchFamily="34" charset="-120"/>
              </a:rPr>
              <a:t>H3</a:t>
            </a:r>
            <a:endParaRPr lang="en-US" sz="5600" dirty="0"/>
          </a:p>
        </p:txBody>
      </p:sp>
      <p:sp>
        <p:nvSpPr>
          <p:cNvPr id="22" name="Text 20"/>
          <p:cNvSpPr/>
          <p:nvPr/>
        </p:nvSpPr>
        <p:spPr>
          <a:xfrm>
            <a:off x="9044788" y="3017520"/>
            <a:ext cx="2606040" cy="45720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Enterprise</a:t>
            </a:r>
            <a:endParaRPr lang="en-US" sz="1800" dirty="0"/>
          </a:p>
        </p:txBody>
      </p:sp>
      <p:sp>
        <p:nvSpPr>
          <p:cNvPr id="23" name="Shape 21"/>
          <p:cNvSpPr/>
          <p:nvPr/>
        </p:nvSpPr>
        <p:spPr>
          <a:xfrm>
            <a:off x="9696298" y="3566160"/>
            <a:ext cx="1303020" cy="18288"/>
          </a:xfrm>
          <a:prstGeom prst="rect">
            <a:avLst/>
          </a:prstGeom>
          <a:solidFill>
            <a:srgbClr val="FFFFFF"/>
          </a:solidFill>
          <a:ln w="12700">
            <a:solidFill>
              <a:srgbClr val="FFFFFF"/>
            </a:solidFill>
            <a:prstDash val="solid"/>
          </a:ln>
        </p:spPr>
        <p:txBody>
          <a:bodyPr/>
          <a:lstStyle/>
          <a:p>
            <a:endParaRPr lang="en-ZA"/>
          </a:p>
        </p:txBody>
      </p:sp>
      <p:sp>
        <p:nvSpPr>
          <p:cNvPr id="24" name="Text 22"/>
          <p:cNvSpPr/>
          <p:nvPr/>
        </p:nvSpPr>
        <p:spPr>
          <a:xfrm>
            <a:off x="9227668" y="3703320"/>
            <a:ext cx="2240280" cy="1097280"/>
          </a:xfrm>
          <a:prstGeom prst="rect">
            <a:avLst/>
          </a:prstGeom>
          <a:noFill/>
          <a:ln/>
        </p:spPr>
        <p:txBody>
          <a:bodyPr wrap="square" rtlCol="0" anchor="ctr"/>
          <a:lstStyle/>
          <a:p>
            <a:pPr marL="0" indent="0" algn="ctr">
              <a:buNone/>
            </a:pPr>
            <a:r>
              <a:rPr lang="en-US" sz="1100" dirty="0">
                <a:solidFill>
                  <a:srgbClr val="FFFFFF"/>
                </a:solidFill>
                <a:latin typeface="Segoe UI" pitchFamily="34" charset="0"/>
                <a:ea typeface="Segoe UI" pitchFamily="34" charset="-122"/>
                <a:cs typeface="Segoe UI" pitchFamily="34" charset="-120"/>
              </a:rPr>
              <a:t>Board-level value driver; agent portfolio runs end-to-end; audit-grade RAI</a:t>
            </a:r>
            <a:endParaRPr lang="en-US" sz="1100" dirty="0"/>
          </a:p>
        </p:txBody>
      </p:sp>
      <p:sp>
        <p:nvSpPr>
          <p:cNvPr id="25" name="Shape 23"/>
          <p:cNvSpPr/>
          <p:nvPr/>
        </p:nvSpPr>
        <p:spPr>
          <a:xfrm flipV="1">
            <a:off x="3096616" y="4572000"/>
            <a:ext cx="320040" cy="274320"/>
          </a:xfrm>
          <a:prstGeom prst="triangle">
            <a:avLst/>
          </a:prstGeom>
          <a:solidFill>
            <a:srgbClr val="FFB900"/>
          </a:solidFill>
          <a:ln w="12700">
            <a:solidFill>
              <a:srgbClr val="FFB900"/>
            </a:solidFill>
            <a:prstDash val="solid"/>
          </a:ln>
        </p:spPr>
        <p:txBody>
          <a:bodyPr/>
          <a:lstStyle/>
          <a:p>
            <a:endParaRPr lang="en-ZA"/>
          </a:p>
        </p:txBody>
      </p:sp>
      <p:sp>
        <p:nvSpPr>
          <p:cNvPr id="26" name="Text 24"/>
          <p:cNvSpPr/>
          <p:nvPr/>
        </p:nvSpPr>
        <p:spPr>
          <a:xfrm>
            <a:off x="1432408" y="4892040"/>
            <a:ext cx="3657600" cy="292608"/>
          </a:xfrm>
          <a:prstGeom prst="rect">
            <a:avLst/>
          </a:prstGeom>
          <a:noFill/>
          <a:ln/>
        </p:spPr>
        <p:txBody>
          <a:bodyPr wrap="square" rtlCol="0" anchor="ctr"/>
          <a:lstStyle/>
          <a:p>
            <a:pPr marL="0" indent="0" algn="ctr">
              <a:buNone/>
            </a:pPr>
            <a:r>
              <a:rPr lang="en-US" sz="1200" b="1" dirty="0">
                <a:solidFill>
                  <a:srgbClr val="FFB900"/>
                </a:solidFill>
                <a:latin typeface="Segoe UI" pitchFamily="34" charset="0"/>
                <a:ea typeface="Segoe UI" pitchFamily="34" charset="-122"/>
                <a:cs typeface="Segoe UI" pitchFamily="34" charset="-120"/>
              </a:rPr>
              <a:t>Eskom today — between H1 and H2</a:t>
            </a:r>
            <a:endParaRPr lang="en-US" sz="1200" dirty="0"/>
          </a:p>
        </p:txBody>
      </p:sp>
      <p:sp>
        <p:nvSpPr>
          <p:cNvPr id="27" name="Shape 25"/>
          <p:cNvSpPr/>
          <p:nvPr/>
        </p:nvSpPr>
        <p:spPr>
          <a:xfrm>
            <a:off x="548640" y="5349240"/>
            <a:ext cx="11091672" cy="868680"/>
          </a:xfrm>
          <a:prstGeom prst="roundRect">
            <a:avLst>
              <a:gd name="adj" fmla="val 8421"/>
            </a:avLst>
          </a:prstGeom>
          <a:solidFill>
            <a:srgbClr val="091F2C"/>
          </a:solidFill>
          <a:ln w="12700">
            <a:solidFill>
              <a:srgbClr val="091F2C"/>
            </a:solidFill>
            <a:prstDash val="solid"/>
          </a:ln>
        </p:spPr>
        <p:txBody>
          <a:bodyPr/>
          <a:lstStyle/>
          <a:p>
            <a:endParaRPr lang="en-ZA"/>
          </a:p>
        </p:txBody>
      </p:sp>
      <p:sp>
        <p:nvSpPr>
          <p:cNvPr id="28" name="Text 26"/>
          <p:cNvSpPr/>
          <p:nvPr/>
        </p:nvSpPr>
        <p:spPr>
          <a:xfrm>
            <a:off x="777240" y="5413248"/>
            <a:ext cx="1371600" cy="292608"/>
          </a:xfrm>
          <a:prstGeom prst="rect">
            <a:avLst/>
          </a:prstGeom>
          <a:noFill/>
          <a:ln/>
        </p:spPr>
        <p:txBody>
          <a:bodyPr wrap="square" rtlCol="0" anchor="ctr"/>
          <a:lstStyle/>
          <a:p>
            <a:pPr marL="0" indent="0">
              <a:buNone/>
            </a:pPr>
            <a:r>
              <a:rPr lang="en-US" sz="1200" b="1" dirty="0">
                <a:solidFill>
                  <a:srgbClr val="C03BC4"/>
                </a:solidFill>
                <a:latin typeface="Segoe UI" pitchFamily="34" charset="0"/>
                <a:ea typeface="Segoe UI" pitchFamily="34" charset="-122"/>
                <a:cs typeface="Segoe UI" pitchFamily="34" charset="-120"/>
              </a:rPr>
              <a:t>Discussion:</a:t>
            </a:r>
            <a:endParaRPr lang="en-US" sz="1200" dirty="0"/>
          </a:p>
        </p:txBody>
      </p:sp>
      <p:sp>
        <p:nvSpPr>
          <p:cNvPr id="29" name="Text 27"/>
          <p:cNvSpPr/>
          <p:nvPr/>
        </p:nvSpPr>
        <p:spPr>
          <a:xfrm>
            <a:off x="777240" y="5733288"/>
            <a:ext cx="10972800" cy="411480"/>
          </a:xfrm>
          <a:prstGeom prst="rect">
            <a:avLst/>
          </a:prstGeom>
          <a:noFill/>
          <a:ln/>
        </p:spPr>
        <p:txBody>
          <a:bodyPr wrap="square" rtlCol="0" anchor="ctr"/>
          <a:lstStyle/>
          <a:p>
            <a:pPr marL="0" indent="0">
              <a:buNone/>
            </a:pPr>
            <a:r>
              <a:rPr lang="en-US" sz="1200" dirty="0">
                <a:solidFill>
                  <a:srgbClr val="FFFFFF"/>
                </a:solidFill>
                <a:latin typeface="Segoe UI" pitchFamily="34" charset="0"/>
                <a:ea typeface="Segoe UI" pitchFamily="34" charset="-122"/>
                <a:cs typeface="Segoe UI" pitchFamily="34" charset="-120"/>
              </a:rPr>
              <a:t>Where on this staircase does the Eskom executive team want to be at end of FY27 — H2 with three anchor workflows in production, or H3?</a:t>
            </a:r>
            <a:endParaRPr lang="en-US" sz="1200" dirty="0"/>
          </a:p>
        </p:txBody>
      </p:sp>
      <p:pic>
        <p:nvPicPr>
          <p:cNvPr id="30"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1" name="Text 28"/>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Prepared for Eskom executive briefing  ·  Confidential</a:t>
            </a:r>
            <a:endParaRPr lang="en-US" sz="900" dirty="0"/>
          </a:p>
        </p:txBody>
      </p:sp>
      <p:sp>
        <p:nvSpPr>
          <p:cNvPr id="32" name="Text 29"/>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6 / 10</a:t>
            </a:r>
            <a:endParaRPr lang="en-US" sz="900" dirty="0"/>
          </a:p>
        </p:txBody>
      </p:sp>
      <p:sp>
        <p:nvSpPr>
          <p:cNvPr id="33" name="AICOE_GEO_ACCENT_Right Triangle 32"/>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ICOE_GEO_ACCENT_Right Triangle 33"/>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9728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GOVERNANCE FIRST</a:t>
            </a:r>
            <a:endParaRPr lang="en-US" sz="1200" dirty="0"/>
          </a:p>
        </p:txBody>
      </p:sp>
      <p:sp>
        <p:nvSpPr>
          <p:cNvPr id="4" name="Text 2"/>
          <p:cNvSpPr/>
          <p:nvPr/>
        </p:nvSpPr>
        <p:spPr>
          <a:xfrm>
            <a:off x="548640" y="777240"/>
            <a:ext cx="11155680" cy="777240"/>
          </a:xfrm>
          <a:prstGeom prst="rect">
            <a:avLst/>
          </a:prstGeom>
          <a:noFill/>
          <a:ln/>
        </p:spPr>
        <p:txBody>
          <a:bodyPr wrap="square" rtlCol="0" anchor="ctr"/>
          <a:lstStyle/>
          <a:p>
            <a:pPr marL="0" indent="0">
              <a:buNone/>
            </a:pPr>
            <a:r>
              <a:rPr lang="en-US" sz="2800" b="1" dirty="0">
                <a:solidFill>
                  <a:srgbClr val="091F2C"/>
                </a:solidFill>
                <a:latin typeface="Segoe UI" pitchFamily="34" charset="0"/>
                <a:ea typeface="Segoe UI" pitchFamily="34" charset="-122"/>
                <a:cs typeface="Segoe UI" pitchFamily="34" charset="-120"/>
              </a:rPr>
              <a:t>Responsible AI — the earliest conversation, not the last.</a:t>
            </a:r>
            <a:endParaRPr lang="en-US" sz="2800" dirty="0"/>
          </a:p>
        </p:txBody>
      </p:sp>
      <p:sp>
        <p:nvSpPr>
          <p:cNvPr id="5" name="Shape 3"/>
          <p:cNvSpPr/>
          <p:nvPr/>
        </p:nvSpPr>
        <p:spPr>
          <a:xfrm>
            <a:off x="548640" y="1691640"/>
            <a:ext cx="11091672" cy="777240"/>
          </a:xfrm>
          <a:prstGeom prst="roundRect">
            <a:avLst>
              <a:gd name="adj" fmla="val 9412"/>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77240" y="1783080"/>
            <a:ext cx="10607040" cy="32004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For a state-owned utility, governance is not a constraint — it is the licence to scale.</a:t>
            </a:r>
            <a:endParaRPr lang="en-US" sz="1400" dirty="0"/>
          </a:p>
        </p:txBody>
      </p:sp>
      <p:sp>
        <p:nvSpPr>
          <p:cNvPr id="7" name="Text 5"/>
          <p:cNvSpPr/>
          <p:nvPr/>
        </p:nvSpPr>
        <p:spPr>
          <a:xfrm>
            <a:off x="777240" y="2103120"/>
            <a:ext cx="10607040" cy="320040"/>
          </a:xfrm>
          <a:prstGeom prst="rect">
            <a:avLst/>
          </a:prstGeom>
          <a:noFill/>
          <a:ln/>
        </p:spPr>
        <p:txBody>
          <a:bodyPr wrap="square" rtlCol="0" anchor="ctr"/>
          <a:lstStyle/>
          <a:p>
            <a:pPr marL="0" indent="0">
              <a:buNone/>
            </a:pPr>
            <a:r>
              <a:rPr lang="en-US" sz="1100" i="1" dirty="0">
                <a:solidFill>
                  <a:srgbClr val="F5E6F0"/>
                </a:solidFill>
                <a:latin typeface="Segoe UI" pitchFamily="34" charset="0"/>
                <a:ea typeface="Segoe UI" pitchFamily="34" charset="-122"/>
                <a:cs typeface="Segoe UI" pitchFamily="34" charset="-120"/>
              </a:rPr>
              <a:t>Engineered for POPIA, PFMA, NERSA, the Auditor-General, and the Audit &amp; Risk Committee from day one.</a:t>
            </a:r>
            <a:endParaRPr lang="en-US" sz="1100" dirty="0"/>
          </a:p>
        </p:txBody>
      </p:sp>
      <p:sp>
        <p:nvSpPr>
          <p:cNvPr id="8" name="Shape 6"/>
          <p:cNvSpPr/>
          <p:nvPr/>
        </p:nvSpPr>
        <p:spPr>
          <a:xfrm>
            <a:off x="548640" y="2697480"/>
            <a:ext cx="3588410" cy="1463040"/>
          </a:xfrm>
          <a:prstGeom prst="roundRect">
            <a:avLst>
              <a:gd name="adj" fmla="val 5000"/>
            </a:avLst>
          </a:prstGeom>
          <a:solidFill>
            <a:srgbClr val="FFF8F5"/>
          </a:solidFill>
          <a:ln w="12700">
            <a:solidFill>
              <a:srgbClr val="E8DDD1"/>
            </a:solidFill>
            <a:prstDash val="solid"/>
          </a:ln>
        </p:spPr>
        <p:txBody>
          <a:bodyPr/>
          <a:lstStyle/>
          <a:p>
            <a:endParaRPr lang="en-ZA"/>
          </a:p>
        </p:txBody>
      </p:sp>
      <p:sp>
        <p:nvSpPr>
          <p:cNvPr id="9" name="Shape 7"/>
          <p:cNvSpPr/>
          <p:nvPr/>
        </p:nvSpPr>
        <p:spPr>
          <a:xfrm>
            <a:off x="548640" y="2697480"/>
            <a:ext cx="73152" cy="1463040"/>
          </a:xfrm>
          <a:prstGeom prst="rect">
            <a:avLst/>
          </a:prstGeom>
          <a:solidFill>
            <a:srgbClr val="0078D4"/>
          </a:solidFill>
          <a:ln w="12700">
            <a:solidFill>
              <a:srgbClr val="0078D4"/>
            </a:solidFill>
            <a:prstDash val="solid"/>
          </a:ln>
        </p:spPr>
        <p:txBody>
          <a:bodyPr/>
          <a:lstStyle/>
          <a:p>
            <a:endParaRPr lang="en-ZA"/>
          </a:p>
        </p:txBody>
      </p:sp>
      <p:sp>
        <p:nvSpPr>
          <p:cNvPr id="10" name="Text 8"/>
          <p:cNvSpPr/>
          <p:nvPr/>
        </p:nvSpPr>
        <p:spPr>
          <a:xfrm>
            <a:off x="777240" y="2862072"/>
            <a:ext cx="3222650" cy="36576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Data residency &amp; sovereignty</a:t>
            </a:r>
            <a:endParaRPr lang="en-US" sz="1250" dirty="0"/>
          </a:p>
        </p:txBody>
      </p:sp>
      <p:sp>
        <p:nvSpPr>
          <p:cNvPr id="11" name="Text 9"/>
          <p:cNvSpPr/>
          <p:nvPr/>
        </p:nvSpPr>
        <p:spPr>
          <a:xfrm>
            <a:off x="777240" y="3246120"/>
            <a:ext cx="3222650" cy="868680"/>
          </a:xfrm>
          <a:prstGeom prst="rect">
            <a:avLst/>
          </a:prstGeom>
          <a:noFill/>
          <a:ln/>
        </p:spPr>
        <p:txBody>
          <a:bodyPr wrap="square" rtlCol="0" anchor="ctr"/>
          <a:lstStyle/>
          <a:p>
            <a:pPr marL="0" indent="0">
              <a:buNone/>
            </a:pPr>
            <a:r>
              <a:rPr lang="en-US" sz="1000" dirty="0">
                <a:solidFill>
                  <a:srgbClr val="4B5563"/>
                </a:solidFill>
                <a:latin typeface="Segoe UI" pitchFamily="34" charset="0"/>
                <a:ea typeface="Segoe UI" pitchFamily="34" charset="-122"/>
                <a:cs typeface="Segoe UI" pitchFamily="34" charset="-120"/>
              </a:rPr>
              <a:t>Your data stays in Microsoft's South Africa North/West regions. POPIA compliance is engineered in, not bolted on.</a:t>
            </a:r>
            <a:endParaRPr lang="en-US" sz="1000" dirty="0"/>
          </a:p>
        </p:txBody>
      </p:sp>
      <p:sp>
        <p:nvSpPr>
          <p:cNvPr id="12" name="Shape 10"/>
          <p:cNvSpPr/>
          <p:nvPr/>
        </p:nvSpPr>
        <p:spPr>
          <a:xfrm>
            <a:off x="4301642" y="2697480"/>
            <a:ext cx="3588410" cy="1463040"/>
          </a:xfrm>
          <a:prstGeom prst="roundRect">
            <a:avLst>
              <a:gd name="adj" fmla="val 5000"/>
            </a:avLst>
          </a:prstGeom>
          <a:solidFill>
            <a:srgbClr val="FFF8F5"/>
          </a:solidFill>
          <a:ln w="12700">
            <a:solidFill>
              <a:srgbClr val="E8DDD1"/>
            </a:solidFill>
            <a:prstDash val="solid"/>
          </a:ln>
        </p:spPr>
        <p:txBody>
          <a:bodyPr/>
          <a:lstStyle/>
          <a:p>
            <a:endParaRPr lang="en-ZA"/>
          </a:p>
        </p:txBody>
      </p:sp>
      <p:sp>
        <p:nvSpPr>
          <p:cNvPr id="13" name="Shape 11"/>
          <p:cNvSpPr/>
          <p:nvPr/>
        </p:nvSpPr>
        <p:spPr>
          <a:xfrm>
            <a:off x="4301642" y="2697480"/>
            <a:ext cx="73152" cy="1463040"/>
          </a:xfrm>
          <a:prstGeom prst="rect">
            <a:avLst/>
          </a:prstGeom>
          <a:solidFill>
            <a:srgbClr val="0057B8"/>
          </a:solidFill>
          <a:ln w="12700">
            <a:solidFill>
              <a:srgbClr val="0057B8"/>
            </a:solidFill>
            <a:prstDash val="solid"/>
          </a:ln>
        </p:spPr>
        <p:txBody>
          <a:bodyPr/>
          <a:lstStyle/>
          <a:p>
            <a:endParaRPr lang="en-ZA"/>
          </a:p>
        </p:txBody>
      </p:sp>
      <p:sp>
        <p:nvSpPr>
          <p:cNvPr id="14" name="Text 12"/>
          <p:cNvSpPr/>
          <p:nvPr/>
        </p:nvSpPr>
        <p:spPr>
          <a:xfrm>
            <a:off x="4530242" y="2862072"/>
            <a:ext cx="3222650" cy="36576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Purview AI Hub</a:t>
            </a:r>
            <a:endParaRPr lang="en-US" sz="1250" dirty="0"/>
          </a:p>
        </p:txBody>
      </p:sp>
      <p:sp>
        <p:nvSpPr>
          <p:cNvPr id="15" name="Text 13"/>
          <p:cNvSpPr/>
          <p:nvPr/>
        </p:nvSpPr>
        <p:spPr>
          <a:xfrm>
            <a:off x="4530242" y="3246120"/>
            <a:ext cx="3222650" cy="868680"/>
          </a:xfrm>
          <a:prstGeom prst="rect">
            <a:avLst/>
          </a:prstGeom>
          <a:noFill/>
          <a:ln/>
        </p:spPr>
        <p:txBody>
          <a:bodyPr wrap="square" rtlCol="0" anchor="ctr"/>
          <a:lstStyle/>
          <a:p>
            <a:pPr marL="0" indent="0">
              <a:buNone/>
            </a:pPr>
            <a:r>
              <a:rPr lang="en-US" sz="1000" dirty="0">
                <a:solidFill>
                  <a:srgbClr val="4B5563"/>
                </a:solidFill>
                <a:latin typeface="Segoe UI" pitchFamily="34" charset="0"/>
                <a:ea typeface="Segoe UI" pitchFamily="34" charset="-122"/>
                <a:cs typeface="Segoe UI" pitchFamily="34" charset="-120"/>
              </a:rPr>
              <a:t>Every prompt, response, and agent action is monitored, attributable, and audit-reviewable. Sensitivity labels foundational.</a:t>
            </a:r>
            <a:endParaRPr lang="en-US" sz="1000" dirty="0"/>
          </a:p>
        </p:txBody>
      </p:sp>
      <p:sp>
        <p:nvSpPr>
          <p:cNvPr id="16" name="Shape 14"/>
          <p:cNvSpPr/>
          <p:nvPr/>
        </p:nvSpPr>
        <p:spPr>
          <a:xfrm>
            <a:off x="8054645" y="2697480"/>
            <a:ext cx="3588410" cy="1463040"/>
          </a:xfrm>
          <a:prstGeom prst="roundRect">
            <a:avLst>
              <a:gd name="adj" fmla="val 5000"/>
            </a:avLst>
          </a:prstGeom>
          <a:solidFill>
            <a:srgbClr val="FFF8F5"/>
          </a:solidFill>
          <a:ln w="12700">
            <a:solidFill>
              <a:srgbClr val="E8DDD1"/>
            </a:solidFill>
            <a:prstDash val="solid"/>
          </a:ln>
        </p:spPr>
        <p:txBody>
          <a:bodyPr/>
          <a:lstStyle/>
          <a:p>
            <a:endParaRPr lang="en-ZA"/>
          </a:p>
        </p:txBody>
      </p:sp>
      <p:sp>
        <p:nvSpPr>
          <p:cNvPr id="17" name="Shape 15"/>
          <p:cNvSpPr/>
          <p:nvPr/>
        </p:nvSpPr>
        <p:spPr>
          <a:xfrm>
            <a:off x="8054645" y="2697480"/>
            <a:ext cx="73152" cy="1463040"/>
          </a:xfrm>
          <a:prstGeom prst="rect">
            <a:avLst/>
          </a:prstGeom>
          <a:solidFill>
            <a:srgbClr val="225B62"/>
          </a:solidFill>
          <a:ln w="12700">
            <a:solidFill>
              <a:srgbClr val="225B62"/>
            </a:solidFill>
            <a:prstDash val="solid"/>
          </a:ln>
        </p:spPr>
        <p:txBody>
          <a:bodyPr/>
          <a:lstStyle/>
          <a:p>
            <a:endParaRPr lang="en-ZA"/>
          </a:p>
        </p:txBody>
      </p:sp>
      <p:sp>
        <p:nvSpPr>
          <p:cNvPr id="18" name="Text 16"/>
          <p:cNvSpPr/>
          <p:nvPr/>
        </p:nvSpPr>
        <p:spPr>
          <a:xfrm>
            <a:off x="8283245" y="2862072"/>
            <a:ext cx="3222650" cy="36576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Agent inventory &amp; model risk register</a:t>
            </a:r>
            <a:endParaRPr lang="en-US" sz="1250" dirty="0"/>
          </a:p>
        </p:txBody>
      </p:sp>
      <p:sp>
        <p:nvSpPr>
          <p:cNvPr id="19" name="Text 17"/>
          <p:cNvSpPr/>
          <p:nvPr/>
        </p:nvSpPr>
        <p:spPr>
          <a:xfrm>
            <a:off x="8283245" y="3246120"/>
            <a:ext cx="3222650" cy="868680"/>
          </a:xfrm>
          <a:prstGeom prst="rect">
            <a:avLst/>
          </a:prstGeom>
          <a:noFill/>
          <a:ln/>
        </p:spPr>
        <p:txBody>
          <a:bodyPr wrap="square" rtlCol="0" anchor="ctr"/>
          <a:lstStyle/>
          <a:p>
            <a:pPr marL="0" indent="0">
              <a:buNone/>
            </a:pPr>
            <a:r>
              <a:rPr lang="en-US" sz="1000" dirty="0">
                <a:solidFill>
                  <a:srgbClr val="4B5563"/>
                </a:solidFill>
                <a:latin typeface="Segoe UI" pitchFamily="34" charset="0"/>
                <a:ea typeface="Segoe UI" pitchFamily="34" charset="-122"/>
                <a:cs typeface="Segoe UI" pitchFamily="34" charset="-120"/>
              </a:rPr>
              <a:t>Every agent in production has an owner, risk classification, review cadence, kill-switch — the artefact NERSA and the Auditor-General will ask for.</a:t>
            </a:r>
            <a:endParaRPr lang="en-US" sz="1000" dirty="0"/>
          </a:p>
        </p:txBody>
      </p:sp>
      <p:sp>
        <p:nvSpPr>
          <p:cNvPr id="20" name="Shape 18"/>
          <p:cNvSpPr/>
          <p:nvPr/>
        </p:nvSpPr>
        <p:spPr>
          <a:xfrm>
            <a:off x="548640" y="4325112"/>
            <a:ext cx="3588410" cy="1463040"/>
          </a:xfrm>
          <a:prstGeom prst="roundRect">
            <a:avLst>
              <a:gd name="adj" fmla="val 5000"/>
            </a:avLst>
          </a:prstGeom>
          <a:solidFill>
            <a:srgbClr val="FFF8F5"/>
          </a:solidFill>
          <a:ln w="12700">
            <a:solidFill>
              <a:srgbClr val="E8DDD1"/>
            </a:solidFill>
            <a:prstDash val="solid"/>
          </a:ln>
        </p:spPr>
        <p:txBody>
          <a:bodyPr/>
          <a:lstStyle/>
          <a:p>
            <a:endParaRPr lang="en-ZA"/>
          </a:p>
        </p:txBody>
      </p:sp>
      <p:sp>
        <p:nvSpPr>
          <p:cNvPr id="21" name="Shape 19"/>
          <p:cNvSpPr/>
          <p:nvPr/>
        </p:nvSpPr>
        <p:spPr>
          <a:xfrm>
            <a:off x="548640" y="4325112"/>
            <a:ext cx="73152" cy="1463040"/>
          </a:xfrm>
          <a:prstGeom prst="rect">
            <a:avLst/>
          </a:prstGeom>
          <a:solidFill>
            <a:srgbClr val="225B62"/>
          </a:solidFill>
          <a:ln w="12700">
            <a:solidFill>
              <a:srgbClr val="225B62"/>
            </a:solidFill>
            <a:prstDash val="solid"/>
          </a:ln>
        </p:spPr>
        <p:txBody>
          <a:bodyPr/>
          <a:lstStyle/>
          <a:p>
            <a:endParaRPr lang="en-ZA"/>
          </a:p>
        </p:txBody>
      </p:sp>
      <p:sp>
        <p:nvSpPr>
          <p:cNvPr id="22" name="Text 20"/>
          <p:cNvSpPr/>
          <p:nvPr/>
        </p:nvSpPr>
        <p:spPr>
          <a:xfrm>
            <a:off x="777240" y="4489704"/>
            <a:ext cx="3222650" cy="36576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Responsible AI council</a:t>
            </a:r>
            <a:endParaRPr lang="en-US" sz="1250" dirty="0"/>
          </a:p>
        </p:txBody>
      </p:sp>
      <p:sp>
        <p:nvSpPr>
          <p:cNvPr id="23" name="Text 21"/>
          <p:cNvSpPr/>
          <p:nvPr/>
        </p:nvSpPr>
        <p:spPr>
          <a:xfrm>
            <a:off x="777240" y="4873752"/>
            <a:ext cx="3222650" cy="868680"/>
          </a:xfrm>
          <a:prstGeom prst="rect">
            <a:avLst/>
          </a:prstGeom>
          <a:noFill/>
          <a:ln/>
        </p:spPr>
        <p:txBody>
          <a:bodyPr wrap="square" rtlCol="0" anchor="ctr"/>
          <a:lstStyle/>
          <a:p>
            <a:pPr marL="0" indent="0">
              <a:buNone/>
            </a:pPr>
            <a:r>
              <a:rPr lang="en-US" sz="1000" dirty="0">
                <a:solidFill>
                  <a:srgbClr val="4B5563"/>
                </a:solidFill>
                <a:latin typeface="Segoe UI" pitchFamily="34" charset="0"/>
                <a:ea typeface="Segoe UI" pitchFamily="34" charset="-122"/>
                <a:cs typeface="Segoe UI" pitchFamily="34" charset="-120"/>
              </a:rPr>
              <a:t>Executive-chaired. Risk, Legal, Internal Audit, Cyber, HR, Operations. Reviews high-risk use cases before deployment.</a:t>
            </a:r>
            <a:endParaRPr lang="en-US" sz="1000" dirty="0"/>
          </a:p>
        </p:txBody>
      </p:sp>
      <p:sp>
        <p:nvSpPr>
          <p:cNvPr id="24" name="Shape 22"/>
          <p:cNvSpPr/>
          <p:nvPr/>
        </p:nvSpPr>
        <p:spPr>
          <a:xfrm>
            <a:off x="4301642" y="4325112"/>
            <a:ext cx="3588410" cy="1463040"/>
          </a:xfrm>
          <a:prstGeom prst="roundRect">
            <a:avLst>
              <a:gd name="adj" fmla="val 5000"/>
            </a:avLst>
          </a:prstGeom>
          <a:solidFill>
            <a:srgbClr val="FFF8F5"/>
          </a:solidFill>
          <a:ln w="12700">
            <a:solidFill>
              <a:srgbClr val="E8DDD1"/>
            </a:solidFill>
            <a:prstDash val="solid"/>
          </a:ln>
        </p:spPr>
        <p:txBody>
          <a:bodyPr/>
          <a:lstStyle/>
          <a:p>
            <a:endParaRPr lang="en-ZA"/>
          </a:p>
        </p:txBody>
      </p:sp>
      <p:sp>
        <p:nvSpPr>
          <p:cNvPr id="25" name="Shape 23"/>
          <p:cNvSpPr/>
          <p:nvPr/>
        </p:nvSpPr>
        <p:spPr>
          <a:xfrm>
            <a:off x="4301642" y="4325112"/>
            <a:ext cx="73152" cy="1463040"/>
          </a:xfrm>
          <a:prstGeom prst="rect">
            <a:avLst/>
          </a:prstGeom>
          <a:solidFill>
            <a:srgbClr val="FFB900"/>
          </a:solidFill>
          <a:ln w="12700">
            <a:solidFill>
              <a:srgbClr val="FFB900"/>
            </a:solidFill>
            <a:prstDash val="solid"/>
          </a:ln>
        </p:spPr>
        <p:txBody>
          <a:bodyPr/>
          <a:lstStyle/>
          <a:p>
            <a:endParaRPr lang="en-ZA"/>
          </a:p>
        </p:txBody>
      </p:sp>
      <p:sp>
        <p:nvSpPr>
          <p:cNvPr id="26" name="Text 24"/>
          <p:cNvSpPr/>
          <p:nvPr/>
        </p:nvSpPr>
        <p:spPr>
          <a:xfrm>
            <a:off x="4530242" y="4489704"/>
            <a:ext cx="3222650" cy="36576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Human-in-the-loop rules</a:t>
            </a:r>
            <a:endParaRPr lang="en-US" sz="1250" dirty="0"/>
          </a:p>
        </p:txBody>
      </p:sp>
      <p:sp>
        <p:nvSpPr>
          <p:cNvPr id="27" name="Text 25"/>
          <p:cNvSpPr/>
          <p:nvPr/>
        </p:nvSpPr>
        <p:spPr>
          <a:xfrm>
            <a:off x="4530242" y="4873752"/>
            <a:ext cx="3222650" cy="868680"/>
          </a:xfrm>
          <a:prstGeom prst="rect">
            <a:avLst/>
          </a:prstGeom>
          <a:noFill/>
          <a:ln/>
        </p:spPr>
        <p:txBody>
          <a:bodyPr wrap="square" rtlCol="0" anchor="ctr"/>
          <a:lstStyle/>
          <a:p>
            <a:pPr marL="0" indent="0">
              <a:buNone/>
            </a:pPr>
            <a:r>
              <a:rPr lang="en-US" sz="1000" dirty="0">
                <a:solidFill>
                  <a:srgbClr val="4B5563"/>
                </a:solidFill>
                <a:latin typeface="Segoe UI" pitchFamily="34" charset="0"/>
                <a:ea typeface="Segoe UI" pitchFamily="34" charset="-122"/>
                <a:cs typeface="Segoe UI" pitchFamily="34" charset="-120"/>
              </a:rPr>
              <a:t>Codified for every category of decision an agent can support — operational, financial, regulatory, customer.</a:t>
            </a:r>
            <a:endParaRPr lang="en-US" sz="1000" dirty="0"/>
          </a:p>
        </p:txBody>
      </p:sp>
      <p:sp>
        <p:nvSpPr>
          <p:cNvPr id="28" name="Shape 26"/>
          <p:cNvSpPr/>
          <p:nvPr/>
        </p:nvSpPr>
        <p:spPr>
          <a:xfrm>
            <a:off x="8054645" y="4325112"/>
            <a:ext cx="3588410" cy="1463040"/>
          </a:xfrm>
          <a:prstGeom prst="roundRect">
            <a:avLst>
              <a:gd name="adj" fmla="val 5000"/>
            </a:avLst>
          </a:prstGeom>
          <a:solidFill>
            <a:srgbClr val="FFF8F5"/>
          </a:solidFill>
          <a:ln w="12700">
            <a:solidFill>
              <a:srgbClr val="E8DDD1"/>
            </a:solidFill>
            <a:prstDash val="solid"/>
          </a:ln>
        </p:spPr>
        <p:txBody>
          <a:bodyPr/>
          <a:lstStyle/>
          <a:p>
            <a:endParaRPr lang="en-ZA"/>
          </a:p>
        </p:txBody>
      </p:sp>
      <p:sp>
        <p:nvSpPr>
          <p:cNvPr id="29" name="Shape 27"/>
          <p:cNvSpPr/>
          <p:nvPr/>
        </p:nvSpPr>
        <p:spPr>
          <a:xfrm>
            <a:off x="8054645" y="4325112"/>
            <a:ext cx="73152" cy="1463040"/>
          </a:xfrm>
          <a:prstGeom prst="rect">
            <a:avLst/>
          </a:prstGeom>
          <a:solidFill>
            <a:srgbClr val="FF5C39"/>
          </a:solidFill>
          <a:ln w="12700">
            <a:solidFill>
              <a:srgbClr val="FF5C39"/>
            </a:solidFill>
            <a:prstDash val="solid"/>
          </a:ln>
        </p:spPr>
        <p:txBody>
          <a:bodyPr/>
          <a:lstStyle/>
          <a:p>
            <a:endParaRPr lang="en-ZA"/>
          </a:p>
        </p:txBody>
      </p:sp>
      <p:sp>
        <p:nvSpPr>
          <p:cNvPr id="30" name="Text 28"/>
          <p:cNvSpPr/>
          <p:nvPr/>
        </p:nvSpPr>
        <p:spPr>
          <a:xfrm>
            <a:off x="8283245" y="4489704"/>
            <a:ext cx="3222650" cy="365760"/>
          </a:xfrm>
          <a:prstGeom prst="rect">
            <a:avLst/>
          </a:prstGeom>
          <a:noFill/>
          <a:ln/>
        </p:spPr>
        <p:txBody>
          <a:bodyPr wrap="square" rtlCol="0" anchor="ctr"/>
          <a:lstStyle/>
          <a:p>
            <a:pPr marL="0" indent="0">
              <a:buNone/>
            </a:pPr>
            <a:r>
              <a:rPr lang="en-US" sz="1250" b="1" dirty="0">
                <a:solidFill>
                  <a:srgbClr val="091F2C"/>
                </a:solidFill>
                <a:latin typeface="Segoe UI" pitchFamily="34" charset="0"/>
                <a:ea typeface="Segoe UI" pitchFamily="34" charset="-122"/>
                <a:cs typeface="Segoe UI" pitchFamily="34" charset="-120"/>
              </a:rPr>
              <a:t>Red-teaming &amp; lineage</a:t>
            </a:r>
            <a:endParaRPr lang="en-US" sz="1250" dirty="0"/>
          </a:p>
        </p:txBody>
      </p:sp>
      <p:sp>
        <p:nvSpPr>
          <p:cNvPr id="31" name="Text 29"/>
          <p:cNvSpPr/>
          <p:nvPr/>
        </p:nvSpPr>
        <p:spPr>
          <a:xfrm>
            <a:off x="8283245" y="4873752"/>
            <a:ext cx="3222650" cy="868680"/>
          </a:xfrm>
          <a:prstGeom prst="rect">
            <a:avLst/>
          </a:prstGeom>
          <a:noFill/>
          <a:ln/>
        </p:spPr>
        <p:txBody>
          <a:bodyPr wrap="square" rtlCol="0" anchor="ctr"/>
          <a:lstStyle/>
          <a:p>
            <a:pPr marL="0" indent="0">
              <a:buNone/>
            </a:pPr>
            <a:r>
              <a:rPr lang="en-US" sz="1000" dirty="0">
                <a:solidFill>
                  <a:srgbClr val="4B5563"/>
                </a:solidFill>
                <a:latin typeface="Segoe UI" pitchFamily="34" charset="0"/>
                <a:ea typeface="Segoe UI" pitchFamily="34" charset="-122"/>
                <a:cs typeface="Segoe UI" pitchFamily="34" charset="-120"/>
              </a:rPr>
              <a:t>Continuous red-teaming for production agents; full audit lineage from prompt to data source.</a:t>
            </a:r>
            <a:endParaRPr lang="en-US" sz="1000" dirty="0"/>
          </a:p>
        </p:txBody>
      </p:sp>
      <p:sp>
        <p:nvSpPr>
          <p:cNvPr id="32" name="Text 30"/>
          <p:cNvSpPr/>
          <p:nvPr/>
        </p:nvSpPr>
        <p:spPr>
          <a:xfrm>
            <a:off x="548640" y="6035040"/>
            <a:ext cx="10972800" cy="274320"/>
          </a:xfrm>
          <a:prstGeom prst="rect">
            <a:avLst/>
          </a:prstGeom>
          <a:noFill/>
          <a:ln/>
        </p:spPr>
        <p:txBody>
          <a:bodyPr wrap="square" rtlCol="0" anchor="ctr"/>
          <a:lstStyle/>
          <a:p>
            <a:pPr marL="0" indent="0" algn="ctr">
              <a:buNone/>
            </a:pPr>
            <a:r>
              <a:rPr lang="en-US" sz="1200" b="1" i="1" dirty="0">
                <a:solidFill>
                  <a:srgbClr val="0078D4"/>
                </a:solidFill>
                <a:latin typeface="Segoe UI" pitchFamily="34" charset="0"/>
                <a:ea typeface="Segoe UI" pitchFamily="34" charset="-122"/>
                <a:cs typeface="Segoe UI" pitchFamily="34" charset="-120"/>
              </a:rPr>
              <a:t>Lead with governance — and the rest of the conversation becomes possible.</a:t>
            </a:r>
            <a:endParaRPr lang="en-US" sz="1200" dirty="0"/>
          </a:p>
        </p:txBody>
      </p:sp>
      <p:pic>
        <p:nvPicPr>
          <p:cNvPr id="33"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4" name="Text 31"/>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Prepared for Eskom executive briefing  ·  Confidential</a:t>
            </a:r>
            <a:endParaRPr lang="en-US" sz="900" dirty="0"/>
          </a:p>
        </p:txBody>
      </p:sp>
      <p:sp>
        <p:nvSpPr>
          <p:cNvPr id="35" name="Text 32"/>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7 / 10</a:t>
            </a:r>
            <a:endParaRPr lang="en-US" sz="900" dirty="0"/>
          </a:p>
        </p:txBody>
      </p:sp>
      <p:sp>
        <p:nvSpPr>
          <p:cNvPr id="36" name="AICOE_GEO_ACCENT_Right Triangle 35"/>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ICOE_GEO_ACCENT_Right Triangle 36"/>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9728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HOW WE DELIVER</a:t>
            </a:r>
            <a:endParaRPr lang="en-US" sz="1200" dirty="0"/>
          </a:p>
        </p:txBody>
      </p:sp>
      <p:sp>
        <p:nvSpPr>
          <p:cNvPr id="4" name="Text 2"/>
          <p:cNvSpPr/>
          <p:nvPr/>
        </p:nvSpPr>
        <p:spPr>
          <a:xfrm>
            <a:off x="548640" y="777240"/>
            <a:ext cx="11155680" cy="777240"/>
          </a:xfrm>
          <a:prstGeom prst="rect">
            <a:avLst/>
          </a:prstGeom>
          <a:noFill/>
          <a:ln/>
        </p:spPr>
        <p:txBody>
          <a:bodyPr wrap="square" rtlCol="0" anchor="ctr"/>
          <a:lstStyle/>
          <a:p>
            <a:pPr marL="0" indent="0">
              <a:buNone/>
            </a:pPr>
            <a:r>
              <a:rPr lang="en-US" sz="2800" b="1" dirty="0">
                <a:solidFill>
                  <a:srgbClr val="091F2C"/>
                </a:solidFill>
                <a:latin typeface="Segoe UI" pitchFamily="34" charset="0"/>
                <a:ea typeface="Segoe UI" pitchFamily="34" charset="-122"/>
                <a:cs typeface="Segoe UI" pitchFamily="34" charset="-120"/>
              </a:rPr>
              <a:t>One journey · One team · Microsoft co-invested.</a:t>
            </a:r>
            <a:endParaRPr lang="en-US" sz="2800" dirty="0"/>
          </a:p>
        </p:txBody>
      </p:sp>
      <p:sp>
        <p:nvSpPr>
          <p:cNvPr id="5" name="Shape 3"/>
          <p:cNvSpPr/>
          <p:nvPr/>
        </p:nvSpPr>
        <p:spPr>
          <a:xfrm>
            <a:off x="554584" y="1783080"/>
            <a:ext cx="2121408" cy="1325880"/>
          </a:xfrm>
          <a:prstGeom prst="roundRect">
            <a:avLst>
              <a:gd name="adj" fmla="val 5517"/>
            </a:avLst>
          </a:prstGeom>
          <a:solidFill>
            <a:srgbClr val="FFFFFF"/>
          </a:solidFill>
          <a:ln w="12700">
            <a:solidFill>
              <a:srgbClr val="E8DDD1"/>
            </a:solidFill>
            <a:prstDash val="solid"/>
          </a:ln>
        </p:spPr>
        <p:txBody>
          <a:bodyPr/>
          <a:lstStyle/>
          <a:p>
            <a:endParaRPr lang="en-ZA"/>
          </a:p>
        </p:txBody>
      </p:sp>
      <p:sp>
        <p:nvSpPr>
          <p:cNvPr id="6" name="Shape 4"/>
          <p:cNvSpPr/>
          <p:nvPr/>
        </p:nvSpPr>
        <p:spPr>
          <a:xfrm>
            <a:off x="737464" y="1947672"/>
            <a:ext cx="457200" cy="457200"/>
          </a:xfrm>
          <a:prstGeom prst="ellipse">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737464" y="1947672"/>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8" name="Text 6"/>
          <p:cNvSpPr/>
          <p:nvPr/>
        </p:nvSpPr>
        <p:spPr>
          <a:xfrm>
            <a:off x="1286104" y="1965960"/>
            <a:ext cx="1252728" cy="36576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Discover</a:t>
            </a:r>
            <a:endParaRPr lang="en-US" sz="1200" dirty="0"/>
          </a:p>
        </p:txBody>
      </p:sp>
      <p:sp>
        <p:nvSpPr>
          <p:cNvPr id="9" name="Text 7"/>
          <p:cNvSpPr/>
          <p:nvPr/>
        </p:nvSpPr>
        <p:spPr>
          <a:xfrm>
            <a:off x="737464" y="2496312"/>
            <a:ext cx="1755648" cy="548640"/>
          </a:xfrm>
          <a:prstGeom prst="rect">
            <a:avLst/>
          </a:prstGeom>
          <a:noFill/>
          <a:ln/>
        </p:spPr>
        <p:txBody>
          <a:bodyPr wrap="square" rtlCol="0" anchor="ctr"/>
          <a:lstStyle/>
          <a:p>
            <a:pPr marL="0" indent="0">
              <a:buNone/>
            </a:pPr>
            <a:r>
              <a:rPr lang="en-US" sz="950" dirty="0">
                <a:solidFill>
                  <a:srgbClr val="4B5563"/>
                </a:solidFill>
                <a:latin typeface="Segoe UI" pitchFamily="34" charset="0"/>
                <a:ea typeface="Segoe UI" pitchFamily="34" charset="-122"/>
                <a:cs typeface="Segoe UI" pitchFamily="34" charset="-120"/>
              </a:rPr>
              <a:t>Score readiness · Horizon position</a:t>
            </a:r>
            <a:endParaRPr lang="en-US" sz="950" dirty="0"/>
          </a:p>
        </p:txBody>
      </p:sp>
      <p:sp>
        <p:nvSpPr>
          <p:cNvPr id="10" name="Shape 8"/>
          <p:cNvSpPr/>
          <p:nvPr/>
        </p:nvSpPr>
        <p:spPr>
          <a:xfrm>
            <a:off x="2639416" y="2327148"/>
            <a:ext cx="210312" cy="237744"/>
          </a:xfrm>
          <a:prstGeom prst="chevron">
            <a:avLst/>
          </a:prstGeom>
          <a:solidFill>
            <a:srgbClr val="8A94A6"/>
          </a:solidFill>
          <a:ln w="12700">
            <a:solidFill>
              <a:srgbClr val="8A94A6"/>
            </a:solidFill>
            <a:prstDash val="solid"/>
          </a:ln>
        </p:spPr>
        <p:txBody>
          <a:bodyPr/>
          <a:lstStyle/>
          <a:p>
            <a:endParaRPr lang="en-ZA"/>
          </a:p>
        </p:txBody>
      </p:sp>
      <p:sp>
        <p:nvSpPr>
          <p:cNvPr id="11" name="Shape 9"/>
          <p:cNvSpPr/>
          <p:nvPr/>
        </p:nvSpPr>
        <p:spPr>
          <a:xfrm>
            <a:off x="2794864" y="1783080"/>
            <a:ext cx="2121408" cy="1325880"/>
          </a:xfrm>
          <a:prstGeom prst="roundRect">
            <a:avLst>
              <a:gd name="adj" fmla="val 5517"/>
            </a:avLst>
          </a:prstGeom>
          <a:solidFill>
            <a:srgbClr val="FFFFFF"/>
          </a:solidFill>
          <a:ln w="12700">
            <a:solidFill>
              <a:srgbClr val="E8DDD1"/>
            </a:solidFill>
            <a:prstDash val="solid"/>
          </a:ln>
        </p:spPr>
        <p:txBody>
          <a:bodyPr/>
          <a:lstStyle/>
          <a:p>
            <a:endParaRPr lang="en-ZA"/>
          </a:p>
        </p:txBody>
      </p:sp>
      <p:sp>
        <p:nvSpPr>
          <p:cNvPr id="12" name="Shape 10"/>
          <p:cNvSpPr/>
          <p:nvPr/>
        </p:nvSpPr>
        <p:spPr>
          <a:xfrm>
            <a:off x="2977744" y="1947672"/>
            <a:ext cx="457200" cy="457200"/>
          </a:xfrm>
          <a:prstGeom prst="ellipse">
            <a:avLst/>
          </a:prstGeom>
          <a:solidFill>
            <a:srgbClr val="0057B8"/>
          </a:solidFill>
          <a:ln w="12700">
            <a:solidFill>
              <a:srgbClr val="0057B8"/>
            </a:solidFill>
            <a:prstDash val="solid"/>
          </a:ln>
        </p:spPr>
        <p:txBody>
          <a:bodyPr/>
          <a:lstStyle/>
          <a:p>
            <a:endParaRPr lang="en-ZA"/>
          </a:p>
        </p:txBody>
      </p:sp>
      <p:sp>
        <p:nvSpPr>
          <p:cNvPr id="13" name="Text 11"/>
          <p:cNvSpPr/>
          <p:nvPr/>
        </p:nvSpPr>
        <p:spPr>
          <a:xfrm>
            <a:off x="2977744" y="1947672"/>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4" name="Text 12"/>
          <p:cNvSpPr/>
          <p:nvPr/>
        </p:nvSpPr>
        <p:spPr>
          <a:xfrm>
            <a:off x="3526384" y="1965960"/>
            <a:ext cx="1252728" cy="36576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Design</a:t>
            </a:r>
            <a:endParaRPr lang="en-US" sz="1200" dirty="0"/>
          </a:p>
        </p:txBody>
      </p:sp>
      <p:sp>
        <p:nvSpPr>
          <p:cNvPr id="15" name="Text 13"/>
          <p:cNvSpPr/>
          <p:nvPr/>
        </p:nvSpPr>
        <p:spPr>
          <a:xfrm>
            <a:off x="2977744" y="2496312"/>
            <a:ext cx="1755648" cy="548640"/>
          </a:xfrm>
          <a:prstGeom prst="rect">
            <a:avLst/>
          </a:prstGeom>
          <a:noFill/>
          <a:ln/>
        </p:spPr>
        <p:txBody>
          <a:bodyPr wrap="square" rtlCol="0" anchor="ctr"/>
          <a:lstStyle/>
          <a:p>
            <a:pPr marL="0" indent="0">
              <a:buNone/>
            </a:pPr>
            <a:r>
              <a:rPr lang="en-US" sz="950" dirty="0">
                <a:solidFill>
                  <a:srgbClr val="4B5563"/>
                </a:solidFill>
                <a:latin typeface="Segoe UI" pitchFamily="34" charset="0"/>
                <a:ea typeface="Segoe UI" pitchFamily="34" charset="-122"/>
                <a:cs typeface="Segoe UI" pitchFamily="34" charset="-120"/>
              </a:rPr>
              <a:t>Charter CoE · prioritise use cases</a:t>
            </a:r>
            <a:endParaRPr lang="en-US" sz="950" dirty="0"/>
          </a:p>
        </p:txBody>
      </p:sp>
      <p:sp>
        <p:nvSpPr>
          <p:cNvPr id="16" name="Shape 14"/>
          <p:cNvSpPr/>
          <p:nvPr/>
        </p:nvSpPr>
        <p:spPr>
          <a:xfrm>
            <a:off x="4879696" y="2327148"/>
            <a:ext cx="210312" cy="237744"/>
          </a:xfrm>
          <a:prstGeom prst="chevron">
            <a:avLst/>
          </a:prstGeom>
          <a:solidFill>
            <a:srgbClr val="8A94A6"/>
          </a:solidFill>
          <a:ln w="12700">
            <a:solidFill>
              <a:srgbClr val="8A94A6"/>
            </a:solidFill>
            <a:prstDash val="solid"/>
          </a:ln>
        </p:spPr>
        <p:txBody>
          <a:bodyPr/>
          <a:lstStyle/>
          <a:p>
            <a:endParaRPr lang="en-ZA"/>
          </a:p>
        </p:txBody>
      </p:sp>
      <p:sp>
        <p:nvSpPr>
          <p:cNvPr id="17" name="Shape 15"/>
          <p:cNvSpPr/>
          <p:nvPr/>
        </p:nvSpPr>
        <p:spPr>
          <a:xfrm>
            <a:off x="5035144" y="1783080"/>
            <a:ext cx="2121408" cy="1325880"/>
          </a:xfrm>
          <a:prstGeom prst="roundRect">
            <a:avLst>
              <a:gd name="adj" fmla="val 5517"/>
            </a:avLst>
          </a:prstGeom>
          <a:solidFill>
            <a:srgbClr val="FFFFFF"/>
          </a:solidFill>
          <a:ln w="12700">
            <a:solidFill>
              <a:srgbClr val="E8DDD1"/>
            </a:solidFill>
            <a:prstDash val="solid"/>
          </a:ln>
        </p:spPr>
        <p:txBody>
          <a:bodyPr/>
          <a:lstStyle/>
          <a:p>
            <a:endParaRPr lang="en-ZA"/>
          </a:p>
        </p:txBody>
      </p:sp>
      <p:sp>
        <p:nvSpPr>
          <p:cNvPr id="18" name="Shape 16"/>
          <p:cNvSpPr/>
          <p:nvPr/>
        </p:nvSpPr>
        <p:spPr>
          <a:xfrm>
            <a:off x="5218024" y="1947672"/>
            <a:ext cx="457200" cy="457200"/>
          </a:xfrm>
          <a:prstGeom prst="ellipse">
            <a:avLst/>
          </a:prstGeom>
          <a:solidFill>
            <a:srgbClr val="225B62"/>
          </a:solidFill>
          <a:ln w="12700">
            <a:solidFill>
              <a:srgbClr val="225B62"/>
            </a:solidFill>
            <a:prstDash val="solid"/>
          </a:ln>
        </p:spPr>
        <p:txBody>
          <a:bodyPr/>
          <a:lstStyle/>
          <a:p>
            <a:endParaRPr lang="en-ZA"/>
          </a:p>
        </p:txBody>
      </p:sp>
      <p:sp>
        <p:nvSpPr>
          <p:cNvPr id="19" name="Text 17"/>
          <p:cNvSpPr/>
          <p:nvPr/>
        </p:nvSpPr>
        <p:spPr>
          <a:xfrm>
            <a:off x="5218024" y="1947672"/>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20" name="Text 18"/>
          <p:cNvSpPr/>
          <p:nvPr/>
        </p:nvSpPr>
        <p:spPr>
          <a:xfrm>
            <a:off x="5766664" y="1965960"/>
            <a:ext cx="1252728" cy="36576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Build</a:t>
            </a:r>
            <a:endParaRPr lang="en-US" sz="1200" dirty="0"/>
          </a:p>
        </p:txBody>
      </p:sp>
      <p:sp>
        <p:nvSpPr>
          <p:cNvPr id="21" name="Text 19"/>
          <p:cNvSpPr/>
          <p:nvPr/>
        </p:nvSpPr>
        <p:spPr>
          <a:xfrm>
            <a:off x="5218024" y="2496312"/>
            <a:ext cx="1755648" cy="548640"/>
          </a:xfrm>
          <a:prstGeom prst="rect">
            <a:avLst/>
          </a:prstGeom>
          <a:noFill/>
          <a:ln/>
        </p:spPr>
        <p:txBody>
          <a:bodyPr wrap="square" rtlCol="0" anchor="ctr"/>
          <a:lstStyle/>
          <a:p>
            <a:pPr marL="0" indent="0">
              <a:buNone/>
            </a:pPr>
            <a:r>
              <a:rPr lang="en-US" sz="950" dirty="0">
                <a:solidFill>
                  <a:srgbClr val="4B5563"/>
                </a:solidFill>
                <a:latin typeface="Segoe UI" pitchFamily="34" charset="0"/>
                <a:ea typeface="Segoe UI" pitchFamily="34" charset="-122"/>
                <a:cs typeface="Segoe UI" pitchFamily="34" charset="-120"/>
              </a:rPr>
              <a:t>Landing zone · first agent in 8–12 wks</a:t>
            </a:r>
            <a:endParaRPr lang="en-US" sz="950" dirty="0"/>
          </a:p>
        </p:txBody>
      </p:sp>
      <p:sp>
        <p:nvSpPr>
          <p:cNvPr id="22" name="Shape 20"/>
          <p:cNvSpPr/>
          <p:nvPr/>
        </p:nvSpPr>
        <p:spPr>
          <a:xfrm>
            <a:off x="7119976" y="2327148"/>
            <a:ext cx="210312" cy="237744"/>
          </a:xfrm>
          <a:prstGeom prst="chevron">
            <a:avLst/>
          </a:prstGeom>
          <a:solidFill>
            <a:srgbClr val="8A94A6"/>
          </a:solidFill>
          <a:ln w="12700">
            <a:solidFill>
              <a:srgbClr val="8A94A6"/>
            </a:solidFill>
            <a:prstDash val="solid"/>
          </a:ln>
        </p:spPr>
        <p:txBody>
          <a:bodyPr/>
          <a:lstStyle/>
          <a:p>
            <a:endParaRPr lang="en-ZA"/>
          </a:p>
        </p:txBody>
      </p:sp>
      <p:sp>
        <p:nvSpPr>
          <p:cNvPr id="23" name="Shape 21"/>
          <p:cNvSpPr/>
          <p:nvPr/>
        </p:nvSpPr>
        <p:spPr>
          <a:xfrm>
            <a:off x="7275424" y="1783080"/>
            <a:ext cx="2121408" cy="1325880"/>
          </a:xfrm>
          <a:prstGeom prst="roundRect">
            <a:avLst>
              <a:gd name="adj" fmla="val 5517"/>
            </a:avLst>
          </a:prstGeom>
          <a:solidFill>
            <a:srgbClr val="FFFFFF"/>
          </a:solidFill>
          <a:ln w="12700">
            <a:solidFill>
              <a:srgbClr val="E8DDD1"/>
            </a:solidFill>
            <a:prstDash val="solid"/>
          </a:ln>
        </p:spPr>
        <p:txBody>
          <a:bodyPr/>
          <a:lstStyle/>
          <a:p>
            <a:endParaRPr lang="en-ZA"/>
          </a:p>
        </p:txBody>
      </p:sp>
      <p:sp>
        <p:nvSpPr>
          <p:cNvPr id="24" name="Shape 22"/>
          <p:cNvSpPr/>
          <p:nvPr/>
        </p:nvSpPr>
        <p:spPr>
          <a:xfrm>
            <a:off x="7458304" y="1947672"/>
            <a:ext cx="457200" cy="457200"/>
          </a:xfrm>
          <a:prstGeom prst="ellipse">
            <a:avLst/>
          </a:prstGeom>
          <a:solidFill>
            <a:srgbClr val="225B62"/>
          </a:solidFill>
          <a:ln w="12700">
            <a:solidFill>
              <a:srgbClr val="225B62"/>
            </a:solidFill>
            <a:prstDash val="solid"/>
          </a:ln>
        </p:spPr>
        <p:txBody>
          <a:bodyPr/>
          <a:lstStyle/>
          <a:p>
            <a:endParaRPr lang="en-ZA"/>
          </a:p>
        </p:txBody>
      </p:sp>
      <p:sp>
        <p:nvSpPr>
          <p:cNvPr id="25" name="Text 23"/>
          <p:cNvSpPr/>
          <p:nvPr/>
        </p:nvSpPr>
        <p:spPr>
          <a:xfrm>
            <a:off x="7458304" y="1947672"/>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26" name="Text 24"/>
          <p:cNvSpPr/>
          <p:nvPr/>
        </p:nvSpPr>
        <p:spPr>
          <a:xfrm>
            <a:off x="8006944" y="1965960"/>
            <a:ext cx="1252728" cy="36576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Realise</a:t>
            </a:r>
            <a:endParaRPr lang="en-US" sz="1200" dirty="0"/>
          </a:p>
        </p:txBody>
      </p:sp>
      <p:sp>
        <p:nvSpPr>
          <p:cNvPr id="27" name="Text 25"/>
          <p:cNvSpPr/>
          <p:nvPr/>
        </p:nvSpPr>
        <p:spPr>
          <a:xfrm>
            <a:off x="7458304" y="2496312"/>
            <a:ext cx="1755648" cy="548640"/>
          </a:xfrm>
          <a:prstGeom prst="rect">
            <a:avLst/>
          </a:prstGeom>
          <a:noFill/>
          <a:ln/>
        </p:spPr>
        <p:txBody>
          <a:bodyPr wrap="square" rtlCol="0" anchor="ctr"/>
          <a:lstStyle/>
          <a:p>
            <a:pPr marL="0" indent="0">
              <a:buNone/>
            </a:pPr>
            <a:r>
              <a:rPr lang="en-US" sz="950" dirty="0">
                <a:solidFill>
                  <a:srgbClr val="4B5563"/>
                </a:solidFill>
                <a:latin typeface="Segoe UI" pitchFamily="34" charset="0"/>
                <a:ea typeface="Segoe UI" pitchFamily="34" charset="-122"/>
                <a:cs typeface="Segoe UI" pitchFamily="34" charset="-120"/>
              </a:rPr>
              <a:t>Production scale · KPIs · adoption</a:t>
            </a:r>
            <a:endParaRPr lang="en-US" sz="950" dirty="0"/>
          </a:p>
        </p:txBody>
      </p:sp>
      <p:sp>
        <p:nvSpPr>
          <p:cNvPr id="28" name="Shape 26"/>
          <p:cNvSpPr/>
          <p:nvPr/>
        </p:nvSpPr>
        <p:spPr>
          <a:xfrm>
            <a:off x="9360256" y="2327148"/>
            <a:ext cx="210312" cy="237744"/>
          </a:xfrm>
          <a:prstGeom prst="chevron">
            <a:avLst/>
          </a:prstGeom>
          <a:solidFill>
            <a:srgbClr val="8A94A6"/>
          </a:solidFill>
          <a:ln w="12700">
            <a:solidFill>
              <a:srgbClr val="8A94A6"/>
            </a:solidFill>
            <a:prstDash val="solid"/>
          </a:ln>
        </p:spPr>
        <p:txBody>
          <a:bodyPr/>
          <a:lstStyle/>
          <a:p>
            <a:endParaRPr lang="en-ZA"/>
          </a:p>
        </p:txBody>
      </p:sp>
      <p:sp>
        <p:nvSpPr>
          <p:cNvPr id="29" name="Shape 27"/>
          <p:cNvSpPr/>
          <p:nvPr/>
        </p:nvSpPr>
        <p:spPr>
          <a:xfrm>
            <a:off x="9515704" y="1783080"/>
            <a:ext cx="2121408" cy="1325880"/>
          </a:xfrm>
          <a:prstGeom prst="roundRect">
            <a:avLst>
              <a:gd name="adj" fmla="val 5517"/>
            </a:avLst>
          </a:prstGeom>
          <a:solidFill>
            <a:srgbClr val="FFFFFF"/>
          </a:solidFill>
          <a:ln w="12700">
            <a:solidFill>
              <a:srgbClr val="E8DDD1"/>
            </a:solidFill>
            <a:prstDash val="solid"/>
          </a:ln>
        </p:spPr>
        <p:txBody>
          <a:bodyPr/>
          <a:lstStyle/>
          <a:p>
            <a:endParaRPr lang="en-ZA"/>
          </a:p>
        </p:txBody>
      </p:sp>
      <p:sp>
        <p:nvSpPr>
          <p:cNvPr id="30" name="Shape 28"/>
          <p:cNvSpPr/>
          <p:nvPr/>
        </p:nvSpPr>
        <p:spPr>
          <a:xfrm>
            <a:off x="9698584" y="1947672"/>
            <a:ext cx="457200" cy="457200"/>
          </a:xfrm>
          <a:prstGeom prst="ellipse">
            <a:avLst/>
          </a:prstGeom>
          <a:solidFill>
            <a:srgbClr val="FFB900"/>
          </a:solidFill>
          <a:ln w="12700">
            <a:solidFill>
              <a:srgbClr val="FFB900"/>
            </a:solidFill>
            <a:prstDash val="solid"/>
          </a:ln>
        </p:spPr>
        <p:txBody>
          <a:bodyPr/>
          <a:lstStyle/>
          <a:p>
            <a:endParaRPr lang="en-ZA"/>
          </a:p>
        </p:txBody>
      </p:sp>
      <p:sp>
        <p:nvSpPr>
          <p:cNvPr id="31" name="Text 29"/>
          <p:cNvSpPr/>
          <p:nvPr/>
        </p:nvSpPr>
        <p:spPr>
          <a:xfrm>
            <a:off x="9698584" y="1947672"/>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32" name="Text 30"/>
          <p:cNvSpPr/>
          <p:nvPr/>
        </p:nvSpPr>
        <p:spPr>
          <a:xfrm>
            <a:off x="10247224" y="1965960"/>
            <a:ext cx="1252728" cy="36576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Evolve</a:t>
            </a:r>
            <a:endParaRPr lang="en-US" sz="1200" dirty="0"/>
          </a:p>
        </p:txBody>
      </p:sp>
      <p:sp>
        <p:nvSpPr>
          <p:cNvPr id="33" name="Text 31"/>
          <p:cNvSpPr/>
          <p:nvPr/>
        </p:nvSpPr>
        <p:spPr>
          <a:xfrm>
            <a:off x="9698584" y="2496312"/>
            <a:ext cx="1755648" cy="548640"/>
          </a:xfrm>
          <a:prstGeom prst="rect">
            <a:avLst/>
          </a:prstGeom>
          <a:noFill/>
          <a:ln/>
        </p:spPr>
        <p:txBody>
          <a:bodyPr wrap="square" rtlCol="0" anchor="ctr"/>
          <a:lstStyle/>
          <a:p>
            <a:pPr marL="0" indent="0">
              <a:buNone/>
            </a:pPr>
            <a:r>
              <a:rPr lang="en-US" sz="950" dirty="0">
                <a:solidFill>
                  <a:srgbClr val="4B5563"/>
                </a:solidFill>
                <a:latin typeface="Segoe UI" pitchFamily="34" charset="0"/>
                <a:ea typeface="Segoe UI" pitchFamily="34" charset="-122"/>
                <a:cs typeface="Segoe UI" pitchFamily="34" charset="-120"/>
              </a:rPr>
              <a:t>Federated CoE · expand by division</a:t>
            </a:r>
            <a:endParaRPr lang="en-US" sz="950" dirty="0"/>
          </a:p>
        </p:txBody>
      </p:sp>
      <p:sp>
        <p:nvSpPr>
          <p:cNvPr id="34" name="Shape 32"/>
          <p:cNvSpPr/>
          <p:nvPr/>
        </p:nvSpPr>
        <p:spPr>
          <a:xfrm>
            <a:off x="444856" y="3429000"/>
            <a:ext cx="3657600" cy="1691640"/>
          </a:xfrm>
          <a:prstGeom prst="roundRect">
            <a:avLst>
              <a:gd name="adj" fmla="val 5405"/>
            </a:avLst>
          </a:prstGeom>
          <a:solidFill>
            <a:srgbClr val="FFFFFF"/>
          </a:solidFill>
          <a:ln w="12700">
            <a:solidFill>
              <a:srgbClr val="E8DDD1"/>
            </a:solidFill>
            <a:prstDash val="solid"/>
          </a:ln>
        </p:spPr>
        <p:txBody>
          <a:bodyPr/>
          <a:lstStyle/>
          <a:p>
            <a:endParaRPr lang="en-ZA"/>
          </a:p>
        </p:txBody>
      </p:sp>
      <p:sp>
        <p:nvSpPr>
          <p:cNvPr id="35" name="Shape 33"/>
          <p:cNvSpPr/>
          <p:nvPr/>
        </p:nvSpPr>
        <p:spPr>
          <a:xfrm>
            <a:off x="444856" y="3429000"/>
            <a:ext cx="3657600" cy="73152"/>
          </a:xfrm>
          <a:prstGeom prst="rect">
            <a:avLst/>
          </a:prstGeom>
          <a:solidFill>
            <a:srgbClr val="0078D4"/>
          </a:solidFill>
          <a:ln w="12700">
            <a:solidFill>
              <a:srgbClr val="0078D4"/>
            </a:solidFill>
            <a:prstDash val="solid"/>
          </a:ln>
        </p:spPr>
        <p:txBody>
          <a:bodyPr/>
          <a:lstStyle/>
          <a:p>
            <a:endParaRPr lang="en-ZA"/>
          </a:p>
        </p:txBody>
      </p:sp>
      <p:sp>
        <p:nvSpPr>
          <p:cNvPr id="36" name="Text 34"/>
          <p:cNvSpPr/>
          <p:nvPr/>
        </p:nvSpPr>
        <p:spPr>
          <a:xfrm>
            <a:off x="673456" y="3611880"/>
            <a:ext cx="320040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Microsoft Architects</a:t>
            </a:r>
            <a:endParaRPr lang="en-US" sz="1400" dirty="0"/>
          </a:p>
        </p:txBody>
      </p:sp>
      <p:sp>
        <p:nvSpPr>
          <p:cNvPr id="37" name="Text 35"/>
          <p:cNvSpPr/>
          <p:nvPr/>
        </p:nvSpPr>
        <p:spPr>
          <a:xfrm>
            <a:off x="673456" y="3977640"/>
            <a:ext cx="3200400" cy="274320"/>
          </a:xfrm>
          <a:prstGeom prst="rect">
            <a:avLst/>
          </a:prstGeom>
          <a:noFill/>
          <a:ln/>
        </p:spPr>
        <p:txBody>
          <a:bodyPr wrap="square" rtlCol="0" anchor="ctr"/>
          <a:lstStyle/>
          <a:p>
            <a:pPr marL="0" indent="0">
              <a:buNone/>
            </a:pPr>
            <a:r>
              <a:rPr lang="en-US" sz="1000" b="1" kern="0" spc="200" dirty="0">
                <a:solidFill>
                  <a:srgbClr val="0078D4"/>
                </a:solidFill>
                <a:latin typeface="Segoe UI" pitchFamily="34" charset="0"/>
                <a:ea typeface="Segoe UI" pitchFamily="34" charset="-122"/>
                <a:cs typeface="Segoe UI" pitchFamily="34" charset="-120"/>
              </a:rPr>
              <a:t>Strategy + delivery oversight</a:t>
            </a:r>
            <a:endParaRPr lang="en-US" sz="1000" dirty="0"/>
          </a:p>
        </p:txBody>
      </p:sp>
      <p:sp>
        <p:nvSpPr>
          <p:cNvPr id="38" name="Text 36"/>
          <p:cNvSpPr/>
          <p:nvPr/>
        </p:nvSpPr>
        <p:spPr>
          <a:xfrm>
            <a:off x="673456" y="4297680"/>
            <a:ext cx="3200400" cy="7772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Co-design your CoE, govern delivery, and own the value-realisation cadence with you.</a:t>
            </a:r>
            <a:endParaRPr lang="en-US" sz="1100" dirty="0"/>
          </a:p>
        </p:txBody>
      </p:sp>
      <p:sp>
        <p:nvSpPr>
          <p:cNvPr id="39" name="Shape 37"/>
          <p:cNvSpPr/>
          <p:nvPr/>
        </p:nvSpPr>
        <p:spPr>
          <a:xfrm>
            <a:off x="4267048" y="3429000"/>
            <a:ext cx="3657600" cy="1691640"/>
          </a:xfrm>
          <a:prstGeom prst="roundRect">
            <a:avLst>
              <a:gd name="adj" fmla="val 5405"/>
            </a:avLst>
          </a:prstGeom>
          <a:solidFill>
            <a:srgbClr val="FFFFFF"/>
          </a:solidFill>
          <a:ln w="12700">
            <a:solidFill>
              <a:srgbClr val="E8DDD1"/>
            </a:solidFill>
            <a:prstDash val="solid"/>
          </a:ln>
        </p:spPr>
        <p:txBody>
          <a:bodyPr/>
          <a:lstStyle/>
          <a:p>
            <a:endParaRPr lang="en-ZA"/>
          </a:p>
        </p:txBody>
      </p:sp>
      <p:sp>
        <p:nvSpPr>
          <p:cNvPr id="40" name="Shape 38"/>
          <p:cNvSpPr/>
          <p:nvPr/>
        </p:nvSpPr>
        <p:spPr>
          <a:xfrm>
            <a:off x="4267048" y="3429000"/>
            <a:ext cx="3657600" cy="73152"/>
          </a:xfrm>
          <a:prstGeom prst="rect">
            <a:avLst/>
          </a:prstGeom>
          <a:solidFill>
            <a:srgbClr val="225B62"/>
          </a:solidFill>
          <a:ln w="12700">
            <a:solidFill>
              <a:srgbClr val="225B62"/>
            </a:solidFill>
            <a:prstDash val="solid"/>
          </a:ln>
        </p:spPr>
        <p:txBody>
          <a:bodyPr/>
          <a:lstStyle/>
          <a:p>
            <a:endParaRPr lang="en-ZA"/>
          </a:p>
        </p:txBody>
      </p:sp>
      <p:sp>
        <p:nvSpPr>
          <p:cNvPr id="41" name="Text 39"/>
          <p:cNvSpPr/>
          <p:nvPr/>
        </p:nvSpPr>
        <p:spPr>
          <a:xfrm>
            <a:off x="4495648" y="3611880"/>
            <a:ext cx="320040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Microsoft Engineering</a:t>
            </a:r>
            <a:endParaRPr lang="en-US" sz="1400" dirty="0"/>
          </a:p>
        </p:txBody>
      </p:sp>
      <p:sp>
        <p:nvSpPr>
          <p:cNvPr id="42" name="Text 40"/>
          <p:cNvSpPr/>
          <p:nvPr/>
        </p:nvSpPr>
        <p:spPr>
          <a:xfrm>
            <a:off x="4495648" y="3977640"/>
            <a:ext cx="3200400" cy="274320"/>
          </a:xfrm>
          <a:prstGeom prst="rect">
            <a:avLst/>
          </a:prstGeom>
          <a:noFill/>
          <a:ln/>
        </p:spPr>
        <p:txBody>
          <a:bodyPr wrap="square" rtlCol="0" anchor="ctr"/>
          <a:lstStyle/>
          <a:p>
            <a:pPr marL="0" indent="0">
              <a:buNone/>
            </a:pPr>
            <a:r>
              <a:rPr lang="en-US" sz="1000" b="1" kern="0" spc="200" dirty="0">
                <a:solidFill>
                  <a:srgbClr val="225B62"/>
                </a:solidFill>
                <a:latin typeface="Segoe UI" pitchFamily="34" charset="0"/>
                <a:ea typeface="Segoe UI" pitchFamily="34" charset="-122"/>
                <a:cs typeface="Segoe UI" pitchFamily="34" charset="-120"/>
              </a:rPr>
              <a:t>Foundation · $0 to you</a:t>
            </a:r>
            <a:endParaRPr lang="en-US" sz="1000" dirty="0"/>
          </a:p>
        </p:txBody>
      </p:sp>
      <p:sp>
        <p:nvSpPr>
          <p:cNvPr id="43" name="Text 41"/>
          <p:cNvSpPr/>
          <p:nvPr/>
        </p:nvSpPr>
        <p:spPr>
          <a:xfrm>
            <a:off x="4495648" y="4297680"/>
            <a:ext cx="3200400" cy="7772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Delivers your GenAI assistant MVP and Azure landing zone foundation at no cost to Eskom.</a:t>
            </a:r>
            <a:endParaRPr lang="en-US" sz="1100" dirty="0"/>
          </a:p>
        </p:txBody>
      </p:sp>
      <p:sp>
        <p:nvSpPr>
          <p:cNvPr id="44" name="Shape 42"/>
          <p:cNvSpPr/>
          <p:nvPr/>
        </p:nvSpPr>
        <p:spPr>
          <a:xfrm>
            <a:off x="8089240" y="3429000"/>
            <a:ext cx="3657600" cy="1691640"/>
          </a:xfrm>
          <a:prstGeom prst="roundRect">
            <a:avLst>
              <a:gd name="adj" fmla="val 5405"/>
            </a:avLst>
          </a:prstGeom>
          <a:solidFill>
            <a:srgbClr val="FFFFFF"/>
          </a:solidFill>
          <a:ln w="12700">
            <a:solidFill>
              <a:srgbClr val="E8DDD1"/>
            </a:solidFill>
            <a:prstDash val="solid"/>
          </a:ln>
        </p:spPr>
        <p:txBody>
          <a:bodyPr/>
          <a:lstStyle/>
          <a:p>
            <a:endParaRPr lang="en-ZA"/>
          </a:p>
        </p:txBody>
      </p:sp>
      <p:sp>
        <p:nvSpPr>
          <p:cNvPr id="45" name="Shape 43"/>
          <p:cNvSpPr/>
          <p:nvPr/>
        </p:nvSpPr>
        <p:spPr>
          <a:xfrm>
            <a:off x="8089240" y="3429000"/>
            <a:ext cx="3657600" cy="73152"/>
          </a:xfrm>
          <a:prstGeom prst="rect">
            <a:avLst/>
          </a:prstGeom>
          <a:solidFill>
            <a:srgbClr val="FF5C39"/>
          </a:solidFill>
          <a:ln w="12700">
            <a:solidFill>
              <a:srgbClr val="FF5C39"/>
            </a:solidFill>
            <a:prstDash val="solid"/>
          </a:ln>
        </p:spPr>
        <p:txBody>
          <a:bodyPr/>
          <a:lstStyle/>
          <a:p>
            <a:endParaRPr lang="en-ZA"/>
          </a:p>
        </p:txBody>
      </p:sp>
      <p:sp>
        <p:nvSpPr>
          <p:cNvPr id="46" name="Text 44"/>
          <p:cNvSpPr/>
          <p:nvPr/>
        </p:nvSpPr>
        <p:spPr>
          <a:xfrm>
            <a:off x="8317840" y="3611880"/>
            <a:ext cx="320040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Specialist Partner</a:t>
            </a:r>
            <a:endParaRPr lang="en-US" sz="1400" dirty="0"/>
          </a:p>
        </p:txBody>
      </p:sp>
      <p:sp>
        <p:nvSpPr>
          <p:cNvPr id="47" name="Text 45"/>
          <p:cNvSpPr/>
          <p:nvPr/>
        </p:nvSpPr>
        <p:spPr>
          <a:xfrm>
            <a:off x="8317840" y="3977640"/>
            <a:ext cx="3200400" cy="274320"/>
          </a:xfrm>
          <a:prstGeom prst="rect">
            <a:avLst/>
          </a:prstGeom>
          <a:noFill/>
          <a:ln/>
        </p:spPr>
        <p:txBody>
          <a:bodyPr wrap="square" rtlCol="0" anchor="ctr"/>
          <a:lstStyle/>
          <a:p>
            <a:pPr marL="0" indent="0">
              <a:buNone/>
            </a:pPr>
            <a:r>
              <a:rPr lang="en-US" sz="1000" b="1" kern="0" spc="200" dirty="0">
                <a:solidFill>
                  <a:srgbClr val="FF5C39"/>
                </a:solidFill>
                <a:latin typeface="Segoe UI" pitchFamily="34" charset="0"/>
                <a:ea typeface="Segoe UI" pitchFamily="34" charset="-122"/>
                <a:cs typeface="Segoe UI" pitchFamily="34" charset="-120"/>
              </a:rPr>
              <a:t>Differentiated build + run</a:t>
            </a:r>
            <a:endParaRPr lang="en-US" sz="1000" dirty="0"/>
          </a:p>
        </p:txBody>
      </p:sp>
      <p:sp>
        <p:nvSpPr>
          <p:cNvPr id="48" name="Text 46"/>
          <p:cNvSpPr/>
          <p:nvPr/>
        </p:nvSpPr>
        <p:spPr>
          <a:xfrm>
            <a:off x="8317840" y="4297680"/>
            <a:ext cx="3200400" cy="7772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Utility industry depth, differentiated build, and long-term run inside one joint plan.</a:t>
            </a:r>
            <a:endParaRPr lang="en-US" sz="1100" dirty="0"/>
          </a:p>
        </p:txBody>
      </p:sp>
      <p:sp>
        <p:nvSpPr>
          <p:cNvPr id="49" name="Shape 47"/>
          <p:cNvSpPr/>
          <p:nvPr/>
        </p:nvSpPr>
        <p:spPr>
          <a:xfrm>
            <a:off x="548640" y="5440680"/>
            <a:ext cx="11091672" cy="868680"/>
          </a:xfrm>
          <a:prstGeom prst="roundRect">
            <a:avLst>
              <a:gd name="adj" fmla="val 8421"/>
            </a:avLst>
          </a:prstGeom>
          <a:solidFill>
            <a:srgbClr val="091F2C"/>
          </a:solidFill>
          <a:ln w="12700">
            <a:solidFill>
              <a:srgbClr val="091F2C"/>
            </a:solidFill>
            <a:prstDash val="solid"/>
          </a:ln>
        </p:spPr>
        <p:txBody>
          <a:bodyPr/>
          <a:lstStyle/>
          <a:p>
            <a:endParaRPr lang="en-ZA"/>
          </a:p>
        </p:txBody>
      </p:sp>
      <p:sp>
        <p:nvSpPr>
          <p:cNvPr id="50" name="Text 48"/>
          <p:cNvSpPr/>
          <p:nvPr/>
        </p:nvSpPr>
        <p:spPr>
          <a:xfrm>
            <a:off x="777240" y="5532120"/>
            <a:ext cx="10972800" cy="320040"/>
          </a:xfrm>
          <a:prstGeom prst="rect">
            <a:avLst/>
          </a:prstGeom>
          <a:noFill/>
          <a:ln/>
        </p:spPr>
        <p:txBody>
          <a:bodyPr wrap="square" rtlCol="0" anchor="ctr"/>
          <a:lstStyle/>
          <a:p>
            <a:pPr marL="0" indent="0">
              <a:buNone/>
            </a:pPr>
            <a:r>
              <a:rPr lang="en-US" sz="1300" b="1" dirty="0">
                <a:solidFill>
                  <a:srgbClr val="C03BC4"/>
                </a:solidFill>
                <a:latin typeface="Segoe UI" pitchFamily="34" charset="0"/>
                <a:ea typeface="Segoe UI" pitchFamily="34" charset="-122"/>
                <a:cs typeface="Segoe UI" pitchFamily="34" charset="-120"/>
              </a:rPr>
              <a:t>Microsoft co-invests alongside Eskom</a:t>
            </a:r>
            <a:endParaRPr lang="en-US" sz="1300" dirty="0"/>
          </a:p>
        </p:txBody>
      </p:sp>
      <p:sp>
        <p:nvSpPr>
          <p:cNvPr id="51" name="Text 49"/>
          <p:cNvSpPr/>
          <p:nvPr/>
        </p:nvSpPr>
        <p:spPr>
          <a:xfrm>
            <a:off x="777240" y="5852160"/>
            <a:ext cx="10972800" cy="365760"/>
          </a:xfrm>
          <a:prstGeom prst="rect">
            <a:avLst/>
          </a:prstGeom>
          <a:noFill/>
          <a:ln/>
        </p:spPr>
        <p:txBody>
          <a:bodyPr wrap="square" rtlCol="0" anchor="ctr"/>
          <a:lstStyle/>
          <a:p>
            <a:pPr marL="0" indent="0">
              <a:buNone/>
            </a:pPr>
            <a:r>
              <a:rPr lang="en-US" sz="1200" dirty="0">
                <a:solidFill>
                  <a:srgbClr val="FFFFFF"/>
                </a:solidFill>
                <a:latin typeface="Segoe UI" pitchFamily="34" charset="0"/>
                <a:ea typeface="Segoe UI" pitchFamily="34" charset="-122"/>
                <a:cs typeface="Segoe UI" pitchFamily="34" charset="-120"/>
              </a:rPr>
              <a:t>Funded envisioning to scope your CoE  ·  funded foundation build  ·  shared investment in your first agent to value</a:t>
            </a:r>
            <a:endParaRPr lang="en-US" sz="1200" dirty="0"/>
          </a:p>
        </p:txBody>
      </p:sp>
      <p:pic>
        <p:nvPicPr>
          <p:cNvPr id="52"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53" name="Text 50"/>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Prepared for Eskom executive briefing  ·  Confidential</a:t>
            </a:r>
            <a:endParaRPr lang="en-US" sz="900" dirty="0"/>
          </a:p>
        </p:txBody>
      </p:sp>
      <p:sp>
        <p:nvSpPr>
          <p:cNvPr id="54" name="Text 51"/>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8 / 10</a:t>
            </a:r>
            <a:endParaRPr lang="en-US" sz="900" dirty="0"/>
          </a:p>
        </p:txBody>
      </p:sp>
      <p:sp>
        <p:nvSpPr>
          <p:cNvPr id="55" name="AICOE_GEO_ACCENT_Right Triangle 54"/>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ICOE_GEO_ACCENT_Right Triangle 55"/>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9728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OUTCOMES</a:t>
            </a:r>
            <a:endParaRPr lang="en-US" sz="1200" dirty="0"/>
          </a:p>
        </p:txBody>
      </p:sp>
      <p:sp>
        <p:nvSpPr>
          <p:cNvPr id="4" name="Text 2"/>
          <p:cNvSpPr/>
          <p:nvPr/>
        </p:nvSpPr>
        <p:spPr>
          <a:xfrm>
            <a:off x="548640" y="777240"/>
            <a:ext cx="11155680" cy="777240"/>
          </a:xfrm>
          <a:prstGeom prst="rect">
            <a:avLst/>
          </a:prstGeom>
          <a:noFill/>
          <a:ln/>
        </p:spPr>
        <p:txBody>
          <a:bodyPr wrap="square" rtlCol="0" anchor="ctr"/>
          <a:lstStyle/>
          <a:p>
            <a:pPr marL="0" indent="0">
              <a:buNone/>
            </a:pPr>
            <a:r>
              <a:rPr lang="en-US" sz="2800" b="1" dirty="0">
                <a:solidFill>
                  <a:srgbClr val="091F2C"/>
                </a:solidFill>
                <a:latin typeface="Segoe UI" pitchFamily="34" charset="0"/>
                <a:ea typeface="Segoe UI" pitchFamily="34" charset="-122"/>
                <a:cs typeface="Segoe UI" pitchFamily="34" charset="-120"/>
              </a:rPr>
              <a:t>What we'd measure with you — leading and lagging.</a:t>
            </a:r>
            <a:endParaRPr lang="en-US" sz="2800" dirty="0"/>
          </a:p>
        </p:txBody>
      </p:sp>
      <p:sp>
        <p:nvSpPr>
          <p:cNvPr id="5" name="Shape 3"/>
          <p:cNvSpPr/>
          <p:nvPr/>
        </p:nvSpPr>
        <p:spPr>
          <a:xfrm>
            <a:off x="548640" y="1691640"/>
            <a:ext cx="5532120" cy="4160520"/>
          </a:xfrm>
          <a:prstGeom prst="roundRect">
            <a:avLst>
              <a:gd name="adj" fmla="val 2637"/>
            </a:avLst>
          </a:prstGeom>
          <a:solidFill>
            <a:srgbClr val="FFF8F5"/>
          </a:solidFill>
          <a:ln w="12700">
            <a:solidFill>
              <a:srgbClr val="E8DDD1"/>
            </a:solidFill>
            <a:prstDash val="solid"/>
          </a:ln>
        </p:spPr>
        <p:txBody>
          <a:bodyPr/>
          <a:lstStyle/>
          <a:p>
            <a:endParaRPr lang="en-ZA"/>
          </a:p>
        </p:txBody>
      </p:sp>
      <p:sp>
        <p:nvSpPr>
          <p:cNvPr id="6" name="Text 4"/>
          <p:cNvSpPr/>
          <p:nvPr/>
        </p:nvSpPr>
        <p:spPr>
          <a:xfrm>
            <a:off x="777240" y="1828800"/>
            <a:ext cx="5029200" cy="274320"/>
          </a:xfrm>
          <a:prstGeom prst="rect">
            <a:avLst/>
          </a:prstGeom>
          <a:noFill/>
          <a:ln/>
        </p:spPr>
        <p:txBody>
          <a:bodyPr wrap="square" rtlCol="0" anchor="ctr"/>
          <a:lstStyle/>
          <a:p>
            <a:pPr marL="0" indent="0">
              <a:buNone/>
            </a:pPr>
            <a:r>
              <a:rPr lang="en-US" sz="1100" b="1" kern="0" spc="300" dirty="0">
                <a:solidFill>
                  <a:srgbClr val="225B62"/>
                </a:solidFill>
                <a:latin typeface="Segoe UI" pitchFamily="34" charset="0"/>
                <a:ea typeface="Segoe UI" pitchFamily="34" charset="-122"/>
                <a:cs typeface="Segoe UI" pitchFamily="34" charset="-120"/>
              </a:rPr>
              <a:t>LEADING — CoE health</a:t>
            </a:r>
            <a:endParaRPr lang="en-US" sz="1100" dirty="0"/>
          </a:p>
        </p:txBody>
      </p:sp>
      <p:sp>
        <p:nvSpPr>
          <p:cNvPr id="7" name="Text 5"/>
          <p:cNvSpPr/>
          <p:nvPr/>
        </p:nvSpPr>
        <p:spPr>
          <a:xfrm>
            <a:off x="777240" y="2103120"/>
            <a:ext cx="502920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Are we building the muscle?</a:t>
            </a:r>
            <a:endParaRPr lang="en-US" sz="1400" dirty="0"/>
          </a:p>
        </p:txBody>
      </p:sp>
      <p:sp>
        <p:nvSpPr>
          <p:cNvPr id="8" name="Shape 6"/>
          <p:cNvSpPr/>
          <p:nvPr/>
        </p:nvSpPr>
        <p:spPr>
          <a:xfrm>
            <a:off x="868680" y="2743200"/>
            <a:ext cx="128016" cy="128016"/>
          </a:xfrm>
          <a:prstGeom prst="ellipse">
            <a:avLst/>
          </a:prstGeom>
          <a:solidFill>
            <a:srgbClr val="225B62"/>
          </a:solidFill>
          <a:ln w="12700">
            <a:solidFill>
              <a:srgbClr val="225B62"/>
            </a:solidFill>
            <a:prstDash val="solid"/>
          </a:ln>
        </p:spPr>
        <p:txBody>
          <a:bodyPr/>
          <a:lstStyle/>
          <a:p>
            <a:endParaRPr lang="en-ZA"/>
          </a:p>
        </p:txBody>
      </p:sp>
      <p:sp>
        <p:nvSpPr>
          <p:cNvPr id="9" name="Text 7"/>
          <p:cNvSpPr/>
          <p:nvPr/>
        </p:nvSpPr>
        <p:spPr>
          <a:xfrm>
            <a:off x="1097280" y="2670048"/>
            <a:ext cx="4937760" cy="411480"/>
          </a:xfrm>
          <a:prstGeom prst="rect">
            <a:avLst/>
          </a:prstGeom>
          <a:noFill/>
          <a:ln/>
        </p:spPr>
        <p:txBody>
          <a:bodyPr wrap="square" rtlCol="0" anchor="ctr"/>
          <a:lstStyle/>
          <a:p>
            <a:pPr marL="0" indent="0">
              <a:buNone/>
            </a:pPr>
            <a:r>
              <a:rPr lang="en-US" sz="1150" dirty="0">
                <a:solidFill>
                  <a:srgbClr val="091F2C"/>
                </a:solidFill>
                <a:latin typeface="Segoe UI" pitchFamily="34" charset="0"/>
                <a:ea typeface="Segoe UI" pitchFamily="34" charset="-122"/>
                <a:cs typeface="Segoe UI" pitchFamily="34" charset="-120"/>
              </a:rPr>
              <a:t>Governance cadence — RAI council meetings held</a:t>
            </a:r>
            <a:endParaRPr lang="en-US" sz="1150" dirty="0"/>
          </a:p>
        </p:txBody>
      </p:sp>
      <p:sp>
        <p:nvSpPr>
          <p:cNvPr id="10" name="Shape 8"/>
          <p:cNvSpPr/>
          <p:nvPr/>
        </p:nvSpPr>
        <p:spPr>
          <a:xfrm>
            <a:off x="868680" y="3246120"/>
            <a:ext cx="128016" cy="128016"/>
          </a:xfrm>
          <a:prstGeom prst="ellipse">
            <a:avLst/>
          </a:prstGeom>
          <a:solidFill>
            <a:srgbClr val="225B62"/>
          </a:solidFill>
          <a:ln w="12700">
            <a:solidFill>
              <a:srgbClr val="225B62"/>
            </a:solidFill>
            <a:prstDash val="solid"/>
          </a:ln>
        </p:spPr>
        <p:txBody>
          <a:bodyPr/>
          <a:lstStyle/>
          <a:p>
            <a:endParaRPr lang="en-ZA"/>
          </a:p>
        </p:txBody>
      </p:sp>
      <p:sp>
        <p:nvSpPr>
          <p:cNvPr id="11" name="Text 9"/>
          <p:cNvSpPr/>
          <p:nvPr/>
        </p:nvSpPr>
        <p:spPr>
          <a:xfrm>
            <a:off x="1097280" y="3172968"/>
            <a:ext cx="4937760" cy="411480"/>
          </a:xfrm>
          <a:prstGeom prst="rect">
            <a:avLst/>
          </a:prstGeom>
          <a:noFill/>
          <a:ln/>
        </p:spPr>
        <p:txBody>
          <a:bodyPr wrap="square" rtlCol="0" anchor="ctr"/>
          <a:lstStyle/>
          <a:p>
            <a:pPr marL="0" indent="0">
              <a:buNone/>
            </a:pPr>
            <a:r>
              <a:rPr lang="en-US" sz="1150" dirty="0">
                <a:solidFill>
                  <a:srgbClr val="091F2C"/>
                </a:solidFill>
                <a:latin typeface="Segoe UI" pitchFamily="34" charset="0"/>
                <a:ea typeface="Segoe UI" pitchFamily="34" charset="-122"/>
                <a:cs typeface="Segoe UI" pitchFamily="34" charset="-120"/>
              </a:rPr>
              <a:t>Skilling completions vs plan, by division</a:t>
            </a:r>
            <a:endParaRPr lang="en-US" sz="1150" dirty="0"/>
          </a:p>
        </p:txBody>
      </p:sp>
      <p:sp>
        <p:nvSpPr>
          <p:cNvPr id="12" name="Shape 10"/>
          <p:cNvSpPr/>
          <p:nvPr/>
        </p:nvSpPr>
        <p:spPr>
          <a:xfrm>
            <a:off x="868680" y="3749040"/>
            <a:ext cx="128016" cy="128016"/>
          </a:xfrm>
          <a:prstGeom prst="ellipse">
            <a:avLst/>
          </a:prstGeom>
          <a:solidFill>
            <a:srgbClr val="225B62"/>
          </a:solidFill>
          <a:ln w="12700">
            <a:solidFill>
              <a:srgbClr val="225B62"/>
            </a:solidFill>
            <a:prstDash val="solid"/>
          </a:ln>
        </p:spPr>
        <p:txBody>
          <a:bodyPr/>
          <a:lstStyle/>
          <a:p>
            <a:endParaRPr lang="en-ZA"/>
          </a:p>
        </p:txBody>
      </p:sp>
      <p:sp>
        <p:nvSpPr>
          <p:cNvPr id="13" name="Text 11"/>
          <p:cNvSpPr/>
          <p:nvPr/>
        </p:nvSpPr>
        <p:spPr>
          <a:xfrm>
            <a:off x="1097280" y="3675888"/>
            <a:ext cx="4937760" cy="411480"/>
          </a:xfrm>
          <a:prstGeom prst="rect">
            <a:avLst/>
          </a:prstGeom>
          <a:noFill/>
          <a:ln/>
        </p:spPr>
        <p:txBody>
          <a:bodyPr wrap="square" rtlCol="0" anchor="ctr"/>
          <a:lstStyle/>
          <a:p>
            <a:pPr marL="0" indent="0">
              <a:buNone/>
            </a:pPr>
            <a:r>
              <a:rPr lang="en-US" sz="1150" dirty="0">
                <a:solidFill>
                  <a:srgbClr val="091F2C"/>
                </a:solidFill>
                <a:latin typeface="Segoe UI" pitchFamily="34" charset="0"/>
                <a:ea typeface="Segoe UI" pitchFamily="34" charset="-122"/>
                <a:cs typeface="Segoe UI" pitchFamily="34" charset="-120"/>
              </a:rPr>
              <a:t>Use-case pipeline — count and stage progression</a:t>
            </a:r>
            <a:endParaRPr lang="en-US" sz="1150" dirty="0"/>
          </a:p>
        </p:txBody>
      </p:sp>
      <p:sp>
        <p:nvSpPr>
          <p:cNvPr id="14" name="Shape 12"/>
          <p:cNvSpPr/>
          <p:nvPr/>
        </p:nvSpPr>
        <p:spPr>
          <a:xfrm>
            <a:off x="868680" y="4251960"/>
            <a:ext cx="128016" cy="128016"/>
          </a:xfrm>
          <a:prstGeom prst="ellipse">
            <a:avLst/>
          </a:prstGeom>
          <a:solidFill>
            <a:srgbClr val="225B62"/>
          </a:solidFill>
          <a:ln w="12700">
            <a:solidFill>
              <a:srgbClr val="225B62"/>
            </a:solidFill>
            <a:prstDash val="solid"/>
          </a:ln>
        </p:spPr>
        <p:txBody>
          <a:bodyPr/>
          <a:lstStyle/>
          <a:p>
            <a:endParaRPr lang="en-ZA"/>
          </a:p>
        </p:txBody>
      </p:sp>
      <p:sp>
        <p:nvSpPr>
          <p:cNvPr id="15" name="Text 13"/>
          <p:cNvSpPr/>
          <p:nvPr/>
        </p:nvSpPr>
        <p:spPr>
          <a:xfrm>
            <a:off x="1097280" y="4178808"/>
            <a:ext cx="4937760" cy="411480"/>
          </a:xfrm>
          <a:prstGeom prst="rect">
            <a:avLst/>
          </a:prstGeom>
          <a:noFill/>
          <a:ln/>
        </p:spPr>
        <p:txBody>
          <a:bodyPr wrap="square" rtlCol="0" anchor="ctr"/>
          <a:lstStyle/>
          <a:p>
            <a:pPr marL="0" indent="0">
              <a:buNone/>
            </a:pPr>
            <a:r>
              <a:rPr lang="en-US" sz="1150" dirty="0">
                <a:solidFill>
                  <a:srgbClr val="091F2C"/>
                </a:solidFill>
                <a:latin typeface="Segoe UI" pitchFamily="34" charset="0"/>
                <a:ea typeface="Segoe UI" pitchFamily="34" charset="-122"/>
                <a:cs typeface="Segoe UI" pitchFamily="34" charset="-120"/>
              </a:rPr>
              <a:t>Champion network active in priority Eskom divisions</a:t>
            </a:r>
            <a:endParaRPr lang="en-US" sz="1150" dirty="0"/>
          </a:p>
        </p:txBody>
      </p:sp>
      <p:sp>
        <p:nvSpPr>
          <p:cNvPr id="16" name="Shape 14"/>
          <p:cNvSpPr/>
          <p:nvPr/>
        </p:nvSpPr>
        <p:spPr>
          <a:xfrm>
            <a:off x="868680" y="4754880"/>
            <a:ext cx="128016" cy="128016"/>
          </a:xfrm>
          <a:prstGeom prst="ellipse">
            <a:avLst/>
          </a:prstGeom>
          <a:solidFill>
            <a:srgbClr val="225B62"/>
          </a:solidFill>
          <a:ln w="12700">
            <a:solidFill>
              <a:srgbClr val="225B62"/>
            </a:solidFill>
            <a:prstDash val="solid"/>
          </a:ln>
        </p:spPr>
        <p:txBody>
          <a:bodyPr/>
          <a:lstStyle/>
          <a:p>
            <a:endParaRPr lang="en-ZA"/>
          </a:p>
        </p:txBody>
      </p:sp>
      <p:sp>
        <p:nvSpPr>
          <p:cNvPr id="17" name="Text 15"/>
          <p:cNvSpPr/>
          <p:nvPr/>
        </p:nvSpPr>
        <p:spPr>
          <a:xfrm>
            <a:off x="1097280" y="4681728"/>
            <a:ext cx="4937760" cy="411480"/>
          </a:xfrm>
          <a:prstGeom prst="rect">
            <a:avLst/>
          </a:prstGeom>
          <a:noFill/>
          <a:ln/>
        </p:spPr>
        <p:txBody>
          <a:bodyPr wrap="square" rtlCol="0" anchor="ctr"/>
          <a:lstStyle/>
          <a:p>
            <a:pPr marL="0" indent="0">
              <a:buNone/>
            </a:pPr>
            <a:r>
              <a:rPr lang="en-US" sz="1150" dirty="0">
                <a:solidFill>
                  <a:srgbClr val="091F2C"/>
                </a:solidFill>
                <a:latin typeface="Segoe UI" pitchFamily="34" charset="0"/>
                <a:ea typeface="Segoe UI" pitchFamily="34" charset="-122"/>
                <a:cs typeface="Segoe UI" pitchFamily="34" charset="-120"/>
              </a:rPr>
              <a:t>Agent inventory — registered, classified, reviewed</a:t>
            </a:r>
            <a:endParaRPr lang="en-US" sz="1150" dirty="0"/>
          </a:p>
        </p:txBody>
      </p:sp>
      <p:sp>
        <p:nvSpPr>
          <p:cNvPr id="18" name="Shape 16"/>
          <p:cNvSpPr/>
          <p:nvPr/>
        </p:nvSpPr>
        <p:spPr>
          <a:xfrm>
            <a:off x="6263640" y="1691640"/>
            <a:ext cx="5532120" cy="4160520"/>
          </a:xfrm>
          <a:prstGeom prst="roundRect">
            <a:avLst>
              <a:gd name="adj" fmla="val 2637"/>
            </a:avLst>
          </a:prstGeom>
          <a:solidFill>
            <a:srgbClr val="091F2C"/>
          </a:solidFill>
          <a:ln w="12700">
            <a:solidFill>
              <a:srgbClr val="091F2C"/>
            </a:solidFill>
            <a:prstDash val="solid"/>
          </a:ln>
        </p:spPr>
        <p:txBody>
          <a:bodyPr/>
          <a:lstStyle/>
          <a:p>
            <a:endParaRPr lang="en-ZA"/>
          </a:p>
        </p:txBody>
      </p:sp>
      <p:sp>
        <p:nvSpPr>
          <p:cNvPr id="19" name="Text 17"/>
          <p:cNvSpPr/>
          <p:nvPr/>
        </p:nvSpPr>
        <p:spPr>
          <a:xfrm>
            <a:off x="6492240" y="1828800"/>
            <a:ext cx="5029200" cy="274320"/>
          </a:xfrm>
          <a:prstGeom prst="rect">
            <a:avLst/>
          </a:prstGeom>
          <a:noFill/>
          <a:ln/>
        </p:spPr>
        <p:txBody>
          <a:bodyPr wrap="square" rtlCol="0" anchor="ctr"/>
          <a:lstStyle/>
          <a:p>
            <a:pPr marL="0" indent="0">
              <a:buNone/>
            </a:pPr>
            <a:r>
              <a:rPr lang="en-US" sz="1100" b="1" kern="0" spc="300" dirty="0">
                <a:solidFill>
                  <a:srgbClr val="C03BC4"/>
                </a:solidFill>
                <a:latin typeface="Segoe UI" pitchFamily="34" charset="0"/>
                <a:ea typeface="Segoe UI" pitchFamily="34" charset="-122"/>
                <a:cs typeface="Segoe UI" pitchFamily="34" charset="-120"/>
              </a:rPr>
              <a:t>LAGGING — Business impact</a:t>
            </a:r>
            <a:endParaRPr lang="en-US" sz="1100" dirty="0"/>
          </a:p>
        </p:txBody>
      </p:sp>
      <p:sp>
        <p:nvSpPr>
          <p:cNvPr id="20" name="Text 18"/>
          <p:cNvSpPr/>
          <p:nvPr/>
        </p:nvSpPr>
        <p:spPr>
          <a:xfrm>
            <a:off x="6492240" y="2103120"/>
            <a:ext cx="5029200" cy="3657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Are we creating value?</a:t>
            </a:r>
            <a:endParaRPr lang="en-US" sz="1400" dirty="0"/>
          </a:p>
        </p:txBody>
      </p:sp>
      <p:sp>
        <p:nvSpPr>
          <p:cNvPr id="21" name="Shape 19"/>
          <p:cNvSpPr/>
          <p:nvPr/>
        </p:nvSpPr>
        <p:spPr>
          <a:xfrm>
            <a:off x="6583680" y="2743200"/>
            <a:ext cx="128016" cy="128016"/>
          </a:xfrm>
          <a:prstGeom prst="ellipse">
            <a:avLst/>
          </a:prstGeom>
          <a:solidFill>
            <a:srgbClr val="C03BC4"/>
          </a:solidFill>
          <a:ln w="12700">
            <a:solidFill>
              <a:srgbClr val="C03BC4"/>
            </a:solidFill>
            <a:prstDash val="solid"/>
          </a:ln>
        </p:spPr>
        <p:txBody>
          <a:bodyPr/>
          <a:lstStyle/>
          <a:p>
            <a:endParaRPr lang="en-ZA"/>
          </a:p>
        </p:txBody>
      </p:sp>
      <p:sp>
        <p:nvSpPr>
          <p:cNvPr id="22" name="Text 20"/>
          <p:cNvSpPr/>
          <p:nvPr/>
        </p:nvSpPr>
        <p:spPr>
          <a:xfrm>
            <a:off x="6812280" y="2670048"/>
            <a:ext cx="4846320" cy="3657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Production AI workloads in service (asset-health, forecasting)</a:t>
            </a:r>
            <a:endParaRPr lang="en-US" sz="1100" dirty="0"/>
          </a:p>
        </p:txBody>
      </p:sp>
      <p:sp>
        <p:nvSpPr>
          <p:cNvPr id="23" name="Shape 21"/>
          <p:cNvSpPr/>
          <p:nvPr/>
        </p:nvSpPr>
        <p:spPr>
          <a:xfrm>
            <a:off x="6583680" y="3163824"/>
            <a:ext cx="128016" cy="128016"/>
          </a:xfrm>
          <a:prstGeom prst="ellipse">
            <a:avLst/>
          </a:prstGeom>
          <a:solidFill>
            <a:srgbClr val="C03BC4"/>
          </a:solidFill>
          <a:ln w="12700">
            <a:solidFill>
              <a:srgbClr val="C03BC4"/>
            </a:solidFill>
            <a:prstDash val="solid"/>
          </a:ln>
        </p:spPr>
        <p:txBody>
          <a:bodyPr/>
          <a:lstStyle/>
          <a:p>
            <a:endParaRPr lang="en-ZA"/>
          </a:p>
        </p:txBody>
      </p:sp>
      <p:sp>
        <p:nvSpPr>
          <p:cNvPr id="24" name="Text 22"/>
          <p:cNvSpPr/>
          <p:nvPr/>
        </p:nvSpPr>
        <p:spPr>
          <a:xfrm>
            <a:off x="6812280" y="3090672"/>
            <a:ext cx="4846320" cy="3657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Adoption (MAU) in priority workflows</a:t>
            </a:r>
            <a:endParaRPr lang="en-US" sz="1100" dirty="0"/>
          </a:p>
        </p:txBody>
      </p:sp>
      <p:sp>
        <p:nvSpPr>
          <p:cNvPr id="25" name="Shape 23"/>
          <p:cNvSpPr/>
          <p:nvPr/>
        </p:nvSpPr>
        <p:spPr>
          <a:xfrm>
            <a:off x="6583680" y="3584448"/>
            <a:ext cx="128016" cy="128016"/>
          </a:xfrm>
          <a:prstGeom prst="ellipse">
            <a:avLst/>
          </a:prstGeom>
          <a:solidFill>
            <a:srgbClr val="C03BC4"/>
          </a:solidFill>
          <a:ln w="12700">
            <a:solidFill>
              <a:srgbClr val="C03BC4"/>
            </a:solidFill>
            <a:prstDash val="solid"/>
          </a:ln>
        </p:spPr>
        <p:txBody>
          <a:bodyPr/>
          <a:lstStyle/>
          <a:p>
            <a:endParaRPr lang="en-ZA"/>
          </a:p>
        </p:txBody>
      </p:sp>
      <p:sp>
        <p:nvSpPr>
          <p:cNvPr id="26" name="Text 24"/>
          <p:cNvSpPr/>
          <p:nvPr/>
        </p:nvSpPr>
        <p:spPr>
          <a:xfrm>
            <a:off x="6812280" y="3511296"/>
            <a:ext cx="4846320" cy="3657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Reduction in unplanned-outage hours per use case</a:t>
            </a:r>
            <a:endParaRPr lang="en-US" sz="1100" dirty="0"/>
          </a:p>
        </p:txBody>
      </p:sp>
      <p:sp>
        <p:nvSpPr>
          <p:cNvPr id="27" name="Shape 25"/>
          <p:cNvSpPr/>
          <p:nvPr/>
        </p:nvSpPr>
        <p:spPr>
          <a:xfrm>
            <a:off x="6583680" y="4005072"/>
            <a:ext cx="128016" cy="128016"/>
          </a:xfrm>
          <a:prstGeom prst="ellipse">
            <a:avLst/>
          </a:prstGeom>
          <a:solidFill>
            <a:srgbClr val="C03BC4"/>
          </a:solidFill>
          <a:ln w="12700">
            <a:solidFill>
              <a:srgbClr val="C03BC4"/>
            </a:solidFill>
            <a:prstDash val="solid"/>
          </a:ln>
        </p:spPr>
        <p:txBody>
          <a:bodyPr/>
          <a:lstStyle/>
          <a:p>
            <a:endParaRPr lang="en-ZA"/>
          </a:p>
        </p:txBody>
      </p:sp>
      <p:sp>
        <p:nvSpPr>
          <p:cNvPr id="28" name="Text 26"/>
          <p:cNvSpPr/>
          <p:nvPr/>
        </p:nvSpPr>
        <p:spPr>
          <a:xfrm>
            <a:off x="6812280" y="3931920"/>
            <a:ext cx="4846320" cy="3657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Reduction in dispute-resolution time and cost</a:t>
            </a:r>
            <a:endParaRPr lang="en-US" sz="1100" dirty="0"/>
          </a:p>
        </p:txBody>
      </p:sp>
      <p:sp>
        <p:nvSpPr>
          <p:cNvPr id="29" name="Shape 27"/>
          <p:cNvSpPr/>
          <p:nvPr/>
        </p:nvSpPr>
        <p:spPr>
          <a:xfrm>
            <a:off x="6583680" y="4425696"/>
            <a:ext cx="128016" cy="128016"/>
          </a:xfrm>
          <a:prstGeom prst="ellipse">
            <a:avLst/>
          </a:prstGeom>
          <a:solidFill>
            <a:srgbClr val="C03BC4"/>
          </a:solidFill>
          <a:ln w="12700">
            <a:solidFill>
              <a:srgbClr val="C03BC4"/>
            </a:solidFill>
            <a:prstDash val="solid"/>
          </a:ln>
        </p:spPr>
        <p:txBody>
          <a:bodyPr/>
          <a:lstStyle/>
          <a:p>
            <a:endParaRPr lang="en-ZA"/>
          </a:p>
        </p:txBody>
      </p:sp>
      <p:sp>
        <p:nvSpPr>
          <p:cNvPr id="30" name="Text 28"/>
          <p:cNvSpPr/>
          <p:nvPr/>
        </p:nvSpPr>
        <p:spPr>
          <a:xfrm>
            <a:off x="6812280" y="4352544"/>
            <a:ext cx="4846320" cy="3657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Supplier-due-diligence cycle time</a:t>
            </a:r>
            <a:endParaRPr lang="en-US" sz="1100" dirty="0"/>
          </a:p>
        </p:txBody>
      </p:sp>
      <p:sp>
        <p:nvSpPr>
          <p:cNvPr id="31" name="Shape 29"/>
          <p:cNvSpPr/>
          <p:nvPr/>
        </p:nvSpPr>
        <p:spPr>
          <a:xfrm>
            <a:off x="6583680" y="4846320"/>
            <a:ext cx="128016" cy="128016"/>
          </a:xfrm>
          <a:prstGeom prst="ellipse">
            <a:avLst/>
          </a:prstGeom>
          <a:solidFill>
            <a:srgbClr val="C03BC4"/>
          </a:solidFill>
          <a:ln w="12700">
            <a:solidFill>
              <a:srgbClr val="C03BC4"/>
            </a:solidFill>
            <a:prstDash val="solid"/>
          </a:ln>
        </p:spPr>
        <p:txBody>
          <a:bodyPr/>
          <a:lstStyle/>
          <a:p>
            <a:endParaRPr lang="en-ZA"/>
          </a:p>
        </p:txBody>
      </p:sp>
      <p:sp>
        <p:nvSpPr>
          <p:cNvPr id="32" name="Text 30"/>
          <p:cNvSpPr/>
          <p:nvPr/>
        </p:nvSpPr>
        <p:spPr>
          <a:xfrm>
            <a:off x="6812280" y="4773168"/>
            <a:ext cx="4846320" cy="3657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Employee NSAT and time-saved metrics</a:t>
            </a:r>
            <a:endParaRPr lang="en-US" sz="1100" dirty="0"/>
          </a:p>
        </p:txBody>
      </p:sp>
      <p:sp>
        <p:nvSpPr>
          <p:cNvPr id="33" name="Shape 31"/>
          <p:cNvSpPr/>
          <p:nvPr/>
        </p:nvSpPr>
        <p:spPr>
          <a:xfrm>
            <a:off x="548640" y="5989320"/>
            <a:ext cx="11091672" cy="365760"/>
          </a:xfrm>
          <a:prstGeom prst="roundRect">
            <a:avLst>
              <a:gd name="adj" fmla="val 15000"/>
            </a:avLst>
          </a:prstGeom>
          <a:solidFill>
            <a:srgbClr val="F5E6F0"/>
          </a:solidFill>
          <a:ln w="12700">
            <a:solidFill>
              <a:srgbClr val="F5E6F0"/>
            </a:solidFill>
            <a:prstDash val="solid"/>
          </a:ln>
        </p:spPr>
        <p:txBody>
          <a:bodyPr/>
          <a:lstStyle/>
          <a:p>
            <a:endParaRPr lang="en-ZA"/>
          </a:p>
        </p:txBody>
      </p:sp>
      <p:sp>
        <p:nvSpPr>
          <p:cNvPr id="34" name="Text 32"/>
          <p:cNvSpPr/>
          <p:nvPr/>
        </p:nvSpPr>
        <p:spPr>
          <a:xfrm>
            <a:off x="777240" y="6016752"/>
            <a:ext cx="10607040" cy="320040"/>
          </a:xfrm>
          <a:prstGeom prst="rect">
            <a:avLst/>
          </a:prstGeom>
          <a:noFill/>
          <a:ln/>
        </p:spPr>
        <p:txBody>
          <a:bodyPr wrap="square" rtlCol="0" anchor="ctr"/>
          <a:lstStyle/>
          <a:p>
            <a:pPr marL="0" indent="0" algn="ctr">
              <a:buNone/>
            </a:pPr>
            <a:r>
              <a:rPr lang="en-US" sz="1100" i="1" dirty="0">
                <a:solidFill>
                  <a:srgbClr val="091F2C"/>
                </a:solidFill>
                <a:latin typeface="Segoe UI" pitchFamily="34" charset="0"/>
                <a:ea typeface="Segoe UI" pitchFamily="34" charset="-122"/>
                <a:cs typeface="Segoe UI" pitchFamily="34" charset="-120"/>
              </a:rPr>
              <a:t>All measured in a Power BI value-realisation dashboard. Reviewed at every CoE steering committee — and reportable to the Audit &amp; Risk Committee.</a:t>
            </a:r>
            <a:endParaRPr lang="en-US" sz="1100" dirty="0"/>
          </a:p>
        </p:txBody>
      </p:sp>
      <p:pic>
        <p:nvPicPr>
          <p:cNvPr id="35"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6" name="Text 33"/>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Prepared for Eskom executive briefing  ·  Confidential</a:t>
            </a:r>
            <a:endParaRPr lang="en-US" sz="900" dirty="0"/>
          </a:p>
        </p:txBody>
      </p:sp>
      <p:sp>
        <p:nvSpPr>
          <p:cNvPr id="37" name="Text 34"/>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9 / 10</a:t>
            </a:r>
            <a:endParaRPr lang="en-US" sz="900" dirty="0"/>
          </a:p>
        </p:txBody>
      </p:sp>
      <p:sp>
        <p:nvSpPr>
          <p:cNvPr id="38" name="AICOE_GEO_ACCENT_Right Triangle 37"/>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ICOE_GEO_ACCENT_Right Triangle 38"/>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109728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NEXT STEPS</a:t>
            </a:r>
            <a:endParaRPr lang="en-US" sz="1200" dirty="0"/>
          </a:p>
        </p:txBody>
      </p:sp>
      <p:sp>
        <p:nvSpPr>
          <p:cNvPr id="4" name="Text 2"/>
          <p:cNvSpPr/>
          <p:nvPr/>
        </p:nvSpPr>
        <p:spPr>
          <a:xfrm>
            <a:off x="548640" y="777240"/>
            <a:ext cx="11155680" cy="777240"/>
          </a:xfrm>
          <a:prstGeom prst="rect">
            <a:avLst/>
          </a:prstGeom>
          <a:noFill/>
          <a:ln/>
        </p:spPr>
        <p:txBody>
          <a:bodyPr wrap="square" rtlCol="0" anchor="ctr"/>
          <a:lstStyle/>
          <a:p>
            <a:pPr marL="0" indent="0">
              <a:buNone/>
            </a:pPr>
            <a:r>
              <a:rPr lang="en-US" sz="2800" b="1" dirty="0">
                <a:solidFill>
                  <a:srgbClr val="091F2C"/>
                </a:solidFill>
                <a:latin typeface="Segoe UI" pitchFamily="34" charset="0"/>
                <a:ea typeface="Segoe UI" pitchFamily="34" charset="-122"/>
                <a:cs typeface="Segoe UI" pitchFamily="34" charset="-120"/>
              </a:rPr>
              <a:t>One decision today — and a date in the calendar.</a:t>
            </a:r>
            <a:endParaRPr lang="en-US" sz="2800" dirty="0"/>
          </a:p>
        </p:txBody>
      </p:sp>
      <p:sp>
        <p:nvSpPr>
          <p:cNvPr id="5" name="Shape 3"/>
          <p:cNvSpPr/>
          <p:nvPr/>
        </p:nvSpPr>
        <p:spPr>
          <a:xfrm>
            <a:off x="548640" y="1691640"/>
            <a:ext cx="6858000" cy="4160520"/>
          </a:xfrm>
          <a:prstGeom prst="roundRect">
            <a:avLst>
              <a:gd name="adj" fmla="val 2637"/>
            </a:avLst>
          </a:prstGeom>
          <a:solidFill>
            <a:srgbClr val="FFFFFF"/>
          </a:solidFill>
          <a:ln w="12700">
            <a:solidFill>
              <a:srgbClr val="E8DDD1"/>
            </a:solidFill>
            <a:prstDash val="solid"/>
          </a:ln>
        </p:spPr>
        <p:txBody>
          <a:bodyPr/>
          <a:lstStyle/>
          <a:p>
            <a:endParaRPr lang="en-ZA"/>
          </a:p>
        </p:txBody>
      </p:sp>
      <p:sp>
        <p:nvSpPr>
          <p:cNvPr id="6" name="Text 4"/>
          <p:cNvSpPr/>
          <p:nvPr/>
        </p:nvSpPr>
        <p:spPr>
          <a:xfrm>
            <a:off x="777240" y="1828800"/>
            <a:ext cx="6400800" cy="274320"/>
          </a:xfrm>
          <a:prstGeom prst="rect">
            <a:avLst/>
          </a:prstGeom>
          <a:noFill/>
          <a:ln/>
        </p:spPr>
        <p:txBody>
          <a:bodyPr wrap="square" rtlCol="0" anchor="ctr"/>
          <a:lstStyle/>
          <a:p>
            <a:pPr marL="0" indent="0">
              <a:buNone/>
            </a:pPr>
            <a:r>
              <a:rPr lang="en-US" sz="1100" b="1" kern="0" spc="300" dirty="0">
                <a:solidFill>
                  <a:srgbClr val="0078D4"/>
                </a:solidFill>
                <a:latin typeface="Segoe UI" pitchFamily="34" charset="0"/>
                <a:ea typeface="Segoe UI" pitchFamily="34" charset="-122"/>
                <a:cs typeface="Segoe UI" pitchFamily="34" charset="-120"/>
              </a:rPr>
              <a:t>THE ASK</a:t>
            </a:r>
            <a:endParaRPr lang="en-US" sz="1100" dirty="0"/>
          </a:p>
        </p:txBody>
      </p:sp>
      <p:sp>
        <p:nvSpPr>
          <p:cNvPr id="7" name="Text 5"/>
          <p:cNvSpPr/>
          <p:nvPr/>
        </p:nvSpPr>
        <p:spPr>
          <a:xfrm>
            <a:off x="777240" y="2148840"/>
            <a:ext cx="6400800" cy="868680"/>
          </a:xfrm>
          <a:prstGeom prst="rect">
            <a:avLst/>
          </a:prstGeom>
          <a:noFill/>
          <a:ln/>
        </p:spPr>
        <p:txBody>
          <a:bodyPr wrap="square" rtlCol="0" anchor="ctr"/>
          <a:lstStyle/>
          <a:p>
            <a:pPr marL="0" indent="0">
              <a:buNone/>
            </a:pPr>
            <a:r>
              <a:rPr lang="en-US" sz="2000" b="1" dirty="0">
                <a:solidFill>
                  <a:srgbClr val="091F2C"/>
                </a:solidFill>
                <a:latin typeface="Segoe UI" pitchFamily="34" charset="0"/>
                <a:ea typeface="Segoe UI" pitchFamily="34" charset="-122"/>
                <a:cs typeface="Segoe UI" pitchFamily="34" charset="-120"/>
              </a:rPr>
              <a:t>A half-day discovery workshop in the next four weeks.</a:t>
            </a:r>
            <a:endParaRPr lang="en-US" sz="2000" dirty="0"/>
          </a:p>
        </p:txBody>
      </p:sp>
      <p:sp>
        <p:nvSpPr>
          <p:cNvPr id="8" name="Text 6"/>
          <p:cNvSpPr/>
          <p:nvPr/>
        </p:nvSpPr>
        <p:spPr>
          <a:xfrm>
            <a:off x="777240" y="3017520"/>
            <a:ext cx="6400800" cy="685800"/>
          </a:xfrm>
          <a:prstGeom prst="rect">
            <a:avLst/>
          </a:prstGeom>
          <a:noFill/>
          <a:ln/>
        </p:spPr>
        <p:txBody>
          <a:bodyPr wrap="square" rtlCol="0" anchor="ctr"/>
          <a:lstStyle/>
          <a:p>
            <a:pPr marL="0" indent="0">
              <a:buNone/>
            </a:pPr>
            <a:r>
              <a:rPr lang="en-US" sz="1200" i="1" dirty="0">
                <a:solidFill>
                  <a:srgbClr val="4B5563"/>
                </a:solidFill>
                <a:latin typeface="Segoe UI" pitchFamily="34" charset="0"/>
                <a:ea typeface="Segoe UI" pitchFamily="34" charset="-122"/>
                <a:cs typeface="Segoe UI" pitchFamily="34" charset="-120"/>
              </a:rPr>
              <a:t>Microsoft brings a senior architect and a shortlist of utility-experienced specialist partners. Eskom walks out with:</a:t>
            </a:r>
            <a:endParaRPr lang="en-US" sz="1200" dirty="0"/>
          </a:p>
        </p:txBody>
      </p:sp>
      <p:sp>
        <p:nvSpPr>
          <p:cNvPr id="9" name="Shape 7"/>
          <p:cNvSpPr/>
          <p:nvPr/>
        </p:nvSpPr>
        <p:spPr>
          <a:xfrm>
            <a:off x="914400" y="3886200"/>
            <a:ext cx="164592" cy="164592"/>
          </a:xfrm>
          <a:prstGeom prst="ellipse">
            <a:avLst/>
          </a:prstGeom>
          <a:solidFill>
            <a:srgbClr val="0078D4"/>
          </a:solidFill>
          <a:ln w="12700">
            <a:solidFill>
              <a:srgbClr val="0078D4"/>
            </a:solidFill>
            <a:prstDash val="solid"/>
          </a:ln>
        </p:spPr>
        <p:txBody>
          <a:bodyPr/>
          <a:lstStyle/>
          <a:p>
            <a:endParaRPr lang="en-ZA"/>
          </a:p>
        </p:txBody>
      </p:sp>
      <p:sp>
        <p:nvSpPr>
          <p:cNvPr id="10" name="Text 8"/>
          <p:cNvSpPr/>
          <p:nvPr/>
        </p:nvSpPr>
        <p:spPr>
          <a:xfrm>
            <a:off x="1188720" y="3803904"/>
            <a:ext cx="6035040" cy="365760"/>
          </a:xfrm>
          <a:prstGeom prst="rect">
            <a:avLst/>
          </a:prstGeom>
          <a:noFill/>
          <a:ln/>
        </p:spPr>
        <p:txBody>
          <a:bodyPr wrap="square" rtlCol="0" anchor="ctr"/>
          <a:lstStyle/>
          <a:p>
            <a:pPr marL="0" indent="0">
              <a:buNone/>
            </a:pPr>
            <a:r>
              <a:rPr lang="en-US" sz="1200" dirty="0">
                <a:solidFill>
                  <a:srgbClr val="091F2C"/>
                </a:solidFill>
                <a:latin typeface="Segoe UI" pitchFamily="34" charset="0"/>
                <a:ea typeface="Segoe UI" pitchFamily="34" charset="-122"/>
                <a:cs typeface="Segoe UI" pitchFamily="34" charset="-120"/>
              </a:rPr>
              <a:t>A scored CoE Readiness map across the 5+1 pillars</a:t>
            </a:r>
            <a:endParaRPr lang="en-US" sz="1200" dirty="0"/>
          </a:p>
        </p:txBody>
      </p:sp>
      <p:sp>
        <p:nvSpPr>
          <p:cNvPr id="11" name="Shape 9"/>
          <p:cNvSpPr/>
          <p:nvPr/>
        </p:nvSpPr>
        <p:spPr>
          <a:xfrm>
            <a:off x="914400" y="4251960"/>
            <a:ext cx="164592" cy="164592"/>
          </a:xfrm>
          <a:prstGeom prst="ellipse">
            <a:avLst/>
          </a:prstGeom>
          <a:solidFill>
            <a:srgbClr val="0078D4"/>
          </a:solidFill>
          <a:ln w="12700">
            <a:solidFill>
              <a:srgbClr val="0078D4"/>
            </a:solidFill>
            <a:prstDash val="solid"/>
          </a:ln>
        </p:spPr>
        <p:txBody>
          <a:bodyPr/>
          <a:lstStyle/>
          <a:p>
            <a:endParaRPr lang="en-ZA"/>
          </a:p>
        </p:txBody>
      </p:sp>
      <p:sp>
        <p:nvSpPr>
          <p:cNvPr id="12" name="Text 10"/>
          <p:cNvSpPr/>
          <p:nvPr/>
        </p:nvSpPr>
        <p:spPr>
          <a:xfrm>
            <a:off x="1188720" y="4169664"/>
            <a:ext cx="6035040" cy="365760"/>
          </a:xfrm>
          <a:prstGeom prst="rect">
            <a:avLst/>
          </a:prstGeom>
          <a:noFill/>
          <a:ln/>
        </p:spPr>
        <p:txBody>
          <a:bodyPr wrap="square" rtlCol="0" anchor="ctr"/>
          <a:lstStyle/>
          <a:p>
            <a:pPr marL="0" indent="0">
              <a:buNone/>
            </a:pPr>
            <a:r>
              <a:rPr lang="en-US" sz="1200" dirty="0">
                <a:solidFill>
                  <a:srgbClr val="091F2C"/>
                </a:solidFill>
                <a:latin typeface="Segoe UI" pitchFamily="34" charset="0"/>
                <a:ea typeface="Segoe UI" pitchFamily="34" charset="-122"/>
                <a:cs typeface="Segoe UI" pitchFamily="34" charset="-120"/>
              </a:rPr>
              <a:t>Eskom's Horizon position today — H0 to H3</a:t>
            </a:r>
            <a:endParaRPr lang="en-US" sz="1200" dirty="0"/>
          </a:p>
        </p:txBody>
      </p:sp>
      <p:sp>
        <p:nvSpPr>
          <p:cNvPr id="13" name="Shape 11"/>
          <p:cNvSpPr/>
          <p:nvPr/>
        </p:nvSpPr>
        <p:spPr>
          <a:xfrm>
            <a:off x="914400" y="4617720"/>
            <a:ext cx="164592" cy="164592"/>
          </a:xfrm>
          <a:prstGeom prst="ellipse">
            <a:avLst/>
          </a:prstGeom>
          <a:solidFill>
            <a:srgbClr val="0078D4"/>
          </a:solidFill>
          <a:ln w="12700">
            <a:solidFill>
              <a:srgbClr val="0078D4"/>
            </a:solidFill>
            <a:prstDash val="solid"/>
          </a:ln>
        </p:spPr>
        <p:txBody>
          <a:bodyPr/>
          <a:lstStyle/>
          <a:p>
            <a:endParaRPr lang="en-ZA"/>
          </a:p>
        </p:txBody>
      </p:sp>
      <p:sp>
        <p:nvSpPr>
          <p:cNvPr id="14" name="Text 12"/>
          <p:cNvSpPr/>
          <p:nvPr/>
        </p:nvSpPr>
        <p:spPr>
          <a:xfrm>
            <a:off x="1188720" y="4535424"/>
            <a:ext cx="6035040" cy="365760"/>
          </a:xfrm>
          <a:prstGeom prst="rect">
            <a:avLst/>
          </a:prstGeom>
          <a:noFill/>
          <a:ln/>
        </p:spPr>
        <p:txBody>
          <a:bodyPr wrap="square" rtlCol="0" anchor="ctr"/>
          <a:lstStyle/>
          <a:p>
            <a:pPr marL="0" indent="0">
              <a:buNone/>
            </a:pPr>
            <a:r>
              <a:rPr lang="en-US" sz="1200" dirty="0">
                <a:solidFill>
                  <a:srgbClr val="091F2C"/>
                </a:solidFill>
                <a:latin typeface="Segoe UI" pitchFamily="34" charset="0"/>
                <a:ea typeface="Segoe UI" pitchFamily="34" charset="-122"/>
                <a:cs typeface="Segoe UI" pitchFamily="34" charset="-120"/>
              </a:rPr>
              <a:t>The next gate to clear in 90 days</a:t>
            </a:r>
            <a:endParaRPr lang="en-US" sz="1200" dirty="0"/>
          </a:p>
        </p:txBody>
      </p:sp>
      <p:sp>
        <p:nvSpPr>
          <p:cNvPr id="15" name="Shape 13"/>
          <p:cNvSpPr/>
          <p:nvPr/>
        </p:nvSpPr>
        <p:spPr>
          <a:xfrm>
            <a:off x="914400" y="4983480"/>
            <a:ext cx="164592" cy="164592"/>
          </a:xfrm>
          <a:prstGeom prst="ellipse">
            <a:avLst/>
          </a:prstGeom>
          <a:solidFill>
            <a:srgbClr val="0078D4"/>
          </a:solidFill>
          <a:ln w="12700">
            <a:solidFill>
              <a:srgbClr val="0078D4"/>
            </a:solidFill>
            <a:prstDash val="solid"/>
          </a:ln>
        </p:spPr>
        <p:txBody>
          <a:bodyPr/>
          <a:lstStyle/>
          <a:p>
            <a:endParaRPr lang="en-ZA"/>
          </a:p>
        </p:txBody>
      </p:sp>
      <p:sp>
        <p:nvSpPr>
          <p:cNvPr id="16" name="Text 14"/>
          <p:cNvSpPr/>
          <p:nvPr/>
        </p:nvSpPr>
        <p:spPr>
          <a:xfrm>
            <a:off x="1188720" y="4901184"/>
            <a:ext cx="6035040" cy="365760"/>
          </a:xfrm>
          <a:prstGeom prst="rect">
            <a:avLst/>
          </a:prstGeom>
          <a:noFill/>
          <a:ln/>
        </p:spPr>
        <p:txBody>
          <a:bodyPr wrap="square" rtlCol="0" anchor="ctr"/>
          <a:lstStyle/>
          <a:p>
            <a:pPr marL="0" indent="0">
              <a:buNone/>
            </a:pPr>
            <a:r>
              <a:rPr lang="en-US" sz="1200" dirty="0">
                <a:solidFill>
                  <a:srgbClr val="091F2C"/>
                </a:solidFill>
                <a:latin typeface="Segoe UI" pitchFamily="34" charset="0"/>
                <a:ea typeface="Segoe UI" pitchFamily="34" charset="-122"/>
                <a:cs typeface="Segoe UI" pitchFamily="34" charset="-120"/>
              </a:rPr>
              <a:t>Microsoft co-investment available for envisioning</a:t>
            </a:r>
            <a:endParaRPr lang="en-US" sz="1200" dirty="0"/>
          </a:p>
        </p:txBody>
      </p:sp>
      <p:sp>
        <p:nvSpPr>
          <p:cNvPr id="17" name="Shape 15"/>
          <p:cNvSpPr/>
          <p:nvPr/>
        </p:nvSpPr>
        <p:spPr>
          <a:xfrm>
            <a:off x="914400" y="5349240"/>
            <a:ext cx="164592" cy="164592"/>
          </a:xfrm>
          <a:prstGeom prst="ellipse">
            <a:avLst/>
          </a:prstGeom>
          <a:solidFill>
            <a:srgbClr val="0078D4"/>
          </a:solidFill>
          <a:ln w="12700">
            <a:solidFill>
              <a:srgbClr val="0078D4"/>
            </a:solidFill>
            <a:prstDash val="solid"/>
          </a:ln>
        </p:spPr>
        <p:txBody>
          <a:bodyPr/>
          <a:lstStyle/>
          <a:p>
            <a:endParaRPr lang="en-ZA"/>
          </a:p>
        </p:txBody>
      </p:sp>
      <p:sp>
        <p:nvSpPr>
          <p:cNvPr id="18" name="Text 16"/>
          <p:cNvSpPr/>
          <p:nvPr/>
        </p:nvSpPr>
        <p:spPr>
          <a:xfrm>
            <a:off x="1188720" y="5266944"/>
            <a:ext cx="6035040" cy="365760"/>
          </a:xfrm>
          <a:prstGeom prst="rect">
            <a:avLst/>
          </a:prstGeom>
          <a:noFill/>
          <a:ln/>
        </p:spPr>
        <p:txBody>
          <a:bodyPr wrap="square" rtlCol="0" anchor="ctr"/>
          <a:lstStyle/>
          <a:p>
            <a:pPr marL="0" indent="0">
              <a:buNone/>
            </a:pPr>
            <a:r>
              <a:rPr lang="en-US" sz="1200" dirty="0">
                <a:solidFill>
                  <a:srgbClr val="091F2C"/>
                </a:solidFill>
                <a:latin typeface="Segoe UI" pitchFamily="34" charset="0"/>
                <a:ea typeface="Segoe UI" pitchFamily="34" charset="-122"/>
                <a:cs typeface="Segoe UI" pitchFamily="34" charset="-120"/>
              </a:rPr>
              <a:t>Specialist partner shortlist confirmed</a:t>
            </a:r>
            <a:endParaRPr lang="en-US" sz="1200" dirty="0"/>
          </a:p>
        </p:txBody>
      </p:sp>
      <p:sp>
        <p:nvSpPr>
          <p:cNvPr id="19" name="Shape 17"/>
          <p:cNvSpPr/>
          <p:nvPr/>
        </p:nvSpPr>
        <p:spPr>
          <a:xfrm>
            <a:off x="7635240" y="1691640"/>
            <a:ext cx="4023360" cy="4160520"/>
          </a:xfrm>
          <a:prstGeom prst="roundRect">
            <a:avLst>
              <a:gd name="adj" fmla="val 2727"/>
            </a:avLst>
          </a:prstGeom>
          <a:solidFill>
            <a:srgbClr val="091F2C"/>
          </a:solidFill>
          <a:ln w="12700">
            <a:solidFill>
              <a:srgbClr val="091F2C"/>
            </a:solidFill>
            <a:prstDash val="solid"/>
          </a:ln>
        </p:spPr>
        <p:txBody>
          <a:bodyPr/>
          <a:lstStyle/>
          <a:p>
            <a:endParaRPr lang="en-ZA"/>
          </a:p>
        </p:txBody>
      </p:sp>
      <p:sp>
        <p:nvSpPr>
          <p:cNvPr id="20" name="Text 18"/>
          <p:cNvSpPr/>
          <p:nvPr/>
        </p:nvSpPr>
        <p:spPr>
          <a:xfrm>
            <a:off x="7863840" y="1828800"/>
            <a:ext cx="3566160" cy="274320"/>
          </a:xfrm>
          <a:prstGeom prst="rect">
            <a:avLst/>
          </a:prstGeom>
          <a:noFill/>
          <a:ln/>
        </p:spPr>
        <p:txBody>
          <a:bodyPr wrap="square" rtlCol="0" anchor="ctr"/>
          <a:lstStyle/>
          <a:p>
            <a:pPr marL="0" indent="0">
              <a:buNone/>
            </a:pPr>
            <a:r>
              <a:rPr lang="en-US" sz="1100" b="1" kern="0" spc="300" dirty="0">
                <a:solidFill>
                  <a:srgbClr val="C03BC4"/>
                </a:solidFill>
                <a:latin typeface="Segoe UI" pitchFamily="34" charset="0"/>
                <a:ea typeface="Segoe UI" pitchFamily="34" charset="-122"/>
                <a:cs typeface="Segoe UI" pitchFamily="34" charset="-120"/>
              </a:rPr>
              <a:t>WHAT ESKOM NAMES</a:t>
            </a:r>
            <a:endParaRPr lang="en-US" sz="1100" dirty="0"/>
          </a:p>
        </p:txBody>
      </p:sp>
      <p:sp>
        <p:nvSpPr>
          <p:cNvPr id="21" name="Text 19"/>
          <p:cNvSpPr/>
          <p:nvPr/>
        </p:nvSpPr>
        <p:spPr>
          <a:xfrm>
            <a:off x="7863840" y="2148840"/>
            <a:ext cx="3566160" cy="868680"/>
          </a:xfrm>
          <a:prstGeom prst="rect">
            <a:avLst/>
          </a:prstGeom>
          <a:noFill/>
          <a:ln/>
        </p:spPr>
        <p:txBody>
          <a:bodyPr wrap="square" rtlCol="0" anchor="ctr"/>
          <a:lstStyle/>
          <a:p>
            <a:pPr marL="0" indent="0">
              <a:buNone/>
            </a:pPr>
            <a:r>
              <a:rPr lang="en-US" sz="1700" b="1" dirty="0">
                <a:solidFill>
                  <a:srgbClr val="FFFFFF"/>
                </a:solidFill>
                <a:latin typeface="Segoe UI" pitchFamily="34" charset="0"/>
                <a:ea typeface="Segoe UI" pitchFamily="34" charset="-122"/>
                <a:cs typeface="Segoe UI" pitchFamily="34" charset="-120"/>
              </a:rPr>
              <a:t>Three things, before the workshop</a:t>
            </a:r>
            <a:endParaRPr lang="en-US" sz="1700" dirty="0"/>
          </a:p>
        </p:txBody>
      </p:sp>
      <p:sp>
        <p:nvSpPr>
          <p:cNvPr id="22" name="Shape 20"/>
          <p:cNvSpPr/>
          <p:nvPr/>
        </p:nvSpPr>
        <p:spPr>
          <a:xfrm>
            <a:off x="7863840" y="3108960"/>
            <a:ext cx="411480" cy="411480"/>
          </a:xfrm>
          <a:prstGeom prst="ellipse">
            <a:avLst/>
          </a:prstGeom>
          <a:solidFill>
            <a:srgbClr val="C03BC4"/>
          </a:solidFill>
          <a:ln w="12700">
            <a:solidFill>
              <a:srgbClr val="C03BC4"/>
            </a:solidFill>
            <a:prstDash val="solid"/>
          </a:ln>
        </p:spPr>
        <p:txBody>
          <a:bodyPr/>
          <a:lstStyle/>
          <a:p>
            <a:endParaRPr lang="en-ZA"/>
          </a:p>
        </p:txBody>
      </p:sp>
      <p:sp>
        <p:nvSpPr>
          <p:cNvPr id="23" name="Text 21"/>
          <p:cNvSpPr/>
          <p:nvPr/>
        </p:nvSpPr>
        <p:spPr>
          <a:xfrm>
            <a:off x="7863840" y="3108960"/>
            <a:ext cx="411480" cy="411480"/>
          </a:xfrm>
          <a:prstGeom prst="rect">
            <a:avLst/>
          </a:prstGeom>
          <a:noFill/>
          <a:ln/>
        </p:spPr>
        <p:txBody>
          <a:bodyPr wrap="square" rtlCol="0" anchor="ctr"/>
          <a:lstStyle/>
          <a:p>
            <a:pPr marL="0" indent="0" algn="ctr">
              <a:buNone/>
            </a:pPr>
            <a:r>
              <a:rPr lang="en-US" sz="1400" b="1" dirty="0">
                <a:solidFill>
                  <a:srgbClr val="091F2C"/>
                </a:solidFill>
                <a:latin typeface="Segoe UI" pitchFamily="34" charset="0"/>
                <a:ea typeface="Segoe UI" pitchFamily="34" charset="-122"/>
                <a:cs typeface="Segoe UI" pitchFamily="34" charset="-120"/>
              </a:rPr>
              <a:t>1</a:t>
            </a:r>
            <a:endParaRPr lang="en-US" sz="1400" dirty="0"/>
          </a:p>
        </p:txBody>
      </p:sp>
      <p:sp>
        <p:nvSpPr>
          <p:cNvPr id="24" name="Text 22"/>
          <p:cNvSpPr/>
          <p:nvPr/>
        </p:nvSpPr>
        <p:spPr>
          <a:xfrm>
            <a:off x="8412480" y="3063240"/>
            <a:ext cx="3108960" cy="32004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Executive sponsor</a:t>
            </a:r>
            <a:endParaRPr lang="en-US" sz="1200" dirty="0"/>
          </a:p>
        </p:txBody>
      </p:sp>
      <p:sp>
        <p:nvSpPr>
          <p:cNvPr id="25" name="Text 23"/>
          <p:cNvSpPr/>
          <p:nvPr/>
        </p:nvSpPr>
        <p:spPr>
          <a:xfrm>
            <a:off x="8412480" y="3383280"/>
            <a:ext cx="3108960" cy="365760"/>
          </a:xfrm>
          <a:prstGeom prst="rect">
            <a:avLst/>
          </a:prstGeom>
          <a:noFill/>
          <a:ln/>
        </p:spPr>
        <p:txBody>
          <a:bodyPr wrap="square" rtlCol="0" anchor="ctr"/>
          <a:lstStyle/>
          <a:p>
            <a:pPr marL="0" indent="0">
              <a:buNone/>
            </a:pPr>
            <a:r>
              <a:rPr lang="en-US" sz="1000" i="1" dirty="0">
                <a:solidFill>
                  <a:srgbClr val="F5E6F0"/>
                </a:solidFill>
                <a:latin typeface="Segoe UI" pitchFamily="34" charset="0"/>
                <a:ea typeface="Segoe UI" pitchFamily="34" charset="-122"/>
                <a:cs typeface="Segoe UI" pitchFamily="34" charset="-120"/>
              </a:rPr>
              <a:t>Group CIO or COO — not the AI lead</a:t>
            </a:r>
            <a:endParaRPr lang="en-US" sz="1000" dirty="0"/>
          </a:p>
        </p:txBody>
      </p:sp>
      <p:sp>
        <p:nvSpPr>
          <p:cNvPr id="26" name="Shape 24"/>
          <p:cNvSpPr/>
          <p:nvPr/>
        </p:nvSpPr>
        <p:spPr>
          <a:xfrm>
            <a:off x="7863840" y="3977640"/>
            <a:ext cx="411480" cy="411480"/>
          </a:xfrm>
          <a:prstGeom prst="ellipse">
            <a:avLst/>
          </a:prstGeom>
          <a:solidFill>
            <a:srgbClr val="C03BC4"/>
          </a:solidFill>
          <a:ln w="12700">
            <a:solidFill>
              <a:srgbClr val="C03BC4"/>
            </a:solidFill>
            <a:prstDash val="solid"/>
          </a:ln>
        </p:spPr>
        <p:txBody>
          <a:bodyPr/>
          <a:lstStyle/>
          <a:p>
            <a:endParaRPr lang="en-ZA"/>
          </a:p>
        </p:txBody>
      </p:sp>
      <p:sp>
        <p:nvSpPr>
          <p:cNvPr id="27" name="Text 25"/>
          <p:cNvSpPr/>
          <p:nvPr/>
        </p:nvSpPr>
        <p:spPr>
          <a:xfrm>
            <a:off x="7863840" y="3977640"/>
            <a:ext cx="411480" cy="411480"/>
          </a:xfrm>
          <a:prstGeom prst="rect">
            <a:avLst/>
          </a:prstGeom>
          <a:noFill/>
          <a:ln/>
        </p:spPr>
        <p:txBody>
          <a:bodyPr wrap="square" rtlCol="0" anchor="ctr"/>
          <a:lstStyle/>
          <a:p>
            <a:pPr marL="0" indent="0" algn="ctr">
              <a:buNone/>
            </a:pPr>
            <a:r>
              <a:rPr lang="en-US" sz="1400" b="1" dirty="0">
                <a:solidFill>
                  <a:srgbClr val="091F2C"/>
                </a:solidFill>
                <a:latin typeface="Segoe UI" pitchFamily="34" charset="0"/>
                <a:ea typeface="Segoe UI" pitchFamily="34" charset="-122"/>
                <a:cs typeface="Segoe UI" pitchFamily="34" charset="-120"/>
              </a:rPr>
              <a:t>2</a:t>
            </a:r>
            <a:endParaRPr lang="en-US" sz="1400" dirty="0"/>
          </a:p>
        </p:txBody>
      </p:sp>
      <p:sp>
        <p:nvSpPr>
          <p:cNvPr id="28" name="Text 26"/>
          <p:cNvSpPr/>
          <p:nvPr/>
        </p:nvSpPr>
        <p:spPr>
          <a:xfrm>
            <a:off x="8412480" y="3931920"/>
            <a:ext cx="3108960" cy="32004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Two or three priority business areas</a:t>
            </a:r>
            <a:endParaRPr lang="en-US" sz="1200" dirty="0"/>
          </a:p>
        </p:txBody>
      </p:sp>
      <p:sp>
        <p:nvSpPr>
          <p:cNvPr id="29" name="Text 27"/>
          <p:cNvSpPr/>
          <p:nvPr/>
        </p:nvSpPr>
        <p:spPr>
          <a:xfrm>
            <a:off x="8412480" y="4251960"/>
            <a:ext cx="3108960" cy="365760"/>
          </a:xfrm>
          <a:prstGeom prst="rect">
            <a:avLst/>
          </a:prstGeom>
          <a:noFill/>
          <a:ln/>
        </p:spPr>
        <p:txBody>
          <a:bodyPr wrap="square" rtlCol="0" anchor="ctr"/>
          <a:lstStyle/>
          <a:p>
            <a:pPr marL="0" indent="0">
              <a:buNone/>
            </a:pPr>
            <a:r>
              <a:rPr lang="en-US" sz="1000" i="1" dirty="0">
                <a:solidFill>
                  <a:srgbClr val="F5E6F0"/>
                </a:solidFill>
                <a:latin typeface="Segoe UI" pitchFamily="34" charset="0"/>
                <a:ea typeface="Segoe UI" pitchFamily="34" charset="-122"/>
                <a:cs typeface="Segoe UI" pitchFamily="34" charset="-120"/>
              </a:rPr>
              <a:t>Where pilot use cases will land first</a:t>
            </a:r>
            <a:endParaRPr lang="en-US" sz="1000" dirty="0"/>
          </a:p>
        </p:txBody>
      </p:sp>
      <p:sp>
        <p:nvSpPr>
          <p:cNvPr id="30" name="Shape 28"/>
          <p:cNvSpPr/>
          <p:nvPr/>
        </p:nvSpPr>
        <p:spPr>
          <a:xfrm>
            <a:off x="7863840" y="4846320"/>
            <a:ext cx="411480" cy="411480"/>
          </a:xfrm>
          <a:prstGeom prst="ellipse">
            <a:avLst/>
          </a:prstGeom>
          <a:solidFill>
            <a:srgbClr val="C03BC4"/>
          </a:solidFill>
          <a:ln w="12700">
            <a:solidFill>
              <a:srgbClr val="C03BC4"/>
            </a:solidFill>
            <a:prstDash val="solid"/>
          </a:ln>
        </p:spPr>
        <p:txBody>
          <a:bodyPr/>
          <a:lstStyle/>
          <a:p>
            <a:endParaRPr lang="en-ZA"/>
          </a:p>
        </p:txBody>
      </p:sp>
      <p:sp>
        <p:nvSpPr>
          <p:cNvPr id="31" name="Text 29"/>
          <p:cNvSpPr/>
          <p:nvPr/>
        </p:nvSpPr>
        <p:spPr>
          <a:xfrm>
            <a:off x="7863840" y="4846320"/>
            <a:ext cx="411480" cy="411480"/>
          </a:xfrm>
          <a:prstGeom prst="rect">
            <a:avLst/>
          </a:prstGeom>
          <a:noFill/>
          <a:ln/>
        </p:spPr>
        <p:txBody>
          <a:bodyPr wrap="square" rtlCol="0" anchor="ctr"/>
          <a:lstStyle/>
          <a:p>
            <a:pPr marL="0" indent="0" algn="ctr">
              <a:buNone/>
            </a:pPr>
            <a:r>
              <a:rPr lang="en-US" sz="1400" b="1" dirty="0">
                <a:solidFill>
                  <a:srgbClr val="091F2C"/>
                </a:solidFill>
                <a:latin typeface="Segoe UI" pitchFamily="34" charset="0"/>
                <a:ea typeface="Segoe UI" pitchFamily="34" charset="-122"/>
                <a:cs typeface="Segoe UI" pitchFamily="34" charset="-120"/>
              </a:rPr>
              <a:t>3</a:t>
            </a:r>
            <a:endParaRPr lang="en-US" sz="1400" dirty="0"/>
          </a:p>
        </p:txBody>
      </p:sp>
      <p:sp>
        <p:nvSpPr>
          <p:cNvPr id="32" name="Text 30"/>
          <p:cNvSpPr/>
          <p:nvPr/>
        </p:nvSpPr>
        <p:spPr>
          <a:xfrm>
            <a:off x="8412480" y="4800600"/>
            <a:ext cx="3108960" cy="32004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Procurement framework</a:t>
            </a:r>
            <a:endParaRPr lang="en-US" sz="1200" dirty="0"/>
          </a:p>
        </p:txBody>
      </p:sp>
      <p:sp>
        <p:nvSpPr>
          <p:cNvPr id="33" name="Text 31"/>
          <p:cNvSpPr/>
          <p:nvPr/>
        </p:nvSpPr>
        <p:spPr>
          <a:xfrm>
            <a:off x="8412480" y="5120640"/>
            <a:ext cx="3108960" cy="365760"/>
          </a:xfrm>
          <a:prstGeom prst="rect">
            <a:avLst/>
          </a:prstGeom>
          <a:noFill/>
          <a:ln/>
        </p:spPr>
        <p:txBody>
          <a:bodyPr wrap="square" rtlCol="0" anchor="ctr"/>
          <a:lstStyle/>
          <a:p>
            <a:pPr marL="0" indent="0">
              <a:buNone/>
            </a:pPr>
            <a:r>
              <a:rPr lang="en-US" sz="1000" i="1" dirty="0">
                <a:solidFill>
                  <a:srgbClr val="F5E6F0"/>
                </a:solidFill>
                <a:latin typeface="Segoe UI" pitchFamily="34" charset="0"/>
                <a:ea typeface="Segoe UI" pitchFamily="34" charset="-122"/>
                <a:cs typeface="Segoe UI" pitchFamily="34" charset="-120"/>
              </a:rPr>
              <a:t>So the partner shortlist lands inside your supplier process</a:t>
            </a:r>
            <a:endParaRPr lang="en-US" sz="1000" dirty="0"/>
          </a:p>
        </p:txBody>
      </p:sp>
      <p:sp>
        <p:nvSpPr>
          <p:cNvPr id="34" name="Text 32"/>
          <p:cNvSpPr/>
          <p:nvPr/>
        </p:nvSpPr>
        <p:spPr>
          <a:xfrm>
            <a:off x="548640" y="6035040"/>
            <a:ext cx="10972800" cy="274320"/>
          </a:xfrm>
          <a:prstGeom prst="rect">
            <a:avLst/>
          </a:prstGeom>
          <a:noFill/>
          <a:ln/>
        </p:spPr>
        <p:txBody>
          <a:bodyPr wrap="square" rtlCol="0" anchor="ctr"/>
          <a:lstStyle/>
          <a:p>
            <a:pPr marL="0" indent="0" algn="ctr">
              <a:buNone/>
            </a:pPr>
            <a:r>
              <a:rPr lang="en-US" sz="1300" b="1" dirty="0">
                <a:solidFill>
                  <a:srgbClr val="FFB900"/>
                </a:solidFill>
                <a:latin typeface="Segoe UI" pitchFamily="34" charset="0"/>
                <a:ea typeface="Segoe UI" pitchFamily="34" charset="-122"/>
                <a:cs typeface="Segoe UI" pitchFamily="34" charset="-120"/>
              </a:rPr>
              <a:t>Microsoft funded.  Outcome anchored.  Four weeks to start.</a:t>
            </a:r>
            <a:endParaRPr lang="en-US" sz="1300" dirty="0"/>
          </a:p>
        </p:txBody>
      </p:sp>
      <p:pic>
        <p:nvPicPr>
          <p:cNvPr id="35"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6" name="Text 33"/>
          <p:cNvSpPr/>
          <p:nvPr/>
        </p:nvSpPr>
        <p:spPr>
          <a:xfrm>
            <a:off x="640080" y="6492240"/>
            <a:ext cx="82296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Prepared for Eskom executive briefing  ·  Confidential</a:t>
            </a:r>
            <a:endParaRPr lang="en-US" sz="900" dirty="0"/>
          </a:p>
        </p:txBody>
      </p:sp>
      <p:sp>
        <p:nvSpPr>
          <p:cNvPr id="37" name="Text 34"/>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10 / 10</a:t>
            </a:r>
            <a:endParaRPr lang="en-US" sz="900" dirty="0"/>
          </a:p>
        </p:txBody>
      </p:sp>
      <p:sp>
        <p:nvSpPr>
          <p:cNvPr id="38" name="AICOE_GEO_ACCENT_Right Triangle 37"/>
          <p:cNvSpPr/>
          <p:nvPr/>
        </p:nvSpPr>
        <p:spPr>
          <a:xfrm rot="5400000">
            <a:off x="11762232"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ICOE_GEO_ACCENT_Right Triangle 38"/>
          <p:cNvSpPr/>
          <p:nvPr/>
        </p:nvSpPr>
        <p:spPr>
          <a:xfrm rot="5400000">
            <a:off x="11874246"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3620</Words>
  <Application>Microsoft Office PowerPoint</Application>
  <PresentationFormat>Widescreen</PresentationFormat>
  <Paragraphs>238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Centre of Excellence — Eskom Executive Briefing</dc:title>
  <dc:subject>PptxGenJS Presentation</dc:subject>
  <dc:creator>Yuri Baijnath</dc:creator>
  <cp:lastModifiedBy>Yuri Baijnath</cp:lastModifiedBy>
  <cp:revision>2</cp:revision>
  <dcterms:created xsi:type="dcterms:W3CDTF">2026-05-12T06:09:53Z</dcterms:created>
  <dcterms:modified xsi:type="dcterms:W3CDTF">2026-05-12T06:36:09Z</dcterms:modified>
</cp:coreProperties>
</file>