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/>
              <a:t>Opening. Frame the 25 minutes: we will not present 5+1 pillars. We will present a 3x3 moat (three AI surfaces times three funding streams) that only Microsoft can fill in RSA, and the four asks that turn ambition into a funded programme. Confirm the named exec sponsor in the 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/>
              <a:t>The core slide. Walk the grid left-to-right: M365 Copilot, Copilot Studio, Azure AI Foundry. Then top-to-bottom on the funding streams: MCAPS-sponsored landing, zero-cost Factory, partner build-run via MAICPP. Land that no hyperscaler or SI fills all nine cells in RSA. This is the moat.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/>
              <a:t>Show the funding spine. For every $1 of ACR commitment, Microsoft plus partner-funded delivery returns $3-5 in landed value through ECIF, MCI, MAICPP and Factory hours. ATO is not a discount; it is the engine that funds the first three production use cases.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/>
              <a:t>One CoE, three surfaces, three streams, four gates (G1 Envision, G2 Pre-pilot, G3 Pre-production, G4 Attestation). Emphasise the gates: every use case is registered, impact-assessed, RAI-controlled, and quarterly-attested. This is how we scale without losing the plot on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/>
              <a:t>Close with the four asks. We do not need a strategy phase. We need: one named exec sponsor; one measurable baseline; one Azure Consumption commitment to anchor ATO; one 90-day window to ship outcomes. If the room can commit to those four asks today, we send the engagement letter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320040" cy="201168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377440"/>
            <a:ext cx="164592" cy="201168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100584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Segoe UI"/>
              </a:rPr>
              <a:t>Microsoft AI Center of Excellence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108960"/>
            <a:ext cx="1005840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00" b="0">
                <a:solidFill>
                  <a:srgbClr val="50E6FF"/>
                </a:solidFill>
                <a:latin typeface="Segoe UI"/>
              </a:rPr>
              <a:t>for South Africa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2336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Segoe UI"/>
              </a:rPr>
              <a:t>Three AI surfaces. Three funding streams. One operating model.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52160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50E6FF"/>
                </a:solidFill>
                <a:latin typeface="Segoe UI"/>
              </a:rPr>
              <a:t>Yuri Baijnath — CSU Cloud &amp; AI Lead (South Africa), Microsoft  ·  2026-06-03</a:t>
            </a:r>
          </a:p>
        </p:txBody>
      </p:sp>
      <p:sp>
        <p:nvSpPr>
          <p:cNvPr id="9" name="AICOE_GEO_ACCENT_Right Triangle 8"/>
          <p:cNvSpPr/>
          <p:nvPr/>
        </p:nvSpPr>
        <p:spPr>
          <a:xfrm>
            <a:off x="11368735" y="445770"/>
            <a:ext cx="822960" cy="822960"/>
          </a:xfrm>
          <a:prstGeom prst="rtTriangl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AICOE_GEO_ACCENT_Right Triangle 9"/>
          <p:cNvSpPr/>
          <p:nvPr/>
        </p:nvSpPr>
        <p:spPr>
          <a:xfrm rot="10800000">
            <a:off x="11368735" y="2160270"/>
            <a:ext cx="822960" cy="822960"/>
          </a:xfrm>
          <a:prstGeom prst="rtTriangle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ICOE_GEO_ACCENT_Right Triangle 10"/>
          <p:cNvSpPr/>
          <p:nvPr/>
        </p:nvSpPr>
        <p:spPr>
          <a:xfrm>
            <a:off x="11368735" y="3874770"/>
            <a:ext cx="822960" cy="822960"/>
          </a:xfrm>
          <a:prstGeom prst="rtTriangle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AICOE_GEO_ACCENT_Right Triangle 11"/>
          <p:cNvSpPr/>
          <p:nvPr/>
        </p:nvSpPr>
        <p:spPr>
          <a:xfrm rot="5400000">
            <a:off x="11368735" y="5589270"/>
            <a:ext cx="822960" cy="822960"/>
          </a:xfrm>
          <a:prstGeom prst="rtTriangle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AICOE_GEO_ACCENT_Rectangle 12"/>
          <p:cNvSpPr/>
          <p:nvPr/>
        </p:nvSpPr>
        <p:spPr>
          <a:xfrm>
            <a:off x="11295583" y="0"/>
            <a:ext cx="73152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Segoe UI"/>
              </a:rPr>
              <a:t>The moat: three surfaces × three streams = nine cells only Microsoft can fill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828800" cy="64008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0" y="1005840"/>
            <a:ext cx="3246120" cy="64008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31720" y="1051560"/>
            <a:ext cx="315468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MCAPS-sponsored
(landing &amp; enable)</a:t>
            </a:r>
          </a:p>
        </p:txBody>
      </p:sp>
      <p:sp>
        <p:nvSpPr>
          <p:cNvPr id="8" name="Rectangle 7"/>
          <p:cNvSpPr/>
          <p:nvPr/>
        </p:nvSpPr>
        <p:spPr>
          <a:xfrm>
            <a:off x="5532120" y="1005840"/>
            <a:ext cx="3246120" cy="64008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0" y="1051560"/>
            <a:ext cx="315468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Factory zero-cost
(F1–F10 build)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778240" y="1005840"/>
            <a:ext cx="3246120" cy="64008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23960" y="1051560"/>
            <a:ext cx="315468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Partner build-run
(MAICPP scale)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645920"/>
            <a:ext cx="1828800" cy="155448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691640"/>
            <a:ext cx="1737360" cy="1463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M365 Copilot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0" y="1645920"/>
            <a:ext cx="3246120" cy="1554480"/>
          </a:xfrm>
          <a:prstGeom prst="rect">
            <a:avLst/>
          </a:prstGeom>
          <a:solidFill>
            <a:srgbClr val="EAF4FB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77440" y="1737360"/>
            <a:ext cx="3063240" cy="1371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0">
                <a:solidFill>
                  <a:srgbClr val="202020"/>
                </a:solidFill>
                <a:latin typeface="Segoe UI"/>
              </a:rPr>
              <a:t>Copilot Adoption
Acceleration ECIF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532120" y="1645920"/>
            <a:ext cx="3246120" cy="1554480"/>
          </a:xfrm>
          <a:prstGeom prst="rect">
            <a:avLst/>
          </a:prstGeom>
          <a:solidFill>
            <a:srgbClr val="EAF4FB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23560" y="1737360"/>
            <a:ext cx="3063240" cy="1371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0">
                <a:solidFill>
                  <a:srgbClr val="202020"/>
                </a:solidFill>
                <a:latin typeface="Segoe UI"/>
              </a:rPr>
              <a:t>F3 SOE rollout +
F7 governance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778240" y="1645920"/>
            <a:ext cx="3246120" cy="1554480"/>
          </a:xfrm>
          <a:prstGeom prst="rect">
            <a:avLst/>
          </a:prstGeom>
          <a:solidFill>
            <a:srgbClr val="EAF4FB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0" y="1737360"/>
            <a:ext cx="3063240" cy="1371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0">
                <a:solidFill>
                  <a:srgbClr val="202020"/>
                </a:solidFill>
                <a:latin typeface="Segoe UI"/>
              </a:rPr>
              <a:t>Partner-led change
&amp; measurement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200400"/>
            <a:ext cx="1828800" cy="155448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246120"/>
            <a:ext cx="1737360" cy="1463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Copilot Studio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86000" y="3200400"/>
            <a:ext cx="324612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77440" y="3291840"/>
            <a:ext cx="3063240" cy="1371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0">
                <a:solidFill>
                  <a:srgbClr val="202020"/>
                </a:solidFill>
                <a:latin typeface="Segoe UI"/>
              </a:rPr>
              <a:t>Agent envisioning
(ACO funded)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532120" y="3200400"/>
            <a:ext cx="324612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23560" y="3291840"/>
            <a:ext cx="3063240" cy="1371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0">
                <a:solidFill>
                  <a:srgbClr val="202020"/>
                </a:solidFill>
                <a:latin typeface="Segoe UI"/>
              </a:rPr>
              <a:t>F4 Studio agent
factory pattern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78240" y="3200400"/>
            <a:ext cx="324612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69680" y="3291840"/>
            <a:ext cx="3063240" cy="1371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0">
                <a:solidFill>
                  <a:srgbClr val="202020"/>
                </a:solidFill>
                <a:latin typeface="Segoe UI"/>
              </a:rPr>
              <a:t>Partner agent
build-and-run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754880"/>
            <a:ext cx="1828800" cy="155448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4800600"/>
            <a:ext cx="1737360" cy="1463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0B1F3A"/>
                </a:solidFill>
                <a:latin typeface="Segoe UI"/>
              </a:rPr>
              <a:t>Azure AI Foundry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86000" y="4754880"/>
            <a:ext cx="3246120" cy="1554480"/>
          </a:xfrm>
          <a:prstGeom prst="rect">
            <a:avLst/>
          </a:prstGeom>
          <a:solidFill>
            <a:srgbClr val="EAF4FB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77440" y="4846320"/>
            <a:ext cx="3063240" cy="1371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0">
                <a:solidFill>
                  <a:srgbClr val="202020"/>
                </a:solidFill>
                <a:latin typeface="Segoe UI"/>
              </a:rPr>
              <a:t>Foundry envisioning
+ landing zone (ACO)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32120" y="4754880"/>
            <a:ext cx="3246120" cy="1554480"/>
          </a:xfrm>
          <a:prstGeom prst="rect">
            <a:avLst/>
          </a:prstGeom>
          <a:solidFill>
            <a:srgbClr val="EAF4FB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23560" y="4846320"/>
            <a:ext cx="3063240" cy="1371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0">
                <a:solidFill>
                  <a:srgbClr val="202020"/>
                </a:solidFill>
                <a:latin typeface="Segoe UI"/>
              </a:rPr>
              <a:t>F5 Foundry pattern
+ F8 eval harness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778240" y="4754880"/>
            <a:ext cx="3246120" cy="1554480"/>
          </a:xfrm>
          <a:prstGeom prst="rect">
            <a:avLst/>
          </a:prstGeom>
          <a:solidFill>
            <a:srgbClr val="EAF4FB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69680" y="4846320"/>
            <a:ext cx="3063240" cy="1371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0">
                <a:solidFill>
                  <a:srgbClr val="202020"/>
                </a:solidFill>
                <a:latin typeface="Segoe UI"/>
              </a:rPr>
              <a:t>Partner build-run
MAICPP commitment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598932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0B1F3A"/>
                </a:solidFill>
                <a:latin typeface="Segoe UI"/>
              </a:rPr>
              <a:t>No hyperscaler controls all three surfaces. No SI controls all three streams. The grid is the moat.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6556248"/>
            <a:ext cx="11460175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Segoe UI"/>
              </a:rPr>
              <a:t>AI CoE | The moat grid (anchor)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62895" y="6556248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>
                <a:solidFill>
                  <a:srgbClr val="50E6FF"/>
                </a:solidFill>
                <a:latin typeface="Segoe UI"/>
              </a:rPr>
              <a:t>Microsoft Confidential</a:t>
            </a:r>
          </a:p>
        </p:txBody>
      </p:sp>
      <p:sp>
        <p:nvSpPr>
          <p:cNvPr id="40" name="AICOE_GEO_ACCENT_Right Triangle 39"/>
          <p:cNvSpPr/>
          <p:nvPr/>
        </p:nvSpPr>
        <p:spPr>
          <a:xfrm rot="5400000">
            <a:off x="11761927" y="109728"/>
            <a:ext cx="320040" cy="320040"/>
          </a:xfrm>
          <a:prstGeom prst="rtTriangl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AICOE_GEO_ACCENT_Right Triangle 40"/>
          <p:cNvSpPr/>
          <p:nvPr/>
        </p:nvSpPr>
        <p:spPr>
          <a:xfrm rot="5400000">
            <a:off x="11873941" y="109728"/>
            <a:ext cx="208026" cy="208026"/>
          </a:xfrm>
          <a:prstGeom prst="rtTriangle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Segoe UI"/>
              </a:rPr>
              <a:t>ATO economics — the funding spine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Segoe UI"/>
              </a:rPr>
              <a:t>One Azure Consumption commitment unlocks funded landing, funded factory, and funded first three production use-cases.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737360"/>
            <a:ext cx="3657600" cy="23774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3474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00" b="0">
                <a:solidFill>
                  <a:srgbClr val="50E6FF"/>
                </a:solidFill>
                <a:latin typeface="Segoe UI"/>
              </a:rPr>
              <a:t>Customer commits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3474720" cy="10972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8800" b="1">
                <a:solidFill>
                  <a:srgbClr val="FFFFFF"/>
                </a:solidFill>
                <a:latin typeface="Segoe UI"/>
              </a:rPr>
              <a:t>$1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74720"/>
            <a:ext cx="3474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00" b="0">
                <a:solidFill>
                  <a:srgbClr val="50E6FF"/>
                </a:solidFill>
                <a:latin typeface="Segoe UI"/>
              </a:rPr>
              <a:t>of ACR commitment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2743200"/>
            <a:ext cx="365760" cy="36576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0" y="2743200"/>
            <a:ext cx="3657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Segoe UI"/>
              </a:rPr>
              <a:t>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46320" y="1737360"/>
            <a:ext cx="6858000" cy="23774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0" y="1828800"/>
            <a:ext cx="64922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0B1F3A"/>
                </a:solidFill>
                <a:latin typeface="Segoe UI"/>
              </a:rPr>
              <a:t>Microsoft + partner-funded delivery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286000"/>
            <a:ext cx="6492240" cy="10972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6600" b="1">
                <a:solidFill>
                  <a:srgbClr val="0067B8"/>
                </a:solidFill>
                <a:latin typeface="Segoe UI"/>
              </a:rPr>
              <a:t>$3 – $5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3520440"/>
            <a:ext cx="64922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0">
                <a:solidFill>
                  <a:srgbClr val="202020"/>
                </a:solidFill>
                <a:latin typeface="Segoe UI"/>
              </a:rPr>
              <a:t>of envisioning, landing zone, factory builds, change &amp; adoption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3891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0B1F3A"/>
                </a:solidFill>
                <a:latin typeface="Segoe UI"/>
              </a:rPr>
              <a:t>Instruments stacked behind the ATO: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46320"/>
            <a:ext cx="27432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892040"/>
            <a:ext cx="2560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>
                <a:solidFill>
                  <a:srgbClr val="0067B8"/>
                </a:solidFill>
                <a:latin typeface="Segoe UI"/>
              </a:rPr>
              <a:t>ECIF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257800"/>
            <a:ext cx="256032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202020"/>
                </a:solidFill>
                <a:latin typeface="Segoe UI"/>
              </a:rPr>
              <a:t>Envisioning, pilot, adoption acceleration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37560" y="4846320"/>
            <a:ext cx="27432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29000" y="4892040"/>
            <a:ext cx="2560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>
                <a:solidFill>
                  <a:srgbClr val="0067B8"/>
                </a:solidFill>
                <a:latin typeface="Segoe UI"/>
              </a:rPr>
              <a:t>MAICPP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29000" y="5257800"/>
            <a:ext cx="256032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202020"/>
                </a:solidFill>
                <a:latin typeface="Segoe UI"/>
              </a:rPr>
              <a:t>Partner build-and-run subsidy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4846320"/>
            <a:ext cx="27432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892040"/>
            <a:ext cx="2560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>
                <a:solidFill>
                  <a:srgbClr val="0067B8"/>
                </a:solidFill>
                <a:latin typeface="Segoe UI"/>
              </a:rPr>
              <a:t>ACO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5257800"/>
            <a:ext cx="256032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202020"/>
                </a:solidFill>
                <a:latin typeface="Segoe UI"/>
              </a:rPr>
              <a:t>Azure Consumption commitment offset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98280" y="4846320"/>
            <a:ext cx="27432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89720" y="4892040"/>
            <a:ext cx="2560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>
                <a:solidFill>
                  <a:srgbClr val="0067B8"/>
                </a:solidFill>
                <a:latin typeface="Segoe UI"/>
              </a:rPr>
              <a:t>SA / CF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20" y="5257800"/>
            <a:ext cx="256032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202020"/>
                </a:solidFill>
                <a:latin typeface="Segoe UI"/>
              </a:rPr>
              <a:t>Strategic Architect / Customer Factory IP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6556248"/>
            <a:ext cx="11460175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Segoe UI"/>
              </a:rPr>
              <a:t>AI CoE | ATO economics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62895" y="6556248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>
                <a:solidFill>
                  <a:srgbClr val="50E6FF"/>
                </a:solidFill>
                <a:latin typeface="Segoe UI"/>
              </a:rPr>
              <a:t>Microsoft Confidential</a:t>
            </a:r>
          </a:p>
        </p:txBody>
      </p:sp>
      <p:sp>
        <p:nvSpPr>
          <p:cNvPr id="32" name="AICOE_GEO_ACCENT_Right Triangle 31"/>
          <p:cNvSpPr/>
          <p:nvPr/>
        </p:nvSpPr>
        <p:spPr>
          <a:xfrm rot="5400000">
            <a:off x="11761927" y="109728"/>
            <a:ext cx="320040" cy="320040"/>
          </a:xfrm>
          <a:prstGeom prst="rtTriangl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AICOE_GEO_ACCENT_Right Triangle 32"/>
          <p:cNvSpPr/>
          <p:nvPr/>
        </p:nvSpPr>
        <p:spPr>
          <a:xfrm rot="5400000">
            <a:off x="11873941" y="109728"/>
            <a:ext cx="208026" cy="208026"/>
          </a:xfrm>
          <a:prstGeom prst="rtTriangle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Segoe UI"/>
              </a:rPr>
              <a:t>The operating model — one CoE, three surfaces, three streams, four gates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27448" y="2926080"/>
            <a:ext cx="2743200" cy="1463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27448" y="3017520"/>
            <a:ext cx="27432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Segoe UI"/>
              </a:rPr>
              <a:t>AI CoE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27448" y="3566160"/>
            <a:ext cx="27432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0">
                <a:solidFill>
                  <a:srgbClr val="50E6FF"/>
                </a:solidFill>
                <a:latin typeface="Segoe UI"/>
              </a:rPr>
              <a:t>charter • RACI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27448" y="3931920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50E6FF"/>
                </a:solidFill>
                <a:latin typeface="Segoe UI"/>
              </a:rPr>
              <a:t>quarterly attestation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1097280"/>
            <a:ext cx="2743200" cy="91440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188720"/>
            <a:ext cx="274320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M365 Copilot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1097280"/>
            <a:ext cx="2743200" cy="91440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0" y="1188720"/>
            <a:ext cx="274320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Copilot Studio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0" y="1097280"/>
            <a:ext cx="2743200" cy="91440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0" y="1188720"/>
            <a:ext cx="274320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0B1F3A"/>
                </a:solidFill>
                <a:latin typeface="Segoe UI"/>
              </a:rPr>
              <a:t>Foundry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743200"/>
            <a:ext cx="2560320" cy="502920"/>
          </a:xfrm>
          <a:prstGeom prst="rect">
            <a:avLst/>
          </a:prstGeom>
          <a:solidFill>
            <a:srgbClr val="EAF4FB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788920"/>
            <a:ext cx="23774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0B1F3A"/>
                </a:solidFill>
                <a:latin typeface="Segoe UI"/>
              </a:rPr>
              <a:t>$ MCAPS-sponsored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83280"/>
            <a:ext cx="2560320" cy="502920"/>
          </a:xfrm>
          <a:prstGeom prst="rect">
            <a:avLst/>
          </a:prstGeom>
          <a:solidFill>
            <a:srgbClr val="EAF4FB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429000"/>
            <a:ext cx="23774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0B1F3A"/>
                </a:solidFill>
                <a:latin typeface="Segoe UI"/>
              </a:rPr>
              <a:t>$ Factory zero-cost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023360"/>
            <a:ext cx="2560320" cy="502920"/>
          </a:xfrm>
          <a:prstGeom prst="rect">
            <a:avLst/>
          </a:prstGeom>
          <a:solidFill>
            <a:srgbClr val="EAF4FB"/>
          </a:solidFill>
          <a:ln w="9525">
            <a:solidFill>
              <a:srgbClr val="006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069080"/>
            <a:ext cx="23774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0B1F3A"/>
                </a:solidFill>
                <a:latin typeface="Segoe UI"/>
              </a:rPr>
              <a:t>$ Partner build-run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0" y="2560320"/>
            <a:ext cx="2560320" cy="502920"/>
          </a:xfrm>
          <a:prstGeom prst="rect">
            <a:avLst/>
          </a:prstGeom>
          <a:solidFill>
            <a:srgbClr val="EAF4FB"/>
          </a:solidFill>
          <a:ln w="9525">
            <a:solidFill>
              <a:srgbClr val="742A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0" y="2606040"/>
            <a:ext cx="23774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742A9B"/>
                </a:solidFill>
                <a:latin typeface="Segoe UI"/>
              </a:rPr>
              <a:t>⚑ G1 Envision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0" y="3154679"/>
            <a:ext cx="2560320" cy="502920"/>
          </a:xfrm>
          <a:prstGeom prst="rect">
            <a:avLst/>
          </a:prstGeom>
          <a:solidFill>
            <a:srgbClr val="EAF4FB"/>
          </a:solidFill>
          <a:ln w="9525">
            <a:solidFill>
              <a:srgbClr val="742A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3200399"/>
            <a:ext cx="23774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742A9B"/>
                </a:solidFill>
                <a:latin typeface="Segoe UI"/>
              </a:rPr>
              <a:t>⚑ G2 Pre-pilot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0" y="3749039"/>
            <a:ext cx="2560320" cy="502920"/>
          </a:xfrm>
          <a:prstGeom prst="rect">
            <a:avLst/>
          </a:prstGeom>
          <a:solidFill>
            <a:srgbClr val="EAF4FB"/>
          </a:solidFill>
          <a:ln w="9525">
            <a:solidFill>
              <a:srgbClr val="742A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0" y="3794759"/>
            <a:ext cx="23774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742A9B"/>
                </a:solidFill>
                <a:latin typeface="Segoe UI"/>
              </a:rPr>
              <a:t>⚑ G3 Pre-prod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0" y="4343400"/>
            <a:ext cx="2560320" cy="502920"/>
          </a:xfrm>
          <a:prstGeom prst="rect">
            <a:avLst/>
          </a:prstGeom>
          <a:solidFill>
            <a:srgbClr val="EAF4FB"/>
          </a:solidFill>
          <a:ln w="9525">
            <a:solidFill>
              <a:srgbClr val="742A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0" y="4389120"/>
            <a:ext cx="237744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742A9B"/>
                </a:solidFill>
                <a:latin typeface="Segoe UI"/>
              </a:rPr>
              <a:t>⚑ G4 Attestation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85216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0B1F3A"/>
                </a:solidFill>
                <a:latin typeface="Segoe UI"/>
              </a:rPr>
              <a:t>Three surfaces deliver. Three streams fund. Four gates govern. One CoE owns the spine.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6556248"/>
            <a:ext cx="11460175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Segoe UI"/>
              </a:rPr>
              <a:t>AI CoE | Operating model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62895" y="6556248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>
                <a:solidFill>
                  <a:srgbClr val="50E6FF"/>
                </a:solidFill>
                <a:latin typeface="Segoe UI"/>
              </a:rPr>
              <a:t>Microsoft Confidential</a:t>
            </a:r>
          </a:p>
        </p:txBody>
      </p:sp>
      <p:sp>
        <p:nvSpPr>
          <p:cNvPr id="33" name="AICOE_GEO_ACCENT_Right Triangle 32"/>
          <p:cNvSpPr/>
          <p:nvPr/>
        </p:nvSpPr>
        <p:spPr>
          <a:xfrm rot="5400000">
            <a:off x="11761927" y="109728"/>
            <a:ext cx="320040" cy="320040"/>
          </a:xfrm>
          <a:prstGeom prst="rtTriangl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AICOE_GEO_ACCENT_Right Triangle 33"/>
          <p:cNvSpPr/>
          <p:nvPr/>
        </p:nvSpPr>
        <p:spPr>
          <a:xfrm rot="5400000">
            <a:off x="11873941" y="109728"/>
            <a:ext cx="208026" cy="208026"/>
          </a:xfrm>
          <a:prstGeom prst="rtTriangle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Segoe UI"/>
              </a:rPr>
              <a:t>What we ask of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>
                <a:solidFill>
                  <a:srgbClr val="50E6FF"/>
                </a:solidFill>
                <a:latin typeface="Segoe UI"/>
              </a:rPr>
              <a:t>Four asks. Nothing else needed to start.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822960" cy="82296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82296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331720"/>
            <a:ext cx="100584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One named executive sponsor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743200"/>
            <a:ext cx="100584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50E6FF"/>
                </a:solidFill>
                <a:latin typeface="Segoe UI"/>
              </a:rPr>
              <a:t>C-suite or direct report. Owns the AI CoE charter end-to-end.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154680"/>
            <a:ext cx="822960" cy="82296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3154680"/>
            <a:ext cx="82296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200400"/>
            <a:ext cx="100584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One measurable baseline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611880"/>
            <a:ext cx="100584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50E6FF"/>
                </a:solidFill>
                <a:latin typeface="Segoe UI"/>
              </a:rPr>
              <a:t>Cycle time, cost-to-serve, or FTE-hours per unit on the chosen workload.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023360"/>
            <a:ext cx="822960" cy="82296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023360"/>
            <a:ext cx="82296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4069080"/>
            <a:ext cx="100584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One signed ATO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4480560"/>
            <a:ext cx="100584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50E6FF"/>
                </a:solidFill>
                <a:latin typeface="Segoe UI"/>
              </a:rPr>
              <a:t>Azure Consumption commitment. Unlocks the funded landing zone and first three use-cases.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92040"/>
            <a:ext cx="822960" cy="82296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92040"/>
            <a:ext cx="82296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937760"/>
            <a:ext cx="100584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One quarterly review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5349240"/>
            <a:ext cx="100584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50E6FF"/>
                </a:solidFill>
                <a:latin typeface="Segoe UI"/>
              </a:rPr>
              <a:t>Sponsor + CISO + Internal Audit. Attestation evidence sampled and signed.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03504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Next step: a 90-minute envisioning workshop. We bring the surfaces, the streams, and a draft charter.</a:t>
            </a:r>
          </a:p>
        </p:txBody>
      </p:sp>
      <p:sp>
        <p:nvSpPr>
          <p:cNvPr id="22" name="AICOE_GEO_ACCENT_Right Triangle 21"/>
          <p:cNvSpPr/>
          <p:nvPr/>
        </p:nvSpPr>
        <p:spPr>
          <a:xfrm rot="5400000">
            <a:off x="11761927" y="109728"/>
            <a:ext cx="320040" cy="320040"/>
          </a:xfrm>
          <a:prstGeom prst="rtTriangl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AICOE_GEO_ACCENT_Right Triangle 22"/>
          <p:cNvSpPr/>
          <p:nvPr/>
        </p:nvSpPr>
        <p:spPr>
          <a:xfrm rot="5400000">
            <a:off x="11873941" y="109728"/>
            <a:ext cx="208026" cy="208026"/>
          </a:xfrm>
          <a:prstGeom prst="rtTriangle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