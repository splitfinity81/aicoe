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AI Center of Excellence | Mining (RSA)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78992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AI for safety, ESG reporting, and predictive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0">
                <a:solidFill>
                  <a:srgbClr val="EAF4FB"/>
                </a:solidFill>
                <a:latin typeface="Segoe UI"/>
              </a:rPr>
              <a:t>Executive briefing | 9 slides | Internal seller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EAF4FB"/>
                </a:solidFill>
                <a:latin typeface="Segoe UI"/>
              </a:rPr>
              <a:t>Yuri Baijnath - CSU Cloud &amp; AI Lead (South Africa), Microsoft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Version 1.0 | 2026-06-03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1 / 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2. Sector context | what's driving AI in this market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RSA mining: MHSA-driven safety obligation, ESG-driven disclosure obligation, capex-heavy operations where prediction is leverage.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MHSA safety regime makes every incident regulator-actionable - AI must support, not replace, the SHE function.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ESG disclosure (JSE + GRI + ISSB) is now data-intensive; AI co-pilots for sustainability reporting are board-priority.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Predictive maintenance on haul trucks + crushers is the highest-ROI operations AI use-case.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Geological reasoning agents over historical core + assay data shorten exploration cycles.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Workforce safety: edge AI for hazard detection (PPE, exclusion zones) is mature; cloud is for reasoning + reporting.</a:t>
            </a:r>
          </a:p>
          <a:p>
            <a:pPr algn="l">
              <a:spcAft>
                <a:spcPts val="400"/>
              </a:spcAft>
            </a:pPr>
            <a:r>
              <a:rPr sz="1400">
                <a:solidFill>
                  <a:srgbClr val="0B1F3A"/>
                </a:solidFill>
                <a:latin typeface="Segoe UI"/>
              </a:rPr>
              <a:t>•  DMRE oversight is data-driven - regulator engagement increasingly relies on auditable submissions.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2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3. Regulators &amp; frameworks | what governs the AI use-case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566928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Sector regulators (RSA)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DMRE (Department of Mineral Resources &amp; Energy)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MHSA (Mine Health &amp; Safety Act) - DMR Inspectorate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AGSA - if state-affiliated entity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DFFE - environmental authorisation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Information Regulator - POPIA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JSE / ISSB - sustainability disclosure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822960"/>
            <a:ext cx="566928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877824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Cross-cutting frameworks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137160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RAI v2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ISO/IEC 42001:2023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ISO 45001 + 14001 (SHE)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GRI Standards + ISSB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NIST AI RMF 1.0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Microsoft Industry Cloud (Sustainability + Mining patterns)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3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4. Top 3 named AI use-cases for this sector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3749039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Safety &amp; ESG reporting co-pilot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M365 Copilot + Foundry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Reporting cycle 60% faster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Synthesise incident + observation data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Draft DMRE submissions with citations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GRI / ISSB-aligned narrative drafting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Trend reasoning over 12-month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Reasoning trace; SHE-officer HITL; Purview AI Hub log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59" y="822960"/>
            <a:ext cx="3749039" cy="54864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399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Segoe UI"/>
              </a:rPr>
              <a:t>Predictive maintenance reasoning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Foundry + IoT + Fabric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Unplanned downtime -25%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19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Telemetry pattern synthesis (vibration / heat / load)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Failure-mode hypothesis with confidence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Work-order draft for planner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Spares pre-positioning recommendation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19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19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HITL on shutdown decision; Defender posture; cost guard-rails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38158" y="822960"/>
            <a:ext cx="3749039" cy="54864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598" y="886968"/>
            <a:ext cx="356615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  <a:latin typeface="Segoe UI"/>
              </a:rPr>
              <a:t>Geological reasoning agent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58" y="1371600"/>
            <a:ext cx="3749039" cy="493776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18" y="14630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42A9B"/>
                </a:solidFill>
                <a:latin typeface="Segoe UI"/>
              </a:rPr>
              <a:t>Surface: Azure AI Foundry over IP-protected corpus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8" y="1920240"/>
            <a:ext cx="3474719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Value: Exploration cycle 30% shorter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8" y="246888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What it does: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8" y="2788920"/>
            <a:ext cx="3474719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Historical core + assay synthesis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Drill-target recommendation with rationale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Resource-classification co-pilot for CRIRSCO / SAMREC</a:t>
            </a:r>
          </a:p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Cross-tenement comparison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18" y="5120640"/>
            <a:ext cx="3474719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0B1F3A"/>
                </a:solidFill>
                <a:latin typeface="Segoe UI"/>
              </a:rPr>
              <a:t>Key controls: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8" y="5440680"/>
            <a:ext cx="3474719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000">
                <a:solidFill>
                  <a:srgbClr val="0B1F3A"/>
                </a:solidFill>
                <a:latin typeface="Segoe UI"/>
              </a:rPr>
              <a:t>•  IP-sensitive corpus in CMK-encrypted store; reasoning trace; restricted access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4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5. Sample reference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Five-layer reference: SHE + ops + geology surfaces over agents over telemetry + ERP + IP corpus.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Experience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280160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37560" y="1463040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M365 Copilot for SHE + reporting; Power Apps for incident capture; Teams for shift handover.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313432"/>
            <a:ext cx="2743200" cy="96012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87752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Orchestration / 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313432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2496312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Foundry agents for predictive + geological reasoning; Copilot Studio for SHE intents.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46704"/>
            <a:ext cx="2743200" cy="96012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621024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Reasoning &amp; retrieval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3346704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37560" y="3529584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gpt-4o for geological reasoning; gpt-4o-mini default; vector index over IP-protected corpus.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379976"/>
            <a:ext cx="2743200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654296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Data foundation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4379976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4562856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Fabric + Synapse + Event Hubs (IoT); SAP / ERP via APIM; CMK-encrypted IP corpus.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413248"/>
            <a:ext cx="2743200" cy="96012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687568"/>
            <a:ext cx="24688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Segoe UI"/>
              </a:rPr>
              <a:t>Governance &amp; security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5413248"/>
            <a:ext cx="8595360" cy="96012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37560" y="5596128"/>
            <a:ext cx="832104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Purview AI Hub; Defender for Cloud AI; MHSA + ISO 45001 + 14001 controls.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5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6. Sovereignty &amp; governance posture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  <a:latin typeface="Segoe UI"/>
              </a:rPr>
              <a:t>IP protection on geological data + MHSA on safety: sovereignty is operational, not optional.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SA North + SA West dual-region; geological IP in CMK-encrypted store with private endpoints.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Foundry data-zone scoping for SA-resident operational data.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Reasoning trace for DMRE + AGSA + audit firm review.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Defender for Cloud AI surfaces shadow-AI in engineering tools.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Quarterly attestation via the Impact Assessment workbook.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Air-gapped option (sovereign AI cloud) available for state-affiliated operators.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6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7. Engagement shape | ATO sizing &amp; funding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22960"/>
            <a:ext cx="256032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886968"/>
            <a:ext cx="25603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Phase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926080" y="822960"/>
            <a:ext cx="29260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17520" y="886968"/>
            <a:ext cx="29260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Vehicle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822960"/>
            <a:ext cx="2011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886968"/>
            <a:ext cx="2011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Envelope (USD)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822960"/>
            <a:ext cx="4297680" cy="4572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55280" y="886968"/>
            <a:ext cx="4297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28016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37160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Envision workshop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128016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137160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Pre-sales ECIF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0" y="128016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37160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128016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0" y="137160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Safety + ops + geology shortlist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182880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192024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Safety/ESG co-pilot (8 wk)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26080" y="182880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192024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ECIF + ACO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0" y="182880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0" y="192024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250,000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182880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80" y="192024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Reporting cycle prototype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37744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46888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Predictive maintenance (12 wk)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80" y="237744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246888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ATO + partner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237744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246888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500,000-1,000,000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863840" y="237744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55280" y="246888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Pilot on 1 site / 1 fleet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2926080"/>
            <a:ext cx="256032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01752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Geological pilot (12 wk)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2926080"/>
            <a:ext cx="29260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17520" y="301752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ATO + partner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2926080"/>
            <a:ext cx="2011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301752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500,000-1,000,000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863840" y="2926080"/>
            <a:ext cx="429768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55280" y="301752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Reasoning agent over 1 tenement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474720"/>
            <a:ext cx="256032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7200" y="3566160"/>
            <a:ext cx="242316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Production run-rate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0" y="3474720"/>
            <a:ext cx="29260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017520" y="3566160"/>
            <a:ext cx="2788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MAICPP + partner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3474720"/>
            <a:ext cx="2011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43600" y="3566160"/>
            <a:ext cx="1874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by partner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3474720"/>
            <a:ext cx="4297680" cy="548640"/>
          </a:xfrm>
          <a:prstGeom prst="rect">
            <a:avLst/>
          </a:prstGeom>
          <a:solidFill>
            <a:srgbClr val="EA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55280" y="3566160"/>
            <a:ext cx="41605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Scale + FinOps + governance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029200"/>
            <a:ext cx="11430000" cy="457200"/>
          </a:xfrm>
          <a:prstGeom prst="rect">
            <a:avLst/>
          </a:prstGeom>
          <a:solidFill>
            <a:srgbClr val="742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02920" y="5093208"/>
            <a:ext cx="112471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Segoe UI"/>
              </a:rPr>
              <a:t>Anonymised reference: SA-listed diversified miner - safety + ESG reporting co-pilot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5577840"/>
            <a:ext cx="1124712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0B1F3A"/>
                </a:solidFill>
                <a:latin typeface="Segoe UI"/>
              </a:rPr>
              <a:t>DMRE submission cycle reduced from 14 to 5 days; SHE-officer satisfaction up; auditor-sample pass-rate 100%. Reference under NDA via account team.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7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8872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Segoe UI"/>
              </a:rPr>
              <a:t>8. Anchored accelerators (from accelerators/)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143000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0B1F3A"/>
                </a:solidFill>
                <a:latin typeface="Segoe UI"/>
              </a:rPr>
              <a:t>Pre-built CoE assets that compress weeks 1-8 of pilot delivery for this sector.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ACC-3 M365 Copilot SOE Adoption - the SHE-team adoption path.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ACC-2 POPIA Landing Zone - foundation for personal + operational data.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ACC-4 Regulated-Industry Pilot Kit - DMRE + MHSA scoping.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ACC-5 DocIntel + Foundry Pattern - incident-report processing.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AI-CoE-AI-Impact-Assessment.xlsx - per-use-case governance.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0B1F3A"/>
                </a:solidFill>
                <a:latin typeface="Segoe UI"/>
              </a:rPr>
              <a:t>•  AI-CoE-AI-TCO-Calculator.xlsx - cost forecast for IoT-driven workloads.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8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0067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0"/>
            <a:ext cx="137160" cy="6858000"/>
          </a:xfrm>
          <a:prstGeom prst="rect">
            <a:avLst/>
          </a:prstGeom>
          <a:solidFill>
            <a:srgbClr val="50E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789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50E6FF"/>
                </a:solidFill>
                <a:latin typeface="Segoe UI"/>
              </a:rPr>
              <a:t>9. What to do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789920" cy="10972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Safety + ESG first - the regulator wins fund the operations build.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0896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Book the Envision workshop ($50K ECIF).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Anchor on safety + ESG co-pilot - DMRE-facing wins compound.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Sequence predictive maintenance once IoT telemetry is in Fabric.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EAF4FB"/>
                </a:solidFill>
                <a:latin typeface="Segoe UI"/>
              </a:rPr>
              <a:t>•  Reserve geological reasoning for tenement-by-tenement rollout; IP controls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43600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Segoe UI"/>
              </a:rPr>
              <a:t>Pair with: AI-CoE-Pitch-Deck.pptx | AI-CoE-Sovereign-AI-RSA.pptx | AI-CoE-Objection-Handling.pptx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565392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AI CoE | RSA Sector Briefing | Mining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65392"/>
            <a:ext cx="1371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Segoe UI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