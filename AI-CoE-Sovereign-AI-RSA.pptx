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Title / opener.</a:t>
            </a:r>
          </a:p>
          <a:p>
            <a:r>
              <a:t>Greet the room. Introduce yourself: Yuri Baijnath, CSU Cloud &amp; AI Lead (South Africa), Microsoft.</a:t>
            </a:r>
          </a:p>
          <a:p>
            <a:r>
              <a:t>Frame the deck in one sentence: a productised Sovereign-AI offer for RSA regulated customers, taking the conversation from slide-caveats to a signed pilot gate.</a:t>
            </a:r>
          </a:p>
          <a:p>
            <a:r>
              <a:t>Audience: RSA CoE, ATU sellers, regulated-customer sponsors, partner CSAs. This deck is the field-facing artefact; the long-form report (ai-coe-sovereign-ai-rsa-report.md) is the source of truth.</a:t>
            </a:r>
          </a:p>
          <a:p>
            <a:r>
              <a:t>Quarterly verification reminder: anything region-specific or service-availability-specific must be re-checked on aka.ms/AzureRegions before any customer commit.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Why this offer exists.</a:t>
            </a:r>
          </a:p>
          <a:p>
            <a:r>
              <a:t>Anchor: sovereignty in RSA has moved from a checkbox to a deal qualifier. SOEs, banks, insurers, large public-sector buyers no longer accept 'the data stays in Azure' - they want a named offer with named controls.</a:t>
            </a:r>
          </a:p>
          <a:p>
            <a:r>
              <a:t>Competitive context: Capgemini sells 'Sovereign Cloud for AI'; Atos/Eviden, Thales, Orange Business publish sovereign-AI catalogues. Microsoft fielding only caveats loses the architecture review before it starts.</a:t>
            </a:r>
          </a:p>
          <a:p>
            <a:r>
              <a:t>The customer-side trigger: AGSA, SARB, FSCA, Information Regulator reviews are explicit about residency, controls, and operating model. The CISO/DPO/Internal Audit triad needs an artefact they can sign against.</a:t>
            </a:r>
          </a:p>
          <a:p>
            <a:r>
              <a:t>Position this deck as the answer to: 'Show me a productised sovereign-AI offer I can take to my CISO.'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What we sell.</a:t>
            </a:r>
          </a:p>
          <a:p>
            <a:r>
              <a:t>Five components - emphasise that this is ONE offer with five named pieces, not a menu the customer assembles themselves.</a:t>
            </a:r>
          </a:p>
          <a:p>
            <a:r>
              <a:t>Residency commitment: SA North + SA West, evidenced via Azure Policy + Purview lineage. Not a verbal promise - a policy-enforced control.</a:t>
            </a:r>
          </a:p>
          <a:p>
            <a:r>
              <a:t>Governance posture: Purview AI Hub + Defender for Cloud AI + Sentinel connector + Azure Policy initiative, all wired day 1. This is what ACC-2 (POPIA Landing Zone) delivers.</a:t>
            </a:r>
          </a:p>
          <a:p>
            <a:r>
              <a:t>Control crosswalk: the single most valuable artefact. One matrix mapping our controls to POPIA, PFMA, NERSA, SARB Directive 7, FSCA, AGSA, ISO/IEC 42001, NIST AI RMF, EU AI Act. CISOs love this because it lets them map one control once and discharge it across eight frameworks.</a:t>
            </a:r>
          </a:p>
          <a:p>
            <a:r>
              <a:t>Operating model: RACI customised per customer, covering Microsoft, the customer's CISO/DPO/IA, and the partner.</a:t>
            </a:r>
          </a:p>
          <a:p>
            <a:r>
              <a:t>Artefact pack: board-ready summary, regulator-facing brief, audit evidence template, kill-switch run-book - the customer keeps these.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The three sovereignty dimensions.</a:t>
            </a:r>
          </a:p>
          <a:p>
            <a:r>
              <a:t>Customers conflate three different concerns. Your job is to separate them on the whiteboard - because each has a different control set and a different owner.</a:t>
            </a:r>
          </a:p>
          <a:p>
            <a:r>
              <a:t>Data sovereignty: at rest, in flight, in vector indexes, in logs. The simplest and most-understood. Anchor: POPIA section 72 list governs cross-border. Foundry data-zone scoping enforces in-region.</a:t>
            </a:r>
          </a:p>
          <a:p>
            <a:r>
              <a:t>Operational sovereignty: SA-based support, in-region operations, customer-controlled keys (CMK via Key Vault HSM), customer-controlled break-glass. Microsoft global support routed only on customer consent.</a:t>
            </a:r>
          </a:p>
          <a:p>
            <a:r>
              <a:t>Decision sovereignty - the most overlooked, and the one that wins the architecture review. The customer retains decision authority over what the AI does: owns system prompts, approves the model catalogue (no shadow models), exposes reasoning trace to internal audit, holds the kill-switch, gets quarterly attestation that no model behaviour changed without notice.</a:t>
            </a:r>
          </a:p>
          <a:p>
            <a:r>
              <a:t>Walking a CISO through all three with named controls under each is the difference between 'interesting' and 'signed'.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Region posture (SA North + SA West).</a:t>
            </a:r>
          </a:p>
          <a:p>
            <a:r>
              <a:t>The honest availability picture. Do NOT over-promise. If a service is 'partial' or 'EU/US', say so on the slide and document it in the offer.</a:t>
            </a:r>
          </a:p>
          <a:p>
            <a:r>
              <a:t>Foundry: GA progressing - verify quarterly. SA North is the primary anchor today.</a:t>
            </a:r>
          </a:p>
          <a:p>
            <a:r>
              <a:t>M365 Copilot: tenant-region determines processing. For SA tenants today this is typically EU. This is the most common 'gotcha' - lead with it; don't let the customer find it themselves.</a:t>
            </a:r>
          </a:p>
          <a:p>
            <a:r>
              <a:t>Purview AI Hub, Defender for Cloud AI, Document Intelligence: in-region. These are the day-1 governance plane.</a:t>
            </a:r>
          </a:p>
          <a:p>
            <a:r>
              <a:t>Quarterly attestation discipline: re-verify on aka.ms/AzureRegions before any customer commit. Write the verification date on every customer-facing version of this slide.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M365 Copilot - the honest answer.</a:t>
            </a:r>
          </a:p>
          <a:p>
            <a:r>
              <a:t>The single most common objection from regulated buyers: 'M365 Copilot processes in EU, so you're not sovereign.' Correct for M365 Copilot today. Pretending otherwise destroys credibility.</a:t>
            </a:r>
          </a:p>
          <a:p>
            <a:r>
              <a:t>What to say: M365 Copilot prompts and responses aren't stored long-term, transit is encrypted, tenant data is not used to train models. EU Data Boundary commitments apply.</a:t>
            </a:r>
          </a:p>
          <a:p>
            <a:r>
              <a:t>What to offer: for the DEEPEST sovereignty posture on sensitive workloads, route via Azure AI Foundry in SA regions through Copilot Studio agents - not directly via M365 Copilot. This is the architecture that converts the objection.</a:t>
            </a:r>
          </a:p>
          <a:p>
            <a:r>
              <a:t>Coaching: this slide is what regulated customers respect us for. The competitor sells 'sovereign AI' on the slide and then can't deliver. We name the gap and give the customer the workaround.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Control crosswalk (master matrix).</a:t>
            </a:r>
          </a:p>
          <a:p>
            <a:r>
              <a:t>The single most useful artefact in this offer. One Microsoft control discharges across up to eight frameworks. The CISO maps once.</a:t>
            </a:r>
          </a:p>
          <a:p>
            <a:r>
              <a:t>Walk two or three rows live: data residency -&gt; POPIA s72, ISO 42001 A.6.2, NIST GOVERN-1.3, EU AI Act Art. 10. CMK encryption -&gt; POPIA s19, PFMA s45, ISO 42001 A.8.24, EU AI Act Art. 15.</a:t>
            </a:r>
          </a:p>
          <a:p>
            <a:r>
              <a:t>The full matrix lives in AI-CoE-AI-Impact-Assessment.xlsx (governance pack). This deck shows the excerpt; the spreadsheet is the per-use-case working artefact.</a:t>
            </a:r>
          </a:p>
          <a:p>
            <a:r>
              <a:t>Coaching: if a CISO pushes back on a single control, find the row, point to the eight columns it satisfies, and ask which framework they want to start with. Reframes a defence into a sequencing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Operating model (RACI).</a:t>
            </a:r>
          </a:p>
          <a:p>
            <a:r>
              <a:t>The artefact that converts the customer's CISO + DPO + Internal Audit from blockers into co-owners. Each gets a named row.</a:t>
            </a:r>
          </a:p>
          <a:p>
            <a:r>
              <a:t>Microsoft: architecture authority, region availability changes (12-month notice), quarterly attestation pack, incident L3.</a:t>
            </a:r>
          </a:p>
          <a:p>
            <a:r>
              <a:t>Customer CISO: policy ownership, control attestation sign-off, kill-switch authority. This last point matters - the kill-switch sits with THEM, not us.</a:t>
            </a:r>
          </a:p>
          <a:p>
            <a:r>
              <a:t>Customer DPO: POPIA DPIA owner, cross-border transfer approver, subject-access response.</a:t>
            </a:r>
          </a:p>
          <a:p>
            <a:r>
              <a:t>Customer Internal Audit: quarterly evidence review, AGSA liaison.</a:t>
            </a:r>
          </a:p>
          <a:p>
            <a:r>
              <a:t>Partner: day-to-day operations, L1/L2 incident response, change-request execution. Builds the partner into the offer rather than bolting them on.</a:t>
            </a:r>
          </a:p>
          <a:p>
            <a:r>
              <a:t>Customise the RACI per customer in the workshop - do not ship the generic version into production.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Engagement shape and commercials.</a:t>
            </a:r>
          </a:p>
          <a:p>
            <a:r>
              <a:t>Four phases, named funding for each. Removes the 'what does this cost' friction in meeting one.</a:t>
            </a:r>
          </a:p>
          <a:p>
            <a:r>
              <a:t>Envision workshop (4 weeks, $50K ECIF): crosswalk tailored to the customer, gap analysis, regulator-correspondence pack drafted.</a:t>
            </a:r>
          </a:p>
          <a:p>
            <a:r>
              <a:t>Landing-zone deploy (2 weeks, Cloud Accelerate Factory $0): ACC-2 in SA North. This is the proof point that we can move fast on the platform.</a:t>
            </a:r>
          </a:p>
          <a:p>
            <a:r>
              <a:t>Pilot (8-12 weeks, $250-500K ATO + partner): first production workload + audit evidence pack. KPIs in time-to-decision and FTE-recovery terms, not 'accuracy %'.</a:t>
            </a:r>
          </a:p>
          <a:p>
            <a:r>
              <a:t>Quarterly attestation (ongoing, customer-funded): re-verify controls, region availability, model catalogue. This is the recurring artefact AGSA cares about.</a:t>
            </a:r>
          </a:p>
          <a:p>
            <a:r>
              <a:t>Always link to ACC-2 (Landing Zone) and ACC-4 (Regulated-Industry Pilot Kit) in the customer pack - they are the delivery scaffolding behind this commercial shape.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What this is NOT.</a:t>
            </a:r>
          </a:p>
          <a:p>
            <a:r>
              <a:t>Three explicit disclaimers. Naming them up-front is what makes the rest of the offer credible.</a:t>
            </a:r>
          </a:p>
          <a:p>
            <a:r>
              <a:t>Not air-gapped. We do not operate Azure Stack Edge / disconnected scenarios under this SKU. If the customer needs air-gap, that's a different conversation (and likely a different SKU).</a:t>
            </a:r>
          </a:p>
          <a:p>
            <a:r>
              <a:t>Not a workaround for services not yet GA in SA. Where a service is missing, this offer documents the gap and the customer's risk acceptance - it does not pretend coverage.</a:t>
            </a:r>
          </a:p>
          <a:p>
            <a:r>
              <a:t>Not a substitute for the customer's own POPIA compliance programme. We provide the controls; the customer remains the responsible party under POPIA.</a:t>
            </a:r>
          </a:p>
          <a:p>
            <a:r>
              <a:t>Coaching: if the customer presses on any of these three, the answer is 'correct, and here's what we'd do instead' - not a defensive reframe.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Counter-objections (the four that always land).</a:t>
            </a:r>
          </a:p>
          <a:p>
            <a:r>
              <a:t>M365 Copilot processes in EU - correct for M365 Copilot today; for deep-sovereignty workloads we route via Foundry in SA. This offer makes that explicit, not implicit.</a:t>
            </a:r>
          </a:p>
          <a:p>
            <a:r>
              <a:t>You can't promise in-region forever - correct; we commit to quarterly attestation and 12-month notice on region changes via the operating model. The discipline is the commitment.</a:t>
            </a:r>
          </a:p>
          <a:p>
            <a:r>
              <a:t>AGSA will reject this - AGSA reviews evidence, not vendor promises. The evidence template in the artefact pack is built to what an AGSA reviewer wants to see.</a:t>
            </a:r>
          </a:p>
          <a:p>
            <a:r>
              <a:t>EU AI Act for our multinational parent - the crosswalk includes EU AI Act categories; this offer is co-deployable with the EU Data Boundary commitments if the multinational parent needs both.</a:t>
            </a:r>
          </a:p>
          <a:p>
            <a:r>
              <a:t>Coaching: practise these four out loud before any first meeting. They land in 8 of 10 regulated pursuits.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Linked artefacts.</a:t>
            </a:r>
          </a:p>
          <a:p>
            <a:r>
              <a:t>This offer does not stand alone - it lives inside the broader AI CoE pack.</a:t>
            </a:r>
          </a:p>
          <a:p>
            <a:r>
              <a:t>ACC-2 (POPIA Landing Zone): the platform foundation. Deploy this first - everything else assumes it.</a:t>
            </a:r>
          </a:p>
          <a:p>
            <a:r>
              <a:t>ACC-4 (Regulated-Industry Pilot Kit): the 4-week workshop and control library that scaffold the first pilot.</a:t>
            </a:r>
          </a:p>
          <a:p>
            <a:r>
              <a:t>AI Governance Playbook (AI-CoE-AI-Governance-Playbook.docx): the operating-model detail.</a:t>
            </a:r>
          </a:p>
          <a:p>
            <a:r>
              <a:t>AI Impact Assessment (AI-CoE-AI-Impact-Assessment.xlsx): the per-use-case crosswalk working tool - this is where the master matrix lives in full.</a:t>
            </a:r>
          </a:p>
          <a:p>
            <a:r>
              <a:t>Eskom Executive Briefing: reference customer narrative for SOE regulated buyers.</a:t>
            </a:r>
          </a:p>
          <a:p>
            <a:r>
              <a:t>Bring two or three of these into every meeting; don't try to walk all of them in one session.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Sources.</a:t>
            </a:r>
          </a:p>
          <a:p>
            <a:r>
              <a:t>Every claim in this deck is backed by a public source. Sellers should be ready to cite the source if asked.</a:t>
            </a:r>
          </a:p>
          <a:p>
            <a:r>
              <a:t>aka.ms/AzureRegions - the canonical region/service map. Quarterly verification anchor.</a:t>
            </a:r>
          </a:p>
          <a:p>
            <a:r>
              <a:t>Microsoft Trust Center (Data Residency and Sovereignty) - the public commitment surface.</a:t>
            </a:r>
          </a:p>
          <a:p>
            <a:r>
              <a:t>Foundry Data Zone documentation - the technical control surface for in-region scoping.</a:t>
            </a:r>
          </a:p>
          <a:p>
            <a:r>
              <a:t>Microsoft Responsible AI Standard v2 - the internal control framework we map outward from.</a:t>
            </a:r>
          </a:p>
          <a:p>
            <a:r>
              <a:t>POPI Act, PFMA, NERSA Act, SARB Directive 7 - publicly available; do not paraphrase, cite the section number.</a:t>
            </a:r>
          </a:p>
          <a:p>
            <a:r>
              <a:t>ISO/IEC 42001:2023, NIST AI RMF 1.0, EU AI Act (Regulation 2024/1689) - international frameworks the crosswalk maps to.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Close.</a:t>
            </a:r>
          </a:p>
          <a:p>
            <a:r>
              <a:t>Anchor phrase: 'Sovereignty is a control set, not a slogan.' If we can't name the control, we don't claim the sovereignty.</a:t>
            </a:r>
          </a:p>
          <a:p>
            <a:r>
              <a:t>Three numbers to remember: 5 components (residency, governance, crosswalk, operating model, artefact pack); 3 sovereignty dimensions (data, operational, decision); 8 frameworks in the crosswalk.</a:t>
            </a:r>
          </a:p>
          <a:p>
            <a:r>
              <a:t>Call to action: pick one regulated pursuit this quarter, run the 4-week envision workshop, land ACC-2 in SA North, and put the signed pilot gate on the table by week 6.</a:t>
            </a:r>
          </a:p>
          <a:p>
            <a:r>
              <a:t>Thank the room. Offer to pair on one live regulated pursuit and to feed new control patterns back into the source report.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663440"/>
            <a:ext cx="12191695" cy="54864"/>
          </a:xfrm>
          <a:prstGeom prst="rect">
            <a:avLst/>
          </a:prstGeom>
          <a:solidFill>
            <a:srgbClr val="50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7315200" cy="365760"/>
          </a:xfrm>
          <a:prstGeom prst="rect">
            <a:avLst/>
          </a:prstGeom>
          <a:noFill/>
        </p:spPr>
        <p:txBody>
          <a:bodyPr wrap="square" lIns="0" rIns="0" tIns="0" bIns="0" anchor="t">
            <a:spAutoFit/>
          </a:bodyPr>
          <a:lstStyle/>
          <a:p>
            <a:pPr algn="l"/>
            <a:r>
              <a:rPr sz="1200" b="1" i="0">
                <a:solidFill>
                  <a:srgbClr val="50E6FF"/>
                </a:solidFill>
                <a:latin typeface="Segoe UI"/>
              </a:rPr>
              <a:t>AI CENTER OF EXCELLENCE</a:t>
            </a:r>
          </a:p>
        </p:txBody>
      </p:sp>
      <p:sp>
        <p:nvSpPr>
          <p:cNvPr id="5" name="TextBox 4"/>
          <p:cNvSpPr txBox="1"/>
          <p:nvPr/>
        </p:nvSpPr>
        <p:spPr>
          <a:xfrm>
            <a:off x="548640" y="2377440"/>
            <a:ext cx="11155680" cy="1280160"/>
          </a:xfrm>
          <a:prstGeom prst="rect">
            <a:avLst/>
          </a:prstGeom>
          <a:noFill/>
        </p:spPr>
        <p:txBody>
          <a:bodyPr wrap="square" lIns="0" rIns="0" tIns="0" bIns="0" anchor="t">
            <a:spAutoFit/>
          </a:bodyPr>
          <a:lstStyle/>
          <a:p>
            <a:pPr algn="l"/>
            <a:r>
              <a:rPr sz="4400" b="1" i="0">
                <a:solidFill>
                  <a:srgbClr val="FFFFFF"/>
                </a:solidFill>
                <a:latin typeface="Segoe UI"/>
              </a:rPr>
              <a:t>Sovereign AI for South Africa</a:t>
            </a:r>
          </a:p>
        </p:txBody>
      </p:sp>
      <p:sp>
        <p:nvSpPr>
          <p:cNvPr id="6" name="TextBox 5"/>
          <p:cNvSpPr txBox="1"/>
          <p:nvPr/>
        </p:nvSpPr>
        <p:spPr>
          <a:xfrm>
            <a:off x="548640" y="3474720"/>
            <a:ext cx="11155680" cy="548640"/>
          </a:xfrm>
          <a:prstGeom prst="rect">
            <a:avLst/>
          </a:prstGeom>
          <a:noFill/>
        </p:spPr>
        <p:txBody>
          <a:bodyPr wrap="square" lIns="0" rIns="0" tIns="0" bIns="0" anchor="t">
            <a:spAutoFit/>
          </a:bodyPr>
          <a:lstStyle/>
          <a:p>
            <a:pPr algn="l"/>
            <a:r>
              <a:rPr sz="1800" b="0" i="0">
                <a:solidFill>
                  <a:srgbClr val="50E6FF"/>
                </a:solidFill>
                <a:latin typeface="Segoe UI"/>
              </a:rPr>
              <a:t>A named offer for POPIA-, PFMA-, and sector-regulated AI workloads</a:t>
            </a:r>
          </a:p>
        </p:txBody>
      </p:sp>
      <p:sp>
        <p:nvSpPr>
          <p:cNvPr id="7" name="TextBox 6"/>
          <p:cNvSpPr txBox="1"/>
          <p:nvPr/>
        </p:nvSpPr>
        <p:spPr>
          <a:xfrm>
            <a:off x="548640" y="4937760"/>
            <a:ext cx="11155680" cy="365760"/>
          </a:xfrm>
          <a:prstGeom prst="rect">
            <a:avLst/>
          </a:prstGeom>
          <a:noFill/>
        </p:spPr>
        <p:txBody>
          <a:bodyPr wrap="square" lIns="0" rIns="0" tIns="0" bIns="0" anchor="t">
            <a:spAutoFit/>
          </a:bodyPr>
          <a:lstStyle/>
          <a:p>
            <a:pPr algn="l"/>
            <a:r>
              <a:rPr sz="1200" b="0" i="1">
                <a:solidFill>
                  <a:srgbClr val="FFFFFF"/>
                </a:solidFill>
                <a:latin typeface="Segoe UI"/>
              </a:rPr>
              <a:t>RSA CSU · v1.0 · June 2026</a:t>
            </a:r>
          </a:p>
        </p:txBody>
      </p:sp>
      <p:sp>
        <p:nvSpPr>
          <p:cNvPr id="8" name="TextBox 7"/>
          <p:cNvSpPr txBox="1"/>
          <p:nvPr/>
        </p:nvSpPr>
        <p:spPr>
          <a:xfrm>
            <a:off x="548640" y="6035040"/>
            <a:ext cx="5486400" cy="365760"/>
          </a:xfrm>
          <a:prstGeom prst="rect">
            <a:avLst/>
          </a:prstGeom>
          <a:noFill/>
        </p:spPr>
        <p:txBody>
          <a:bodyPr wrap="square" lIns="0" rIns="0" tIns="0" bIns="0" anchor="t">
            <a:spAutoFit/>
          </a:bodyPr>
          <a:lstStyle/>
          <a:p>
            <a:pPr algn="l"/>
            <a:r>
              <a:rPr sz="1800" b="1" i="0">
                <a:solidFill>
                  <a:srgbClr val="FFFFFF"/>
                </a:solidFill>
                <a:latin typeface="Segoe UI"/>
              </a:rPr>
              <a:t>Yuri Baijnath</a:t>
            </a:r>
          </a:p>
        </p:txBody>
      </p:sp>
      <p:sp>
        <p:nvSpPr>
          <p:cNvPr id="9" name="TextBox 8"/>
          <p:cNvSpPr txBox="1"/>
          <p:nvPr/>
        </p:nvSpPr>
        <p:spPr>
          <a:xfrm>
            <a:off x="548640" y="6355080"/>
            <a:ext cx="9144000" cy="365760"/>
          </a:xfrm>
          <a:prstGeom prst="rect">
            <a:avLst/>
          </a:prstGeom>
          <a:noFill/>
        </p:spPr>
        <p:txBody>
          <a:bodyPr wrap="square" lIns="0" rIns="0" tIns="0" bIns="0" anchor="t">
            <a:spAutoFit/>
          </a:bodyPr>
          <a:lstStyle/>
          <a:p>
            <a:pPr algn="l"/>
            <a:r>
              <a:rPr sz="1100" b="0" i="0">
                <a:solidFill>
                  <a:srgbClr val="50E6FF"/>
                </a:solidFill>
                <a:latin typeface="Segoe UI"/>
              </a:rPr>
              <a:t>CSU Cloud &amp; AI Lead (South Africa)  ·  Yuri.Baijnath@microsoft.com  ·  Microsoft</a:t>
            </a:r>
          </a:p>
        </p:txBody>
      </p:sp>
      <p:sp>
        <p:nvSpPr>
          <p:cNvPr id="10" name="AICOE_GEO_ACCENT_Right Triangle 9"/>
          <p:cNvSpPr/>
          <p:nvPr/>
        </p:nvSpPr>
        <p:spPr>
          <a:xfrm>
            <a:off x="11368735" y="445770"/>
            <a:ext cx="822960" cy="822960"/>
          </a:xfrm>
          <a:prstGeom prst="rtTriangl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AICOE_GEO_ACCENT_Right Triangle 10"/>
          <p:cNvSpPr/>
          <p:nvPr/>
        </p:nvSpPr>
        <p:spPr>
          <a:xfrm rot="10800000">
            <a:off x="11368735" y="2160270"/>
            <a:ext cx="822960" cy="822960"/>
          </a:xfrm>
          <a:prstGeom prst="rtTriangle">
            <a:avLst/>
          </a:prstGeom>
          <a:solidFill>
            <a:srgbClr val="50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ICOE_GEO_ACCENT_Right Triangle 11"/>
          <p:cNvSpPr/>
          <p:nvPr/>
        </p:nvSpPr>
        <p:spPr>
          <a:xfrm>
            <a:off x="11368735" y="3874770"/>
            <a:ext cx="822960" cy="822960"/>
          </a:xfrm>
          <a:prstGeom prst="rtTriangle">
            <a:avLst/>
          </a:prstGeom>
          <a:solidFill>
            <a:srgbClr val="0067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AICOE_GEO_ACCENT_Right Triangle 12"/>
          <p:cNvSpPr/>
          <p:nvPr/>
        </p:nvSpPr>
        <p:spPr>
          <a:xfrm rot="5400000">
            <a:off x="11368735" y="5589270"/>
            <a:ext cx="822960" cy="822960"/>
          </a:xfrm>
          <a:prstGeom prst="rtTriangle">
            <a:avLst/>
          </a:prstGeom>
          <a:solidFill>
            <a:srgbClr val="50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AICOE_GEO_ACCENT_Rectangle 13"/>
          <p:cNvSpPr/>
          <p:nvPr/>
        </p:nvSpPr>
        <p:spPr>
          <a:xfrm>
            <a:off x="11295583" y="0"/>
            <a:ext cx="73152"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144000" cy="274320"/>
          </a:xfrm>
          <a:prstGeom prst="rect">
            <a:avLst/>
          </a:prstGeom>
          <a:noFill/>
        </p:spPr>
        <p:txBody>
          <a:bodyPr wrap="square" lIns="0" rIns="0" tIns="0" bIns="0" anchor="t">
            <a:spAutoFit/>
          </a:bodyPr>
          <a:lstStyle/>
          <a:p>
            <a:pPr algn="l"/>
            <a:r>
              <a:rPr sz="1100" b="1" i="0">
                <a:solidFill>
                  <a:srgbClr val="0067B8"/>
                </a:solidFill>
                <a:latin typeface="Segoe UI"/>
              </a:rPr>
              <a:t>WHY THIS OFFER EXISTS</a:t>
            </a:r>
          </a:p>
        </p:txBody>
      </p:sp>
      <p:sp>
        <p:nvSpPr>
          <p:cNvPr id="3" name="TextBox 2"/>
          <p:cNvSpPr txBox="1"/>
          <p:nvPr/>
        </p:nvSpPr>
        <p:spPr>
          <a:xfrm>
            <a:off x="548640" y="594360"/>
            <a:ext cx="11155680" cy="731520"/>
          </a:xfrm>
          <a:prstGeom prst="rect">
            <a:avLst/>
          </a:prstGeom>
          <a:noFill/>
        </p:spPr>
        <p:txBody>
          <a:bodyPr wrap="square" lIns="0" rIns="0" tIns="0" bIns="0" anchor="t">
            <a:spAutoFit/>
          </a:bodyPr>
          <a:lstStyle/>
          <a:p>
            <a:pPr algn="l"/>
            <a:r>
              <a:rPr sz="2800" b="1" i="0">
                <a:solidFill>
                  <a:srgbClr val="1A1A1A"/>
                </a:solidFill>
                <a:latin typeface="Segoe UI"/>
              </a:rPr>
              <a:t>Sovereignty is now a deal qualifier in RSA</a:t>
            </a:r>
          </a:p>
        </p:txBody>
      </p:sp>
      <p:sp>
        <p:nvSpPr>
          <p:cNvPr id="4" name="TextBox 3"/>
          <p:cNvSpPr txBox="1"/>
          <p:nvPr/>
        </p:nvSpPr>
        <p:spPr>
          <a:xfrm>
            <a:off x="548640" y="1280160"/>
            <a:ext cx="11155680" cy="502920"/>
          </a:xfrm>
          <a:prstGeom prst="rect">
            <a:avLst/>
          </a:prstGeom>
          <a:noFill/>
        </p:spPr>
        <p:txBody>
          <a:bodyPr wrap="square" lIns="0" rIns="0" tIns="0" bIns="0" anchor="t">
            <a:spAutoFit/>
          </a:bodyPr>
          <a:lstStyle/>
          <a:p>
            <a:pPr algn="l"/>
            <a:r>
              <a:rPr sz="1400" b="0" i="0">
                <a:solidFill>
                  <a:srgbClr val="555555"/>
                </a:solidFill>
                <a:latin typeface="Segoe UI"/>
              </a:rPr>
              <a:t>What used to be a checkbox is now the architecture review.</a:t>
            </a:r>
          </a:p>
        </p:txBody>
      </p:sp>
      <p:sp>
        <p:nvSpPr>
          <p:cNvPr id="5" name="TextBox 4"/>
          <p:cNvSpPr txBox="1"/>
          <p:nvPr/>
        </p:nvSpPr>
        <p:spPr>
          <a:xfrm>
            <a:off x="548640" y="2011680"/>
            <a:ext cx="11155680" cy="4114800"/>
          </a:xfrm>
          <a:prstGeom prst="rect">
            <a:avLst/>
          </a:prstGeom>
          <a:noFill/>
        </p:spPr>
        <p:txBody>
          <a:bodyPr wrap="square" lIns="0" tIns="0">
            <a:spAutoFit/>
          </a:bodyPr>
          <a:lstStyle/>
          <a:p>
            <a:pPr algn="l">
              <a:lnSpc>
                <a:spcPct val="120000"/>
              </a:lnSpc>
            </a:pPr>
            <a:r>
              <a:rPr sz="1400" b="1">
                <a:solidFill>
                  <a:srgbClr val="0067B8"/>
                </a:solidFill>
                <a:latin typeface="Segoe UI"/>
              </a:rPr>
              <a:t>•  </a:t>
            </a:r>
            <a:r>
              <a:rPr sz="1400">
                <a:solidFill>
                  <a:srgbClr val="1A1A1A"/>
                </a:solidFill>
                <a:latin typeface="Segoe UI"/>
              </a:rPr>
              <a:t>SOEs, banks, insurers, and large public-sector buyers no longer accept "the data stays in Azure" as an answer.</a:t>
            </a:r>
          </a:p>
          <a:p>
            <a:pPr algn="l">
              <a:lnSpc>
                <a:spcPct val="120000"/>
              </a:lnSpc>
            </a:pPr>
            <a:r>
              <a:rPr sz="1400" b="1">
                <a:solidFill>
                  <a:srgbClr val="0067B8"/>
                </a:solidFill>
                <a:latin typeface="Segoe UI"/>
              </a:rPr>
              <a:t>•  </a:t>
            </a:r>
            <a:r>
              <a:rPr sz="1400">
                <a:solidFill>
                  <a:srgbClr val="1A1A1A"/>
                </a:solidFill>
                <a:latin typeface="Segoe UI"/>
              </a:rPr>
              <a:t>Buyers want a named offer, named controls, a named operating model, and named regions.</a:t>
            </a:r>
          </a:p>
          <a:p>
            <a:pPr algn="l">
              <a:lnSpc>
                <a:spcPct val="120000"/>
              </a:lnSpc>
            </a:pPr>
            <a:r>
              <a:rPr sz="1400" b="1">
                <a:solidFill>
                  <a:srgbClr val="0067B8"/>
                </a:solidFill>
                <a:latin typeface="Segoe UI"/>
              </a:rPr>
              <a:t>•  </a:t>
            </a:r>
            <a:r>
              <a:rPr sz="1400">
                <a:solidFill>
                  <a:srgbClr val="1A1A1A"/>
                </a:solidFill>
                <a:latin typeface="Segoe UI"/>
              </a:rPr>
              <a:t>Capgemini (Sovereign Cloud for AI), Atos/Eviden, Thales, Orange Business have productised this. Microsoft RSA fielding only caveats loses the deal at the CISO / DPO review.</a:t>
            </a:r>
          </a:p>
          <a:p>
            <a:pPr algn="l">
              <a:lnSpc>
                <a:spcPct val="120000"/>
              </a:lnSpc>
            </a:pPr>
            <a:r>
              <a:rPr sz="1400" b="1">
                <a:solidFill>
                  <a:srgbClr val="0067B8"/>
                </a:solidFill>
                <a:latin typeface="Segoe UI"/>
              </a:rPr>
              <a:t>•  </a:t>
            </a:r>
            <a:r>
              <a:rPr sz="1400">
                <a:solidFill>
                  <a:srgbClr val="1A1A1A"/>
                </a:solidFill>
                <a:latin typeface="Segoe UI"/>
              </a:rPr>
              <a:t>This offer packages our existing capability into a single SKU a CSA can take to a CISO + DPO + Internal Audit triad and walk out with a signed pilot gate.</a:t>
            </a:r>
          </a:p>
          <a:p>
            <a:pPr algn="l">
              <a:lnSpc>
                <a:spcPct val="120000"/>
              </a:lnSpc>
            </a:pPr>
            <a:r>
              <a:rPr sz="1400" b="1">
                <a:solidFill>
                  <a:srgbClr val="0067B8"/>
                </a:solidFill>
                <a:latin typeface="Segoe UI"/>
              </a:rPr>
              <a:t>•  </a:t>
            </a:r>
            <a:r>
              <a:rPr sz="1400">
                <a:solidFill>
                  <a:srgbClr val="1A1A1A"/>
                </a:solidFill>
                <a:latin typeface="Segoe UI"/>
              </a:rPr>
              <a:t>Backed by SA North + SA West regions, Purview AI Hub, Defender for Cloud AI, Foundry data-zone scoping, and a control crosswalk to every framework an RSA buyer will ask about.</a:t>
            </a:r>
          </a:p>
        </p:txBody>
      </p:sp>
      <p:sp>
        <p:nvSpPr>
          <p:cNvPr id="6" name="Rectangle 5"/>
          <p:cNvSpPr/>
          <p:nvPr/>
        </p:nvSpPr>
        <p:spPr>
          <a:xfrm>
            <a:off x="548640" y="256032"/>
            <a:ext cx="11091672" cy="9000"/>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46520"/>
            <a:ext cx="11091672" cy="9000"/>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510528"/>
            <a:ext cx="7315200" cy="274320"/>
          </a:xfrm>
          <a:prstGeom prst="rect">
            <a:avLst/>
          </a:prstGeom>
          <a:noFill/>
        </p:spPr>
        <p:txBody>
          <a:bodyPr wrap="square" lIns="0" rIns="0" tIns="0" bIns="0" anchor="t">
            <a:spAutoFit/>
          </a:bodyPr>
          <a:lstStyle/>
          <a:p>
            <a:pPr algn="l"/>
            <a:r>
              <a:rPr sz="900" b="0" i="0">
                <a:solidFill>
                  <a:srgbClr val="555555"/>
                </a:solidFill>
                <a:latin typeface="Segoe UI"/>
              </a:rPr>
              <a:t>Microsoft · Confidential · © 2026 Microsoft Corporation</a:t>
            </a:r>
          </a:p>
        </p:txBody>
      </p:sp>
      <p:sp>
        <p:nvSpPr>
          <p:cNvPr id="9" name="TextBox 8"/>
          <p:cNvSpPr txBox="1"/>
          <p:nvPr/>
        </p:nvSpPr>
        <p:spPr>
          <a:xfrm>
            <a:off x="9784080" y="6510528"/>
            <a:ext cx="1828800" cy="274320"/>
          </a:xfrm>
          <a:prstGeom prst="rect">
            <a:avLst/>
          </a:prstGeom>
          <a:noFill/>
        </p:spPr>
        <p:txBody>
          <a:bodyPr wrap="square" lIns="0" rIns="0" tIns="0" bIns="0" anchor="t">
            <a:spAutoFit/>
          </a:bodyPr>
          <a:lstStyle/>
          <a:p>
            <a:pPr algn="r"/>
            <a:r>
              <a:rPr sz="900" b="0" i="0">
                <a:solidFill>
                  <a:srgbClr val="555555"/>
                </a:solidFill>
                <a:latin typeface="Segoe UI"/>
              </a:rPr>
              <a:t>2 / 14</a:t>
            </a:r>
          </a:p>
        </p:txBody>
      </p:sp>
      <p:sp>
        <p:nvSpPr>
          <p:cNvPr id="10" name="AICOE_GEO_ACCENT_Right Triangle 9"/>
          <p:cNvSpPr/>
          <p:nvPr/>
        </p:nvSpPr>
        <p:spPr>
          <a:xfrm rot="5400000">
            <a:off x="11761927" y="109728"/>
            <a:ext cx="320040" cy="320040"/>
          </a:xfrm>
          <a:prstGeom prst="rtTriangl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AICOE_GEO_ACCENT_Right Triangle 10"/>
          <p:cNvSpPr/>
          <p:nvPr/>
        </p:nvSpPr>
        <p:spPr>
          <a:xfrm rot="5400000">
            <a:off x="11873941" y="109728"/>
            <a:ext cx="208026" cy="208026"/>
          </a:xfrm>
          <a:prstGeom prst="rtTriangle">
            <a:avLst/>
          </a:prstGeom>
          <a:solidFill>
            <a:srgbClr val="50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144000" cy="274320"/>
          </a:xfrm>
          <a:prstGeom prst="rect">
            <a:avLst/>
          </a:prstGeom>
          <a:noFill/>
        </p:spPr>
        <p:txBody>
          <a:bodyPr wrap="square" lIns="0" rIns="0" tIns="0" bIns="0" anchor="t">
            <a:spAutoFit/>
          </a:bodyPr>
          <a:lstStyle/>
          <a:p>
            <a:pPr algn="l"/>
            <a:r>
              <a:rPr sz="1100" b="1" i="0">
                <a:solidFill>
                  <a:srgbClr val="0067B8"/>
                </a:solidFill>
                <a:latin typeface="Segoe UI"/>
              </a:rPr>
              <a:t>WHAT WE SELL</a:t>
            </a:r>
          </a:p>
        </p:txBody>
      </p:sp>
      <p:sp>
        <p:nvSpPr>
          <p:cNvPr id="3" name="TextBox 2"/>
          <p:cNvSpPr txBox="1"/>
          <p:nvPr/>
        </p:nvSpPr>
        <p:spPr>
          <a:xfrm>
            <a:off x="548640" y="594360"/>
            <a:ext cx="11155680" cy="731520"/>
          </a:xfrm>
          <a:prstGeom prst="rect">
            <a:avLst/>
          </a:prstGeom>
          <a:noFill/>
        </p:spPr>
        <p:txBody>
          <a:bodyPr wrap="square" lIns="0" rIns="0" tIns="0" bIns="0" anchor="t">
            <a:spAutoFit/>
          </a:bodyPr>
          <a:lstStyle/>
          <a:p>
            <a:pPr algn="l"/>
            <a:r>
              <a:rPr sz="2800" b="1" i="0">
                <a:solidFill>
                  <a:srgbClr val="1A1A1A"/>
                </a:solidFill>
                <a:latin typeface="Segoe UI"/>
              </a:rPr>
              <a:t>Five components in one SKU</a:t>
            </a:r>
          </a:p>
        </p:txBody>
      </p:sp>
      <p:sp>
        <p:nvSpPr>
          <p:cNvPr id="4" name="Rectangle 3"/>
          <p:cNvSpPr/>
          <p:nvPr/>
        </p:nvSpPr>
        <p:spPr>
          <a:xfrm>
            <a:off x="548640" y="2011680"/>
            <a:ext cx="11155680" cy="77724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2011680"/>
            <a:ext cx="91440" cy="777240"/>
          </a:xfrm>
          <a:prstGeom prst="rect">
            <a:avLst/>
          </a:prstGeom>
          <a:solidFill>
            <a:srgbClr val="0067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103120"/>
            <a:ext cx="3108960" cy="411480"/>
          </a:xfrm>
          <a:prstGeom prst="rect">
            <a:avLst/>
          </a:prstGeom>
          <a:noFill/>
        </p:spPr>
        <p:txBody>
          <a:bodyPr wrap="square" lIns="0" rIns="0" tIns="0" bIns="0" anchor="t">
            <a:spAutoFit/>
          </a:bodyPr>
          <a:lstStyle/>
          <a:p>
            <a:pPr algn="l"/>
            <a:r>
              <a:rPr sz="1400" b="1" i="0">
                <a:solidFill>
                  <a:srgbClr val="0067B8"/>
                </a:solidFill>
                <a:latin typeface="Segoe UI"/>
              </a:rPr>
              <a:t>1. Residency commitment</a:t>
            </a:r>
          </a:p>
        </p:txBody>
      </p:sp>
      <p:sp>
        <p:nvSpPr>
          <p:cNvPr id="7" name="TextBox 6"/>
          <p:cNvSpPr txBox="1"/>
          <p:nvPr/>
        </p:nvSpPr>
        <p:spPr>
          <a:xfrm>
            <a:off x="4023360" y="2103120"/>
            <a:ext cx="7498079" cy="640080"/>
          </a:xfrm>
          <a:prstGeom prst="rect">
            <a:avLst/>
          </a:prstGeom>
          <a:noFill/>
        </p:spPr>
        <p:txBody>
          <a:bodyPr wrap="square" lIns="0" rIns="0" tIns="0" bIns="0" anchor="t">
            <a:spAutoFit/>
          </a:bodyPr>
          <a:lstStyle/>
          <a:p>
            <a:pPr algn="l"/>
            <a:r>
              <a:rPr sz="1200" b="0" i="0">
                <a:solidFill>
                  <a:srgbClr val="1A1A1A"/>
                </a:solidFill>
                <a:latin typeface="Segoe UI"/>
              </a:rPr>
              <a:t>Workload + data confined to SA North / SA West. Foundry data-zone scoping. Azure Policy + Purview lineage as evidence.</a:t>
            </a:r>
          </a:p>
        </p:txBody>
      </p:sp>
      <p:sp>
        <p:nvSpPr>
          <p:cNvPr id="8" name="Rectangle 7"/>
          <p:cNvSpPr/>
          <p:nvPr/>
        </p:nvSpPr>
        <p:spPr>
          <a:xfrm>
            <a:off x="548640" y="2898648"/>
            <a:ext cx="11155680" cy="77724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898648"/>
            <a:ext cx="91440" cy="777240"/>
          </a:xfrm>
          <a:prstGeom prst="rect">
            <a:avLst/>
          </a:prstGeom>
          <a:solidFill>
            <a:srgbClr val="0067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990088"/>
            <a:ext cx="3108960" cy="411480"/>
          </a:xfrm>
          <a:prstGeom prst="rect">
            <a:avLst/>
          </a:prstGeom>
          <a:noFill/>
        </p:spPr>
        <p:txBody>
          <a:bodyPr wrap="square" lIns="0" rIns="0" tIns="0" bIns="0" anchor="t">
            <a:spAutoFit/>
          </a:bodyPr>
          <a:lstStyle/>
          <a:p>
            <a:pPr algn="l"/>
            <a:r>
              <a:rPr sz="1400" b="1" i="0">
                <a:solidFill>
                  <a:srgbClr val="0067B8"/>
                </a:solidFill>
                <a:latin typeface="Segoe UI"/>
              </a:rPr>
              <a:t>2. Governance posture</a:t>
            </a:r>
          </a:p>
        </p:txBody>
      </p:sp>
      <p:sp>
        <p:nvSpPr>
          <p:cNvPr id="11" name="TextBox 10"/>
          <p:cNvSpPr txBox="1"/>
          <p:nvPr/>
        </p:nvSpPr>
        <p:spPr>
          <a:xfrm>
            <a:off x="4023360" y="2990088"/>
            <a:ext cx="7498079" cy="640080"/>
          </a:xfrm>
          <a:prstGeom prst="rect">
            <a:avLst/>
          </a:prstGeom>
          <a:noFill/>
        </p:spPr>
        <p:txBody>
          <a:bodyPr wrap="square" lIns="0" rIns="0" tIns="0" bIns="0" anchor="t">
            <a:spAutoFit/>
          </a:bodyPr>
          <a:lstStyle/>
          <a:p>
            <a:pPr algn="l"/>
            <a:r>
              <a:rPr sz="1200" b="0" i="0">
                <a:solidFill>
                  <a:srgbClr val="1A1A1A"/>
                </a:solidFill>
                <a:latin typeface="Segoe UI"/>
              </a:rPr>
              <a:t>Purview AI Hub, Defender for Cloud AI, Sentinel connector, Azure Policy initiative — all wired day 1, not day 90.</a:t>
            </a:r>
          </a:p>
        </p:txBody>
      </p:sp>
      <p:sp>
        <p:nvSpPr>
          <p:cNvPr id="12" name="Rectangle 11"/>
          <p:cNvSpPr/>
          <p:nvPr/>
        </p:nvSpPr>
        <p:spPr>
          <a:xfrm>
            <a:off x="548640" y="3785616"/>
            <a:ext cx="11155680" cy="77724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785616"/>
            <a:ext cx="91440" cy="777240"/>
          </a:xfrm>
          <a:prstGeom prst="rect">
            <a:avLst/>
          </a:prstGeom>
          <a:solidFill>
            <a:srgbClr val="0067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877056"/>
            <a:ext cx="3108960" cy="411480"/>
          </a:xfrm>
          <a:prstGeom prst="rect">
            <a:avLst/>
          </a:prstGeom>
          <a:noFill/>
        </p:spPr>
        <p:txBody>
          <a:bodyPr wrap="square" lIns="0" rIns="0" tIns="0" bIns="0" anchor="t">
            <a:spAutoFit/>
          </a:bodyPr>
          <a:lstStyle/>
          <a:p>
            <a:pPr algn="l"/>
            <a:r>
              <a:rPr sz="1400" b="1" i="0">
                <a:solidFill>
                  <a:srgbClr val="0067B8"/>
                </a:solidFill>
                <a:latin typeface="Segoe UI"/>
              </a:rPr>
              <a:t>3. Control crosswalk</a:t>
            </a:r>
          </a:p>
        </p:txBody>
      </p:sp>
      <p:sp>
        <p:nvSpPr>
          <p:cNvPr id="15" name="TextBox 14"/>
          <p:cNvSpPr txBox="1"/>
          <p:nvPr/>
        </p:nvSpPr>
        <p:spPr>
          <a:xfrm>
            <a:off x="4023360" y="3877056"/>
            <a:ext cx="7498079" cy="640080"/>
          </a:xfrm>
          <a:prstGeom prst="rect">
            <a:avLst/>
          </a:prstGeom>
          <a:noFill/>
        </p:spPr>
        <p:txBody>
          <a:bodyPr wrap="square" lIns="0" rIns="0" tIns="0" bIns="0" anchor="t">
            <a:spAutoFit/>
          </a:bodyPr>
          <a:lstStyle/>
          <a:p>
            <a:pPr algn="l"/>
            <a:r>
              <a:rPr sz="1200" b="0" i="0">
                <a:solidFill>
                  <a:srgbClr val="1A1A1A"/>
                </a:solidFill>
                <a:latin typeface="Segoe UI"/>
              </a:rPr>
              <a:t>Single matrix: our controls → POPIA, PFMA, NERSA, SARB Dir 7, FSCA, AGSA, ISO 42001, NIST AI RMF, EU AI Act.</a:t>
            </a:r>
          </a:p>
        </p:txBody>
      </p:sp>
      <p:sp>
        <p:nvSpPr>
          <p:cNvPr id="16" name="Rectangle 15"/>
          <p:cNvSpPr/>
          <p:nvPr/>
        </p:nvSpPr>
        <p:spPr>
          <a:xfrm>
            <a:off x="548640" y="4672584"/>
            <a:ext cx="11155680" cy="77724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672584"/>
            <a:ext cx="91440" cy="777240"/>
          </a:xfrm>
          <a:prstGeom prst="rect">
            <a:avLst/>
          </a:prstGeom>
          <a:solidFill>
            <a:srgbClr val="0067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4764024"/>
            <a:ext cx="3108960" cy="411480"/>
          </a:xfrm>
          <a:prstGeom prst="rect">
            <a:avLst/>
          </a:prstGeom>
          <a:noFill/>
        </p:spPr>
        <p:txBody>
          <a:bodyPr wrap="square" lIns="0" rIns="0" tIns="0" bIns="0" anchor="t">
            <a:spAutoFit/>
          </a:bodyPr>
          <a:lstStyle/>
          <a:p>
            <a:pPr algn="l"/>
            <a:r>
              <a:rPr sz="1400" b="1" i="0">
                <a:solidFill>
                  <a:srgbClr val="0067B8"/>
                </a:solidFill>
                <a:latin typeface="Segoe UI"/>
              </a:rPr>
              <a:t>4. Operating model</a:t>
            </a:r>
          </a:p>
        </p:txBody>
      </p:sp>
      <p:sp>
        <p:nvSpPr>
          <p:cNvPr id="19" name="TextBox 18"/>
          <p:cNvSpPr txBox="1"/>
          <p:nvPr/>
        </p:nvSpPr>
        <p:spPr>
          <a:xfrm>
            <a:off x="4023360" y="4764024"/>
            <a:ext cx="7498079" cy="640080"/>
          </a:xfrm>
          <a:prstGeom prst="rect">
            <a:avLst/>
          </a:prstGeom>
          <a:noFill/>
        </p:spPr>
        <p:txBody>
          <a:bodyPr wrap="square" lIns="0" rIns="0" tIns="0" bIns="0" anchor="t">
            <a:spAutoFit/>
          </a:bodyPr>
          <a:lstStyle/>
          <a:p>
            <a:pPr algn="l"/>
            <a:r>
              <a:rPr sz="1200" b="0" i="0">
                <a:solidFill>
                  <a:srgbClr val="1A1A1A"/>
                </a:solidFill>
                <a:latin typeface="Segoe UI"/>
              </a:rPr>
              <a:t>Two-page RACI: CISO + DPO + Internal Audit + Microsoft + partner. Run-time, incident, audit, quarterly attestation.</a:t>
            </a:r>
          </a:p>
        </p:txBody>
      </p:sp>
      <p:sp>
        <p:nvSpPr>
          <p:cNvPr id="20" name="Rectangle 19"/>
          <p:cNvSpPr/>
          <p:nvPr/>
        </p:nvSpPr>
        <p:spPr>
          <a:xfrm>
            <a:off x="548640" y="5559552"/>
            <a:ext cx="11155680" cy="77724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5559552"/>
            <a:ext cx="91440" cy="777240"/>
          </a:xfrm>
          <a:prstGeom prst="rect">
            <a:avLst/>
          </a:prstGeom>
          <a:solidFill>
            <a:srgbClr val="0067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5650992"/>
            <a:ext cx="3108960" cy="411480"/>
          </a:xfrm>
          <a:prstGeom prst="rect">
            <a:avLst/>
          </a:prstGeom>
          <a:noFill/>
        </p:spPr>
        <p:txBody>
          <a:bodyPr wrap="square" lIns="0" rIns="0" tIns="0" bIns="0" anchor="t">
            <a:spAutoFit/>
          </a:bodyPr>
          <a:lstStyle/>
          <a:p>
            <a:pPr algn="l"/>
            <a:r>
              <a:rPr sz="1400" b="1" i="0">
                <a:solidFill>
                  <a:srgbClr val="0067B8"/>
                </a:solidFill>
                <a:latin typeface="Segoe UI"/>
              </a:rPr>
              <a:t>5. Artefact pack</a:t>
            </a:r>
          </a:p>
        </p:txBody>
      </p:sp>
      <p:sp>
        <p:nvSpPr>
          <p:cNvPr id="23" name="TextBox 22"/>
          <p:cNvSpPr txBox="1"/>
          <p:nvPr/>
        </p:nvSpPr>
        <p:spPr>
          <a:xfrm>
            <a:off x="4023360" y="5650992"/>
            <a:ext cx="7498079" cy="640080"/>
          </a:xfrm>
          <a:prstGeom prst="rect">
            <a:avLst/>
          </a:prstGeom>
          <a:noFill/>
        </p:spPr>
        <p:txBody>
          <a:bodyPr wrap="square" lIns="0" rIns="0" tIns="0" bIns="0" anchor="t">
            <a:spAutoFit/>
          </a:bodyPr>
          <a:lstStyle/>
          <a:p>
            <a:pPr algn="l"/>
            <a:r>
              <a:rPr sz="1200" b="0" i="0">
                <a:solidFill>
                  <a:srgbClr val="1A1A1A"/>
                </a:solidFill>
                <a:latin typeface="Segoe UI"/>
              </a:rPr>
              <a:t>Board summary, regulator brief, audit evidence template, kill-switch run-book — all customer-deliverable.</a:t>
            </a:r>
          </a:p>
        </p:txBody>
      </p:sp>
      <p:sp>
        <p:nvSpPr>
          <p:cNvPr id="24" name="Rectangle 23"/>
          <p:cNvSpPr/>
          <p:nvPr/>
        </p:nvSpPr>
        <p:spPr>
          <a:xfrm>
            <a:off x="548640" y="256032"/>
            <a:ext cx="11091672" cy="9000"/>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6446520"/>
            <a:ext cx="11091672" cy="9000"/>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6510528"/>
            <a:ext cx="7315200" cy="274320"/>
          </a:xfrm>
          <a:prstGeom prst="rect">
            <a:avLst/>
          </a:prstGeom>
          <a:noFill/>
        </p:spPr>
        <p:txBody>
          <a:bodyPr wrap="square" lIns="0" rIns="0" tIns="0" bIns="0" anchor="t">
            <a:spAutoFit/>
          </a:bodyPr>
          <a:lstStyle/>
          <a:p>
            <a:pPr algn="l"/>
            <a:r>
              <a:rPr sz="900" b="0" i="0">
                <a:solidFill>
                  <a:srgbClr val="555555"/>
                </a:solidFill>
                <a:latin typeface="Segoe UI"/>
              </a:rPr>
              <a:t>Microsoft · Confidential · © 2026 Microsoft Corporation</a:t>
            </a:r>
          </a:p>
        </p:txBody>
      </p:sp>
      <p:sp>
        <p:nvSpPr>
          <p:cNvPr id="27" name="TextBox 26"/>
          <p:cNvSpPr txBox="1"/>
          <p:nvPr/>
        </p:nvSpPr>
        <p:spPr>
          <a:xfrm>
            <a:off x="9784080" y="6510528"/>
            <a:ext cx="1828800" cy="274320"/>
          </a:xfrm>
          <a:prstGeom prst="rect">
            <a:avLst/>
          </a:prstGeom>
          <a:noFill/>
        </p:spPr>
        <p:txBody>
          <a:bodyPr wrap="square" lIns="0" rIns="0" tIns="0" bIns="0" anchor="t">
            <a:spAutoFit/>
          </a:bodyPr>
          <a:lstStyle/>
          <a:p>
            <a:pPr algn="r"/>
            <a:r>
              <a:rPr sz="900" b="0" i="0">
                <a:solidFill>
                  <a:srgbClr val="555555"/>
                </a:solidFill>
                <a:latin typeface="Segoe UI"/>
              </a:rPr>
              <a:t>3 / 14</a:t>
            </a:r>
          </a:p>
        </p:txBody>
      </p:sp>
      <p:sp>
        <p:nvSpPr>
          <p:cNvPr id="28" name="AICOE_GEO_ACCENT_Right Triangle 27"/>
          <p:cNvSpPr/>
          <p:nvPr/>
        </p:nvSpPr>
        <p:spPr>
          <a:xfrm rot="5400000">
            <a:off x="11761927" y="109728"/>
            <a:ext cx="320040" cy="320040"/>
          </a:xfrm>
          <a:prstGeom prst="rtTriangl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AICOE_GEO_ACCENT_Right Triangle 28"/>
          <p:cNvSpPr/>
          <p:nvPr/>
        </p:nvSpPr>
        <p:spPr>
          <a:xfrm rot="5400000">
            <a:off x="11873941" y="109728"/>
            <a:ext cx="208026" cy="208026"/>
          </a:xfrm>
          <a:prstGeom prst="rtTriangle">
            <a:avLst/>
          </a:prstGeom>
          <a:solidFill>
            <a:srgbClr val="50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144000" cy="274320"/>
          </a:xfrm>
          <a:prstGeom prst="rect">
            <a:avLst/>
          </a:prstGeom>
          <a:noFill/>
        </p:spPr>
        <p:txBody>
          <a:bodyPr wrap="square" lIns="0" rIns="0" tIns="0" bIns="0" anchor="t">
            <a:spAutoFit/>
          </a:bodyPr>
          <a:lstStyle/>
          <a:p>
            <a:pPr algn="l"/>
            <a:r>
              <a:rPr sz="1100" b="1" i="0">
                <a:solidFill>
                  <a:srgbClr val="742A9B"/>
                </a:solidFill>
                <a:latin typeface="Segoe UI"/>
              </a:rPr>
              <a:t>THREE SOVEREIGNTY DIMENSIONS</a:t>
            </a:r>
          </a:p>
        </p:txBody>
      </p:sp>
      <p:sp>
        <p:nvSpPr>
          <p:cNvPr id="3" name="TextBox 2"/>
          <p:cNvSpPr txBox="1"/>
          <p:nvPr/>
        </p:nvSpPr>
        <p:spPr>
          <a:xfrm>
            <a:off x="548640" y="594360"/>
            <a:ext cx="11155680" cy="731520"/>
          </a:xfrm>
          <a:prstGeom prst="rect">
            <a:avLst/>
          </a:prstGeom>
          <a:noFill/>
        </p:spPr>
        <p:txBody>
          <a:bodyPr wrap="square" lIns="0" rIns="0" tIns="0" bIns="0" anchor="t">
            <a:spAutoFit/>
          </a:bodyPr>
          <a:lstStyle/>
          <a:p>
            <a:pPr algn="l"/>
            <a:r>
              <a:rPr sz="2800" b="1" i="0">
                <a:solidFill>
                  <a:srgbClr val="1A1A1A"/>
                </a:solidFill>
                <a:latin typeface="Segoe UI"/>
              </a:rPr>
              <a:t>Customers conflate three different sovereignties</a:t>
            </a:r>
          </a:p>
        </p:txBody>
      </p:sp>
      <p:sp>
        <p:nvSpPr>
          <p:cNvPr id="4" name="TextBox 3"/>
          <p:cNvSpPr txBox="1"/>
          <p:nvPr/>
        </p:nvSpPr>
        <p:spPr>
          <a:xfrm>
            <a:off x="548640" y="1280160"/>
            <a:ext cx="11155680" cy="502920"/>
          </a:xfrm>
          <a:prstGeom prst="rect">
            <a:avLst/>
          </a:prstGeom>
          <a:noFill/>
        </p:spPr>
        <p:txBody>
          <a:bodyPr wrap="square" lIns="0" rIns="0" tIns="0" bIns="0" anchor="t">
            <a:spAutoFit/>
          </a:bodyPr>
          <a:lstStyle/>
          <a:p>
            <a:pPr algn="l"/>
            <a:r>
              <a:rPr sz="1400" b="0" i="0">
                <a:solidFill>
                  <a:srgbClr val="555555"/>
                </a:solidFill>
                <a:latin typeface="Segoe UI"/>
              </a:rPr>
              <a:t>Separating them is half the conversation.</a:t>
            </a:r>
          </a:p>
        </p:txBody>
      </p:sp>
      <p:sp>
        <p:nvSpPr>
          <p:cNvPr id="5" name="Rectangle 4"/>
          <p:cNvSpPr/>
          <p:nvPr/>
        </p:nvSpPr>
        <p:spPr>
          <a:xfrm>
            <a:off x="548640" y="2103120"/>
            <a:ext cx="3657600" cy="640080"/>
          </a:xfrm>
          <a:prstGeom prst="rect">
            <a:avLst/>
          </a:prstGeom>
          <a:solidFill>
            <a:srgbClr val="0067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267712"/>
            <a:ext cx="3657600" cy="457200"/>
          </a:xfrm>
          <a:prstGeom prst="rect">
            <a:avLst/>
          </a:prstGeom>
          <a:noFill/>
        </p:spPr>
        <p:txBody>
          <a:bodyPr wrap="square" lIns="0" rIns="0" tIns="0" bIns="0" anchor="t">
            <a:spAutoFit/>
          </a:bodyPr>
          <a:lstStyle/>
          <a:p>
            <a:pPr algn="l"/>
            <a:r>
              <a:rPr sz="1500" b="1" i="0">
                <a:solidFill>
                  <a:srgbClr val="FFFFFF"/>
                </a:solidFill>
                <a:latin typeface="Segoe UI"/>
              </a:rPr>
              <a:t>Data sovereignty</a:t>
            </a:r>
          </a:p>
        </p:txBody>
      </p:sp>
      <p:sp>
        <p:nvSpPr>
          <p:cNvPr id="7" name="Rectangle 6"/>
          <p:cNvSpPr/>
          <p:nvPr/>
        </p:nvSpPr>
        <p:spPr>
          <a:xfrm>
            <a:off x="548640" y="2743200"/>
            <a:ext cx="3657600" cy="347472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880360"/>
            <a:ext cx="3383280" cy="822960"/>
          </a:xfrm>
          <a:prstGeom prst="rect">
            <a:avLst/>
          </a:prstGeom>
          <a:noFill/>
        </p:spPr>
        <p:txBody>
          <a:bodyPr wrap="square" lIns="0" rIns="0" tIns="0" bIns="0" anchor="t">
            <a:spAutoFit/>
          </a:bodyPr>
          <a:lstStyle/>
          <a:p>
            <a:pPr algn="l"/>
            <a:r>
              <a:rPr sz="1100" b="0" i="1">
                <a:solidFill>
                  <a:srgbClr val="555555"/>
                </a:solidFill>
                <a:latin typeface="Segoe UI"/>
              </a:rPr>
              <a:t>Data — at rest, in flight, in vector indexes, in logs — stays in SA North / SA West.</a:t>
            </a:r>
          </a:p>
        </p:txBody>
      </p:sp>
      <p:sp>
        <p:nvSpPr>
          <p:cNvPr id="9" name="TextBox 8"/>
          <p:cNvSpPr txBox="1"/>
          <p:nvPr/>
        </p:nvSpPr>
        <p:spPr>
          <a:xfrm>
            <a:off x="685800" y="3749040"/>
            <a:ext cx="3383280" cy="2560320"/>
          </a:xfrm>
          <a:prstGeom prst="rect">
            <a:avLst/>
          </a:prstGeom>
          <a:noFill/>
        </p:spPr>
        <p:txBody>
          <a:bodyPr wrap="square" lIns="0" tIns="0">
            <a:spAutoFit/>
          </a:bodyPr>
          <a:lstStyle/>
          <a:p>
            <a:pPr algn="l">
              <a:lnSpc>
                <a:spcPct val="120000"/>
              </a:lnSpc>
            </a:pPr>
            <a:r>
              <a:rPr sz="1100" b="1">
                <a:solidFill>
                  <a:srgbClr val="0067B8"/>
                </a:solidFill>
                <a:latin typeface="Segoe UI"/>
              </a:rPr>
              <a:t>•  </a:t>
            </a:r>
            <a:r>
              <a:rPr sz="1100">
                <a:solidFill>
                  <a:srgbClr val="1A1A1A"/>
                </a:solidFill>
                <a:latin typeface="Segoe UI"/>
              </a:rPr>
              <a:t>Foundry data-zone scoping</a:t>
            </a:r>
          </a:p>
          <a:p>
            <a:pPr algn="l">
              <a:lnSpc>
                <a:spcPct val="120000"/>
              </a:lnSpc>
            </a:pPr>
            <a:r>
              <a:rPr sz="1100" b="1">
                <a:solidFill>
                  <a:srgbClr val="0067B8"/>
                </a:solidFill>
                <a:latin typeface="Segoe UI"/>
              </a:rPr>
              <a:t>•  </a:t>
            </a:r>
            <a:r>
              <a:rPr sz="1100">
                <a:solidFill>
                  <a:srgbClr val="1A1A1A"/>
                </a:solidFill>
                <a:latin typeface="Segoe UI"/>
              </a:rPr>
              <a:t>Vector + eval datasets in-region</a:t>
            </a:r>
          </a:p>
          <a:p>
            <a:pPr algn="l">
              <a:lnSpc>
                <a:spcPct val="120000"/>
              </a:lnSpc>
            </a:pPr>
            <a:r>
              <a:rPr sz="1100" b="1">
                <a:solidFill>
                  <a:srgbClr val="0067B8"/>
                </a:solidFill>
                <a:latin typeface="Segoe UI"/>
              </a:rPr>
              <a:t>•  </a:t>
            </a:r>
            <a:r>
              <a:rPr sz="1100">
                <a:solidFill>
                  <a:srgbClr val="1A1A1A"/>
                </a:solidFill>
                <a:latin typeface="Segoe UI"/>
              </a:rPr>
              <a:t>Cross-border per POPIA §72 list only</a:t>
            </a:r>
          </a:p>
          <a:p>
            <a:pPr algn="l">
              <a:lnSpc>
                <a:spcPct val="120000"/>
              </a:lnSpc>
            </a:pPr>
            <a:r>
              <a:rPr sz="1100" b="1">
                <a:solidFill>
                  <a:srgbClr val="0067B8"/>
                </a:solidFill>
                <a:latin typeface="Segoe UI"/>
              </a:rPr>
              <a:t>•  </a:t>
            </a:r>
            <a:r>
              <a:rPr sz="1100">
                <a:solidFill>
                  <a:srgbClr val="1A1A1A"/>
                </a:solidFill>
                <a:latin typeface="Segoe UI"/>
              </a:rPr>
              <a:t>Prompt + completion logs in-region</a:t>
            </a:r>
          </a:p>
        </p:txBody>
      </p:sp>
      <p:sp>
        <p:nvSpPr>
          <p:cNvPr id="10" name="Rectangle 9"/>
          <p:cNvSpPr/>
          <p:nvPr/>
        </p:nvSpPr>
        <p:spPr>
          <a:xfrm>
            <a:off x="4297680" y="2103120"/>
            <a:ext cx="3657600" cy="640080"/>
          </a:xfrm>
          <a:prstGeom prst="rect">
            <a:avLst/>
          </a:prstGeom>
          <a:solidFill>
            <a:srgbClr val="742A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34840" y="2267712"/>
            <a:ext cx="3657600" cy="457200"/>
          </a:xfrm>
          <a:prstGeom prst="rect">
            <a:avLst/>
          </a:prstGeom>
          <a:noFill/>
        </p:spPr>
        <p:txBody>
          <a:bodyPr wrap="square" lIns="0" rIns="0" tIns="0" bIns="0" anchor="t">
            <a:spAutoFit/>
          </a:bodyPr>
          <a:lstStyle/>
          <a:p>
            <a:pPr algn="l"/>
            <a:r>
              <a:rPr sz="1500" b="1" i="0">
                <a:solidFill>
                  <a:srgbClr val="FFFFFF"/>
                </a:solidFill>
                <a:latin typeface="Segoe UI"/>
              </a:rPr>
              <a:t>Operational sovereignty</a:t>
            </a:r>
          </a:p>
        </p:txBody>
      </p:sp>
      <p:sp>
        <p:nvSpPr>
          <p:cNvPr id="12" name="Rectangle 11"/>
          <p:cNvSpPr/>
          <p:nvPr/>
        </p:nvSpPr>
        <p:spPr>
          <a:xfrm>
            <a:off x="4297680" y="2743200"/>
            <a:ext cx="3657600" cy="347472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34840" y="2880360"/>
            <a:ext cx="3383280" cy="822960"/>
          </a:xfrm>
          <a:prstGeom prst="rect">
            <a:avLst/>
          </a:prstGeom>
          <a:noFill/>
        </p:spPr>
        <p:txBody>
          <a:bodyPr wrap="square" lIns="0" rIns="0" tIns="0" bIns="0" anchor="t">
            <a:spAutoFit/>
          </a:bodyPr>
          <a:lstStyle/>
          <a:p>
            <a:pPr algn="l"/>
            <a:r>
              <a:rPr sz="1100" b="0" i="1">
                <a:solidFill>
                  <a:srgbClr val="555555"/>
                </a:solidFill>
                <a:latin typeface="Segoe UI"/>
              </a:rPr>
              <a:t>SA-based operations, customer-controlled keys, customer-controlled break-glass.</a:t>
            </a:r>
          </a:p>
        </p:txBody>
      </p:sp>
      <p:sp>
        <p:nvSpPr>
          <p:cNvPr id="14" name="TextBox 13"/>
          <p:cNvSpPr txBox="1"/>
          <p:nvPr/>
        </p:nvSpPr>
        <p:spPr>
          <a:xfrm>
            <a:off x="4434840" y="3749040"/>
            <a:ext cx="3383280" cy="2560320"/>
          </a:xfrm>
          <a:prstGeom prst="rect">
            <a:avLst/>
          </a:prstGeom>
          <a:noFill/>
        </p:spPr>
        <p:txBody>
          <a:bodyPr wrap="square" lIns="0" tIns="0">
            <a:spAutoFit/>
          </a:bodyPr>
          <a:lstStyle/>
          <a:p>
            <a:pPr algn="l">
              <a:lnSpc>
                <a:spcPct val="120000"/>
              </a:lnSpc>
            </a:pPr>
            <a:r>
              <a:rPr sz="1100" b="1">
                <a:solidFill>
                  <a:srgbClr val="742A9B"/>
                </a:solidFill>
                <a:latin typeface="Segoe UI"/>
              </a:rPr>
              <a:t>•  </a:t>
            </a:r>
            <a:r>
              <a:rPr sz="1100">
                <a:solidFill>
                  <a:srgbClr val="1A1A1A"/>
                </a:solidFill>
                <a:latin typeface="Segoe UI"/>
              </a:rPr>
              <a:t>CMK via Key Vault HSM</a:t>
            </a:r>
          </a:p>
          <a:p>
            <a:pPr algn="l">
              <a:lnSpc>
                <a:spcPct val="120000"/>
              </a:lnSpc>
            </a:pPr>
            <a:r>
              <a:rPr sz="1100" b="1">
                <a:solidFill>
                  <a:srgbClr val="742A9B"/>
                </a:solidFill>
                <a:latin typeface="Segoe UI"/>
              </a:rPr>
              <a:t>•  </a:t>
            </a:r>
            <a:r>
              <a:rPr sz="1100">
                <a:solidFill>
                  <a:srgbClr val="1A1A1A"/>
                </a:solidFill>
                <a:latin typeface="Segoe UI"/>
              </a:rPr>
              <a:t>In-region business-hours support</a:t>
            </a:r>
          </a:p>
          <a:p>
            <a:pPr algn="l">
              <a:lnSpc>
                <a:spcPct val="120000"/>
              </a:lnSpc>
            </a:pPr>
            <a:r>
              <a:rPr sz="1100" b="1">
                <a:solidFill>
                  <a:srgbClr val="742A9B"/>
                </a:solidFill>
                <a:latin typeface="Segoe UI"/>
              </a:rPr>
              <a:t>•  </a:t>
            </a:r>
            <a:r>
              <a:rPr sz="1100">
                <a:solidFill>
                  <a:srgbClr val="1A1A1A"/>
                </a:solidFill>
                <a:latin typeface="Segoe UI"/>
              </a:rPr>
              <a:t>Customer-owned break-glass run-book</a:t>
            </a:r>
          </a:p>
          <a:p>
            <a:pPr algn="l">
              <a:lnSpc>
                <a:spcPct val="120000"/>
              </a:lnSpc>
            </a:pPr>
            <a:r>
              <a:rPr sz="1100" b="1">
                <a:solidFill>
                  <a:srgbClr val="742A9B"/>
                </a:solidFill>
                <a:latin typeface="Segoe UI"/>
              </a:rPr>
              <a:t>•  </a:t>
            </a:r>
            <a:r>
              <a:rPr sz="1100">
                <a:solidFill>
                  <a:srgbClr val="1A1A1A"/>
                </a:solidFill>
                <a:latin typeface="Segoe UI"/>
              </a:rPr>
              <a:t>Global support routed only on consent</a:t>
            </a:r>
          </a:p>
        </p:txBody>
      </p:sp>
      <p:sp>
        <p:nvSpPr>
          <p:cNvPr id="15" name="Rectangle 14"/>
          <p:cNvSpPr/>
          <p:nvPr/>
        </p:nvSpPr>
        <p:spPr>
          <a:xfrm>
            <a:off x="8046720" y="2103120"/>
            <a:ext cx="3657600" cy="6400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83880" y="2267712"/>
            <a:ext cx="3657600" cy="457200"/>
          </a:xfrm>
          <a:prstGeom prst="rect">
            <a:avLst/>
          </a:prstGeom>
          <a:noFill/>
        </p:spPr>
        <p:txBody>
          <a:bodyPr wrap="square" lIns="0" rIns="0" tIns="0" bIns="0" anchor="t">
            <a:spAutoFit/>
          </a:bodyPr>
          <a:lstStyle/>
          <a:p>
            <a:pPr algn="l"/>
            <a:r>
              <a:rPr sz="1500" b="1" i="0">
                <a:solidFill>
                  <a:srgbClr val="FFFFFF"/>
                </a:solidFill>
                <a:latin typeface="Segoe UI"/>
              </a:rPr>
              <a:t>Decision sovereignty</a:t>
            </a:r>
          </a:p>
        </p:txBody>
      </p:sp>
      <p:sp>
        <p:nvSpPr>
          <p:cNvPr id="17" name="Rectangle 16"/>
          <p:cNvSpPr/>
          <p:nvPr/>
        </p:nvSpPr>
        <p:spPr>
          <a:xfrm>
            <a:off x="8046720" y="2743200"/>
            <a:ext cx="3657600" cy="347472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83880" y="2880360"/>
            <a:ext cx="3383280" cy="822960"/>
          </a:xfrm>
          <a:prstGeom prst="rect">
            <a:avLst/>
          </a:prstGeom>
          <a:noFill/>
        </p:spPr>
        <p:txBody>
          <a:bodyPr wrap="square" lIns="0" rIns="0" tIns="0" bIns="0" anchor="t">
            <a:spAutoFit/>
          </a:bodyPr>
          <a:lstStyle/>
          <a:p>
            <a:pPr algn="l"/>
            <a:r>
              <a:rPr sz="1100" b="0" i="1">
                <a:solidFill>
                  <a:srgbClr val="555555"/>
                </a:solidFill>
                <a:latin typeface="Segoe UI"/>
              </a:rPr>
              <a:t>Customer retains decision authority on what the AI does.</a:t>
            </a:r>
          </a:p>
        </p:txBody>
      </p:sp>
      <p:sp>
        <p:nvSpPr>
          <p:cNvPr id="19" name="TextBox 18"/>
          <p:cNvSpPr txBox="1"/>
          <p:nvPr/>
        </p:nvSpPr>
        <p:spPr>
          <a:xfrm>
            <a:off x="8183880" y="3749040"/>
            <a:ext cx="3383280" cy="2560320"/>
          </a:xfrm>
          <a:prstGeom prst="rect">
            <a:avLst/>
          </a:prstGeom>
          <a:noFill/>
        </p:spPr>
        <p:txBody>
          <a:bodyPr wrap="square" lIns="0" tIns="0">
            <a:spAutoFit/>
          </a:bodyPr>
          <a:lstStyle/>
          <a:p>
            <a:pPr algn="l">
              <a:lnSpc>
                <a:spcPct val="120000"/>
              </a:lnSpc>
            </a:pPr>
            <a:r>
              <a:rPr sz="1100" b="1">
                <a:solidFill>
                  <a:srgbClr val="0B1F3A"/>
                </a:solidFill>
                <a:latin typeface="Segoe UI"/>
              </a:rPr>
              <a:t>•  </a:t>
            </a:r>
            <a:r>
              <a:rPr sz="1100">
                <a:solidFill>
                  <a:srgbClr val="1A1A1A"/>
                </a:solidFill>
                <a:latin typeface="Segoe UI"/>
              </a:rPr>
              <a:t>Customer owns system prompts</a:t>
            </a:r>
          </a:p>
          <a:p>
            <a:pPr algn="l">
              <a:lnSpc>
                <a:spcPct val="120000"/>
              </a:lnSpc>
            </a:pPr>
            <a:r>
              <a:rPr sz="1100" b="1">
                <a:solidFill>
                  <a:srgbClr val="0B1F3A"/>
                </a:solidFill>
                <a:latin typeface="Segoe UI"/>
              </a:rPr>
              <a:t>•  </a:t>
            </a:r>
            <a:r>
              <a:rPr sz="1100">
                <a:solidFill>
                  <a:srgbClr val="1A1A1A"/>
                </a:solidFill>
                <a:latin typeface="Segoe UI"/>
              </a:rPr>
              <a:t>Customer-approved model catalogue</a:t>
            </a:r>
          </a:p>
          <a:p>
            <a:pPr algn="l">
              <a:lnSpc>
                <a:spcPct val="120000"/>
              </a:lnSpc>
            </a:pPr>
            <a:r>
              <a:rPr sz="1100" b="1">
                <a:solidFill>
                  <a:srgbClr val="0B1F3A"/>
                </a:solidFill>
                <a:latin typeface="Segoe UI"/>
              </a:rPr>
              <a:t>•  </a:t>
            </a:r>
            <a:r>
              <a:rPr sz="1100">
                <a:solidFill>
                  <a:srgbClr val="1A1A1A"/>
                </a:solidFill>
                <a:latin typeface="Segoe UI"/>
              </a:rPr>
              <a:t>Reasoning trace exposed to IA</a:t>
            </a:r>
          </a:p>
          <a:p>
            <a:pPr algn="l">
              <a:lnSpc>
                <a:spcPct val="120000"/>
              </a:lnSpc>
            </a:pPr>
            <a:r>
              <a:rPr sz="1100" b="1">
                <a:solidFill>
                  <a:srgbClr val="0B1F3A"/>
                </a:solidFill>
                <a:latin typeface="Segoe UI"/>
              </a:rPr>
              <a:t>•  </a:t>
            </a:r>
            <a:r>
              <a:rPr sz="1100">
                <a:solidFill>
                  <a:srgbClr val="1A1A1A"/>
                </a:solidFill>
                <a:latin typeface="Segoe UI"/>
              </a:rPr>
              <a:t>Kill-switch under customer control</a:t>
            </a:r>
          </a:p>
        </p:txBody>
      </p:sp>
      <p:sp>
        <p:nvSpPr>
          <p:cNvPr id="20" name="Rectangle 19"/>
          <p:cNvSpPr/>
          <p:nvPr/>
        </p:nvSpPr>
        <p:spPr>
          <a:xfrm>
            <a:off x="548640" y="256032"/>
            <a:ext cx="11091672" cy="9000"/>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6446520"/>
            <a:ext cx="11091672" cy="9000"/>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6510528"/>
            <a:ext cx="7315200" cy="274320"/>
          </a:xfrm>
          <a:prstGeom prst="rect">
            <a:avLst/>
          </a:prstGeom>
          <a:noFill/>
        </p:spPr>
        <p:txBody>
          <a:bodyPr wrap="square" lIns="0" rIns="0" tIns="0" bIns="0" anchor="t">
            <a:spAutoFit/>
          </a:bodyPr>
          <a:lstStyle/>
          <a:p>
            <a:pPr algn="l"/>
            <a:r>
              <a:rPr sz="900" b="0" i="0">
                <a:solidFill>
                  <a:srgbClr val="555555"/>
                </a:solidFill>
                <a:latin typeface="Segoe UI"/>
              </a:rPr>
              <a:t>Microsoft · Confidential · © 2026 Microsoft Corporation</a:t>
            </a:r>
          </a:p>
        </p:txBody>
      </p:sp>
      <p:sp>
        <p:nvSpPr>
          <p:cNvPr id="23" name="TextBox 22"/>
          <p:cNvSpPr txBox="1"/>
          <p:nvPr/>
        </p:nvSpPr>
        <p:spPr>
          <a:xfrm>
            <a:off x="9784080" y="6510528"/>
            <a:ext cx="1828800" cy="274320"/>
          </a:xfrm>
          <a:prstGeom prst="rect">
            <a:avLst/>
          </a:prstGeom>
          <a:noFill/>
        </p:spPr>
        <p:txBody>
          <a:bodyPr wrap="square" lIns="0" rIns="0" tIns="0" bIns="0" anchor="t">
            <a:spAutoFit/>
          </a:bodyPr>
          <a:lstStyle/>
          <a:p>
            <a:pPr algn="r"/>
            <a:r>
              <a:rPr sz="900" b="0" i="0">
                <a:solidFill>
                  <a:srgbClr val="555555"/>
                </a:solidFill>
                <a:latin typeface="Segoe UI"/>
              </a:rPr>
              <a:t>4 / 14</a:t>
            </a:r>
          </a:p>
        </p:txBody>
      </p:sp>
      <p:sp>
        <p:nvSpPr>
          <p:cNvPr id="24" name="AICOE_GEO_ACCENT_Right Triangle 23"/>
          <p:cNvSpPr/>
          <p:nvPr/>
        </p:nvSpPr>
        <p:spPr>
          <a:xfrm rot="5400000">
            <a:off x="11761927" y="109728"/>
            <a:ext cx="320040" cy="320040"/>
          </a:xfrm>
          <a:prstGeom prst="rtTriangl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ICOE_GEO_ACCENT_Right Triangle 24"/>
          <p:cNvSpPr/>
          <p:nvPr/>
        </p:nvSpPr>
        <p:spPr>
          <a:xfrm rot="5400000">
            <a:off x="11873941" y="109728"/>
            <a:ext cx="208026" cy="208026"/>
          </a:xfrm>
          <a:prstGeom prst="rtTriangle">
            <a:avLst/>
          </a:prstGeom>
          <a:solidFill>
            <a:srgbClr val="50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144000" cy="274320"/>
          </a:xfrm>
          <a:prstGeom prst="rect">
            <a:avLst/>
          </a:prstGeom>
          <a:noFill/>
        </p:spPr>
        <p:txBody>
          <a:bodyPr wrap="square" lIns="0" rIns="0" tIns="0" bIns="0" anchor="t">
            <a:spAutoFit/>
          </a:bodyPr>
          <a:lstStyle/>
          <a:p>
            <a:pPr algn="l"/>
            <a:r>
              <a:rPr sz="1100" b="1" i="0">
                <a:solidFill>
                  <a:srgbClr val="0067B8"/>
                </a:solidFill>
                <a:latin typeface="Segoe UI"/>
              </a:rPr>
              <a:t>REGION POSTURE</a:t>
            </a:r>
          </a:p>
        </p:txBody>
      </p:sp>
      <p:sp>
        <p:nvSpPr>
          <p:cNvPr id="3" name="TextBox 2"/>
          <p:cNvSpPr txBox="1"/>
          <p:nvPr/>
        </p:nvSpPr>
        <p:spPr>
          <a:xfrm>
            <a:off x="548640" y="594360"/>
            <a:ext cx="11155680" cy="731520"/>
          </a:xfrm>
          <a:prstGeom prst="rect">
            <a:avLst/>
          </a:prstGeom>
          <a:noFill/>
        </p:spPr>
        <p:txBody>
          <a:bodyPr wrap="square" lIns="0" rIns="0" tIns="0" bIns="0" anchor="t">
            <a:spAutoFit/>
          </a:bodyPr>
          <a:lstStyle/>
          <a:p>
            <a:pPr algn="l"/>
            <a:r>
              <a:rPr sz="2800" b="1" i="0">
                <a:solidFill>
                  <a:srgbClr val="1A1A1A"/>
                </a:solidFill>
                <a:latin typeface="Segoe UI"/>
              </a:rPr>
              <a:t>What is in-region today</a:t>
            </a:r>
          </a:p>
        </p:txBody>
      </p:sp>
      <p:sp>
        <p:nvSpPr>
          <p:cNvPr id="4" name="TextBox 3"/>
          <p:cNvSpPr txBox="1"/>
          <p:nvPr/>
        </p:nvSpPr>
        <p:spPr>
          <a:xfrm>
            <a:off x="548640" y="1280160"/>
            <a:ext cx="11155680" cy="502920"/>
          </a:xfrm>
          <a:prstGeom prst="rect">
            <a:avLst/>
          </a:prstGeom>
          <a:noFill/>
        </p:spPr>
        <p:txBody>
          <a:bodyPr wrap="square" lIns="0" rIns="0" tIns="0" bIns="0" anchor="t">
            <a:spAutoFit/>
          </a:bodyPr>
          <a:lstStyle/>
          <a:p>
            <a:pPr algn="l"/>
            <a:r>
              <a:rPr sz="1400" b="0" i="0">
                <a:solidFill>
                  <a:srgbClr val="555555"/>
                </a:solidFill>
                <a:latin typeface="Segoe UI"/>
              </a:rPr>
              <a:t>Verify quarterly against aka.ms/AzureRegions and Foundry data-zone docs.</a:t>
            </a:r>
          </a:p>
        </p:txBody>
      </p:sp>
      <p:graphicFrame>
        <p:nvGraphicFramePr>
          <p:cNvPr id="5" name="Table 4"/>
          <p:cNvGraphicFramePr>
            <a:graphicFrameLocks noGrp="1"/>
          </p:cNvGraphicFramePr>
          <p:nvPr/>
        </p:nvGraphicFramePr>
        <p:xfrm>
          <a:off x="548640" y="2103120"/>
          <a:ext cx="11155680" cy="3840480"/>
        </p:xfrm>
        <a:graphic>
          <a:graphicData uri="http://schemas.openxmlformats.org/drawingml/2006/table">
            <a:tbl>
              <a:tblPr firstRow="1" bandRow="1">
                <a:tableStyleId>{5C22544A-7EE6-4342-B048-85BDC9FD1C3A}</a:tableStyleId>
              </a:tblPr>
              <a:tblGrid>
                <a:gridCol w="2788920"/>
                <a:gridCol w="1394460"/>
                <a:gridCol w="1394460"/>
                <a:gridCol w="5577840"/>
              </a:tblGrid>
              <a:tr h="480060">
                <a:tc>
                  <a:txBody>
                    <a:bodyPr wrap="square"/>
                    <a:lstStyle/>
                    <a:p>
                      <a:r>
                        <a:rPr sz="1100" b="1">
                          <a:solidFill>
                            <a:srgbClr val="FFFFFF"/>
                          </a:solidFill>
                          <a:latin typeface="Segoe UI"/>
                        </a:rPr>
                        <a:t>Capability</a:t>
                      </a:r>
                    </a:p>
                  </a:txBody>
                  <a:tcPr marL="73152" marR="73152" marT="36576" marB="36576">
                    <a:solidFill>
                      <a:srgbClr val="0B1F3A"/>
                    </a:solidFill>
                  </a:tcPr>
                </a:tc>
                <a:tc>
                  <a:txBody>
                    <a:bodyPr wrap="square"/>
                    <a:lstStyle/>
                    <a:p>
                      <a:r>
                        <a:rPr sz="1100" b="1">
                          <a:solidFill>
                            <a:srgbClr val="FFFFFF"/>
                          </a:solidFill>
                          <a:latin typeface="Segoe UI"/>
                        </a:rPr>
                        <a:t>SA North</a:t>
                      </a:r>
                    </a:p>
                  </a:txBody>
                  <a:tcPr marL="73152" marR="73152" marT="36576" marB="36576">
                    <a:solidFill>
                      <a:srgbClr val="0B1F3A"/>
                    </a:solidFill>
                  </a:tcPr>
                </a:tc>
                <a:tc>
                  <a:txBody>
                    <a:bodyPr wrap="square"/>
                    <a:lstStyle/>
                    <a:p>
                      <a:r>
                        <a:rPr sz="1100" b="1">
                          <a:solidFill>
                            <a:srgbClr val="FFFFFF"/>
                          </a:solidFill>
                          <a:latin typeface="Segoe UI"/>
                        </a:rPr>
                        <a:t>SA West</a:t>
                      </a:r>
                    </a:p>
                  </a:txBody>
                  <a:tcPr marL="73152" marR="73152" marT="36576" marB="36576">
                    <a:solidFill>
                      <a:srgbClr val="0B1F3A"/>
                    </a:solidFill>
                  </a:tcPr>
                </a:tc>
                <a:tc>
                  <a:txBody>
                    <a:bodyPr wrap="square"/>
                    <a:lstStyle/>
                    <a:p>
                      <a:r>
                        <a:rPr sz="1100" b="1">
                          <a:solidFill>
                            <a:srgbClr val="FFFFFF"/>
                          </a:solidFill>
                          <a:latin typeface="Segoe UI"/>
                        </a:rPr>
                        <a:t>Notes</a:t>
                      </a:r>
                    </a:p>
                  </a:txBody>
                  <a:tcPr marL="73152" marR="73152" marT="36576" marB="36576">
                    <a:solidFill>
                      <a:srgbClr val="0B1F3A"/>
                    </a:solidFill>
                  </a:tcPr>
                </a:tc>
              </a:tr>
              <a:tr h="480060">
                <a:tc>
                  <a:txBody>
                    <a:bodyPr wrap="square"/>
                    <a:lstStyle/>
                    <a:p>
                      <a:r>
                        <a:rPr sz="1100" b="1">
                          <a:solidFill>
                            <a:srgbClr val="1A1A1A"/>
                          </a:solidFill>
                          <a:latin typeface="Segoe UI"/>
                        </a:rPr>
                        <a:t>Azure AI Foundry</a:t>
                      </a:r>
                    </a:p>
                  </a:txBody>
                  <a:tcPr marL="73152" marR="73152" marT="27432" marB="27432">
                    <a:solidFill>
                      <a:srgbClr val="FFFFFF"/>
                    </a:solidFill>
                  </a:tcPr>
                </a:tc>
                <a:tc>
                  <a:txBody>
                    <a:bodyPr wrap="square"/>
                    <a:lstStyle/>
                    <a:p>
                      <a:r>
                        <a:rPr sz="1100" b="0">
                          <a:solidFill>
                            <a:srgbClr val="1A1A1A"/>
                          </a:solidFill>
                          <a:latin typeface="Segoe UI"/>
                        </a:rPr>
                        <a:t>Available</a:t>
                      </a:r>
                    </a:p>
                  </a:txBody>
                  <a:tcPr marL="73152" marR="73152" marT="27432" marB="27432">
                    <a:solidFill>
                      <a:srgbClr val="FFFFFF"/>
                    </a:solidFill>
                  </a:tcPr>
                </a:tc>
                <a:tc>
                  <a:txBody>
                    <a:bodyPr wrap="square"/>
                    <a:lstStyle/>
                    <a:p>
                      <a:r>
                        <a:rPr sz="1100" b="0">
                          <a:solidFill>
                            <a:srgbClr val="1A1A1A"/>
                          </a:solidFill>
                          <a:latin typeface="Segoe UI"/>
                        </a:rPr>
                        <a:t>Partial</a:t>
                      </a:r>
                    </a:p>
                  </a:txBody>
                  <a:tcPr marL="73152" marR="73152" marT="27432" marB="27432">
                    <a:solidFill>
                      <a:srgbClr val="FFFFFF"/>
                    </a:solidFill>
                  </a:tcPr>
                </a:tc>
                <a:tc>
                  <a:txBody>
                    <a:bodyPr wrap="square"/>
                    <a:lstStyle/>
                    <a:p>
                      <a:r>
                        <a:rPr sz="1100" b="0">
                          <a:solidFill>
                            <a:srgbClr val="1A1A1A"/>
                          </a:solidFill>
                          <a:latin typeface="Segoe UI"/>
                        </a:rPr>
                        <a:t>Service GA progression — verify quarterly</a:t>
                      </a:r>
                    </a:p>
                  </a:txBody>
                  <a:tcPr marL="73152" marR="73152" marT="27432" marB="27432">
                    <a:solidFill>
                      <a:srgbClr val="FFFFFF"/>
                    </a:solidFill>
                  </a:tcPr>
                </a:tc>
              </a:tr>
              <a:tr h="480060">
                <a:tc>
                  <a:txBody>
                    <a:bodyPr wrap="square"/>
                    <a:lstStyle/>
                    <a:p>
                      <a:r>
                        <a:rPr sz="1100" b="1">
                          <a:solidFill>
                            <a:srgbClr val="1A1A1A"/>
                          </a:solidFill>
                          <a:latin typeface="Segoe UI"/>
                        </a:rPr>
                        <a:t>Azure OpenAI models</a:t>
                      </a:r>
                    </a:p>
                  </a:txBody>
                  <a:tcPr marL="73152" marR="73152" marT="27432" marB="27432">
                    <a:solidFill>
                      <a:srgbClr val="F3F6FA"/>
                    </a:solidFill>
                  </a:tcPr>
                </a:tc>
                <a:tc>
                  <a:txBody>
                    <a:bodyPr wrap="square"/>
                    <a:lstStyle/>
                    <a:p>
                      <a:r>
                        <a:rPr sz="1100" b="0">
                          <a:solidFill>
                            <a:srgbClr val="1A1A1A"/>
                          </a:solidFill>
                          <a:latin typeface="Segoe UI"/>
                        </a:rPr>
                        <a:t>Available</a:t>
                      </a:r>
                    </a:p>
                  </a:txBody>
                  <a:tcPr marL="73152" marR="73152" marT="27432" marB="27432">
                    <a:solidFill>
                      <a:srgbClr val="F3F6FA"/>
                    </a:solidFill>
                  </a:tcPr>
                </a:tc>
                <a:tc>
                  <a:txBody>
                    <a:bodyPr wrap="square"/>
                    <a:lstStyle/>
                    <a:p>
                      <a:r>
                        <a:rPr sz="1100" b="0">
                          <a:solidFill>
                            <a:srgbClr val="1A1A1A"/>
                          </a:solidFill>
                          <a:latin typeface="Segoe UI"/>
                        </a:rPr>
                        <a:t>Partial</a:t>
                      </a:r>
                    </a:p>
                  </a:txBody>
                  <a:tcPr marL="73152" marR="73152" marT="27432" marB="27432">
                    <a:solidFill>
                      <a:srgbClr val="F3F6FA"/>
                    </a:solidFill>
                  </a:tcPr>
                </a:tc>
                <a:tc>
                  <a:txBody>
                    <a:bodyPr wrap="square"/>
                    <a:lstStyle/>
                    <a:p>
                      <a:r>
                        <a:rPr sz="1100" b="0">
                          <a:solidFill>
                            <a:srgbClr val="1A1A1A"/>
                          </a:solidFill>
                          <a:latin typeface="Segoe UI"/>
                        </a:rPr>
                        <a:t>Model rollout differs by region</a:t>
                      </a:r>
                    </a:p>
                  </a:txBody>
                  <a:tcPr marL="73152" marR="73152" marT="27432" marB="27432">
                    <a:solidFill>
                      <a:srgbClr val="F3F6FA"/>
                    </a:solidFill>
                  </a:tcPr>
                </a:tc>
              </a:tr>
              <a:tr h="480060">
                <a:tc>
                  <a:txBody>
                    <a:bodyPr wrap="square"/>
                    <a:lstStyle/>
                    <a:p>
                      <a:r>
                        <a:rPr sz="1100" b="1">
                          <a:solidFill>
                            <a:srgbClr val="1A1A1A"/>
                          </a:solidFill>
                          <a:latin typeface="Segoe UI"/>
                        </a:rPr>
                        <a:t>M365 Copilot processing</a:t>
                      </a:r>
                    </a:p>
                  </a:txBody>
                  <a:tcPr marL="73152" marR="73152" marT="27432" marB="27432">
                    <a:solidFill>
                      <a:srgbClr val="FFFFFF"/>
                    </a:solidFill>
                  </a:tcPr>
                </a:tc>
                <a:tc>
                  <a:txBody>
                    <a:bodyPr wrap="square"/>
                    <a:lstStyle/>
                    <a:p>
                      <a:r>
                        <a:rPr sz="1100" b="0">
                          <a:solidFill>
                            <a:srgbClr val="1A1A1A"/>
                          </a:solidFill>
                          <a:latin typeface="Segoe UI"/>
                        </a:rPr>
                        <a:t>EU / US</a:t>
                      </a:r>
                    </a:p>
                  </a:txBody>
                  <a:tcPr marL="73152" marR="73152" marT="27432" marB="27432">
                    <a:solidFill>
                      <a:srgbClr val="FFFFFF"/>
                    </a:solidFill>
                  </a:tcPr>
                </a:tc>
                <a:tc>
                  <a:txBody>
                    <a:bodyPr wrap="square"/>
                    <a:lstStyle/>
                    <a:p>
                      <a:r>
                        <a:rPr sz="1100" b="0">
                          <a:solidFill>
                            <a:srgbClr val="1A1A1A"/>
                          </a:solidFill>
                          <a:latin typeface="Segoe UI"/>
                        </a:rPr>
                        <a:t>EU / US</a:t>
                      </a:r>
                    </a:p>
                  </a:txBody>
                  <a:tcPr marL="73152" marR="73152" marT="27432" marB="27432">
                    <a:solidFill>
                      <a:srgbClr val="FFFFFF"/>
                    </a:solidFill>
                  </a:tcPr>
                </a:tc>
                <a:tc>
                  <a:txBody>
                    <a:bodyPr wrap="square"/>
                    <a:lstStyle/>
                    <a:p>
                      <a:r>
                        <a:rPr sz="1100" b="0">
                          <a:solidFill>
                            <a:srgbClr val="1A1A1A"/>
                          </a:solidFill>
                          <a:latin typeface="Segoe UI"/>
                        </a:rPr>
                        <a:t>Tenant-region determined; not in-SA today</a:t>
                      </a:r>
                    </a:p>
                  </a:txBody>
                  <a:tcPr marL="73152" marR="73152" marT="27432" marB="27432">
                    <a:solidFill>
                      <a:srgbClr val="FFFFFF"/>
                    </a:solidFill>
                  </a:tcPr>
                </a:tc>
              </a:tr>
              <a:tr h="480060">
                <a:tc>
                  <a:txBody>
                    <a:bodyPr wrap="square"/>
                    <a:lstStyle/>
                    <a:p>
                      <a:r>
                        <a:rPr sz="1100" b="1">
                          <a:solidFill>
                            <a:srgbClr val="1A1A1A"/>
                          </a:solidFill>
                          <a:latin typeface="Segoe UI"/>
                        </a:rPr>
                        <a:t>Purview AI Hub</a:t>
                      </a:r>
                    </a:p>
                  </a:txBody>
                  <a:tcPr marL="73152" marR="73152" marT="27432" marB="27432">
                    <a:solidFill>
                      <a:srgbClr val="F3F6FA"/>
                    </a:solidFill>
                  </a:tcPr>
                </a:tc>
                <a:tc>
                  <a:txBody>
                    <a:bodyPr wrap="square"/>
                    <a:lstStyle/>
                    <a:p>
                      <a:r>
                        <a:rPr sz="1100" b="0">
                          <a:solidFill>
                            <a:srgbClr val="1A1A1A"/>
                          </a:solidFill>
                          <a:latin typeface="Segoe UI"/>
                        </a:rPr>
                        <a:t>Available</a:t>
                      </a:r>
                    </a:p>
                  </a:txBody>
                  <a:tcPr marL="73152" marR="73152" marT="27432" marB="27432">
                    <a:solidFill>
                      <a:srgbClr val="F3F6FA"/>
                    </a:solidFill>
                  </a:tcPr>
                </a:tc>
                <a:tc>
                  <a:txBody>
                    <a:bodyPr wrap="square"/>
                    <a:lstStyle/>
                    <a:p>
                      <a:r>
                        <a:rPr sz="1100" b="0">
                          <a:solidFill>
                            <a:srgbClr val="1A1A1A"/>
                          </a:solidFill>
                          <a:latin typeface="Segoe UI"/>
                        </a:rPr>
                        <a:t>Available</a:t>
                      </a:r>
                    </a:p>
                  </a:txBody>
                  <a:tcPr marL="73152" marR="73152" marT="27432" marB="27432">
                    <a:solidFill>
                      <a:srgbClr val="F3F6FA"/>
                    </a:solidFill>
                  </a:tcPr>
                </a:tc>
                <a:tc>
                  <a:txBody>
                    <a:bodyPr wrap="square"/>
                    <a:lstStyle/>
                    <a:p>
                      <a:r>
                        <a:rPr sz="1100" b="0">
                          <a:solidFill>
                            <a:srgbClr val="1A1A1A"/>
                          </a:solidFill>
                          <a:latin typeface="Segoe UI"/>
                        </a:rPr>
                        <a:t>Tenant-region service</a:t>
                      </a:r>
                    </a:p>
                  </a:txBody>
                  <a:tcPr marL="73152" marR="73152" marT="27432" marB="27432">
                    <a:solidFill>
                      <a:srgbClr val="F3F6FA"/>
                    </a:solidFill>
                  </a:tcPr>
                </a:tc>
              </a:tr>
              <a:tr h="480060">
                <a:tc>
                  <a:txBody>
                    <a:bodyPr wrap="square"/>
                    <a:lstStyle/>
                    <a:p>
                      <a:r>
                        <a:rPr sz="1100" b="1">
                          <a:solidFill>
                            <a:srgbClr val="1A1A1A"/>
                          </a:solidFill>
                          <a:latin typeface="Segoe UI"/>
                        </a:rPr>
                        <a:t>Defender for Cloud AI</a:t>
                      </a:r>
                    </a:p>
                  </a:txBody>
                  <a:tcPr marL="73152" marR="73152" marT="27432" marB="27432">
                    <a:solidFill>
                      <a:srgbClr val="FFFFFF"/>
                    </a:solidFill>
                  </a:tcPr>
                </a:tc>
                <a:tc>
                  <a:txBody>
                    <a:bodyPr wrap="square"/>
                    <a:lstStyle/>
                    <a:p>
                      <a:r>
                        <a:rPr sz="1100" b="0">
                          <a:solidFill>
                            <a:srgbClr val="1A1A1A"/>
                          </a:solidFill>
                          <a:latin typeface="Segoe UI"/>
                        </a:rPr>
                        <a:t>Available</a:t>
                      </a:r>
                    </a:p>
                  </a:txBody>
                  <a:tcPr marL="73152" marR="73152" marT="27432" marB="27432">
                    <a:solidFill>
                      <a:srgbClr val="FFFFFF"/>
                    </a:solidFill>
                  </a:tcPr>
                </a:tc>
                <a:tc>
                  <a:txBody>
                    <a:bodyPr wrap="square"/>
                    <a:lstStyle/>
                    <a:p>
                      <a:r>
                        <a:rPr sz="1100" b="0">
                          <a:solidFill>
                            <a:srgbClr val="1A1A1A"/>
                          </a:solidFill>
                          <a:latin typeface="Segoe UI"/>
                        </a:rPr>
                        <a:t>Available</a:t>
                      </a:r>
                    </a:p>
                  </a:txBody>
                  <a:tcPr marL="73152" marR="73152" marT="27432" marB="27432">
                    <a:solidFill>
                      <a:srgbClr val="FFFFFF"/>
                    </a:solidFill>
                  </a:tcPr>
                </a:tc>
                <a:tc>
                  <a:txBody>
                    <a:bodyPr wrap="square"/>
                    <a:lstStyle/>
                    <a:p>
                      <a:r>
                        <a:rPr sz="1100" b="0">
                          <a:solidFill>
                            <a:srgbClr val="1A1A1A"/>
                          </a:solidFill>
                          <a:latin typeface="Segoe UI"/>
                        </a:rPr>
                        <a:t/>
                      </a:r>
                    </a:p>
                  </a:txBody>
                  <a:tcPr marL="73152" marR="73152" marT="27432" marB="27432">
                    <a:solidFill>
                      <a:srgbClr val="FFFFFF"/>
                    </a:solidFill>
                  </a:tcPr>
                </a:tc>
              </a:tr>
              <a:tr h="480060">
                <a:tc>
                  <a:txBody>
                    <a:bodyPr wrap="square"/>
                    <a:lstStyle/>
                    <a:p>
                      <a:r>
                        <a:rPr sz="1100" b="1">
                          <a:solidFill>
                            <a:srgbClr val="1A1A1A"/>
                          </a:solidFill>
                          <a:latin typeface="Segoe UI"/>
                        </a:rPr>
                        <a:t>Document Intelligence</a:t>
                      </a:r>
                    </a:p>
                  </a:txBody>
                  <a:tcPr marL="73152" marR="73152" marT="27432" marB="27432">
                    <a:solidFill>
                      <a:srgbClr val="F3F6FA"/>
                    </a:solidFill>
                  </a:tcPr>
                </a:tc>
                <a:tc>
                  <a:txBody>
                    <a:bodyPr wrap="square"/>
                    <a:lstStyle/>
                    <a:p>
                      <a:r>
                        <a:rPr sz="1100" b="0">
                          <a:solidFill>
                            <a:srgbClr val="1A1A1A"/>
                          </a:solidFill>
                          <a:latin typeface="Segoe UI"/>
                        </a:rPr>
                        <a:t>Available</a:t>
                      </a:r>
                    </a:p>
                  </a:txBody>
                  <a:tcPr marL="73152" marR="73152" marT="27432" marB="27432">
                    <a:solidFill>
                      <a:srgbClr val="F3F6FA"/>
                    </a:solidFill>
                  </a:tcPr>
                </a:tc>
                <a:tc>
                  <a:txBody>
                    <a:bodyPr wrap="square"/>
                    <a:lstStyle/>
                    <a:p>
                      <a:r>
                        <a:rPr sz="1100" b="0">
                          <a:solidFill>
                            <a:srgbClr val="1A1A1A"/>
                          </a:solidFill>
                          <a:latin typeface="Segoe UI"/>
                        </a:rPr>
                        <a:t>Available</a:t>
                      </a:r>
                    </a:p>
                  </a:txBody>
                  <a:tcPr marL="73152" marR="73152" marT="27432" marB="27432">
                    <a:solidFill>
                      <a:srgbClr val="F3F6FA"/>
                    </a:solidFill>
                  </a:tcPr>
                </a:tc>
                <a:tc>
                  <a:txBody>
                    <a:bodyPr wrap="square"/>
                    <a:lstStyle/>
                    <a:p>
                      <a:r>
                        <a:rPr sz="1100" b="0">
                          <a:solidFill>
                            <a:srgbClr val="1A1A1A"/>
                          </a:solidFill>
                          <a:latin typeface="Segoe UI"/>
                        </a:rPr>
                        <a:t/>
                      </a:r>
                    </a:p>
                  </a:txBody>
                  <a:tcPr marL="73152" marR="73152" marT="27432" marB="27432">
                    <a:solidFill>
                      <a:srgbClr val="F3F6FA"/>
                    </a:solidFill>
                  </a:tcPr>
                </a:tc>
              </a:tr>
              <a:tr h="480060">
                <a:tc>
                  <a:txBody>
                    <a:bodyPr wrap="square"/>
                    <a:lstStyle/>
                    <a:p>
                      <a:r>
                        <a:rPr sz="1100" b="1">
                          <a:solidFill>
                            <a:srgbClr val="1A1A1A"/>
                          </a:solidFill>
                          <a:latin typeface="Segoe UI"/>
                        </a:rPr>
                        <a:t>Communication Services</a:t>
                      </a:r>
                    </a:p>
                  </a:txBody>
                  <a:tcPr marL="73152" marR="73152" marT="27432" marB="27432">
                    <a:solidFill>
                      <a:srgbClr val="FFFFFF"/>
                    </a:solidFill>
                  </a:tcPr>
                </a:tc>
                <a:tc>
                  <a:txBody>
                    <a:bodyPr wrap="square"/>
                    <a:lstStyle/>
                    <a:p>
                      <a:r>
                        <a:rPr sz="1100" b="0">
                          <a:solidFill>
                            <a:srgbClr val="1A1A1A"/>
                          </a:solidFill>
                          <a:latin typeface="Segoe UI"/>
                        </a:rPr>
                        <a:t>Available</a:t>
                      </a:r>
                    </a:p>
                  </a:txBody>
                  <a:tcPr marL="73152" marR="73152" marT="27432" marB="27432">
                    <a:solidFill>
                      <a:srgbClr val="FFFFFF"/>
                    </a:solidFill>
                  </a:tcPr>
                </a:tc>
                <a:tc>
                  <a:txBody>
                    <a:bodyPr wrap="square"/>
                    <a:lstStyle/>
                    <a:p>
                      <a:r>
                        <a:rPr sz="1100" b="0">
                          <a:solidFill>
                            <a:srgbClr val="1A1A1A"/>
                          </a:solidFill>
                          <a:latin typeface="Segoe UI"/>
                        </a:rPr>
                        <a:t>Partial</a:t>
                      </a:r>
                    </a:p>
                  </a:txBody>
                  <a:tcPr marL="73152" marR="73152" marT="27432" marB="27432">
                    <a:solidFill>
                      <a:srgbClr val="FFFFFF"/>
                    </a:solidFill>
                  </a:tcPr>
                </a:tc>
                <a:tc>
                  <a:txBody>
                    <a:bodyPr wrap="square"/>
                    <a:lstStyle/>
                    <a:p>
                      <a:r>
                        <a:rPr sz="1100" b="0">
                          <a:solidFill>
                            <a:srgbClr val="1A1A1A"/>
                          </a:solidFill>
                          <a:latin typeface="Segoe UI"/>
                        </a:rPr>
                        <a:t>WhatsApp / SMS channels</a:t>
                      </a:r>
                    </a:p>
                  </a:txBody>
                  <a:tcPr marL="73152" marR="73152" marT="27432" marB="27432">
                    <a:solidFill>
                      <a:srgbClr val="FFFFFF"/>
                    </a:solidFill>
                  </a:tcPr>
                </a:tc>
              </a:tr>
            </a:tbl>
          </a:graphicData>
        </a:graphic>
      </p:graphicFrame>
      <p:sp>
        <p:nvSpPr>
          <p:cNvPr id="6" name="TextBox 5"/>
          <p:cNvSpPr txBox="1"/>
          <p:nvPr/>
        </p:nvSpPr>
        <p:spPr>
          <a:xfrm>
            <a:off x="548640" y="6035040"/>
            <a:ext cx="11155680" cy="320040"/>
          </a:xfrm>
          <a:prstGeom prst="rect">
            <a:avLst/>
          </a:prstGeom>
          <a:noFill/>
        </p:spPr>
        <p:txBody>
          <a:bodyPr wrap="square" lIns="0" rIns="0" tIns="0" bIns="0" anchor="t">
            <a:spAutoFit/>
          </a:bodyPr>
          <a:lstStyle/>
          <a:p>
            <a:pPr algn="l"/>
            <a:r>
              <a:rPr sz="1000" b="0" i="1">
                <a:solidFill>
                  <a:srgbClr val="555555"/>
                </a:solidFill>
                <a:latin typeface="Segoe UI"/>
              </a:rPr>
              <a:t>Source: aka.ms/AzureRegions · Foundry data-zone documentation. Re-verify quarterly before any customer commit.</a:t>
            </a:r>
          </a:p>
        </p:txBody>
      </p:sp>
      <p:sp>
        <p:nvSpPr>
          <p:cNvPr id="7" name="Rectangle 6"/>
          <p:cNvSpPr/>
          <p:nvPr/>
        </p:nvSpPr>
        <p:spPr>
          <a:xfrm>
            <a:off x="548640" y="256032"/>
            <a:ext cx="11091672" cy="9000"/>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6446520"/>
            <a:ext cx="11091672" cy="9000"/>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510528"/>
            <a:ext cx="7315200" cy="274320"/>
          </a:xfrm>
          <a:prstGeom prst="rect">
            <a:avLst/>
          </a:prstGeom>
          <a:noFill/>
        </p:spPr>
        <p:txBody>
          <a:bodyPr wrap="square" lIns="0" rIns="0" tIns="0" bIns="0" anchor="t">
            <a:spAutoFit/>
          </a:bodyPr>
          <a:lstStyle/>
          <a:p>
            <a:pPr algn="l"/>
            <a:r>
              <a:rPr sz="900" b="0" i="0">
                <a:solidFill>
                  <a:srgbClr val="555555"/>
                </a:solidFill>
                <a:latin typeface="Segoe UI"/>
              </a:rPr>
              <a:t>Microsoft · Confidential · © 2026 Microsoft Corporation</a:t>
            </a:r>
          </a:p>
        </p:txBody>
      </p:sp>
      <p:sp>
        <p:nvSpPr>
          <p:cNvPr id="10" name="TextBox 9"/>
          <p:cNvSpPr txBox="1"/>
          <p:nvPr/>
        </p:nvSpPr>
        <p:spPr>
          <a:xfrm>
            <a:off x="9784080" y="6510528"/>
            <a:ext cx="1828800" cy="274320"/>
          </a:xfrm>
          <a:prstGeom prst="rect">
            <a:avLst/>
          </a:prstGeom>
          <a:noFill/>
        </p:spPr>
        <p:txBody>
          <a:bodyPr wrap="square" lIns="0" rIns="0" tIns="0" bIns="0" anchor="t">
            <a:spAutoFit/>
          </a:bodyPr>
          <a:lstStyle/>
          <a:p>
            <a:pPr algn="r"/>
            <a:r>
              <a:rPr sz="900" b="0" i="0">
                <a:solidFill>
                  <a:srgbClr val="555555"/>
                </a:solidFill>
                <a:latin typeface="Segoe UI"/>
              </a:rPr>
              <a:t>5 / 14</a:t>
            </a:r>
          </a:p>
        </p:txBody>
      </p:sp>
      <p:sp>
        <p:nvSpPr>
          <p:cNvPr id="11" name="AICOE_GEO_ACCENT_Right Triangle 10"/>
          <p:cNvSpPr/>
          <p:nvPr/>
        </p:nvSpPr>
        <p:spPr>
          <a:xfrm rot="5400000">
            <a:off x="11761927" y="109728"/>
            <a:ext cx="320040" cy="320040"/>
          </a:xfrm>
          <a:prstGeom prst="rtTriangl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ICOE_GEO_ACCENT_Right Triangle 11"/>
          <p:cNvSpPr/>
          <p:nvPr/>
        </p:nvSpPr>
        <p:spPr>
          <a:xfrm rot="5400000">
            <a:off x="11873941" y="109728"/>
            <a:ext cx="208026" cy="208026"/>
          </a:xfrm>
          <a:prstGeom prst="rtTriangle">
            <a:avLst/>
          </a:prstGeom>
          <a:solidFill>
            <a:srgbClr val="50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144000" cy="274320"/>
          </a:xfrm>
          <a:prstGeom prst="rect">
            <a:avLst/>
          </a:prstGeom>
          <a:noFill/>
        </p:spPr>
        <p:txBody>
          <a:bodyPr wrap="square" lIns="0" rIns="0" tIns="0" bIns="0" anchor="t">
            <a:spAutoFit/>
          </a:bodyPr>
          <a:lstStyle/>
          <a:p>
            <a:pPr algn="l"/>
            <a:r>
              <a:rPr sz="1100" b="1" i="0">
                <a:solidFill>
                  <a:srgbClr val="B76E00"/>
                </a:solidFill>
                <a:latin typeface="Segoe UI"/>
              </a:rPr>
              <a:t>M365 COPILOT — HONEST ANSWER</a:t>
            </a:r>
          </a:p>
        </p:txBody>
      </p:sp>
      <p:sp>
        <p:nvSpPr>
          <p:cNvPr id="3" name="TextBox 2"/>
          <p:cNvSpPr txBox="1"/>
          <p:nvPr/>
        </p:nvSpPr>
        <p:spPr>
          <a:xfrm>
            <a:off x="548640" y="594360"/>
            <a:ext cx="11155680" cy="731520"/>
          </a:xfrm>
          <a:prstGeom prst="rect">
            <a:avLst/>
          </a:prstGeom>
          <a:noFill/>
        </p:spPr>
        <p:txBody>
          <a:bodyPr wrap="square" lIns="0" rIns="0" tIns="0" bIns="0" anchor="t">
            <a:spAutoFit/>
          </a:bodyPr>
          <a:lstStyle/>
          <a:p>
            <a:pPr algn="l"/>
            <a:r>
              <a:rPr sz="2800" b="1" i="0">
                <a:solidFill>
                  <a:srgbClr val="1A1A1A"/>
                </a:solidFill>
                <a:latin typeface="Segoe UI"/>
              </a:rPr>
              <a:t>Don't over-promise where the service does not deliver</a:t>
            </a:r>
          </a:p>
        </p:txBody>
      </p:sp>
      <p:sp>
        <p:nvSpPr>
          <p:cNvPr id="4" name="TextBox 3"/>
          <p:cNvSpPr txBox="1"/>
          <p:nvPr/>
        </p:nvSpPr>
        <p:spPr>
          <a:xfrm>
            <a:off x="548640" y="1280160"/>
            <a:ext cx="11155680" cy="502920"/>
          </a:xfrm>
          <a:prstGeom prst="rect">
            <a:avLst/>
          </a:prstGeom>
          <a:noFill/>
        </p:spPr>
        <p:txBody>
          <a:bodyPr wrap="square" lIns="0" rIns="0" tIns="0" bIns="0" anchor="t">
            <a:spAutoFit/>
          </a:bodyPr>
          <a:lstStyle/>
          <a:p>
            <a:pPr algn="l"/>
            <a:r>
              <a:rPr sz="1400" b="0" i="0">
                <a:solidFill>
                  <a:srgbClr val="555555"/>
                </a:solidFill>
                <a:latin typeface="Segoe UI"/>
              </a:rPr>
              <a:t>Walking into this conversation badly is a deal-killer.</a:t>
            </a:r>
          </a:p>
        </p:txBody>
      </p:sp>
      <p:sp>
        <p:nvSpPr>
          <p:cNvPr id="5" name="TextBox 4"/>
          <p:cNvSpPr txBox="1"/>
          <p:nvPr/>
        </p:nvSpPr>
        <p:spPr>
          <a:xfrm>
            <a:off x="548640" y="2011680"/>
            <a:ext cx="11155680" cy="457200"/>
          </a:xfrm>
          <a:prstGeom prst="rect">
            <a:avLst/>
          </a:prstGeom>
          <a:noFill/>
        </p:spPr>
        <p:txBody>
          <a:bodyPr wrap="square" lIns="0" rIns="0" tIns="0" bIns="0" anchor="t">
            <a:spAutoFit/>
          </a:bodyPr>
          <a:lstStyle/>
          <a:p>
            <a:pPr algn="l"/>
            <a:r>
              <a:rPr sz="1300" b="1" i="0">
                <a:solidFill>
                  <a:srgbClr val="B76E00"/>
                </a:solidFill>
                <a:latin typeface="Segoe UI"/>
              </a:rPr>
              <a:t>The truth</a:t>
            </a:r>
          </a:p>
        </p:txBody>
      </p:sp>
      <p:sp>
        <p:nvSpPr>
          <p:cNvPr id="6" name="TextBox 5"/>
          <p:cNvSpPr txBox="1"/>
          <p:nvPr/>
        </p:nvSpPr>
        <p:spPr>
          <a:xfrm>
            <a:off x="548640" y="2377440"/>
            <a:ext cx="11155680" cy="1645920"/>
          </a:xfrm>
          <a:prstGeom prst="rect">
            <a:avLst/>
          </a:prstGeom>
          <a:noFill/>
        </p:spPr>
        <p:txBody>
          <a:bodyPr wrap="square" lIns="0" tIns="0">
            <a:spAutoFit/>
          </a:bodyPr>
          <a:lstStyle/>
          <a:p>
            <a:pPr algn="l">
              <a:lnSpc>
                <a:spcPct val="120000"/>
              </a:lnSpc>
            </a:pPr>
            <a:r>
              <a:rPr sz="1200" b="1">
                <a:solidFill>
                  <a:srgbClr val="0067B8"/>
                </a:solidFill>
                <a:latin typeface="Segoe UI"/>
              </a:rPr>
              <a:t>•  </a:t>
            </a:r>
            <a:r>
              <a:rPr sz="1200">
                <a:solidFill>
                  <a:srgbClr val="1A1A1A"/>
                </a:solidFill>
                <a:latin typeface="Segoe UI"/>
              </a:rPr>
              <a:t>M365 Copilot tenant-region determines processing region. SA-tenanted customers typically process in EU today.</a:t>
            </a:r>
          </a:p>
          <a:p>
            <a:pPr algn="l">
              <a:lnSpc>
                <a:spcPct val="120000"/>
              </a:lnSpc>
            </a:pPr>
            <a:r>
              <a:rPr sz="1200" b="1">
                <a:solidFill>
                  <a:srgbClr val="0067B8"/>
                </a:solidFill>
                <a:latin typeface="Segoe UI"/>
              </a:rPr>
              <a:t>•  </a:t>
            </a:r>
            <a:r>
              <a:rPr sz="1200">
                <a:solidFill>
                  <a:srgbClr val="1A1A1A"/>
                </a:solidFill>
                <a:latin typeface="Segoe UI"/>
              </a:rPr>
              <a:t>Prompts + responses are not stored long-term; transit encrypted; tenant data not used to train models.</a:t>
            </a:r>
          </a:p>
          <a:p>
            <a:pPr algn="l">
              <a:lnSpc>
                <a:spcPct val="120000"/>
              </a:lnSpc>
            </a:pPr>
            <a:r>
              <a:rPr sz="1200" b="1">
                <a:solidFill>
                  <a:srgbClr val="0067B8"/>
                </a:solidFill>
                <a:latin typeface="Segoe UI"/>
              </a:rPr>
              <a:t>•  </a:t>
            </a:r>
            <a:r>
              <a:rPr sz="1200">
                <a:solidFill>
                  <a:srgbClr val="1A1A1A"/>
                </a:solidFill>
                <a:latin typeface="Segoe UI"/>
              </a:rPr>
              <a:t>EU Data Boundary commitments apply where workload routes via EU.</a:t>
            </a:r>
          </a:p>
        </p:txBody>
      </p:sp>
      <p:sp>
        <p:nvSpPr>
          <p:cNvPr id="7" name="TextBox 6"/>
          <p:cNvSpPr txBox="1"/>
          <p:nvPr/>
        </p:nvSpPr>
        <p:spPr>
          <a:xfrm>
            <a:off x="548640" y="4023360"/>
            <a:ext cx="11155680" cy="457200"/>
          </a:xfrm>
          <a:prstGeom prst="rect">
            <a:avLst/>
          </a:prstGeom>
          <a:noFill/>
        </p:spPr>
        <p:txBody>
          <a:bodyPr wrap="square" lIns="0" rIns="0" tIns="0" bIns="0" anchor="t">
            <a:spAutoFit/>
          </a:bodyPr>
          <a:lstStyle/>
          <a:p>
            <a:pPr algn="l"/>
            <a:r>
              <a:rPr sz="1300" b="1" i="0">
                <a:solidFill>
                  <a:srgbClr val="107C10"/>
                </a:solidFill>
                <a:latin typeface="Segoe UI"/>
              </a:rPr>
              <a:t>What this offer recommends</a:t>
            </a:r>
          </a:p>
        </p:txBody>
      </p:sp>
      <p:sp>
        <p:nvSpPr>
          <p:cNvPr id="8" name="TextBox 7"/>
          <p:cNvSpPr txBox="1"/>
          <p:nvPr/>
        </p:nvSpPr>
        <p:spPr>
          <a:xfrm>
            <a:off x="548640" y="4389120"/>
            <a:ext cx="11155680" cy="1645920"/>
          </a:xfrm>
          <a:prstGeom prst="rect">
            <a:avLst/>
          </a:prstGeom>
          <a:noFill/>
        </p:spPr>
        <p:txBody>
          <a:bodyPr wrap="square" lIns="0" tIns="0">
            <a:spAutoFit/>
          </a:bodyPr>
          <a:lstStyle/>
          <a:p>
            <a:pPr algn="l">
              <a:lnSpc>
                <a:spcPct val="120000"/>
              </a:lnSpc>
            </a:pPr>
            <a:r>
              <a:rPr sz="1200" b="1">
                <a:solidFill>
                  <a:srgbClr val="107C10"/>
                </a:solidFill>
                <a:latin typeface="Segoe UI"/>
              </a:rPr>
              <a:t>•  </a:t>
            </a:r>
            <a:r>
              <a:rPr sz="1200">
                <a:solidFill>
                  <a:srgbClr val="1A1A1A"/>
                </a:solidFill>
                <a:latin typeface="Segoe UI"/>
              </a:rPr>
              <a:t>For deepest sovereignty, route sensitive AI workloads via Azure AI Foundry in SA regions — use Copilot Studio agents to surface them in M365 surfaces.</a:t>
            </a:r>
          </a:p>
          <a:p>
            <a:pPr algn="l">
              <a:lnSpc>
                <a:spcPct val="120000"/>
              </a:lnSpc>
            </a:pPr>
            <a:r>
              <a:rPr sz="1200" b="1">
                <a:solidFill>
                  <a:srgbClr val="107C10"/>
                </a:solidFill>
                <a:latin typeface="Segoe UI"/>
              </a:rPr>
              <a:t>•  </a:t>
            </a:r>
            <a:r>
              <a:rPr sz="1200">
                <a:solidFill>
                  <a:srgbClr val="1A1A1A"/>
                </a:solidFill>
                <a:latin typeface="Segoe UI"/>
              </a:rPr>
              <a:t>Position M365 Copilot for productivity scenarios where the regulatory posture is acceptable.</a:t>
            </a:r>
          </a:p>
          <a:p>
            <a:pPr algn="l">
              <a:lnSpc>
                <a:spcPct val="120000"/>
              </a:lnSpc>
            </a:pPr>
            <a:r>
              <a:rPr sz="1200" b="1">
                <a:solidFill>
                  <a:srgbClr val="107C10"/>
                </a:solidFill>
                <a:latin typeface="Segoe UI"/>
              </a:rPr>
              <a:t>•  </a:t>
            </a:r>
            <a:r>
              <a:rPr sz="1200">
                <a:solidFill>
                  <a:srgbClr val="1A1A1A"/>
                </a:solidFill>
                <a:latin typeface="Segoe UI"/>
              </a:rPr>
              <a:t>Document the gap explicitly in the offer; never paper over it in the pitch.</a:t>
            </a:r>
          </a:p>
        </p:txBody>
      </p:sp>
      <p:sp>
        <p:nvSpPr>
          <p:cNvPr id="9" name="Rectangle 8"/>
          <p:cNvSpPr/>
          <p:nvPr/>
        </p:nvSpPr>
        <p:spPr>
          <a:xfrm>
            <a:off x="548640" y="256032"/>
            <a:ext cx="11091672" cy="9000"/>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6446520"/>
            <a:ext cx="11091672" cy="9000"/>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510528"/>
            <a:ext cx="7315200" cy="274320"/>
          </a:xfrm>
          <a:prstGeom prst="rect">
            <a:avLst/>
          </a:prstGeom>
          <a:noFill/>
        </p:spPr>
        <p:txBody>
          <a:bodyPr wrap="square" lIns="0" rIns="0" tIns="0" bIns="0" anchor="t">
            <a:spAutoFit/>
          </a:bodyPr>
          <a:lstStyle/>
          <a:p>
            <a:pPr algn="l"/>
            <a:r>
              <a:rPr sz="900" b="0" i="0">
                <a:solidFill>
                  <a:srgbClr val="555555"/>
                </a:solidFill>
                <a:latin typeface="Segoe UI"/>
              </a:rPr>
              <a:t>Microsoft · Confidential · © 2026 Microsoft Corporation</a:t>
            </a:r>
          </a:p>
        </p:txBody>
      </p:sp>
      <p:sp>
        <p:nvSpPr>
          <p:cNvPr id="12" name="TextBox 11"/>
          <p:cNvSpPr txBox="1"/>
          <p:nvPr/>
        </p:nvSpPr>
        <p:spPr>
          <a:xfrm>
            <a:off x="9784080" y="6510528"/>
            <a:ext cx="1828800" cy="274320"/>
          </a:xfrm>
          <a:prstGeom prst="rect">
            <a:avLst/>
          </a:prstGeom>
          <a:noFill/>
        </p:spPr>
        <p:txBody>
          <a:bodyPr wrap="square" lIns="0" rIns="0" tIns="0" bIns="0" anchor="t">
            <a:spAutoFit/>
          </a:bodyPr>
          <a:lstStyle/>
          <a:p>
            <a:pPr algn="r"/>
            <a:r>
              <a:rPr sz="900" b="0" i="0">
                <a:solidFill>
                  <a:srgbClr val="555555"/>
                </a:solidFill>
                <a:latin typeface="Segoe UI"/>
              </a:rPr>
              <a:t>6 / 14</a:t>
            </a:r>
          </a:p>
        </p:txBody>
      </p:sp>
      <p:sp>
        <p:nvSpPr>
          <p:cNvPr id="13" name="AICOE_GEO_ACCENT_Right Triangle 12"/>
          <p:cNvSpPr/>
          <p:nvPr/>
        </p:nvSpPr>
        <p:spPr>
          <a:xfrm rot="5400000">
            <a:off x="11761927" y="109728"/>
            <a:ext cx="320040" cy="320040"/>
          </a:xfrm>
          <a:prstGeom prst="rtTriangl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AICOE_GEO_ACCENT_Right Triangle 13"/>
          <p:cNvSpPr/>
          <p:nvPr/>
        </p:nvSpPr>
        <p:spPr>
          <a:xfrm rot="5400000">
            <a:off x="11873941" y="109728"/>
            <a:ext cx="208026" cy="208026"/>
          </a:xfrm>
          <a:prstGeom prst="rtTriangle">
            <a:avLst/>
          </a:prstGeom>
          <a:solidFill>
            <a:srgbClr val="50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144000" cy="274320"/>
          </a:xfrm>
          <a:prstGeom prst="rect">
            <a:avLst/>
          </a:prstGeom>
          <a:noFill/>
        </p:spPr>
        <p:txBody>
          <a:bodyPr wrap="square" lIns="0" rIns="0" tIns="0" bIns="0" anchor="t">
            <a:spAutoFit/>
          </a:bodyPr>
          <a:lstStyle/>
          <a:p>
            <a:pPr algn="l"/>
            <a:r>
              <a:rPr sz="1100" b="1" i="0">
                <a:solidFill>
                  <a:srgbClr val="0067B8"/>
                </a:solidFill>
                <a:latin typeface="Segoe UI"/>
              </a:rPr>
              <a:t>CONTROL CROSSWALK</a:t>
            </a:r>
          </a:p>
        </p:txBody>
      </p:sp>
      <p:sp>
        <p:nvSpPr>
          <p:cNvPr id="3" name="TextBox 2"/>
          <p:cNvSpPr txBox="1"/>
          <p:nvPr/>
        </p:nvSpPr>
        <p:spPr>
          <a:xfrm>
            <a:off x="548640" y="594360"/>
            <a:ext cx="11155680" cy="731520"/>
          </a:xfrm>
          <a:prstGeom prst="rect">
            <a:avLst/>
          </a:prstGeom>
          <a:noFill/>
        </p:spPr>
        <p:txBody>
          <a:bodyPr wrap="square" lIns="0" rIns="0" tIns="0" bIns="0" anchor="t">
            <a:spAutoFit/>
          </a:bodyPr>
          <a:lstStyle/>
          <a:p>
            <a:pPr algn="l"/>
            <a:r>
              <a:rPr sz="2800" b="1" i="0">
                <a:solidFill>
                  <a:srgbClr val="1A1A1A"/>
                </a:solidFill>
                <a:latin typeface="Segoe UI"/>
              </a:rPr>
              <a:t>One control → every framework an RSA buyer asks about</a:t>
            </a:r>
          </a:p>
        </p:txBody>
      </p:sp>
      <p:sp>
        <p:nvSpPr>
          <p:cNvPr id="4" name="TextBox 3"/>
          <p:cNvSpPr txBox="1"/>
          <p:nvPr/>
        </p:nvSpPr>
        <p:spPr>
          <a:xfrm>
            <a:off x="548640" y="1280160"/>
            <a:ext cx="11155680" cy="502920"/>
          </a:xfrm>
          <a:prstGeom prst="rect">
            <a:avLst/>
          </a:prstGeom>
          <a:noFill/>
        </p:spPr>
        <p:txBody>
          <a:bodyPr wrap="square" lIns="0" rIns="0" tIns="0" bIns="0" anchor="t">
            <a:spAutoFit/>
          </a:bodyPr>
          <a:lstStyle/>
          <a:p>
            <a:pPr algn="l"/>
            <a:r>
              <a:rPr sz="1400" b="0" i="0">
                <a:solidFill>
                  <a:srgbClr val="555555"/>
                </a:solidFill>
                <a:latin typeface="Segoe UI"/>
              </a:rPr>
              <a:t>Excerpt from the master matrix. Full version in AI-CoE-AI-Impact-Assessment.xlsx.</a:t>
            </a:r>
          </a:p>
        </p:txBody>
      </p:sp>
      <p:graphicFrame>
        <p:nvGraphicFramePr>
          <p:cNvPr id="5" name="Table 4"/>
          <p:cNvGraphicFramePr>
            <a:graphicFrameLocks noGrp="1"/>
          </p:cNvGraphicFramePr>
          <p:nvPr/>
        </p:nvGraphicFramePr>
        <p:xfrm>
          <a:off x="548640" y="2103120"/>
          <a:ext cx="11155675" cy="4023360"/>
        </p:xfrm>
        <a:graphic>
          <a:graphicData uri="http://schemas.openxmlformats.org/drawingml/2006/table">
            <a:tbl>
              <a:tblPr firstRow="1" bandRow="1">
                <a:tableStyleId>{5C22544A-7EE6-4342-B048-85BDC9FD1C3A}</a:tableStyleId>
              </a:tblPr>
              <a:tblGrid>
                <a:gridCol w="3365937"/>
                <a:gridCol w="1154035"/>
                <a:gridCol w="961696"/>
                <a:gridCol w="1154035"/>
                <a:gridCol w="1346375"/>
                <a:gridCol w="1731053"/>
                <a:gridCol w="1442544"/>
              </a:tblGrid>
              <a:tr h="447040">
                <a:tc>
                  <a:txBody>
                    <a:bodyPr wrap="square"/>
                    <a:lstStyle/>
                    <a:p>
                      <a:r>
                        <a:rPr sz="1000" b="1">
                          <a:solidFill>
                            <a:srgbClr val="FFFFFF"/>
                          </a:solidFill>
                          <a:latin typeface="Segoe UI"/>
                        </a:rPr>
                        <a:t>Microsoft control</a:t>
                      </a:r>
                    </a:p>
                  </a:txBody>
                  <a:tcPr marL="73152" marR="73152" marT="36576" marB="36576">
                    <a:solidFill>
                      <a:srgbClr val="0B1F3A"/>
                    </a:solidFill>
                  </a:tcPr>
                </a:tc>
                <a:tc>
                  <a:txBody>
                    <a:bodyPr wrap="square"/>
                    <a:lstStyle/>
                    <a:p>
                      <a:r>
                        <a:rPr sz="1000" b="1">
                          <a:solidFill>
                            <a:srgbClr val="FFFFFF"/>
                          </a:solidFill>
                          <a:latin typeface="Segoe UI"/>
                        </a:rPr>
                        <a:t>POPIA</a:t>
                      </a:r>
                    </a:p>
                  </a:txBody>
                  <a:tcPr marL="73152" marR="73152" marT="36576" marB="36576">
                    <a:solidFill>
                      <a:srgbClr val="0B1F3A"/>
                    </a:solidFill>
                  </a:tcPr>
                </a:tc>
                <a:tc>
                  <a:txBody>
                    <a:bodyPr wrap="square"/>
                    <a:lstStyle/>
                    <a:p>
                      <a:r>
                        <a:rPr sz="1000" b="1">
                          <a:solidFill>
                            <a:srgbClr val="FFFFFF"/>
                          </a:solidFill>
                          <a:latin typeface="Segoe UI"/>
                        </a:rPr>
                        <a:t>PFMA</a:t>
                      </a:r>
                    </a:p>
                  </a:txBody>
                  <a:tcPr marL="73152" marR="73152" marT="36576" marB="36576">
                    <a:solidFill>
                      <a:srgbClr val="0B1F3A"/>
                    </a:solidFill>
                  </a:tcPr>
                </a:tc>
                <a:tc>
                  <a:txBody>
                    <a:bodyPr wrap="square"/>
                    <a:lstStyle/>
                    <a:p>
                      <a:r>
                        <a:rPr sz="1000" b="1">
                          <a:solidFill>
                            <a:srgbClr val="FFFFFF"/>
                          </a:solidFill>
                          <a:latin typeface="Segoe UI"/>
                        </a:rPr>
                        <a:t>RAI v2</a:t>
                      </a:r>
                    </a:p>
                  </a:txBody>
                  <a:tcPr marL="73152" marR="73152" marT="36576" marB="36576">
                    <a:solidFill>
                      <a:srgbClr val="0B1F3A"/>
                    </a:solidFill>
                  </a:tcPr>
                </a:tc>
                <a:tc>
                  <a:txBody>
                    <a:bodyPr wrap="square"/>
                    <a:lstStyle/>
                    <a:p>
                      <a:r>
                        <a:rPr sz="1000" b="1">
                          <a:solidFill>
                            <a:srgbClr val="FFFFFF"/>
                          </a:solidFill>
                          <a:latin typeface="Segoe UI"/>
                        </a:rPr>
                        <a:t>ISO 42001</a:t>
                      </a:r>
                    </a:p>
                  </a:txBody>
                  <a:tcPr marL="73152" marR="73152" marT="36576" marB="36576">
                    <a:solidFill>
                      <a:srgbClr val="0B1F3A"/>
                    </a:solidFill>
                  </a:tcPr>
                </a:tc>
                <a:tc>
                  <a:txBody>
                    <a:bodyPr wrap="square"/>
                    <a:lstStyle/>
                    <a:p>
                      <a:r>
                        <a:rPr sz="1000" b="1">
                          <a:solidFill>
                            <a:srgbClr val="FFFFFF"/>
                          </a:solidFill>
                          <a:latin typeface="Segoe UI"/>
                        </a:rPr>
                        <a:t>NIST AI RMF</a:t>
                      </a:r>
                    </a:p>
                  </a:txBody>
                  <a:tcPr marL="73152" marR="73152" marT="36576" marB="36576">
                    <a:solidFill>
                      <a:srgbClr val="0B1F3A"/>
                    </a:solidFill>
                  </a:tcPr>
                </a:tc>
                <a:tc>
                  <a:txBody>
                    <a:bodyPr wrap="square"/>
                    <a:lstStyle/>
                    <a:p>
                      <a:r>
                        <a:rPr sz="1000" b="1">
                          <a:solidFill>
                            <a:srgbClr val="FFFFFF"/>
                          </a:solidFill>
                          <a:latin typeface="Segoe UI"/>
                        </a:rPr>
                        <a:t>EU AI Act</a:t>
                      </a:r>
                    </a:p>
                  </a:txBody>
                  <a:tcPr marL="73152" marR="73152" marT="36576" marB="36576">
                    <a:solidFill>
                      <a:srgbClr val="0B1F3A"/>
                    </a:solidFill>
                  </a:tcPr>
                </a:tc>
              </a:tr>
              <a:tr h="447040">
                <a:tc>
                  <a:txBody>
                    <a:bodyPr wrap="square"/>
                    <a:lstStyle/>
                    <a:p>
                      <a:r>
                        <a:rPr sz="1000" b="1">
                          <a:solidFill>
                            <a:srgbClr val="1A1A1A"/>
                          </a:solidFill>
                          <a:latin typeface="Segoe UI"/>
                        </a:rPr>
                        <a:t>Data residency to SA regions</a:t>
                      </a:r>
                    </a:p>
                  </a:txBody>
                  <a:tcPr marL="73152" marR="73152" marT="27432" marB="27432">
                    <a:solidFill>
                      <a:srgbClr val="FFFFFF"/>
                    </a:solidFill>
                  </a:tcPr>
                </a:tc>
                <a:tc>
                  <a:txBody>
                    <a:bodyPr wrap="square"/>
                    <a:lstStyle/>
                    <a:p>
                      <a:r>
                        <a:rPr sz="1000" b="0">
                          <a:solidFill>
                            <a:srgbClr val="1A1A1A"/>
                          </a:solidFill>
                          <a:latin typeface="Segoe UI"/>
                        </a:rPr>
                        <a:t>§72</a:t>
                      </a:r>
                    </a:p>
                  </a:txBody>
                  <a:tcPr marL="73152" marR="73152" marT="27432" marB="27432">
                    <a:solidFill>
                      <a:srgbClr val="FFFFFF"/>
                    </a:solidFill>
                  </a:tcPr>
                </a:tc>
                <a:tc>
                  <a:txBody>
                    <a:bodyPr wrap="square"/>
                    <a:lstStyle/>
                    <a:p>
                      <a:r>
                        <a:rPr sz="1000" b="0">
                          <a:solidFill>
                            <a:srgbClr val="1A1A1A"/>
                          </a:solidFill>
                          <a:latin typeface="Segoe UI"/>
                        </a:rPr>
                        <a:t>n/a</a:t>
                      </a:r>
                    </a:p>
                  </a:txBody>
                  <a:tcPr marL="73152" marR="73152" marT="27432" marB="27432">
                    <a:solidFill>
                      <a:srgbClr val="FFFFFF"/>
                    </a:solidFill>
                  </a:tcPr>
                </a:tc>
                <a:tc>
                  <a:txBody>
                    <a:bodyPr wrap="square"/>
                    <a:lstStyle/>
                    <a:p>
                      <a:r>
                        <a:rPr sz="1000" b="0">
                          <a:solidFill>
                            <a:srgbClr val="1A1A1A"/>
                          </a:solidFill>
                          <a:latin typeface="Segoe UI"/>
                        </a:rPr>
                        <a:t>n/a</a:t>
                      </a:r>
                    </a:p>
                  </a:txBody>
                  <a:tcPr marL="73152" marR="73152" marT="27432" marB="27432">
                    <a:solidFill>
                      <a:srgbClr val="FFFFFF"/>
                    </a:solidFill>
                  </a:tcPr>
                </a:tc>
                <a:tc>
                  <a:txBody>
                    <a:bodyPr wrap="square"/>
                    <a:lstStyle/>
                    <a:p>
                      <a:r>
                        <a:rPr sz="1000" b="0">
                          <a:solidFill>
                            <a:srgbClr val="1A1A1A"/>
                          </a:solidFill>
                          <a:latin typeface="Segoe UI"/>
                        </a:rPr>
                        <a:t>A.6.2</a:t>
                      </a:r>
                    </a:p>
                  </a:txBody>
                  <a:tcPr marL="73152" marR="73152" marT="27432" marB="27432">
                    <a:solidFill>
                      <a:srgbClr val="FFFFFF"/>
                    </a:solidFill>
                  </a:tcPr>
                </a:tc>
                <a:tc>
                  <a:txBody>
                    <a:bodyPr wrap="square"/>
                    <a:lstStyle/>
                    <a:p>
                      <a:r>
                        <a:rPr sz="1000" b="0">
                          <a:solidFill>
                            <a:srgbClr val="1A1A1A"/>
                          </a:solidFill>
                          <a:latin typeface="Segoe UI"/>
                        </a:rPr>
                        <a:t>GOVERN-1.3</a:t>
                      </a:r>
                    </a:p>
                  </a:txBody>
                  <a:tcPr marL="73152" marR="73152" marT="27432" marB="27432">
                    <a:solidFill>
                      <a:srgbClr val="FFFFFF"/>
                    </a:solidFill>
                  </a:tcPr>
                </a:tc>
                <a:tc>
                  <a:txBody>
                    <a:bodyPr wrap="square"/>
                    <a:lstStyle/>
                    <a:p>
                      <a:r>
                        <a:rPr sz="1000" b="0">
                          <a:solidFill>
                            <a:srgbClr val="1A1A1A"/>
                          </a:solidFill>
                          <a:latin typeface="Segoe UI"/>
                        </a:rPr>
                        <a:t>Art. 10</a:t>
                      </a:r>
                    </a:p>
                  </a:txBody>
                  <a:tcPr marL="73152" marR="73152" marT="27432" marB="27432">
                    <a:solidFill>
                      <a:srgbClr val="FFFFFF"/>
                    </a:solidFill>
                  </a:tcPr>
                </a:tc>
              </a:tr>
              <a:tr h="447040">
                <a:tc>
                  <a:txBody>
                    <a:bodyPr wrap="square"/>
                    <a:lstStyle/>
                    <a:p>
                      <a:r>
                        <a:rPr sz="1000" b="1">
                          <a:solidFill>
                            <a:srgbClr val="1A1A1A"/>
                          </a:solidFill>
                          <a:latin typeface="Segoe UI"/>
                        </a:rPr>
                        <a:t>CMK encryption at rest</a:t>
                      </a:r>
                    </a:p>
                  </a:txBody>
                  <a:tcPr marL="73152" marR="73152" marT="27432" marB="27432">
                    <a:solidFill>
                      <a:srgbClr val="F3F6FA"/>
                    </a:solidFill>
                  </a:tcPr>
                </a:tc>
                <a:tc>
                  <a:txBody>
                    <a:bodyPr wrap="square"/>
                    <a:lstStyle/>
                    <a:p>
                      <a:r>
                        <a:rPr sz="1000" b="0">
                          <a:solidFill>
                            <a:srgbClr val="1A1A1A"/>
                          </a:solidFill>
                          <a:latin typeface="Segoe UI"/>
                        </a:rPr>
                        <a:t>§19</a:t>
                      </a:r>
                    </a:p>
                  </a:txBody>
                  <a:tcPr marL="73152" marR="73152" marT="27432" marB="27432">
                    <a:solidFill>
                      <a:srgbClr val="F3F6FA"/>
                    </a:solidFill>
                  </a:tcPr>
                </a:tc>
                <a:tc>
                  <a:txBody>
                    <a:bodyPr wrap="square"/>
                    <a:lstStyle/>
                    <a:p>
                      <a:r>
                        <a:rPr sz="1000" b="0">
                          <a:solidFill>
                            <a:srgbClr val="1A1A1A"/>
                          </a:solidFill>
                          <a:latin typeface="Segoe UI"/>
                        </a:rPr>
                        <a:t>s.45</a:t>
                      </a:r>
                    </a:p>
                  </a:txBody>
                  <a:tcPr marL="73152" marR="73152" marT="27432" marB="27432">
                    <a:solidFill>
                      <a:srgbClr val="F3F6FA"/>
                    </a:solidFill>
                  </a:tcPr>
                </a:tc>
                <a:tc>
                  <a:txBody>
                    <a:bodyPr wrap="square"/>
                    <a:lstStyle/>
                    <a:p>
                      <a:r>
                        <a:rPr sz="1000" b="0">
                          <a:solidFill>
                            <a:srgbClr val="1A1A1A"/>
                          </a:solidFill>
                          <a:latin typeface="Segoe UI"/>
                        </a:rPr>
                        <a:t>n/a</a:t>
                      </a:r>
                    </a:p>
                  </a:txBody>
                  <a:tcPr marL="73152" marR="73152" marT="27432" marB="27432">
                    <a:solidFill>
                      <a:srgbClr val="F3F6FA"/>
                    </a:solidFill>
                  </a:tcPr>
                </a:tc>
                <a:tc>
                  <a:txBody>
                    <a:bodyPr wrap="square"/>
                    <a:lstStyle/>
                    <a:p>
                      <a:r>
                        <a:rPr sz="1000" b="0">
                          <a:solidFill>
                            <a:srgbClr val="1A1A1A"/>
                          </a:solidFill>
                          <a:latin typeface="Segoe UI"/>
                        </a:rPr>
                        <a:t>A.8.24</a:t>
                      </a:r>
                    </a:p>
                  </a:txBody>
                  <a:tcPr marL="73152" marR="73152" marT="27432" marB="27432">
                    <a:solidFill>
                      <a:srgbClr val="F3F6FA"/>
                    </a:solidFill>
                  </a:tcPr>
                </a:tc>
                <a:tc>
                  <a:txBody>
                    <a:bodyPr wrap="square"/>
                    <a:lstStyle/>
                    <a:p>
                      <a:r>
                        <a:rPr sz="1000" b="0">
                          <a:solidFill>
                            <a:srgbClr val="1A1A1A"/>
                          </a:solidFill>
                          <a:latin typeface="Segoe UI"/>
                        </a:rPr>
                        <a:t>PROTECT</a:t>
                      </a:r>
                    </a:p>
                  </a:txBody>
                  <a:tcPr marL="73152" marR="73152" marT="27432" marB="27432">
                    <a:solidFill>
                      <a:srgbClr val="F3F6FA"/>
                    </a:solidFill>
                  </a:tcPr>
                </a:tc>
                <a:tc>
                  <a:txBody>
                    <a:bodyPr wrap="square"/>
                    <a:lstStyle/>
                    <a:p>
                      <a:r>
                        <a:rPr sz="1000" b="0">
                          <a:solidFill>
                            <a:srgbClr val="1A1A1A"/>
                          </a:solidFill>
                          <a:latin typeface="Segoe UI"/>
                        </a:rPr>
                        <a:t>Art. 15</a:t>
                      </a:r>
                    </a:p>
                  </a:txBody>
                  <a:tcPr marL="73152" marR="73152" marT="27432" marB="27432">
                    <a:solidFill>
                      <a:srgbClr val="F3F6FA"/>
                    </a:solidFill>
                  </a:tcPr>
                </a:tc>
              </a:tr>
              <a:tr h="447040">
                <a:tc>
                  <a:txBody>
                    <a:bodyPr wrap="square"/>
                    <a:lstStyle/>
                    <a:p>
                      <a:r>
                        <a:rPr sz="1000" b="1">
                          <a:solidFill>
                            <a:srgbClr val="1A1A1A"/>
                          </a:solidFill>
                          <a:latin typeface="Segoe UI"/>
                        </a:rPr>
                        <a:t>Purview AI Hub audit trail</a:t>
                      </a:r>
                    </a:p>
                  </a:txBody>
                  <a:tcPr marL="73152" marR="73152" marT="27432" marB="27432">
                    <a:solidFill>
                      <a:srgbClr val="FFFFFF"/>
                    </a:solidFill>
                  </a:tcPr>
                </a:tc>
                <a:tc>
                  <a:txBody>
                    <a:bodyPr wrap="square"/>
                    <a:lstStyle/>
                    <a:p>
                      <a:r>
                        <a:rPr sz="1000" b="0">
                          <a:solidFill>
                            <a:srgbClr val="1A1A1A"/>
                          </a:solidFill>
                          <a:latin typeface="Segoe UI"/>
                        </a:rPr>
                        <a:t>§17, §22</a:t>
                      </a:r>
                    </a:p>
                  </a:txBody>
                  <a:tcPr marL="73152" marR="73152" marT="27432" marB="27432">
                    <a:solidFill>
                      <a:srgbClr val="FFFFFF"/>
                    </a:solidFill>
                  </a:tcPr>
                </a:tc>
                <a:tc>
                  <a:txBody>
                    <a:bodyPr wrap="square"/>
                    <a:lstStyle/>
                    <a:p>
                      <a:r>
                        <a:rPr sz="1000" b="0">
                          <a:solidFill>
                            <a:srgbClr val="1A1A1A"/>
                          </a:solidFill>
                          <a:latin typeface="Segoe UI"/>
                        </a:rPr>
                        <a:t>s.38</a:t>
                      </a:r>
                    </a:p>
                  </a:txBody>
                  <a:tcPr marL="73152" marR="73152" marT="27432" marB="27432">
                    <a:solidFill>
                      <a:srgbClr val="FFFFFF"/>
                    </a:solidFill>
                  </a:tcPr>
                </a:tc>
                <a:tc>
                  <a:txBody>
                    <a:bodyPr wrap="square"/>
                    <a:lstStyle/>
                    <a:p>
                      <a:r>
                        <a:rPr sz="1000" b="0">
                          <a:solidFill>
                            <a:srgbClr val="1A1A1A"/>
                          </a:solidFill>
                          <a:latin typeface="Segoe UI"/>
                        </a:rPr>
                        <a:t>RAI-G3</a:t>
                      </a:r>
                    </a:p>
                  </a:txBody>
                  <a:tcPr marL="73152" marR="73152" marT="27432" marB="27432">
                    <a:solidFill>
                      <a:srgbClr val="FFFFFF"/>
                    </a:solidFill>
                  </a:tcPr>
                </a:tc>
                <a:tc>
                  <a:txBody>
                    <a:bodyPr wrap="square"/>
                    <a:lstStyle/>
                    <a:p>
                      <a:r>
                        <a:rPr sz="1000" b="0">
                          <a:solidFill>
                            <a:srgbClr val="1A1A1A"/>
                          </a:solidFill>
                          <a:latin typeface="Segoe UI"/>
                        </a:rPr>
                        <a:t>A.5.10</a:t>
                      </a:r>
                    </a:p>
                  </a:txBody>
                  <a:tcPr marL="73152" marR="73152" marT="27432" marB="27432">
                    <a:solidFill>
                      <a:srgbClr val="FFFFFF"/>
                    </a:solidFill>
                  </a:tcPr>
                </a:tc>
                <a:tc>
                  <a:txBody>
                    <a:bodyPr wrap="square"/>
                    <a:lstStyle/>
                    <a:p>
                      <a:r>
                        <a:rPr sz="1000" b="0">
                          <a:solidFill>
                            <a:srgbClr val="1A1A1A"/>
                          </a:solidFill>
                          <a:latin typeface="Segoe UI"/>
                        </a:rPr>
                        <a:t>MEASURE-2.5</a:t>
                      </a:r>
                    </a:p>
                  </a:txBody>
                  <a:tcPr marL="73152" marR="73152" marT="27432" marB="27432">
                    <a:solidFill>
                      <a:srgbClr val="FFFFFF"/>
                    </a:solidFill>
                  </a:tcPr>
                </a:tc>
                <a:tc>
                  <a:txBody>
                    <a:bodyPr wrap="square"/>
                    <a:lstStyle/>
                    <a:p>
                      <a:r>
                        <a:rPr sz="1000" b="0">
                          <a:solidFill>
                            <a:srgbClr val="1A1A1A"/>
                          </a:solidFill>
                          <a:latin typeface="Segoe UI"/>
                        </a:rPr>
                        <a:t>Art. 12</a:t>
                      </a:r>
                    </a:p>
                  </a:txBody>
                  <a:tcPr marL="73152" marR="73152" marT="27432" marB="27432">
                    <a:solidFill>
                      <a:srgbClr val="FFFFFF"/>
                    </a:solidFill>
                  </a:tcPr>
                </a:tc>
              </a:tr>
              <a:tr h="447040">
                <a:tc>
                  <a:txBody>
                    <a:bodyPr wrap="square"/>
                    <a:lstStyle/>
                    <a:p>
                      <a:r>
                        <a:rPr sz="1000" b="1">
                          <a:solidFill>
                            <a:srgbClr val="1A1A1A"/>
                          </a:solidFill>
                          <a:latin typeface="Segoe UI"/>
                        </a:rPr>
                        <a:t>Defender for Cloud AI posture</a:t>
                      </a:r>
                    </a:p>
                  </a:txBody>
                  <a:tcPr marL="73152" marR="73152" marT="27432" marB="27432">
                    <a:solidFill>
                      <a:srgbClr val="F3F6FA"/>
                    </a:solidFill>
                  </a:tcPr>
                </a:tc>
                <a:tc>
                  <a:txBody>
                    <a:bodyPr wrap="square"/>
                    <a:lstStyle/>
                    <a:p>
                      <a:r>
                        <a:rPr sz="1000" b="0">
                          <a:solidFill>
                            <a:srgbClr val="1A1A1A"/>
                          </a:solidFill>
                          <a:latin typeface="Segoe UI"/>
                        </a:rPr>
                        <a:t>§19</a:t>
                      </a:r>
                    </a:p>
                  </a:txBody>
                  <a:tcPr marL="73152" marR="73152" marT="27432" marB="27432">
                    <a:solidFill>
                      <a:srgbClr val="F3F6FA"/>
                    </a:solidFill>
                  </a:tcPr>
                </a:tc>
                <a:tc>
                  <a:txBody>
                    <a:bodyPr wrap="square"/>
                    <a:lstStyle/>
                    <a:p>
                      <a:r>
                        <a:rPr sz="1000" b="0">
                          <a:solidFill>
                            <a:srgbClr val="1A1A1A"/>
                          </a:solidFill>
                          <a:latin typeface="Segoe UI"/>
                        </a:rPr>
                        <a:t>n/a</a:t>
                      </a:r>
                    </a:p>
                  </a:txBody>
                  <a:tcPr marL="73152" marR="73152" marT="27432" marB="27432">
                    <a:solidFill>
                      <a:srgbClr val="F3F6FA"/>
                    </a:solidFill>
                  </a:tcPr>
                </a:tc>
                <a:tc>
                  <a:txBody>
                    <a:bodyPr wrap="square"/>
                    <a:lstStyle/>
                    <a:p>
                      <a:r>
                        <a:rPr sz="1000" b="0">
                          <a:solidFill>
                            <a:srgbClr val="1A1A1A"/>
                          </a:solidFill>
                          <a:latin typeface="Segoe UI"/>
                        </a:rPr>
                        <a:t>RAI-S2</a:t>
                      </a:r>
                    </a:p>
                  </a:txBody>
                  <a:tcPr marL="73152" marR="73152" marT="27432" marB="27432">
                    <a:solidFill>
                      <a:srgbClr val="F3F6FA"/>
                    </a:solidFill>
                  </a:tcPr>
                </a:tc>
                <a:tc>
                  <a:txBody>
                    <a:bodyPr wrap="square"/>
                    <a:lstStyle/>
                    <a:p>
                      <a:r>
                        <a:rPr sz="1000" b="0">
                          <a:solidFill>
                            <a:srgbClr val="1A1A1A"/>
                          </a:solidFill>
                          <a:latin typeface="Segoe UI"/>
                        </a:rPr>
                        <a:t>A.8.16</a:t>
                      </a:r>
                    </a:p>
                  </a:txBody>
                  <a:tcPr marL="73152" marR="73152" marT="27432" marB="27432">
                    <a:solidFill>
                      <a:srgbClr val="F3F6FA"/>
                    </a:solidFill>
                  </a:tcPr>
                </a:tc>
                <a:tc>
                  <a:txBody>
                    <a:bodyPr wrap="square"/>
                    <a:lstStyle/>
                    <a:p>
                      <a:r>
                        <a:rPr sz="1000" b="0">
                          <a:solidFill>
                            <a:srgbClr val="1A1A1A"/>
                          </a:solidFill>
                          <a:latin typeface="Segoe UI"/>
                        </a:rPr>
                        <a:t>MANAGE-3</a:t>
                      </a:r>
                    </a:p>
                  </a:txBody>
                  <a:tcPr marL="73152" marR="73152" marT="27432" marB="27432">
                    <a:solidFill>
                      <a:srgbClr val="F3F6FA"/>
                    </a:solidFill>
                  </a:tcPr>
                </a:tc>
                <a:tc>
                  <a:txBody>
                    <a:bodyPr wrap="square"/>
                    <a:lstStyle/>
                    <a:p>
                      <a:r>
                        <a:rPr sz="1000" b="0">
                          <a:solidFill>
                            <a:srgbClr val="1A1A1A"/>
                          </a:solidFill>
                          <a:latin typeface="Segoe UI"/>
                        </a:rPr>
                        <a:t>Art. 9</a:t>
                      </a:r>
                    </a:p>
                  </a:txBody>
                  <a:tcPr marL="73152" marR="73152" marT="27432" marB="27432">
                    <a:solidFill>
                      <a:srgbClr val="F3F6FA"/>
                    </a:solidFill>
                  </a:tcPr>
                </a:tc>
              </a:tr>
              <a:tr h="447040">
                <a:tc>
                  <a:txBody>
                    <a:bodyPr wrap="square"/>
                    <a:lstStyle/>
                    <a:p>
                      <a:r>
                        <a:rPr sz="1000" b="1">
                          <a:solidFill>
                            <a:srgbClr val="1A1A1A"/>
                          </a:solidFill>
                          <a:latin typeface="Segoe UI"/>
                        </a:rPr>
                        <a:t>Content Safety + Prompt Shields</a:t>
                      </a:r>
                    </a:p>
                  </a:txBody>
                  <a:tcPr marL="73152" marR="73152" marT="27432" marB="27432">
                    <a:solidFill>
                      <a:srgbClr val="FFFFFF"/>
                    </a:solidFill>
                  </a:tcPr>
                </a:tc>
                <a:tc>
                  <a:txBody>
                    <a:bodyPr wrap="square"/>
                    <a:lstStyle/>
                    <a:p>
                      <a:r>
                        <a:rPr sz="1000" b="0">
                          <a:solidFill>
                            <a:srgbClr val="1A1A1A"/>
                          </a:solidFill>
                          <a:latin typeface="Segoe UI"/>
                        </a:rPr>
                        <a:t>n/a</a:t>
                      </a:r>
                    </a:p>
                  </a:txBody>
                  <a:tcPr marL="73152" marR="73152" marT="27432" marB="27432">
                    <a:solidFill>
                      <a:srgbClr val="FFFFFF"/>
                    </a:solidFill>
                  </a:tcPr>
                </a:tc>
                <a:tc>
                  <a:txBody>
                    <a:bodyPr wrap="square"/>
                    <a:lstStyle/>
                    <a:p>
                      <a:r>
                        <a:rPr sz="1000" b="0">
                          <a:solidFill>
                            <a:srgbClr val="1A1A1A"/>
                          </a:solidFill>
                          <a:latin typeface="Segoe UI"/>
                        </a:rPr>
                        <a:t>n/a</a:t>
                      </a:r>
                    </a:p>
                  </a:txBody>
                  <a:tcPr marL="73152" marR="73152" marT="27432" marB="27432">
                    <a:solidFill>
                      <a:srgbClr val="FFFFFF"/>
                    </a:solidFill>
                  </a:tcPr>
                </a:tc>
                <a:tc>
                  <a:txBody>
                    <a:bodyPr wrap="square"/>
                    <a:lstStyle/>
                    <a:p>
                      <a:r>
                        <a:rPr sz="1000" b="0">
                          <a:solidFill>
                            <a:srgbClr val="1A1A1A"/>
                          </a:solidFill>
                          <a:latin typeface="Segoe UI"/>
                        </a:rPr>
                        <a:t>RAI-S1</a:t>
                      </a:r>
                    </a:p>
                  </a:txBody>
                  <a:tcPr marL="73152" marR="73152" marT="27432" marB="27432">
                    <a:solidFill>
                      <a:srgbClr val="FFFFFF"/>
                    </a:solidFill>
                  </a:tcPr>
                </a:tc>
                <a:tc>
                  <a:txBody>
                    <a:bodyPr wrap="square"/>
                    <a:lstStyle/>
                    <a:p>
                      <a:r>
                        <a:rPr sz="1000" b="0">
                          <a:solidFill>
                            <a:srgbClr val="1A1A1A"/>
                          </a:solidFill>
                          <a:latin typeface="Segoe UI"/>
                        </a:rPr>
                        <a:t>A.5.34</a:t>
                      </a:r>
                    </a:p>
                  </a:txBody>
                  <a:tcPr marL="73152" marR="73152" marT="27432" marB="27432">
                    <a:solidFill>
                      <a:srgbClr val="FFFFFF"/>
                    </a:solidFill>
                  </a:tcPr>
                </a:tc>
                <a:tc>
                  <a:txBody>
                    <a:bodyPr wrap="square"/>
                    <a:lstStyle/>
                    <a:p>
                      <a:r>
                        <a:rPr sz="1000" b="0">
                          <a:solidFill>
                            <a:srgbClr val="1A1A1A"/>
                          </a:solidFill>
                          <a:latin typeface="Segoe UI"/>
                        </a:rPr>
                        <a:t>MANAGE-2.3</a:t>
                      </a:r>
                    </a:p>
                  </a:txBody>
                  <a:tcPr marL="73152" marR="73152" marT="27432" marB="27432">
                    <a:solidFill>
                      <a:srgbClr val="FFFFFF"/>
                    </a:solidFill>
                  </a:tcPr>
                </a:tc>
                <a:tc>
                  <a:txBody>
                    <a:bodyPr wrap="square"/>
                    <a:lstStyle/>
                    <a:p>
                      <a:r>
                        <a:rPr sz="1000" b="0">
                          <a:solidFill>
                            <a:srgbClr val="1A1A1A"/>
                          </a:solidFill>
                          <a:latin typeface="Segoe UI"/>
                        </a:rPr>
                        <a:t>Art. 15</a:t>
                      </a:r>
                    </a:p>
                  </a:txBody>
                  <a:tcPr marL="73152" marR="73152" marT="27432" marB="27432">
                    <a:solidFill>
                      <a:srgbClr val="FFFFFF"/>
                    </a:solidFill>
                  </a:tcPr>
                </a:tc>
              </a:tr>
              <a:tr h="447040">
                <a:tc>
                  <a:txBody>
                    <a:bodyPr wrap="square"/>
                    <a:lstStyle/>
                    <a:p>
                      <a:r>
                        <a:rPr sz="1000" b="1">
                          <a:solidFill>
                            <a:srgbClr val="1A1A1A"/>
                          </a:solidFill>
                          <a:latin typeface="Segoe UI"/>
                        </a:rPr>
                        <a:t>System-prompt versioning</a:t>
                      </a:r>
                    </a:p>
                  </a:txBody>
                  <a:tcPr marL="73152" marR="73152" marT="27432" marB="27432">
                    <a:solidFill>
                      <a:srgbClr val="F3F6FA"/>
                    </a:solidFill>
                  </a:tcPr>
                </a:tc>
                <a:tc>
                  <a:txBody>
                    <a:bodyPr wrap="square"/>
                    <a:lstStyle/>
                    <a:p>
                      <a:r>
                        <a:rPr sz="1000" b="0">
                          <a:solidFill>
                            <a:srgbClr val="1A1A1A"/>
                          </a:solidFill>
                          <a:latin typeface="Segoe UI"/>
                        </a:rPr>
                        <a:t>§22</a:t>
                      </a:r>
                    </a:p>
                  </a:txBody>
                  <a:tcPr marL="73152" marR="73152" marT="27432" marB="27432">
                    <a:solidFill>
                      <a:srgbClr val="F3F6FA"/>
                    </a:solidFill>
                  </a:tcPr>
                </a:tc>
                <a:tc>
                  <a:txBody>
                    <a:bodyPr wrap="square"/>
                    <a:lstStyle/>
                    <a:p>
                      <a:r>
                        <a:rPr sz="1000" b="0">
                          <a:solidFill>
                            <a:srgbClr val="1A1A1A"/>
                          </a:solidFill>
                          <a:latin typeface="Segoe UI"/>
                        </a:rPr>
                        <a:t>n/a</a:t>
                      </a:r>
                    </a:p>
                  </a:txBody>
                  <a:tcPr marL="73152" marR="73152" marT="27432" marB="27432">
                    <a:solidFill>
                      <a:srgbClr val="F3F6FA"/>
                    </a:solidFill>
                  </a:tcPr>
                </a:tc>
                <a:tc>
                  <a:txBody>
                    <a:bodyPr wrap="square"/>
                    <a:lstStyle/>
                    <a:p>
                      <a:r>
                        <a:rPr sz="1000" b="0">
                          <a:solidFill>
                            <a:srgbClr val="1A1A1A"/>
                          </a:solidFill>
                          <a:latin typeface="Segoe UI"/>
                        </a:rPr>
                        <a:t>RAI-T2</a:t>
                      </a:r>
                    </a:p>
                  </a:txBody>
                  <a:tcPr marL="73152" marR="73152" marT="27432" marB="27432">
                    <a:solidFill>
                      <a:srgbClr val="F3F6FA"/>
                    </a:solidFill>
                  </a:tcPr>
                </a:tc>
                <a:tc>
                  <a:txBody>
                    <a:bodyPr wrap="square"/>
                    <a:lstStyle/>
                    <a:p>
                      <a:r>
                        <a:rPr sz="1000" b="0">
                          <a:solidFill>
                            <a:srgbClr val="1A1A1A"/>
                          </a:solidFill>
                          <a:latin typeface="Segoe UI"/>
                        </a:rPr>
                        <a:t>A.5.37</a:t>
                      </a:r>
                    </a:p>
                  </a:txBody>
                  <a:tcPr marL="73152" marR="73152" marT="27432" marB="27432">
                    <a:solidFill>
                      <a:srgbClr val="F3F6FA"/>
                    </a:solidFill>
                  </a:tcPr>
                </a:tc>
                <a:tc>
                  <a:txBody>
                    <a:bodyPr wrap="square"/>
                    <a:lstStyle/>
                    <a:p>
                      <a:r>
                        <a:rPr sz="1000" b="0">
                          <a:solidFill>
                            <a:srgbClr val="1A1A1A"/>
                          </a:solidFill>
                          <a:latin typeface="Segoe UI"/>
                        </a:rPr>
                        <a:t>GOVERN-1.5</a:t>
                      </a:r>
                    </a:p>
                  </a:txBody>
                  <a:tcPr marL="73152" marR="73152" marT="27432" marB="27432">
                    <a:solidFill>
                      <a:srgbClr val="F3F6FA"/>
                    </a:solidFill>
                  </a:tcPr>
                </a:tc>
                <a:tc>
                  <a:txBody>
                    <a:bodyPr wrap="square"/>
                    <a:lstStyle/>
                    <a:p>
                      <a:r>
                        <a:rPr sz="1000" b="0">
                          <a:solidFill>
                            <a:srgbClr val="1A1A1A"/>
                          </a:solidFill>
                          <a:latin typeface="Segoe UI"/>
                        </a:rPr>
                        <a:t>Art. 11</a:t>
                      </a:r>
                    </a:p>
                  </a:txBody>
                  <a:tcPr marL="73152" marR="73152" marT="27432" marB="27432">
                    <a:solidFill>
                      <a:srgbClr val="F3F6FA"/>
                    </a:solidFill>
                  </a:tcPr>
                </a:tc>
              </a:tr>
              <a:tr h="447040">
                <a:tc>
                  <a:txBody>
                    <a:bodyPr wrap="square"/>
                    <a:lstStyle/>
                    <a:p>
                      <a:r>
                        <a:rPr sz="1000" b="1">
                          <a:solidFill>
                            <a:srgbClr val="1A1A1A"/>
                          </a:solidFill>
                          <a:latin typeface="Segoe UI"/>
                        </a:rPr>
                        <a:t>HITL gate on regulated outputs</a:t>
                      </a:r>
                    </a:p>
                  </a:txBody>
                  <a:tcPr marL="73152" marR="73152" marT="27432" marB="27432">
                    <a:solidFill>
                      <a:srgbClr val="FFFFFF"/>
                    </a:solidFill>
                  </a:tcPr>
                </a:tc>
                <a:tc>
                  <a:txBody>
                    <a:bodyPr wrap="square"/>
                    <a:lstStyle/>
                    <a:p>
                      <a:r>
                        <a:rPr sz="1000" b="0">
                          <a:solidFill>
                            <a:srgbClr val="1A1A1A"/>
                          </a:solidFill>
                          <a:latin typeface="Segoe UI"/>
                        </a:rPr>
                        <a:t>§11</a:t>
                      </a:r>
                    </a:p>
                  </a:txBody>
                  <a:tcPr marL="73152" marR="73152" marT="27432" marB="27432">
                    <a:solidFill>
                      <a:srgbClr val="FFFFFF"/>
                    </a:solidFill>
                  </a:tcPr>
                </a:tc>
                <a:tc>
                  <a:txBody>
                    <a:bodyPr wrap="square"/>
                    <a:lstStyle/>
                    <a:p>
                      <a:r>
                        <a:rPr sz="1000" b="0">
                          <a:solidFill>
                            <a:srgbClr val="1A1A1A"/>
                          </a:solidFill>
                          <a:latin typeface="Segoe UI"/>
                        </a:rPr>
                        <a:t>n/a</a:t>
                      </a:r>
                    </a:p>
                  </a:txBody>
                  <a:tcPr marL="73152" marR="73152" marT="27432" marB="27432">
                    <a:solidFill>
                      <a:srgbClr val="FFFFFF"/>
                    </a:solidFill>
                  </a:tcPr>
                </a:tc>
                <a:tc>
                  <a:txBody>
                    <a:bodyPr wrap="square"/>
                    <a:lstStyle/>
                    <a:p>
                      <a:r>
                        <a:rPr sz="1000" b="0">
                          <a:solidFill>
                            <a:srgbClr val="1A1A1A"/>
                          </a:solidFill>
                          <a:latin typeface="Segoe UI"/>
                        </a:rPr>
                        <a:t>RAI-A1</a:t>
                      </a:r>
                    </a:p>
                  </a:txBody>
                  <a:tcPr marL="73152" marR="73152" marT="27432" marB="27432">
                    <a:solidFill>
                      <a:srgbClr val="FFFFFF"/>
                    </a:solidFill>
                  </a:tcPr>
                </a:tc>
                <a:tc>
                  <a:txBody>
                    <a:bodyPr wrap="square"/>
                    <a:lstStyle/>
                    <a:p>
                      <a:r>
                        <a:rPr sz="1000" b="0">
                          <a:solidFill>
                            <a:srgbClr val="1A1A1A"/>
                          </a:solidFill>
                          <a:latin typeface="Segoe UI"/>
                        </a:rPr>
                        <a:t>A.6.4</a:t>
                      </a:r>
                    </a:p>
                  </a:txBody>
                  <a:tcPr marL="73152" marR="73152" marT="27432" marB="27432">
                    <a:solidFill>
                      <a:srgbClr val="FFFFFF"/>
                    </a:solidFill>
                  </a:tcPr>
                </a:tc>
                <a:tc>
                  <a:txBody>
                    <a:bodyPr wrap="square"/>
                    <a:lstStyle/>
                    <a:p>
                      <a:r>
                        <a:rPr sz="1000" b="0">
                          <a:solidFill>
                            <a:srgbClr val="1A1A1A"/>
                          </a:solidFill>
                          <a:latin typeface="Segoe UI"/>
                        </a:rPr>
                        <a:t>MANAGE-2.4</a:t>
                      </a:r>
                    </a:p>
                  </a:txBody>
                  <a:tcPr marL="73152" marR="73152" marT="27432" marB="27432">
                    <a:solidFill>
                      <a:srgbClr val="FFFFFF"/>
                    </a:solidFill>
                  </a:tcPr>
                </a:tc>
                <a:tc>
                  <a:txBody>
                    <a:bodyPr wrap="square"/>
                    <a:lstStyle/>
                    <a:p>
                      <a:r>
                        <a:rPr sz="1000" b="0">
                          <a:solidFill>
                            <a:srgbClr val="1A1A1A"/>
                          </a:solidFill>
                          <a:latin typeface="Segoe UI"/>
                        </a:rPr>
                        <a:t>Art. 14</a:t>
                      </a:r>
                    </a:p>
                  </a:txBody>
                  <a:tcPr marL="73152" marR="73152" marT="27432" marB="27432">
                    <a:solidFill>
                      <a:srgbClr val="FFFFFF"/>
                    </a:solidFill>
                  </a:tcPr>
                </a:tc>
              </a:tr>
              <a:tr h="447040">
                <a:tc>
                  <a:txBody>
                    <a:bodyPr wrap="square"/>
                    <a:lstStyle/>
                    <a:p>
                      <a:r>
                        <a:rPr sz="1000" b="1">
                          <a:solidFill>
                            <a:srgbClr val="1A1A1A"/>
                          </a:solidFill>
                          <a:latin typeface="Segoe UI"/>
                        </a:rPr>
                        <a:t>Kill-switch run-book + test</a:t>
                      </a:r>
                    </a:p>
                  </a:txBody>
                  <a:tcPr marL="73152" marR="73152" marT="27432" marB="27432">
                    <a:solidFill>
                      <a:srgbClr val="F3F6FA"/>
                    </a:solidFill>
                  </a:tcPr>
                </a:tc>
                <a:tc>
                  <a:txBody>
                    <a:bodyPr wrap="square"/>
                    <a:lstStyle/>
                    <a:p>
                      <a:r>
                        <a:rPr sz="1000" b="0">
                          <a:solidFill>
                            <a:srgbClr val="1A1A1A"/>
                          </a:solidFill>
                          <a:latin typeface="Segoe UI"/>
                        </a:rPr>
                        <a:t>n/a</a:t>
                      </a:r>
                    </a:p>
                  </a:txBody>
                  <a:tcPr marL="73152" marR="73152" marT="27432" marB="27432">
                    <a:solidFill>
                      <a:srgbClr val="F3F6FA"/>
                    </a:solidFill>
                  </a:tcPr>
                </a:tc>
                <a:tc>
                  <a:txBody>
                    <a:bodyPr wrap="square"/>
                    <a:lstStyle/>
                    <a:p>
                      <a:r>
                        <a:rPr sz="1000" b="0">
                          <a:solidFill>
                            <a:srgbClr val="1A1A1A"/>
                          </a:solidFill>
                          <a:latin typeface="Segoe UI"/>
                        </a:rPr>
                        <a:t>s.45</a:t>
                      </a:r>
                    </a:p>
                  </a:txBody>
                  <a:tcPr marL="73152" marR="73152" marT="27432" marB="27432">
                    <a:solidFill>
                      <a:srgbClr val="F3F6FA"/>
                    </a:solidFill>
                  </a:tcPr>
                </a:tc>
                <a:tc>
                  <a:txBody>
                    <a:bodyPr wrap="square"/>
                    <a:lstStyle/>
                    <a:p>
                      <a:r>
                        <a:rPr sz="1000" b="0">
                          <a:solidFill>
                            <a:srgbClr val="1A1A1A"/>
                          </a:solidFill>
                          <a:latin typeface="Segoe UI"/>
                        </a:rPr>
                        <a:t>RAI-S3</a:t>
                      </a:r>
                    </a:p>
                  </a:txBody>
                  <a:tcPr marL="73152" marR="73152" marT="27432" marB="27432">
                    <a:solidFill>
                      <a:srgbClr val="F3F6FA"/>
                    </a:solidFill>
                  </a:tcPr>
                </a:tc>
                <a:tc>
                  <a:txBody>
                    <a:bodyPr wrap="square"/>
                    <a:lstStyle/>
                    <a:p>
                      <a:r>
                        <a:rPr sz="1000" b="0">
                          <a:solidFill>
                            <a:srgbClr val="1A1A1A"/>
                          </a:solidFill>
                          <a:latin typeface="Segoe UI"/>
                        </a:rPr>
                        <a:t>A.5.30</a:t>
                      </a:r>
                    </a:p>
                  </a:txBody>
                  <a:tcPr marL="73152" marR="73152" marT="27432" marB="27432">
                    <a:solidFill>
                      <a:srgbClr val="F3F6FA"/>
                    </a:solidFill>
                  </a:tcPr>
                </a:tc>
                <a:tc>
                  <a:txBody>
                    <a:bodyPr wrap="square"/>
                    <a:lstStyle/>
                    <a:p>
                      <a:r>
                        <a:rPr sz="1000" b="0">
                          <a:solidFill>
                            <a:srgbClr val="1A1A1A"/>
                          </a:solidFill>
                          <a:latin typeface="Segoe UI"/>
                        </a:rPr>
                        <a:t>MANAGE-3</a:t>
                      </a:r>
                    </a:p>
                  </a:txBody>
                  <a:tcPr marL="73152" marR="73152" marT="27432" marB="27432">
                    <a:solidFill>
                      <a:srgbClr val="F3F6FA"/>
                    </a:solidFill>
                  </a:tcPr>
                </a:tc>
                <a:tc>
                  <a:txBody>
                    <a:bodyPr wrap="square"/>
                    <a:lstStyle/>
                    <a:p>
                      <a:r>
                        <a:rPr sz="1000" b="0">
                          <a:solidFill>
                            <a:srgbClr val="1A1A1A"/>
                          </a:solidFill>
                          <a:latin typeface="Segoe UI"/>
                        </a:rPr>
                        <a:t>Art. 9</a:t>
                      </a:r>
                    </a:p>
                  </a:txBody>
                  <a:tcPr marL="73152" marR="73152" marT="27432" marB="27432">
                    <a:solidFill>
                      <a:srgbClr val="F3F6FA"/>
                    </a:solidFill>
                  </a:tcPr>
                </a:tc>
              </a:tr>
            </a:tbl>
          </a:graphicData>
        </a:graphic>
      </p:graphicFrame>
      <p:sp>
        <p:nvSpPr>
          <p:cNvPr id="6" name="Rectangle 5"/>
          <p:cNvSpPr/>
          <p:nvPr/>
        </p:nvSpPr>
        <p:spPr>
          <a:xfrm>
            <a:off x="548640" y="256032"/>
            <a:ext cx="11091672" cy="9000"/>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46520"/>
            <a:ext cx="11091672" cy="9000"/>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510528"/>
            <a:ext cx="7315200" cy="274320"/>
          </a:xfrm>
          <a:prstGeom prst="rect">
            <a:avLst/>
          </a:prstGeom>
          <a:noFill/>
        </p:spPr>
        <p:txBody>
          <a:bodyPr wrap="square" lIns="0" rIns="0" tIns="0" bIns="0" anchor="t">
            <a:spAutoFit/>
          </a:bodyPr>
          <a:lstStyle/>
          <a:p>
            <a:pPr algn="l"/>
            <a:r>
              <a:rPr sz="900" b="0" i="0">
                <a:solidFill>
                  <a:srgbClr val="555555"/>
                </a:solidFill>
                <a:latin typeface="Segoe UI"/>
              </a:rPr>
              <a:t>Microsoft · Confidential · © 2026 Microsoft Corporation</a:t>
            </a:r>
          </a:p>
        </p:txBody>
      </p:sp>
      <p:sp>
        <p:nvSpPr>
          <p:cNvPr id="9" name="TextBox 8"/>
          <p:cNvSpPr txBox="1"/>
          <p:nvPr/>
        </p:nvSpPr>
        <p:spPr>
          <a:xfrm>
            <a:off x="9784080" y="6510528"/>
            <a:ext cx="1828800" cy="274320"/>
          </a:xfrm>
          <a:prstGeom prst="rect">
            <a:avLst/>
          </a:prstGeom>
          <a:noFill/>
        </p:spPr>
        <p:txBody>
          <a:bodyPr wrap="square" lIns="0" rIns="0" tIns="0" bIns="0" anchor="t">
            <a:spAutoFit/>
          </a:bodyPr>
          <a:lstStyle/>
          <a:p>
            <a:pPr algn="r"/>
            <a:r>
              <a:rPr sz="900" b="0" i="0">
                <a:solidFill>
                  <a:srgbClr val="555555"/>
                </a:solidFill>
                <a:latin typeface="Segoe UI"/>
              </a:rPr>
              <a:t>7 / 14</a:t>
            </a:r>
          </a:p>
        </p:txBody>
      </p:sp>
      <p:sp>
        <p:nvSpPr>
          <p:cNvPr id="10" name="AICOE_GEO_ACCENT_Right Triangle 9"/>
          <p:cNvSpPr/>
          <p:nvPr/>
        </p:nvSpPr>
        <p:spPr>
          <a:xfrm rot="5400000">
            <a:off x="11761927" y="109728"/>
            <a:ext cx="320040" cy="320040"/>
          </a:xfrm>
          <a:prstGeom prst="rtTriangl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AICOE_GEO_ACCENT_Right Triangle 10"/>
          <p:cNvSpPr/>
          <p:nvPr/>
        </p:nvSpPr>
        <p:spPr>
          <a:xfrm rot="5400000">
            <a:off x="11873941" y="109728"/>
            <a:ext cx="208026" cy="208026"/>
          </a:xfrm>
          <a:prstGeom prst="rtTriangle">
            <a:avLst/>
          </a:prstGeom>
          <a:solidFill>
            <a:srgbClr val="50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144000" cy="274320"/>
          </a:xfrm>
          <a:prstGeom prst="rect">
            <a:avLst/>
          </a:prstGeom>
          <a:noFill/>
        </p:spPr>
        <p:txBody>
          <a:bodyPr wrap="square" lIns="0" rIns="0" tIns="0" bIns="0" anchor="t">
            <a:spAutoFit/>
          </a:bodyPr>
          <a:lstStyle/>
          <a:p>
            <a:pPr algn="l"/>
            <a:r>
              <a:rPr sz="1100" b="1" i="0">
                <a:solidFill>
                  <a:srgbClr val="0067B8"/>
                </a:solidFill>
                <a:latin typeface="Segoe UI"/>
              </a:rPr>
              <a:t>OPERATING MODEL</a:t>
            </a:r>
          </a:p>
        </p:txBody>
      </p:sp>
      <p:sp>
        <p:nvSpPr>
          <p:cNvPr id="3" name="TextBox 2"/>
          <p:cNvSpPr txBox="1"/>
          <p:nvPr/>
        </p:nvSpPr>
        <p:spPr>
          <a:xfrm>
            <a:off x="548640" y="594360"/>
            <a:ext cx="11155680" cy="731520"/>
          </a:xfrm>
          <a:prstGeom prst="rect">
            <a:avLst/>
          </a:prstGeom>
          <a:noFill/>
        </p:spPr>
        <p:txBody>
          <a:bodyPr wrap="square" lIns="0" rIns="0" tIns="0" bIns="0" anchor="t">
            <a:spAutoFit/>
          </a:bodyPr>
          <a:lstStyle/>
          <a:p>
            <a:pPr algn="l"/>
            <a:r>
              <a:rPr sz="2800" b="1" i="0">
                <a:solidFill>
                  <a:srgbClr val="1A1A1A"/>
                </a:solidFill>
                <a:latin typeface="Segoe UI"/>
              </a:rPr>
              <a:t>Who owns what</a:t>
            </a:r>
          </a:p>
        </p:txBody>
      </p:sp>
      <p:sp>
        <p:nvSpPr>
          <p:cNvPr id="4" name="TextBox 3"/>
          <p:cNvSpPr txBox="1"/>
          <p:nvPr/>
        </p:nvSpPr>
        <p:spPr>
          <a:xfrm>
            <a:off x="548640" y="1280160"/>
            <a:ext cx="11155680" cy="502920"/>
          </a:xfrm>
          <a:prstGeom prst="rect">
            <a:avLst/>
          </a:prstGeom>
          <a:noFill/>
        </p:spPr>
        <p:txBody>
          <a:bodyPr wrap="square" lIns="0" rIns="0" tIns="0" bIns="0" anchor="t">
            <a:spAutoFit/>
          </a:bodyPr>
          <a:lstStyle/>
          <a:p>
            <a:pPr algn="l"/>
            <a:r>
              <a:rPr sz="1400" b="0" i="0">
                <a:solidFill>
                  <a:srgbClr val="555555"/>
                </a:solidFill>
                <a:latin typeface="Segoe UI"/>
              </a:rPr>
              <a:t>RACI customised per customer; this is the spine.</a:t>
            </a:r>
          </a:p>
        </p:txBody>
      </p:sp>
      <p:graphicFrame>
        <p:nvGraphicFramePr>
          <p:cNvPr id="5" name="Table 4"/>
          <p:cNvGraphicFramePr>
            <a:graphicFrameLocks noGrp="1"/>
          </p:cNvGraphicFramePr>
          <p:nvPr/>
        </p:nvGraphicFramePr>
        <p:xfrm>
          <a:off x="548640" y="2103120"/>
          <a:ext cx="11155680" cy="4023360"/>
        </p:xfrm>
        <a:graphic>
          <a:graphicData uri="http://schemas.openxmlformats.org/drawingml/2006/table">
            <a:tbl>
              <a:tblPr firstRow="1" bandRow="1">
                <a:tableStyleId>{5C22544A-7EE6-4342-B048-85BDC9FD1C3A}</a:tableStyleId>
              </a:tblPr>
              <a:tblGrid>
                <a:gridCol w="3657600"/>
                <a:gridCol w="1463040"/>
                <a:gridCol w="1554480"/>
                <a:gridCol w="1463040"/>
                <a:gridCol w="1554480"/>
                <a:gridCol w="1463040"/>
              </a:tblGrid>
              <a:tr h="447040">
                <a:tc>
                  <a:txBody>
                    <a:bodyPr wrap="square"/>
                    <a:lstStyle/>
                    <a:p>
                      <a:r>
                        <a:rPr sz="1000" b="1">
                          <a:solidFill>
                            <a:srgbClr val="FFFFFF"/>
                          </a:solidFill>
                          <a:latin typeface="Segoe UI"/>
                        </a:rPr>
                        <a:t>Activity</a:t>
                      </a:r>
                    </a:p>
                  </a:txBody>
                  <a:tcPr marL="73152" marR="73152" marT="36576" marB="36576">
                    <a:solidFill>
                      <a:srgbClr val="0B1F3A"/>
                    </a:solidFill>
                  </a:tcPr>
                </a:tc>
                <a:tc>
                  <a:txBody>
                    <a:bodyPr wrap="square"/>
                    <a:lstStyle/>
                    <a:p>
                      <a:r>
                        <a:rPr sz="1000" b="1">
                          <a:solidFill>
                            <a:srgbClr val="FFFFFF"/>
                          </a:solidFill>
                          <a:latin typeface="Segoe UI"/>
                        </a:rPr>
                        <a:t>Microsoft</a:t>
                      </a:r>
                    </a:p>
                  </a:txBody>
                  <a:tcPr marL="73152" marR="73152" marT="36576" marB="36576">
                    <a:solidFill>
                      <a:srgbClr val="0B1F3A"/>
                    </a:solidFill>
                  </a:tcPr>
                </a:tc>
                <a:tc>
                  <a:txBody>
                    <a:bodyPr wrap="square"/>
                    <a:lstStyle/>
                    <a:p>
                      <a:r>
                        <a:rPr sz="1000" b="1">
                          <a:solidFill>
                            <a:srgbClr val="FFFFFF"/>
                          </a:solidFill>
                          <a:latin typeface="Segoe UI"/>
                        </a:rPr>
                        <a:t>Customer CISO</a:t>
                      </a:r>
                    </a:p>
                  </a:txBody>
                  <a:tcPr marL="73152" marR="73152" marT="36576" marB="36576">
                    <a:solidFill>
                      <a:srgbClr val="0B1F3A"/>
                    </a:solidFill>
                  </a:tcPr>
                </a:tc>
                <a:tc>
                  <a:txBody>
                    <a:bodyPr wrap="square"/>
                    <a:lstStyle/>
                    <a:p>
                      <a:r>
                        <a:rPr sz="1000" b="1">
                          <a:solidFill>
                            <a:srgbClr val="FFFFFF"/>
                          </a:solidFill>
                          <a:latin typeface="Segoe UI"/>
                        </a:rPr>
                        <a:t>Customer DPO</a:t>
                      </a:r>
                    </a:p>
                  </a:txBody>
                  <a:tcPr marL="73152" marR="73152" marT="36576" marB="36576">
                    <a:solidFill>
                      <a:srgbClr val="0B1F3A"/>
                    </a:solidFill>
                  </a:tcPr>
                </a:tc>
                <a:tc>
                  <a:txBody>
                    <a:bodyPr wrap="square"/>
                    <a:lstStyle/>
                    <a:p>
                      <a:r>
                        <a:rPr sz="1000" b="1">
                          <a:solidFill>
                            <a:srgbClr val="FFFFFF"/>
                          </a:solidFill>
                          <a:latin typeface="Segoe UI"/>
                        </a:rPr>
                        <a:t>Internal Audit</a:t>
                      </a:r>
                    </a:p>
                  </a:txBody>
                  <a:tcPr marL="73152" marR="73152" marT="36576" marB="36576">
                    <a:solidFill>
                      <a:srgbClr val="0B1F3A"/>
                    </a:solidFill>
                  </a:tcPr>
                </a:tc>
                <a:tc>
                  <a:txBody>
                    <a:bodyPr wrap="square"/>
                    <a:lstStyle/>
                    <a:p>
                      <a:r>
                        <a:rPr sz="1000" b="1">
                          <a:solidFill>
                            <a:srgbClr val="FFFFFF"/>
                          </a:solidFill>
                          <a:latin typeface="Segoe UI"/>
                        </a:rPr>
                        <a:t>Partner</a:t>
                      </a:r>
                    </a:p>
                  </a:txBody>
                  <a:tcPr marL="73152" marR="73152" marT="36576" marB="36576">
                    <a:solidFill>
                      <a:srgbClr val="0B1F3A"/>
                    </a:solidFill>
                  </a:tcPr>
                </a:tc>
              </a:tr>
              <a:tr h="447040">
                <a:tc>
                  <a:txBody>
                    <a:bodyPr wrap="square"/>
                    <a:lstStyle/>
                    <a:p>
                      <a:r>
                        <a:rPr sz="1000" b="1">
                          <a:solidFill>
                            <a:srgbClr val="1A1A1A"/>
                          </a:solidFill>
                          <a:latin typeface="Segoe UI"/>
                        </a:rPr>
                        <a:t>Architecture authority</a:t>
                      </a:r>
                    </a:p>
                  </a:txBody>
                  <a:tcPr marL="73152" marR="73152" marT="27432" marB="27432">
                    <a:solidFill>
                      <a:srgbClr val="FFFFFF"/>
                    </a:solidFill>
                  </a:tcPr>
                </a:tc>
                <a:tc>
                  <a:txBody>
                    <a:bodyPr wrap="square"/>
                    <a:lstStyle/>
                    <a:p>
                      <a:r>
                        <a:rPr sz="1000" b="0">
                          <a:solidFill>
                            <a:srgbClr val="1A1A1A"/>
                          </a:solidFill>
                          <a:latin typeface="Segoe UI"/>
                        </a:rPr>
                        <a:t>A / R</a:t>
                      </a:r>
                    </a:p>
                  </a:txBody>
                  <a:tcPr marL="73152" marR="73152" marT="27432" marB="27432">
                    <a:solidFill>
                      <a:srgbClr val="FFFFFF"/>
                    </a:solidFill>
                  </a:tcPr>
                </a:tc>
                <a:tc>
                  <a:txBody>
                    <a:bodyPr wrap="square"/>
                    <a:lstStyle/>
                    <a:p>
                      <a:r>
                        <a:rPr sz="1000" b="0">
                          <a:solidFill>
                            <a:srgbClr val="1A1A1A"/>
                          </a:solidFill>
                          <a:latin typeface="Segoe UI"/>
                        </a:rPr>
                        <a:t>C</a:t>
                      </a:r>
                    </a:p>
                  </a:txBody>
                  <a:tcPr marL="73152" marR="73152" marT="27432" marB="27432">
                    <a:solidFill>
                      <a:srgbClr val="FFFFFF"/>
                    </a:solidFill>
                  </a:tcPr>
                </a:tc>
                <a:tc>
                  <a:txBody>
                    <a:bodyPr wrap="square"/>
                    <a:lstStyle/>
                    <a:p>
                      <a:r>
                        <a:rPr sz="1000" b="0">
                          <a:solidFill>
                            <a:srgbClr val="1A1A1A"/>
                          </a:solidFill>
                          <a:latin typeface="Segoe UI"/>
                        </a:rPr>
                        <a:t>I</a:t>
                      </a:r>
                    </a:p>
                  </a:txBody>
                  <a:tcPr marL="73152" marR="73152" marT="27432" marB="27432">
                    <a:solidFill>
                      <a:srgbClr val="FFFFFF"/>
                    </a:solidFill>
                  </a:tcPr>
                </a:tc>
                <a:tc>
                  <a:txBody>
                    <a:bodyPr wrap="square"/>
                    <a:lstStyle/>
                    <a:p>
                      <a:r>
                        <a:rPr sz="1000" b="0">
                          <a:solidFill>
                            <a:srgbClr val="1A1A1A"/>
                          </a:solidFill>
                          <a:latin typeface="Segoe UI"/>
                        </a:rPr>
                        <a:t>I</a:t>
                      </a:r>
                    </a:p>
                  </a:txBody>
                  <a:tcPr marL="73152" marR="73152" marT="27432" marB="27432">
                    <a:solidFill>
                      <a:srgbClr val="FFFFFF"/>
                    </a:solidFill>
                  </a:tcPr>
                </a:tc>
                <a:tc>
                  <a:txBody>
                    <a:bodyPr wrap="square"/>
                    <a:lstStyle/>
                    <a:p>
                      <a:r>
                        <a:rPr sz="1000" b="0">
                          <a:solidFill>
                            <a:srgbClr val="1A1A1A"/>
                          </a:solidFill>
                          <a:latin typeface="Segoe UI"/>
                        </a:rPr>
                        <a:t>C</a:t>
                      </a:r>
                    </a:p>
                  </a:txBody>
                  <a:tcPr marL="73152" marR="73152" marT="27432" marB="27432">
                    <a:solidFill>
                      <a:srgbClr val="FFFFFF"/>
                    </a:solidFill>
                  </a:tcPr>
                </a:tc>
              </a:tr>
              <a:tr h="447040">
                <a:tc>
                  <a:txBody>
                    <a:bodyPr wrap="square"/>
                    <a:lstStyle/>
                    <a:p>
                      <a:r>
                        <a:rPr sz="1000" b="1">
                          <a:solidFill>
                            <a:srgbClr val="1A1A1A"/>
                          </a:solidFill>
                          <a:latin typeface="Segoe UI"/>
                        </a:rPr>
                        <a:t>Region availability change</a:t>
                      </a:r>
                    </a:p>
                  </a:txBody>
                  <a:tcPr marL="73152" marR="73152" marT="27432" marB="27432">
                    <a:solidFill>
                      <a:srgbClr val="F3F6FA"/>
                    </a:solidFill>
                  </a:tcPr>
                </a:tc>
                <a:tc>
                  <a:txBody>
                    <a:bodyPr wrap="square"/>
                    <a:lstStyle/>
                    <a:p>
                      <a:r>
                        <a:rPr sz="1000" b="0">
                          <a:solidFill>
                            <a:srgbClr val="1A1A1A"/>
                          </a:solidFill>
                          <a:latin typeface="Segoe UI"/>
                        </a:rPr>
                        <a:t>R</a:t>
                      </a:r>
                    </a:p>
                  </a:txBody>
                  <a:tcPr marL="73152" marR="73152" marT="27432" marB="27432">
                    <a:solidFill>
                      <a:srgbClr val="F3F6FA"/>
                    </a:solidFill>
                  </a:tcPr>
                </a:tc>
                <a:tc>
                  <a:txBody>
                    <a:bodyPr wrap="square"/>
                    <a:lstStyle/>
                    <a:p>
                      <a:r>
                        <a:rPr sz="1000" b="0">
                          <a:solidFill>
                            <a:srgbClr val="1A1A1A"/>
                          </a:solidFill>
                          <a:latin typeface="Segoe UI"/>
                        </a:rPr>
                        <a:t>I</a:t>
                      </a:r>
                    </a:p>
                  </a:txBody>
                  <a:tcPr marL="73152" marR="73152" marT="27432" marB="27432">
                    <a:solidFill>
                      <a:srgbClr val="F3F6FA"/>
                    </a:solidFill>
                  </a:tcPr>
                </a:tc>
                <a:tc>
                  <a:txBody>
                    <a:bodyPr wrap="square"/>
                    <a:lstStyle/>
                    <a:p>
                      <a:r>
                        <a:rPr sz="1000" b="0">
                          <a:solidFill>
                            <a:srgbClr val="1A1A1A"/>
                          </a:solidFill>
                          <a:latin typeface="Segoe UI"/>
                        </a:rPr>
                        <a:t>I</a:t>
                      </a:r>
                    </a:p>
                  </a:txBody>
                  <a:tcPr marL="73152" marR="73152" marT="27432" marB="27432">
                    <a:solidFill>
                      <a:srgbClr val="F3F6FA"/>
                    </a:solidFill>
                  </a:tcPr>
                </a:tc>
                <a:tc>
                  <a:txBody>
                    <a:bodyPr wrap="square"/>
                    <a:lstStyle/>
                    <a:p>
                      <a:r>
                        <a:rPr sz="1000" b="0">
                          <a:solidFill>
                            <a:srgbClr val="1A1A1A"/>
                          </a:solidFill>
                          <a:latin typeface="Segoe UI"/>
                        </a:rPr>
                        <a:t>I</a:t>
                      </a:r>
                    </a:p>
                  </a:txBody>
                  <a:tcPr marL="73152" marR="73152" marT="27432" marB="27432">
                    <a:solidFill>
                      <a:srgbClr val="F3F6FA"/>
                    </a:solidFill>
                  </a:tcPr>
                </a:tc>
                <a:tc>
                  <a:txBody>
                    <a:bodyPr wrap="square"/>
                    <a:lstStyle/>
                    <a:p>
                      <a:r>
                        <a:rPr sz="1000" b="0">
                          <a:solidFill>
                            <a:srgbClr val="1A1A1A"/>
                          </a:solidFill>
                          <a:latin typeface="Segoe UI"/>
                        </a:rPr>
                        <a:t>I</a:t>
                      </a:r>
                    </a:p>
                  </a:txBody>
                  <a:tcPr marL="73152" marR="73152" marT="27432" marB="27432">
                    <a:solidFill>
                      <a:srgbClr val="F3F6FA"/>
                    </a:solidFill>
                  </a:tcPr>
                </a:tc>
              </a:tr>
              <a:tr h="447040">
                <a:tc>
                  <a:txBody>
                    <a:bodyPr wrap="square"/>
                    <a:lstStyle/>
                    <a:p>
                      <a:r>
                        <a:rPr sz="1000" b="1">
                          <a:solidFill>
                            <a:srgbClr val="1A1A1A"/>
                          </a:solidFill>
                          <a:latin typeface="Segoe UI"/>
                        </a:rPr>
                        <a:t>Policy ownership + attestation</a:t>
                      </a:r>
                    </a:p>
                  </a:txBody>
                  <a:tcPr marL="73152" marR="73152" marT="27432" marB="27432">
                    <a:solidFill>
                      <a:srgbClr val="FFFFFF"/>
                    </a:solidFill>
                  </a:tcPr>
                </a:tc>
                <a:tc>
                  <a:txBody>
                    <a:bodyPr wrap="square"/>
                    <a:lstStyle/>
                    <a:p>
                      <a:r>
                        <a:rPr sz="1000" b="0">
                          <a:solidFill>
                            <a:srgbClr val="1A1A1A"/>
                          </a:solidFill>
                          <a:latin typeface="Segoe UI"/>
                        </a:rPr>
                        <a:t>C</a:t>
                      </a:r>
                    </a:p>
                  </a:txBody>
                  <a:tcPr marL="73152" marR="73152" marT="27432" marB="27432">
                    <a:solidFill>
                      <a:srgbClr val="FFFFFF"/>
                    </a:solidFill>
                  </a:tcPr>
                </a:tc>
                <a:tc>
                  <a:txBody>
                    <a:bodyPr wrap="square"/>
                    <a:lstStyle/>
                    <a:p>
                      <a:r>
                        <a:rPr sz="1000" b="0">
                          <a:solidFill>
                            <a:srgbClr val="1A1A1A"/>
                          </a:solidFill>
                          <a:latin typeface="Segoe UI"/>
                        </a:rPr>
                        <a:t>A / R</a:t>
                      </a:r>
                    </a:p>
                  </a:txBody>
                  <a:tcPr marL="73152" marR="73152" marT="27432" marB="27432">
                    <a:solidFill>
                      <a:srgbClr val="FFFFFF"/>
                    </a:solidFill>
                  </a:tcPr>
                </a:tc>
                <a:tc>
                  <a:txBody>
                    <a:bodyPr wrap="square"/>
                    <a:lstStyle/>
                    <a:p>
                      <a:r>
                        <a:rPr sz="1000" b="0">
                          <a:solidFill>
                            <a:srgbClr val="1A1A1A"/>
                          </a:solidFill>
                          <a:latin typeface="Segoe UI"/>
                        </a:rPr>
                        <a:t>C</a:t>
                      </a:r>
                    </a:p>
                  </a:txBody>
                  <a:tcPr marL="73152" marR="73152" marT="27432" marB="27432">
                    <a:solidFill>
                      <a:srgbClr val="FFFFFF"/>
                    </a:solidFill>
                  </a:tcPr>
                </a:tc>
                <a:tc>
                  <a:txBody>
                    <a:bodyPr wrap="square"/>
                    <a:lstStyle/>
                    <a:p>
                      <a:r>
                        <a:rPr sz="1000" b="0">
                          <a:solidFill>
                            <a:srgbClr val="1A1A1A"/>
                          </a:solidFill>
                          <a:latin typeface="Segoe UI"/>
                        </a:rPr>
                        <a:t>C</a:t>
                      </a:r>
                    </a:p>
                  </a:txBody>
                  <a:tcPr marL="73152" marR="73152" marT="27432" marB="27432">
                    <a:solidFill>
                      <a:srgbClr val="FFFFFF"/>
                    </a:solidFill>
                  </a:tcPr>
                </a:tc>
                <a:tc>
                  <a:txBody>
                    <a:bodyPr wrap="square"/>
                    <a:lstStyle/>
                    <a:p>
                      <a:r>
                        <a:rPr sz="1000" b="0">
                          <a:solidFill>
                            <a:srgbClr val="1A1A1A"/>
                          </a:solidFill>
                          <a:latin typeface="Segoe UI"/>
                        </a:rPr>
                        <a:t>I</a:t>
                      </a:r>
                    </a:p>
                  </a:txBody>
                  <a:tcPr marL="73152" marR="73152" marT="27432" marB="27432">
                    <a:solidFill>
                      <a:srgbClr val="FFFFFF"/>
                    </a:solidFill>
                  </a:tcPr>
                </a:tc>
              </a:tr>
              <a:tr h="447040">
                <a:tc>
                  <a:txBody>
                    <a:bodyPr wrap="square"/>
                    <a:lstStyle/>
                    <a:p>
                      <a:r>
                        <a:rPr sz="1000" b="1">
                          <a:solidFill>
                            <a:srgbClr val="1A1A1A"/>
                          </a:solidFill>
                          <a:latin typeface="Segoe UI"/>
                        </a:rPr>
                        <a:t>POPIA DPIA + cross-border approval</a:t>
                      </a:r>
                    </a:p>
                  </a:txBody>
                  <a:tcPr marL="73152" marR="73152" marT="27432" marB="27432">
                    <a:solidFill>
                      <a:srgbClr val="F3F6FA"/>
                    </a:solidFill>
                  </a:tcPr>
                </a:tc>
                <a:tc>
                  <a:txBody>
                    <a:bodyPr wrap="square"/>
                    <a:lstStyle/>
                    <a:p>
                      <a:r>
                        <a:rPr sz="1000" b="0">
                          <a:solidFill>
                            <a:srgbClr val="1A1A1A"/>
                          </a:solidFill>
                          <a:latin typeface="Segoe UI"/>
                        </a:rPr>
                        <a:t>I</a:t>
                      </a:r>
                    </a:p>
                  </a:txBody>
                  <a:tcPr marL="73152" marR="73152" marT="27432" marB="27432">
                    <a:solidFill>
                      <a:srgbClr val="F3F6FA"/>
                    </a:solidFill>
                  </a:tcPr>
                </a:tc>
                <a:tc>
                  <a:txBody>
                    <a:bodyPr wrap="square"/>
                    <a:lstStyle/>
                    <a:p>
                      <a:r>
                        <a:rPr sz="1000" b="0">
                          <a:solidFill>
                            <a:srgbClr val="1A1A1A"/>
                          </a:solidFill>
                          <a:latin typeface="Segoe UI"/>
                        </a:rPr>
                        <a:t>C</a:t>
                      </a:r>
                    </a:p>
                  </a:txBody>
                  <a:tcPr marL="73152" marR="73152" marT="27432" marB="27432">
                    <a:solidFill>
                      <a:srgbClr val="F3F6FA"/>
                    </a:solidFill>
                  </a:tcPr>
                </a:tc>
                <a:tc>
                  <a:txBody>
                    <a:bodyPr wrap="square"/>
                    <a:lstStyle/>
                    <a:p>
                      <a:r>
                        <a:rPr sz="1000" b="0">
                          <a:solidFill>
                            <a:srgbClr val="1A1A1A"/>
                          </a:solidFill>
                          <a:latin typeface="Segoe UI"/>
                        </a:rPr>
                        <a:t>A / R</a:t>
                      </a:r>
                    </a:p>
                  </a:txBody>
                  <a:tcPr marL="73152" marR="73152" marT="27432" marB="27432">
                    <a:solidFill>
                      <a:srgbClr val="F3F6FA"/>
                    </a:solidFill>
                  </a:tcPr>
                </a:tc>
                <a:tc>
                  <a:txBody>
                    <a:bodyPr wrap="square"/>
                    <a:lstStyle/>
                    <a:p>
                      <a:r>
                        <a:rPr sz="1000" b="0">
                          <a:solidFill>
                            <a:srgbClr val="1A1A1A"/>
                          </a:solidFill>
                          <a:latin typeface="Segoe UI"/>
                        </a:rPr>
                        <a:t>I</a:t>
                      </a:r>
                    </a:p>
                  </a:txBody>
                  <a:tcPr marL="73152" marR="73152" marT="27432" marB="27432">
                    <a:solidFill>
                      <a:srgbClr val="F3F6FA"/>
                    </a:solidFill>
                  </a:tcPr>
                </a:tc>
                <a:tc>
                  <a:txBody>
                    <a:bodyPr wrap="square"/>
                    <a:lstStyle/>
                    <a:p>
                      <a:r>
                        <a:rPr sz="1000" b="0">
                          <a:solidFill>
                            <a:srgbClr val="1A1A1A"/>
                          </a:solidFill>
                          <a:latin typeface="Segoe UI"/>
                        </a:rPr>
                        <a:t>I</a:t>
                      </a:r>
                    </a:p>
                  </a:txBody>
                  <a:tcPr marL="73152" marR="73152" marT="27432" marB="27432">
                    <a:solidFill>
                      <a:srgbClr val="F3F6FA"/>
                    </a:solidFill>
                  </a:tcPr>
                </a:tc>
              </a:tr>
              <a:tr h="447040">
                <a:tc>
                  <a:txBody>
                    <a:bodyPr wrap="square"/>
                    <a:lstStyle/>
                    <a:p>
                      <a:r>
                        <a:rPr sz="1000" b="1">
                          <a:solidFill>
                            <a:srgbClr val="1A1A1A"/>
                          </a:solidFill>
                          <a:latin typeface="Segoe UI"/>
                        </a:rPr>
                        <a:t>Quarterly evidence + AGSA liaison</a:t>
                      </a:r>
                    </a:p>
                  </a:txBody>
                  <a:tcPr marL="73152" marR="73152" marT="27432" marB="27432">
                    <a:solidFill>
                      <a:srgbClr val="FFFFFF"/>
                    </a:solidFill>
                  </a:tcPr>
                </a:tc>
                <a:tc>
                  <a:txBody>
                    <a:bodyPr wrap="square"/>
                    <a:lstStyle/>
                    <a:p>
                      <a:r>
                        <a:rPr sz="1000" b="0">
                          <a:solidFill>
                            <a:srgbClr val="1A1A1A"/>
                          </a:solidFill>
                          <a:latin typeface="Segoe UI"/>
                        </a:rPr>
                        <a:t>C</a:t>
                      </a:r>
                    </a:p>
                  </a:txBody>
                  <a:tcPr marL="73152" marR="73152" marT="27432" marB="27432">
                    <a:solidFill>
                      <a:srgbClr val="FFFFFF"/>
                    </a:solidFill>
                  </a:tcPr>
                </a:tc>
                <a:tc>
                  <a:txBody>
                    <a:bodyPr wrap="square"/>
                    <a:lstStyle/>
                    <a:p>
                      <a:r>
                        <a:rPr sz="1000" b="0">
                          <a:solidFill>
                            <a:srgbClr val="1A1A1A"/>
                          </a:solidFill>
                          <a:latin typeface="Segoe UI"/>
                        </a:rPr>
                        <a:t>C</a:t>
                      </a:r>
                    </a:p>
                  </a:txBody>
                  <a:tcPr marL="73152" marR="73152" marT="27432" marB="27432">
                    <a:solidFill>
                      <a:srgbClr val="FFFFFF"/>
                    </a:solidFill>
                  </a:tcPr>
                </a:tc>
                <a:tc>
                  <a:txBody>
                    <a:bodyPr wrap="square"/>
                    <a:lstStyle/>
                    <a:p>
                      <a:r>
                        <a:rPr sz="1000" b="0">
                          <a:solidFill>
                            <a:srgbClr val="1A1A1A"/>
                          </a:solidFill>
                          <a:latin typeface="Segoe UI"/>
                        </a:rPr>
                        <a:t>C</a:t>
                      </a:r>
                    </a:p>
                  </a:txBody>
                  <a:tcPr marL="73152" marR="73152" marT="27432" marB="27432">
                    <a:solidFill>
                      <a:srgbClr val="FFFFFF"/>
                    </a:solidFill>
                  </a:tcPr>
                </a:tc>
                <a:tc>
                  <a:txBody>
                    <a:bodyPr wrap="square"/>
                    <a:lstStyle/>
                    <a:p>
                      <a:r>
                        <a:rPr sz="1000" b="0">
                          <a:solidFill>
                            <a:srgbClr val="1A1A1A"/>
                          </a:solidFill>
                          <a:latin typeface="Segoe UI"/>
                        </a:rPr>
                        <a:t>A / R</a:t>
                      </a:r>
                    </a:p>
                  </a:txBody>
                  <a:tcPr marL="73152" marR="73152" marT="27432" marB="27432">
                    <a:solidFill>
                      <a:srgbClr val="FFFFFF"/>
                    </a:solidFill>
                  </a:tcPr>
                </a:tc>
                <a:tc>
                  <a:txBody>
                    <a:bodyPr wrap="square"/>
                    <a:lstStyle/>
                    <a:p>
                      <a:r>
                        <a:rPr sz="1000" b="0">
                          <a:solidFill>
                            <a:srgbClr val="1A1A1A"/>
                          </a:solidFill>
                          <a:latin typeface="Segoe UI"/>
                        </a:rPr>
                        <a:t>I</a:t>
                      </a:r>
                    </a:p>
                  </a:txBody>
                  <a:tcPr marL="73152" marR="73152" marT="27432" marB="27432">
                    <a:solidFill>
                      <a:srgbClr val="FFFFFF"/>
                    </a:solidFill>
                  </a:tcPr>
                </a:tc>
              </a:tr>
              <a:tr h="447040">
                <a:tc>
                  <a:txBody>
                    <a:bodyPr wrap="square"/>
                    <a:lstStyle/>
                    <a:p>
                      <a:r>
                        <a:rPr sz="1000" b="1">
                          <a:solidFill>
                            <a:srgbClr val="1A1A1A"/>
                          </a:solidFill>
                          <a:latin typeface="Segoe UI"/>
                        </a:rPr>
                        <a:t>Day-to-day operations + L1/L2 incident</a:t>
                      </a:r>
                    </a:p>
                  </a:txBody>
                  <a:tcPr marL="73152" marR="73152" marT="27432" marB="27432">
                    <a:solidFill>
                      <a:srgbClr val="F3F6FA"/>
                    </a:solidFill>
                  </a:tcPr>
                </a:tc>
                <a:tc>
                  <a:txBody>
                    <a:bodyPr wrap="square"/>
                    <a:lstStyle/>
                    <a:p>
                      <a:r>
                        <a:rPr sz="1000" b="0">
                          <a:solidFill>
                            <a:srgbClr val="1A1A1A"/>
                          </a:solidFill>
                          <a:latin typeface="Segoe UI"/>
                        </a:rPr>
                        <a:t>C</a:t>
                      </a:r>
                    </a:p>
                  </a:txBody>
                  <a:tcPr marL="73152" marR="73152" marT="27432" marB="27432">
                    <a:solidFill>
                      <a:srgbClr val="F3F6FA"/>
                    </a:solidFill>
                  </a:tcPr>
                </a:tc>
                <a:tc>
                  <a:txBody>
                    <a:bodyPr wrap="square"/>
                    <a:lstStyle/>
                    <a:p>
                      <a:r>
                        <a:rPr sz="1000" b="0">
                          <a:solidFill>
                            <a:srgbClr val="1A1A1A"/>
                          </a:solidFill>
                          <a:latin typeface="Segoe UI"/>
                        </a:rPr>
                        <a:t>I</a:t>
                      </a:r>
                    </a:p>
                  </a:txBody>
                  <a:tcPr marL="73152" marR="73152" marT="27432" marB="27432">
                    <a:solidFill>
                      <a:srgbClr val="F3F6FA"/>
                    </a:solidFill>
                  </a:tcPr>
                </a:tc>
                <a:tc>
                  <a:txBody>
                    <a:bodyPr wrap="square"/>
                    <a:lstStyle/>
                    <a:p>
                      <a:r>
                        <a:rPr sz="1000" b="0">
                          <a:solidFill>
                            <a:srgbClr val="1A1A1A"/>
                          </a:solidFill>
                          <a:latin typeface="Segoe UI"/>
                        </a:rPr>
                        <a:t>I</a:t>
                      </a:r>
                    </a:p>
                  </a:txBody>
                  <a:tcPr marL="73152" marR="73152" marT="27432" marB="27432">
                    <a:solidFill>
                      <a:srgbClr val="F3F6FA"/>
                    </a:solidFill>
                  </a:tcPr>
                </a:tc>
                <a:tc>
                  <a:txBody>
                    <a:bodyPr wrap="square"/>
                    <a:lstStyle/>
                    <a:p>
                      <a:r>
                        <a:rPr sz="1000" b="0">
                          <a:solidFill>
                            <a:srgbClr val="1A1A1A"/>
                          </a:solidFill>
                          <a:latin typeface="Segoe UI"/>
                        </a:rPr>
                        <a:t>I</a:t>
                      </a:r>
                    </a:p>
                  </a:txBody>
                  <a:tcPr marL="73152" marR="73152" marT="27432" marB="27432">
                    <a:solidFill>
                      <a:srgbClr val="F3F6FA"/>
                    </a:solidFill>
                  </a:tcPr>
                </a:tc>
                <a:tc>
                  <a:txBody>
                    <a:bodyPr wrap="square"/>
                    <a:lstStyle/>
                    <a:p>
                      <a:r>
                        <a:rPr sz="1000" b="0">
                          <a:solidFill>
                            <a:srgbClr val="1A1A1A"/>
                          </a:solidFill>
                          <a:latin typeface="Segoe UI"/>
                        </a:rPr>
                        <a:t>A / R</a:t>
                      </a:r>
                    </a:p>
                  </a:txBody>
                  <a:tcPr marL="73152" marR="73152" marT="27432" marB="27432">
                    <a:solidFill>
                      <a:srgbClr val="F3F6FA"/>
                    </a:solidFill>
                  </a:tcPr>
                </a:tc>
              </a:tr>
              <a:tr h="447040">
                <a:tc>
                  <a:txBody>
                    <a:bodyPr wrap="square"/>
                    <a:lstStyle/>
                    <a:p>
                      <a:r>
                        <a:rPr sz="1000" b="1">
                          <a:solidFill>
                            <a:srgbClr val="1A1A1A"/>
                          </a:solidFill>
                          <a:latin typeface="Segoe UI"/>
                        </a:rPr>
                        <a:t>Kill-switch authority</a:t>
                      </a:r>
                    </a:p>
                  </a:txBody>
                  <a:tcPr marL="73152" marR="73152" marT="27432" marB="27432">
                    <a:solidFill>
                      <a:srgbClr val="FFFFFF"/>
                    </a:solidFill>
                  </a:tcPr>
                </a:tc>
                <a:tc>
                  <a:txBody>
                    <a:bodyPr wrap="square"/>
                    <a:lstStyle/>
                    <a:p>
                      <a:r>
                        <a:rPr sz="1000" b="0">
                          <a:solidFill>
                            <a:srgbClr val="1A1A1A"/>
                          </a:solidFill>
                          <a:latin typeface="Segoe UI"/>
                        </a:rPr>
                        <a:t>I</a:t>
                      </a:r>
                    </a:p>
                  </a:txBody>
                  <a:tcPr marL="73152" marR="73152" marT="27432" marB="27432">
                    <a:solidFill>
                      <a:srgbClr val="FFFFFF"/>
                    </a:solidFill>
                  </a:tcPr>
                </a:tc>
                <a:tc>
                  <a:txBody>
                    <a:bodyPr wrap="square"/>
                    <a:lstStyle/>
                    <a:p>
                      <a:r>
                        <a:rPr sz="1000" b="0">
                          <a:solidFill>
                            <a:srgbClr val="1A1A1A"/>
                          </a:solidFill>
                          <a:latin typeface="Segoe UI"/>
                        </a:rPr>
                        <a:t>A / R</a:t>
                      </a:r>
                    </a:p>
                  </a:txBody>
                  <a:tcPr marL="73152" marR="73152" marT="27432" marB="27432">
                    <a:solidFill>
                      <a:srgbClr val="FFFFFF"/>
                    </a:solidFill>
                  </a:tcPr>
                </a:tc>
                <a:tc>
                  <a:txBody>
                    <a:bodyPr wrap="square"/>
                    <a:lstStyle/>
                    <a:p>
                      <a:r>
                        <a:rPr sz="1000" b="0">
                          <a:solidFill>
                            <a:srgbClr val="1A1A1A"/>
                          </a:solidFill>
                          <a:latin typeface="Segoe UI"/>
                        </a:rPr>
                        <a:t>I</a:t>
                      </a:r>
                    </a:p>
                  </a:txBody>
                  <a:tcPr marL="73152" marR="73152" marT="27432" marB="27432">
                    <a:solidFill>
                      <a:srgbClr val="FFFFFF"/>
                    </a:solidFill>
                  </a:tcPr>
                </a:tc>
                <a:tc>
                  <a:txBody>
                    <a:bodyPr wrap="square"/>
                    <a:lstStyle/>
                    <a:p>
                      <a:r>
                        <a:rPr sz="1000" b="0">
                          <a:solidFill>
                            <a:srgbClr val="1A1A1A"/>
                          </a:solidFill>
                          <a:latin typeface="Segoe UI"/>
                        </a:rPr>
                        <a:t>I</a:t>
                      </a:r>
                    </a:p>
                  </a:txBody>
                  <a:tcPr marL="73152" marR="73152" marT="27432" marB="27432">
                    <a:solidFill>
                      <a:srgbClr val="FFFFFF"/>
                    </a:solidFill>
                  </a:tcPr>
                </a:tc>
                <a:tc>
                  <a:txBody>
                    <a:bodyPr wrap="square"/>
                    <a:lstStyle/>
                    <a:p>
                      <a:r>
                        <a:rPr sz="1000" b="0">
                          <a:solidFill>
                            <a:srgbClr val="1A1A1A"/>
                          </a:solidFill>
                          <a:latin typeface="Segoe UI"/>
                        </a:rPr>
                        <a:t>C</a:t>
                      </a:r>
                    </a:p>
                  </a:txBody>
                  <a:tcPr marL="73152" marR="73152" marT="27432" marB="27432">
                    <a:solidFill>
                      <a:srgbClr val="FFFFFF"/>
                    </a:solidFill>
                  </a:tcPr>
                </a:tc>
              </a:tr>
              <a:tr h="447040">
                <a:tc>
                  <a:txBody>
                    <a:bodyPr wrap="square"/>
                    <a:lstStyle/>
                    <a:p>
                      <a:r>
                        <a:rPr sz="1000" b="1">
                          <a:solidFill>
                            <a:srgbClr val="1A1A1A"/>
                          </a:solidFill>
                          <a:latin typeface="Segoe UI"/>
                        </a:rPr>
                        <a:t>L3 incident escalation</a:t>
                      </a:r>
                    </a:p>
                  </a:txBody>
                  <a:tcPr marL="73152" marR="73152" marT="27432" marB="27432">
                    <a:solidFill>
                      <a:srgbClr val="F3F6FA"/>
                    </a:solidFill>
                  </a:tcPr>
                </a:tc>
                <a:tc>
                  <a:txBody>
                    <a:bodyPr wrap="square"/>
                    <a:lstStyle/>
                    <a:p>
                      <a:r>
                        <a:rPr sz="1000" b="0">
                          <a:solidFill>
                            <a:srgbClr val="1A1A1A"/>
                          </a:solidFill>
                          <a:latin typeface="Segoe UI"/>
                        </a:rPr>
                        <a:t>A / R</a:t>
                      </a:r>
                    </a:p>
                  </a:txBody>
                  <a:tcPr marL="73152" marR="73152" marT="27432" marB="27432">
                    <a:solidFill>
                      <a:srgbClr val="F3F6FA"/>
                    </a:solidFill>
                  </a:tcPr>
                </a:tc>
                <a:tc>
                  <a:txBody>
                    <a:bodyPr wrap="square"/>
                    <a:lstStyle/>
                    <a:p>
                      <a:r>
                        <a:rPr sz="1000" b="0">
                          <a:solidFill>
                            <a:srgbClr val="1A1A1A"/>
                          </a:solidFill>
                          <a:latin typeface="Segoe UI"/>
                        </a:rPr>
                        <a:t>I</a:t>
                      </a:r>
                    </a:p>
                  </a:txBody>
                  <a:tcPr marL="73152" marR="73152" marT="27432" marB="27432">
                    <a:solidFill>
                      <a:srgbClr val="F3F6FA"/>
                    </a:solidFill>
                  </a:tcPr>
                </a:tc>
                <a:tc>
                  <a:txBody>
                    <a:bodyPr wrap="square"/>
                    <a:lstStyle/>
                    <a:p>
                      <a:r>
                        <a:rPr sz="1000" b="0">
                          <a:solidFill>
                            <a:srgbClr val="1A1A1A"/>
                          </a:solidFill>
                          <a:latin typeface="Segoe UI"/>
                        </a:rPr>
                        <a:t>I</a:t>
                      </a:r>
                    </a:p>
                  </a:txBody>
                  <a:tcPr marL="73152" marR="73152" marT="27432" marB="27432">
                    <a:solidFill>
                      <a:srgbClr val="F3F6FA"/>
                    </a:solidFill>
                  </a:tcPr>
                </a:tc>
                <a:tc>
                  <a:txBody>
                    <a:bodyPr wrap="square"/>
                    <a:lstStyle/>
                    <a:p>
                      <a:r>
                        <a:rPr sz="1000" b="0">
                          <a:solidFill>
                            <a:srgbClr val="1A1A1A"/>
                          </a:solidFill>
                          <a:latin typeface="Segoe UI"/>
                        </a:rPr>
                        <a:t>I</a:t>
                      </a:r>
                    </a:p>
                  </a:txBody>
                  <a:tcPr marL="73152" marR="73152" marT="27432" marB="27432">
                    <a:solidFill>
                      <a:srgbClr val="F3F6FA"/>
                    </a:solidFill>
                  </a:tcPr>
                </a:tc>
                <a:tc>
                  <a:txBody>
                    <a:bodyPr wrap="square"/>
                    <a:lstStyle/>
                    <a:p>
                      <a:r>
                        <a:rPr sz="1000" b="0">
                          <a:solidFill>
                            <a:srgbClr val="1A1A1A"/>
                          </a:solidFill>
                          <a:latin typeface="Segoe UI"/>
                        </a:rPr>
                        <a:t>C</a:t>
                      </a:r>
                    </a:p>
                  </a:txBody>
                  <a:tcPr marL="73152" marR="73152" marT="27432" marB="27432">
                    <a:solidFill>
                      <a:srgbClr val="F3F6FA"/>
                    </a:solidFill>
                  </a:tcPr>
                </a:tc>
              </a:tr>
            </a:tbl>
          </a:graphicData>
        </a:graphic>
      </p:graphicFrame>
      <p:sp>
        <p:nvSpPr>
          <p:cNvPr id="6" name="Rectangle 5"/>
          <p:cNvSpPr/>
          <p:nvPr/>
        </p:nvSpPr>
        <p:spPr>
          <a:xfrm>
            <a:off x="548640" y="256032"/>
            <a:ext cx="11091672" cy="9000"/>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46520"/>
            <a:ext cx="11091672" cy="9000"/>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510528"/>
            <a:ext cx="7315200" cy="274320"/>
          </a:xfrm>
          <a:prstGeom prst="rect">
            <a:avLst/>
          </a:prstGeom>
          <a:noFill/>
        </p:spPr>
        <p:txBody>
          <a:bodyPr wrap="square" lIns="0" rIns="0" tIns="0" bIns="0" anchor="t">
            <a:spAutoFit/>
          </a:bodyPr>
          <a:lstStyle/>
          <a:p>
            <a:pPr algn="l"/>
            <a:r>
              <a:rPr sz="900" b="0" i="0">
                <a:solidFill>
                  <a:srgbClr val="555555"/>
                </a:solidFill>
                <a:latin typeface="Segoe UI"/>
              </a:rPr>
              <a:t>Microsoft · Confidential · © 2026 Microsoft Corporation</a:t>
            </a:r>
          </a:p>
        </p:txBody>
      </p:sp>
      <p:sp>
        <p:nvSpPr>
          <p:cNvPr id="9" name="TextBox 8"/>
          <p:cNvSpPr txBox="1"/>
          <p:nvPr/>
        </p:nvSpPr>
        <p:spPr>
          <a:xfrm>
            <a:off x="9784080" y="6510528"/>
            <a:ext cx="1828800" cy="274320"/>
          </a:xfrm>
          <a:prstGeom prst="rect">
            <a:avLst/>
          </a:prstGeom>
          <a:noFill/>
        </p:spPr>
        <p:txBody>
          <a:bodyPr wrap="square" lIns="0" rIns="0" tIns="0" bIns="0" anchor="t">
            <a:spAutoFit/>
          </a:bodyPr>
          <a:lstStyle/>
          <a:p>
            <a:pPr algn="r"/>
            <a:r>
              <a:rPr sz="900" b="0" i="0">
                <a:solidFill>
                  <a:srgbClr val="555555"/>
                </a:solidFill>
                <a:latin typeface="Segoe UI"/>
              </a:rPr>
              <a:t>8 / 14</a:t>
            </a:r>
          </a:p>
        </p:txBody>
      </p:sp>
      <p:sp>
        <p:nvSpPr>
          <p:cNvPr id="10" name="AICOE_GEO_ACCENT_Right Triangle 9"/>
          <p:cNvSpPr/>
          <p:nvPr/>
        </p:nvSpPr>
        <p:spPr>
          <a:xfrm rot="5400000">
            <a:off x="11761927" y="109728"/>
            <a:ext cx="320040" cy="320040"/>
          </a:xfrm>
          <a:prstGeom prst="rtTriangl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AICOE_GEO_ACCENT_Right Triangle 10"/>
          <p:cNvSpPr/>
          <p:nvPr/>
        </p:nvSpPr>
        <p:spPr>
          <a:xfrm rot="5400000">
            <a:off x="11873941" y="109728"/>
            <a:ext cx="208026" cy="208026"/>
          </a:xfrm>
          <a:prstGeom prst="rtTriangle">
            <a:avLst/>
          </a:prstGeom>
          <a:solidFill>
            <a:srgbClr val="50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144000" cy="274320"/>
          </a:xfrm>
          <a:prstGeom prst="rect">
            <a:avLst/>
          </a:prstGeom>
          <a:noFill/>
        </p:spPr>
        <p:txBody>
          <a:bodyPr wrap="square" lIns="0" rIns="0" tIns="0" bIns="0" anchor="t">
            <a:spAutoFit/>
          </a:bodyPr>
          <a:lstStyle/>
          <a:p>
            <a:pPr algn="l"/>
            <a:r>
              <a:rPr sz="1100" b="1" i="0">
                <a:solidFill>
                  <a:srgbClr val="0067B8"/>
                </a:solidFill>
                <a:latin typeface="Segoe UI"/>
              </a:rPr>
              <a:t>ENGAGEMENT SHAPE</a:t>
            </a:r>
          </a:p>
        </p:txBody>
      </p:sp>
      <p:sp>
        <p:nvSpPr>
          <p:cNvPr id="3" name="TextBox 2"/>
          <p:cNvSpPr txBox="1"/>
          <p:nvPr/>
        </p:nvSpPr>
        <p:spPr>
          <a:xfrm>
            <a:off x="548640" y="594360"/>
            <a:ext cx="11155680" cy="731520"/>
          </a:xfrm>
          <a:prstGeom prst="rect">
            <a:avLst/>
          </a:prstGeom>
          <a:noFill/>
        </p:spPr>
        <p:txBody>
          <a:bodyPr wrap="square" lIns="0" rIns="0" tIns="0" bIns="0" anchor="t">
            <a:spAutoFit/>
          </a:bodyPr>
          <a:lstStyle/>
          <a:p>
            <a:pPr algn="l"/>
            <a:r>
              <a:rPr sz="2800" b="1" i="0">
                <a:solidFill>
                  <a:srgbClr val="1A1A1A"/>
                </a:solidFill>
                <a:latin typeface="Segoe UI"/>
              </a:rPr>
              <a:t>From envision to attestation</a:t>
            </a:r>
          </a:p>
        </p:txBody>
      </p:sp>
      <p:sp>
        <p:nvSpPr>
          <p:cNvPr id="4" name="TextBox 3"/>
          <p:cNvSpPr txBox="1"/>
          <p:nvPr/>
        </p:nvSpPr>
        <p:spPr>
          <a:xfrm>
            <a:off x="548640" y="1280160"/>
            <a:ext cx="11155680" cy="502920"/>
          </a:xfrm>
          <a:prstGeom prst="rect">
            <a:avLst/>
          </a:prstGeom>
          <a:noFill/>
        </p:spPr>
        <p:txBody>
          <a:bodyPr wrap="square" lIns="0" rIns="0" tIns="0" bIns="0" anchor="t">
            <a:spAutoFit/>
          </a:bodyPr>
          <a:lstStyle/>
          <a:p>
            <a:pPr algn="l"/>
            <a:r>
              <a:rPr sz="1400" b="0" i="0">
                <a:solidFill>
                  <a:srgbClr val="555555"/>
                </a:solidFill>
                <a:latin typeface="Segoe UI"/>
              </a:rPr>
              <a:t>Phased commercial — every phase has a funding instrument.</a:t>
            </a:r>
          </a:p>
        </p:txBody>
      </p:sp>
      <p:graphicFrame>
        <p:nvGraphicFramePr>
          <p:cNvPr id="5" name="Table 4"/>
          <p:cNvGraphicFramePr>
            <a:graphicFrameLocks noGrp="1"/>
          </p:cNvGraphicFramePr>
          <p:nvPr/>
        </p:nvGraphicFramePr>
        <p:xfrm>
          <a:off x="548640" y="2103120"/>
          <a:ext cx="11155679" cy="3200400"/>
        </p:xfrm>
        <a:graphic>
          <a:graphicData uri="http://schemas.openxmlformats.org/drawingml/2006/table">
            <a:tbl>
              <a:tblPr firstRow="1" bandRow="1">
                <a:tableStyleId>{5C22544A-7EE6-4342-B048-85BDC9FD1C3A}</a:tableStyleId>
              </a:tblPr>
              <a:tblGrid>
                <a:gridCol w="2957945"/>
                <a:gridCol w="1183178"/>
                <a:gridCol w="2788920"/>
                <a:gridCol w="4225636"/>
              </a:tblGrid>
              <a:tr h="640080">
                <a:tc>
                  <a:txBody>
                    <a:bodyPr wrap="square"/>
                    <a:lstStyle/>
                    <a:p>
                      <a:r>
                        <a:rPr sz="1100" b="1">
                          <a:solidFill>
                            <a:srgbClr val="FFFFFF"/>
                          </a:solidFill>
                          <a:latin typeface="Segoe UI"/>
                        </a:rPr>
                        <a:t>Phase</a:t>
                      </a:r>
                    </a:p>
                  </a:txBody>
                  <a:tcPr marL="73152" marR="73152" marT="36576" marB="36576">
                    <a:solidFill>
                      <a:srgbClr val="0B1F3A"/>
                    </a:solidFill>
                  </a:tcPr>
                </a:tc>
                <a:tc>
                  <a:txBody>
                    <a:bodyPr wrap="square"/>
                    <a:lstStyle/>
                    <a:p>
                      <a:r>
                        <a:rPr sz="1100" b="1">
                          <a:solidFill>
                            <a:srgbClr val="FFFFFF"/>
                          </a:solidFill>
                          <a:latin typeface="Segoe UI"/>
                        </a:rPr>
                        <a:t>Duration</a:t>
                      </a:r>
                    </a:p>
                  </a:txBody>
                  <a:tcPr marL="73152" marR="73152" marT="36576" marB="36576">
                    <a:solidFill>
                      <a:srgbClr val="0B1F3A"/>
                    </a:solidFill>
                  </a:tcPr>
                </a:tc>
                <a:tc>
                  <a:txBody>
                    <a:bodyPr wrap="square"/>
                    <a:lstStyle/>
                    <a:p>
                      <a:r>
                        <a:rPr sz="1100" b="1">
                          <a:solidFill>
                            <a:srgbClr val="FFFFFF"/>
                          </a:solidFill>
                          <a:latin typeface="Segoe UI"/>
                        </a:rPr>
                        <a:t>Funded by</a:t>
                      </a:r>
                    </a:p>
                  </a:txBody>
                  <a:tcPr marL="73152" marR="73152" marT="36576" marB="36576">
                    <a:solidFill>
                      <a:srgbClr val="0B1F3A"/>
                    </a:solidFill>
                  </a:tcPr>
                </a:tc>
                <a:tc>
                  <a:txBody>
                    <a:bodyPr wrap="square"/>
                    <a:lstStyle/>
                    <a:p>
                      <a:r>
                        <a:rPr sz="1100" b="1">
                          <a:solidFill>
                            <a:srgbClr val="FFFFFF"/>
                          </a:solidFill>
                          <a:latin typeface="Segoe UI"/>
                        </a:rPr>
                        <a:t>Deliverables</a:t>
                      </a:r>
                    </a:p>
                  </a:txBody>
                  <a:tcPr marL="73152" marR="73152" marT="36576" marB="36576">
                    <a:solidFill>
                      <a:srgbClr val="0B1F3A"/>
                    </a:solidFill>
                  </a:tcPr>
                </a:tc>
              </a:tr>
              <a:tr h="640080">
                <a:tc>
                  <a:txBody>
                    <a:bodyPr wrap="square"/>
                    <a:lstStyle/>
                    <a:p>
                      <a:r>
                        <a:rPr sz="1100" b="1">
                          <a:solidFill>
                            <a:srgbClr val="1A1A1A"/>
                          </a:solidFill>
                          <a:latin typeface="Segoe UI"/>
                        </a:rPr>
                        <a:t>Sovereign-AI Envision Workshop</a:t>
                      </a:r>
                    </a:p>
                  </a:txBody>
                  <a:tcPr marL="73152" marR="73152" marT="27432" marB="27432">
                    <a:solidFill>
                      <a:srgbClr val="FFFFFF"/>
                    </a:solidFill>
                  </a:tcPr>
                </a:tc>
                <a:tc>
                  <a:txBody>
                    <a:bodyPr wrap="square"/>
                    <a:lstStyle/>
                    <a:p>
                      <a:r>
                        <a:rPr sz="1100" b="0">
                          <a:solidFill>
                            <a:srgbClr val="1A1A1A"/>
                          </a:solidFill>
                          <a:latin typeface="Segoe UI"/>
                        </a:rPr>
                        <a:t>4 wk</a:t>
                      </a:r>
                    </a:p>
                  </a:txBody>
                  <a:tcPr marL="73152" marR="73152" marT="27432" marB="27432">
                    <a:solidFill>
                      <a:srgbClr val="FFFFFF"/>
                    </a:solidFill>
                  </a:tcPr>
                </a:tc>
                <a:tc>
                  <a:txBody>
                    <a:bodyPr wrap="square"/>
                    <a:lstStyle/>
                    <a:p>
                      <a:r>
                        <a:rPr sz="1100" b="0">
                          <a:solidFill>
                            <a:srgbClr val="1A1A1A"/>
                          </a:solidFill>
                          <a:latin typeface="Segoe UI"/>
                        </a:rPr>
                        <a:t>Pre-sales ECIF $50K</a:t>
                      </a:r>
                    </a:p>
                  </a:txBody>
                  <a:tcPr marL="73152" marR="73152" marT="27432" marB="27432">
                    <a:solidFill>
                      <a:srgbClr val="FFFFFF"/>
                    </a:solidFill>
                  </a:tcPr>
                </a:tc>
                <a:tc>
                  <a:txBody>
                    <a:bodyPr wrap="square"/>
                    <a:lstStyle/>
                    <a:p>
                      <a:r>
                        <a:rPr sz="1100" b="0">
                          <a:solidFill>
                            <a:srgbClr val="1A1A1A"/>
                          </a:solidFill>
                          <a:latin typeface="Segoe UI"/>
                        </a:rPr>
                        <a:t>Crosswalk tailored, gap analysis, regulator-correspondence pack</a:t>
                      </a:r>
                    </a:p>
                  </a:txBody>
                  <a:tcPr marL="73152" marR="73152" marT="27432" marB="27432">
                    <a:solidFill>
                      <a:srgbClr val="FFFFFF"/>
                    </a:solidFill>
                  </a:tcPr>
                </a:tc>
              </a:tr>
              <a:tr h="640080">
                <a:tc>
                  <a:txBody>
                    <a:bodyPr wrap="square"/>
                    <a:lstStyle/>
                    <a:p>
                      <a:r>
                        <a:rPr sz="1100" b="1">
                          <a:solidFill>
                            <a:srgbClr val="1A1A1A"/>
                          </a:solidFill>
                          <a:latin typeface="Segoe UI"/>
                        </a:rPr>
                        <a:t>Landing-Zone deploy (ACC-2)</a:t>
                      </a:r>
                    </a:p>
                  </a:txBody>
                  <a:tcPr marL="73152" marR="73152" marT="27432" marB="27432">
                    <a:solidFill>
                      <a:srgbClr val="F3F6FA"/>
                    </a:solidFill>
                  </a:tcPr>
                </a:tc>
                <a:tc>
                  <a:txBody>
                    <a:bodyPr wrap="square"/>
                    <a:lstStyle/>
                    <a:p>
                      <a:r>
                        <a:rPr sz="1100" b="0">
                          <a:solidFill>
                            <a:srgbClr val="1A1A1A"/>
                          </a:solidFill>
                          <a:latin typeface="Segoe UI"/>
                        </a:rPr>
                        <a:t>2 wk</a:t>
                      </a:r>
                    </a:p>
                  </a:txBody>
                  <a:tcPr marL="73152" marR="73152" marT="27432" marB="27432">
                    <a:solidFill>
                      <a:srgbClr val="F3F6FA"/>
                    </a:solidFill>
                  </a:tcPr>
                </a:tc>
                <a:tc>
                  <a:txBody>
                    <a:bodyPr wrap="square"/>
                    <a:lstStyle/>
                    <a:p>
                      <a:r>
                        <a:rPr sz="1100" b="0">
                          <a:solidFill>
                            <a:srgbClr val="1A1A1A"/>
                          </a:solidFill>
                          <a:latin typeface="Segoe UI"/>
                        </a:rPr>
                        <a:t>Cloud Accelerate Factory $0</a:t>
                      </a:r>
                    </a:p>
                  </a:txBody>
                  <a:tcPr marL="73152" marR="73152" marT="27432" marB="27432">
                    <a:solidFill>
                      <a:srgbClr val="F3F6FA"/>
                    </a:solidFill>
                  </a:tcPr>
                </a:tc>
                <a:tc>
                  <a:txBody>
                    <a:bodyPr wrap="square"/>
                    <a:lstStyle/>
                    <a:p>
                      <a:r>
                        <a:rPr sz="1100" b="0">
                          <a:solidFill>
                            <a:srgbClr val="1A1A1A"/>
                          </a:solidFill>
                          <a:latin typeface="Segoe UI"/>
                        </a:rPr>
                        <a:t>Production landing-zone in SA North</a:t>
                      </a:r>
                    </a:p>
                  </a:txBody>
                  <a:tcPr marL="73152" marR="73152" marT="27432" marB="27432">
                    <a:solidFill>
                      <a:srgbClr val="F3F6FA"/>
                    </a:solidFill>
                  </a:tcPr>
                </a:tc>
              </a:tr>
              <a:tr h="640080">
                <a:tc>
                  <a:txBody>
                    <a:bodyPr wrap="square"/>
                    <a:lstStyle/>
                    <a:p>
                      <a:r>
                        <a:rPr sz="1100" b="1">
                          <a:solidFill>
                            <a:srgbClr val="1A1A1A"/>
                          </a:solidFill>
                          <a:latin typeface="Segoe UI"/>
                        </a:rPr>
                        <a:t>Pilot (use-case dependent)</a:t>
                      </a:r>
                    </a:p>
                  </a:txBody>
                  <a:tcPr marL="73152" marR="73152" marT="27432" marB="27432">
                    <a:solidFill>
                      <a:srgbClr val="FFFFFF"/>
                    </a:solidFill>
                  </a:tcPr>
                </a:tc>
                <a:tc>
                  <a:txBody>
                    <a:bodyPr wrap="square"/>
                    <a:lstStyle/>
                    <a:p>
                      <a:r>
                        <a:rPr sz="1100" b="0">
                          <a:solidFill>
                            <a:srgbClr val="1A1A1A"/>
                          </a:solidFill>
                          <a:latin typeface="Segoe UI"/>
                        </a:rPr>
                        <a:t>8–12 wk</a:t>
                      </a:r>
                    </a:p>
                  </a:txBody>
                  <a:tcPr marL="73152" marR="73152" marT="27432" marB="27432">
                    <a:solidFill>
                      <a:srgbClr val="FFFFFF"/>
                    </a:solidFill>
                  </a:tcPr>
                </a:tc>
                <a:tc>
                  <a:txBody>
                    <a:bodyPr wrap="square"/>
                    <a:lstStyle/>
                    <a:p>
                      <a:r>
                        <a:rPr sz="1100" b="0">
                          <a:solidFill>
                            <a:srgbClr val="1A1A1A"/>
                          </a:solidFill>
                          <a:latin typeface="Segoe UI"/>
                        </a:rPr>
                        <a:t>ATO $250–500K + partner</a:t>
                      </a:r>
                    </a:p>
                  </a:txBody>
                  <a:tcPr marL="73152" marR="73152" marT="27432" marB="27432">
                    <a:solidFill>
                      <a:srgbClr val="FFFFFF"/>
                    </a:solidFill>
                  </a:tcPr>
                </a:tc>
                <a:tc>
                  <a:txBody>
                    <a:bodyPr wrap="square"/>
                    <a:lstStyle/>
                    <a:p>
                      <a:r>
                        <a:rPr sz="1100" b="0">
                          <a:solidFill>
                            <a:srgbClr val="1A1A1A"/>
                          </a:solidFill>
                          <a:latin typeface="Segoe UI"/>
                        </a:rPr>
                        <a:t>First production workload + audit evidence pack</a:t>
                      </a:r>
                    </a:p>
                  </a:txBody>
                  <a:tcPr marL="73152" marR="73152" marT="27432" marB="27432">
                    <a:solidFill>
                      <a:srgbClr val="FFFFFF"/>
                    </a:solidFill>
                  </a:tcPr>
                </a:tc>
              </a:tr>
              <a:tr h="640080">
                <a:tc>
                  <a:txBody>
                    <a:bodyPr wrap="square"/>
                    <a:lstStyle/>
                    <a:p>
                      <a:r>
                        <a:rPr sz="1100" b="1">
                          <a:solidFill>
                            <a:srgbClr val="1A1A1A"/>
                          </a:solidFill>
                          <a:latin typeface="Segoe UI"/>
                        </a:rPr>
                        <a:t>Quarterly attestation</a:t>
                      </a:r>
                    </a:p>
                  </a:txBody>
                  <a:tcPr marL="73152" marR="73152" marT="27432" marB="27432">
                    <a:solidFill>
                      <a:srgbClr val="F3F6FA"/>
                    </a:solidFill>
                  </a:tcPr>
                </a:tc>
                <a:tc>
                  <a:txBody>
                    <a:bodyPr wrap="square"/>
                    <a:lstStyle/>
                    <a:p>
                      <a:r>
                        <a:rPr sz="1100" b="0">
                          <a:solidFill>
                            <a:srgbClr val="1A1A1A"/>
                          </a:solidFill>
                          <a:latin typeface="Segoe UI"/>
                        </a:rPr>
                        <a:t>Ongoing</a:t>
                      </a:r>
                    </a:p>
                  </a:txBody>
                  <a:tcPr marL="73152" marR="73152" marT="27432" marB="27432">
                    <a:solidFill>
                      <a:srgbClr val="F3F6FA"/>
                    </a:solidFill>
                  </a:tcPr>
                </a:tc>
                <a:tc>
                  <a:txBody>
                    <a:bodyPr wrap="square"/>
                    <a:lstStyle/>
                    <a:p>
                      <a:r>
                        <a:rPr sz="1100" b="0">
                          <a:solidFill>
                            <a:srgbClr val="1A1A1A"/>
                          </a:solidFill>
                          <a:latin typeface="Segoe UI"/>
                        </a:rPr>
                        <a:t>Customer</a:t>
                      </a:r>
                    </a:p>
                  </a:txBody>
                  <a:tcPr marL="73152" marR="73152" marT="27432" marB="27432">
                    <a:solidFill>
                      <a:srgbClr val="F3F6FA"/>
                    </a:solidFill>
                  </a:tcPr>
                </a:tc>
                <a:tc>
                  <a:txBody>
                    <a:bodyPr wrap="square"/>
                    <a:lstStyle/>
                    <a:p>
                      <a:r>
                        <a:rPr sz="1100" b="0">
                          <a:solidFill>
                            <a:srgbClr val="1A1A1A"/>
                          </a:solidFill>
                          <a:latin typeface="Segoe UI"/>
                        </a:rPr>
                        <a:t>Re-verify controls, region availability, model catalogue</a:t>
                      </a:r>
                    </a:p>
                  </a:txBody>
                  <a:tcPr marL="73152" marR="73152" marT="27432" marB="27432">
                    <a:solidFill>
                      <a:srgbClr val="F3F6FA"/>
                    </a:solidFill>
                  </a:tcPr>
                </a:tc>
              </a:tr>
            </a:tbl>
          </a:graphicData>
        </a:graphic>
      </p:graphicFrame>
      <p:sp>
        <p:nvSpPr>
          <p:cNvPr id="6" name="Rectangle 5"/>
          <p:cNvSpPr/>
          <p:nvPr/>
        </p:nvSpPr>
        <p:spPr>
          <a:xfrm>
            <a:off x="548640" y="256032"/>
            <a:ext cx="11091672" cy="9000"/>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46520"/>
            <a:ext cx="11091672" cy="9000"/>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510528"/>
            <a:ext cx="7315200" cy="274320"/>
          </a:xfrm>
          <a:prstGeom prst="rect">
            <a:avLst/>
          </a:prstGeom>
          <a:noFill/>
        </p:spPr>
        <p:txBody>
          <a:bodyPr wrap="square" lIns="0" rIns="0" tIns="0" bIns="0" anchor="t">
            <a:spAutoFit/>
          </a:bodyPr>
          <a:lstStyle/>
          <a:p>
            <a:pPr algn="l"/>
            <a:r>
              <a:rPr sz="900" b="0" i="0">
                <a:solidFill>
                  <a:srgbClr val="555555"/>
                </a:solidFill>
                <a:latin typeface="Segoe UI"/>
              </a:rPr>
              <a:t>Microsoft · Confidential · © 2026 Microsoft Corporation</a:t>
            </a:r>
          </a:p>
        </p:txBody>
      </p:sp>
      <p:sp>
        <p:nvSpPr>
          <p:cNvPr id="9" name="TextBox 8"/>
          <p:cNvSpPr txBox="1"/>
          <p:nvPr/>
        </p:nvSpPr>
        <p:spPr>
          <a:xfrm>
            <a:off x="9784080" y="6510528"/>
            <a:ext cx="1828800" cy="274320"/>
          </a:xfrm>
          <a:prstGeom prst="rect">
            <a:avLst/>
          </a:prstGeom>
          <a:noFill/>
        </p:spPr>
        <p:txBody>
          <a:bodyPr wrap="square" lIns="0" rIns="0" tIns="0" bIns="0" anchor="t">
            <a:spAutoFit/>
          </a:bodyPr>
          <a:lstStyle/>
          <a:p>
            <a:pPr algn="r"/>
            <a:r>
              <a:rPr sz="900" b="0" i="0">
                <a:solidFill>
                  <a:srgbClr val="555555"/>
                </a:solidFill>
                <a:latin typeface="Segoe UI"/>
              </a:rPr>
              <a:t>9 / 14</a:t>
            </a:r>
          </a:p>
        </p:txBody>
      </p:sp>
      <p:sp>
        <p:nvSpPr>
          <p:cNvPr id="10" name="AICOE_GEO_ACCENT_Right Triangle 9"/>
          <p:cNvSpPr/>
          <p:nvPr/>
        </p:nvSpPr>
        <p:spPr>
          <a:xfrm rot="5400000">
            <a:off x="11761927" y="109728"/>
            <a:ext cx="320040" cy="320040"/>
          </a:xfrm>
          <a:prstGeom prst="rtTriangl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AICOE_GEO_ACCENT_Right Triangle 10"/>
          <p:cNvSpPr/>
          <p:nvPr/>
        </p:nvSpPr>
        <p:spPr>
          <a:xfrm rot="5400000">
            <a:off x="11873941" y="109728"/>
            <a:ext cx="208026" cy="208026"/>
          </a:xfrm>
          <a:prstGeom prst="rtTriangle">
            <a:avLst/>
          </a:prstGeom>
          <a:solidFill>
            <a:srgbClr val="50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144000" cy="274320"/>
          </a:xfrm>
          <a:prstGeom prst="rect">
            <a:avLst/>
          </a:prstGeom>
          <a:noFill/>
        </p:spPr>
        <p:txBody>
          <a:bodyPr wrap="square" lIns="0" rIns="0" tIns="0" bIns="0" anchor="t">
            <a:spAutoFit/>
          </a:bodyPr>
          <a:lstStyle/>
          <a:p>
            <a:pPr algn="l"/>
            <a:r>
              <a:rPr sz="1100" b="1" i="0">
                <a:solidFill>
                  <a:srgbClr val="B76E00"/>
                </a:solidFill>
                <a:latin typeface="Segoe UI"/>
              </a:rPr>
              <a:t>WHAT THIS IS NOT</a:t>
            </a:r>
          </a:p>
        </p:txBody>
      </p:sp>
      <p:sp>
        <p:nvSpPr>
          <p:cNvPr id="3" name="TextBox 2"/>
          <p:cNvSpPr txBox="1"/>
          <p:nvPr/>
        </p:nvSpPr>
        <p:spPr>
          <a:xfrm>
            <a:off x="548640" y="594360"/>
            <a:ext cx="11155680" cy="731520"/>
          </a:xfrm>
          <a:prstGeom prst="rect">
            <a:avLst/>
          </a:prstGeom>
          <a:noFill/>
        </p:spPr>
        <p:txBody>
          <a:bodyPr wrap="square" lIns="0" rIns="0" tIns="0" bIns="0" anchor="t">
            <a:spAutoFit/>
          </a:bodyPr>
          <a:lstStyle/>
          <a:p>
            <a:pPr algn="l"/>
            <a:r>
              <a:rPr sz="2800" b="1" i="0">
                <a:solidFill>
                  <a:srgbClr val="1A1A1A"/>
                </a:solidFill>
                <a:latin typeface="Segoe UI"/>
              </a:rPr>
              <a:t>Boundaries of the offer</a:t>
            </a:r>
          </a:p>
        </p:txBody>
      </p:sp>
      <p:sp>
        <p:nvSpPr>
          <p:cNvPr id="4" name="TextBox 3"/>
          <p:cNvSpPr txBox="1"/>
          <p:nvPr/>
        </p:nvSpPr>
        <p:spPr>
          <a:xfrm>
            <a:off x="548640" y="1280160"/>
            <a:ext cx="11155680" cy="502920"/>
          </a:xfrm>
          <a:prstGeom prst="rect">
            <a:avLst/>
          </a:prstGeom>
          <a:noFill/>
        </p:spPr>
        <p:txBody>
          <a:bodyPr wrap="square" lIns="0" rIns="0" tIns="0" bIns="0" anchor="t">
            <a:spAutoFit/>
          </a:bodyPr>
          <a:lstStyle/>
          <a:p>
            <a:pPr algn="l"/>
            <a:r>
              <a:rPr sz="1400" b="0" i="0">
                <a:solidFill>
                  <a:srgbClr val="555555"/>
                </a:solidFill>
                <a:latin typeface="Segoe UI"/>
              </a:rPr>
              <a:t>Setting these in the first meeting prevents the deal slipping later.</a:t>
            </a:r>
          </a:p>
        </p:txBody>
      </p:sp>
      <p:sp>
        <p:nvSpPr>
          <p:cNvPr id="5" name="Rectangle 4"/>
          <p:cNvSpPr/>
          <p:nvPr/>
        </p:nvSpPr>
        <p:spPr>
          <a:xfrm>
            <a:off x="548640" y="2103120"/>
            <a:ext cx="11155680" cy="109728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91440" cy="1097280"/>
          </a:xfrm>
          <a:prstGeom prst="rect">
            <a:avLst/>
          </a:prstGeom>
          <a:solidFill>
            <a:srgbClr val="B76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267712"/>
            <a:ext cx="10515600" cy="411480"/>
          </a:xfrm>
          <a:prstGeom prst="rect">
            <a:avLst/>
          </a:prstGeom>
          <a:noFill/>
        </p:spPr>
        <p:txBody>
          <a:bodyPr wrap="square" lIns="0" rIns="0" tIns="0" bIns="0" anchor="t">
            <a:spAutoFit/>
          </a:bodyPr>
          <a:lstStyle/>
          <a:p>
            <a:pPr algn="l"/>
            <a:r>
              <a:rPr sz="1500" b="1" i="0">
                <a:solidFill>
                  <a:srgbClr val="B76E00"/>
                </a:solidFill>
                <a:latin typeface="Segoe UI"/>
              </a:rPr>
              <a:t>Not an air-gapped offer</a:t>
            </a:r>
          </a:p>
        </p:txBody>
      </p:sp>
      <p:sp>
        <p:nvSpPr>
          <p:cNvPr id="8" name="TextBox 7"/>
          <p:cNvSpPr txBox="1"/>
          <p:nvPr/>
        </p:nvSpPr>
        <p:spPr>
          <a:xfrm>
            <a:off x="777240" y="2651760"/>
            <a:ext cx="10515600" cy="502920"/>
          </a:xfrm>
          <a:prstGeom prst="rect">
            <a:avLst/>
          </a:prstGeom>
          <a:noFill/>
        </p:spPr>
        <p:txBody>
          <a:bodyPr wrap="square" lIns="0" rIns="0" tIns="0" bIns="0" anchor="t">
            <a:spAutoFit/>
          </a:bodyPr>
          <a:lstStyle/>
          <a:p>
            <a:pPr algn="l"/>
            <a:r>
              <a:rPr sz="1200" b="0" i="0">
                <a:solidFill>
                  <a:srgbClr val="1A1A1A"/>
                </a:solidFill>
                <a:latin typeface="Segoe UI"/>
              </a:rPr>
              <a:t>We do not operate Azure Stack Edge / disconnected scenarios under this SKU.</a:t>
            </a:r>
          </a:p>
        </p:txBody>
      </p:sp>
      <p:sp>
        <p:nvSpPr>
          <p:cNvPr id="9" name="Rectangle 8"/>
          <p:cNvSpPr/>
          <p:nvPr/>
        </p:nvSpPr>
        <p:spPr>
          <a:xfrm>
            <a:off x="548640" y="3383280"/>
            <a:ext cx="11155680" cy="109728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383280"/>
            <a:ext cx="91440" cy="1097280"/>
          </a:xfrm>
          <a:prstGeom prst="rect">
            <a:avLst/>
          </a:prstGeom>
          <a:solidFill>
            <a:srgbClr val="B76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3547872"/>
            <a:ext cx="10515600" cy="411480"/>
          </a:xfrm>
          <a:prstGeom prst="rect">
            <a:avLst/>
          </a:prstGeom>
          <a:noFill/>
        </p:spPr>
        <p:txBody>
          <a:bodyPr wrap="square" lIns="0" rIns="0" tIns="0" bIns="0" anchor="t">
            <a:spAutoFit/>
          </a:bodyPr>
          <a:lstStyle/>
          <a:p>
            <a:pPr algn="l"/>
            <a:r>
              <a:rPr sz="1500" b="1" i="0">
                <a:solidFill>
                  <a:srgbClr val="B76E00"/>
                </a:solidFill>
                <a:latin typeface="Segoe UI"/>
              </a:rPr>
              <a:t>Not a workaround for not-yet-in-region services</a:t>
            </a:r>
          </a:p>
        </p:txBody>
      </p:sp>
      <p:sp>
        <p:nvSpPr>
          <p:cNvPr id="12" name="TextBox 11"/>
          <p:cNvSpPr txBox="1"/>
          <p:nvPr/>
        </p:nvSpPr>
        <p:spPr>
          <a:xfrm>
            <a:off x="777240" y="3931920"/>
            <a:ext cx="10515600" cy="502920"/>
          </a:xfrm>
          <a:prstGeom prst="rect">
            <a:avLst/>
          </a:prstGeom>
          <a:noFill/>
        </p:spPr>
        <p:txBody>
          <a:bodyPr wrap="square" lIns="0" rIns="0" tIns="0" bIns="0" anchor="t">
            <a:spAutoFit/>
          </a:bodyPr>
          <a:lstStyle/>
          <a:p>
            <a:pPr algn="l"/>
            <a:r>
              <a:rPr sz="1200" b="0" i="0">
                <a:solidFill>
                  <a:srgbClr val="1A1A1A"/>
                </a:solidFill>
                <a:latin typeface="Segoe UI"/>
              </a:rPr>
              <a:t>Where a service is not in SA, this offer documents the gap and customer risk acceptance — it does not pretend coverage.</a:t>
            </a:r>
          </a:p>
        </p:txBody>
      </p:sp>
      <p:sp>
        <p:nvSpPr>
          <p:cNvPr id="13" name="Rectangle 12"/>
          <p:cNvSpPr/>
          <p:nvPr/>
        </p:nvSpPr>
        <p:spPr>
          <a:xfrm>
            <a:off x="548640" y="4663440"/>
            <a:ext cx="11155680" cy="109728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4663440"/>
            <a:ext cx="91440" cy="1097280"/>
          </a:xfrm>
          <a:prstGeom prst="rect">
            <a:avLst/>
          </a:prstGeom>
          <a:solidFill>
            <a:srgbClr val="B76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4828032"/>
            <a:ext cx="10515600" cy="411480"/>
          </a:xfrm>
          <a:prstGeom prst="rect">
            <a:avLst/>
          </a:prstGeom>
          <a:noFill/>
        </p:spPr>
        <p:txBody>
          <a:bodyPr wrap="square" lIns="0" rIns="0" tIns="0" bIns="0" anchor="t">
            <a:spAutoFit/>
          </a:bodyPr>
          <a:lstStyle/>
          <a:p>
            <a:pPr algn="l"/>
            <a:r>
              <a:rPr sz="1500" b="1" i="0">
                <a:solidFill>
                  <a:srgbClr val="B76E00"/>
                </a:solidFill>
                <a:latin typeface="Segoe UI"/>
              </a:rPr>
              <a:t>Not a substitute for the customer's POPIA programme</a:t>
            </a:r>
          </a:p>
        </p:txBody>
      </p:sp>
      <p:sp>
        <p:nvSpPr>
          <p:cNvPr id="16" name="TextBox 15"/>
          <p:cNvSpPr txBox="1"/>
          <p:nvPr/>
        </p:nvSpPr>
        <p:spPr>
          <a:xfrm>
            <a:off x="777240" y="5212080"/>
            <a:ext cx="10515600" cy="502920"/>
          </a:xfrm>
          <a:prstGeom prst="rect">
            <a:avLst/>
          </a:prstGeom>
          <a:noFill/>
        </p:spPr>
        <p:txBody>
          <a:bodyPr wrap="square" lIns="0" rIns="0" tIns="0" bIns="0" anchor="t">
            <a:spAutoFit/>
          </a:bodyPr>
          <a:lstStyle/>
          <a:p>
            <a:pPr algn="l"/>
            <a:r>
              <a:rPr sz="1200" b="0" i="0">
                <a:solidFill>
                  <a:srgbClr val="1A1A1A"/>
                </a:solidFill>
                <a:latin typeface="Segoe UI"/>
              </a:rPr>
              <a:t>We provide the controls; the customer remains the responsible party under POPIA §8.</a:t>
            </a:r>
          </a:p>
        </p:txBody>
      </p:sp>
      <p:sp>
        <p:nvSpPr>
          <p:cNvPr id="17" name="Rectangle 16"/>
          <p:cNvSpPr/>
          <p:nvPr/>
        </p:nvSpPr>
        <p:spPr>
          <a:xfrm>
            <a:off x="548640" y="256032"/>
            <a:ext cx="11091672" cy="9000"/>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6446520"/>
            <a:ext cx="11091672" cy="9000"/>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510528"/>
            <a:ext cx="7315200" cy="274320"/>
          </a:xfrm>
          <a:prstGeom prst="rect">
            <a:avLst/>
          </a:prstGeom>
          <a:noFill/>
        </p:spPr>
        <p:txBody>
          <a:bodyPr wrap="square" lIns="0" rIns="0" tIns="0" bIns="0" anchor="t">
            <a:spAutoFit/>
          </a:bodyPr>
          <a:lstStyle/>
          <a:p>
            <a:pPr algn="l"/>
            <a:r>
              <a:rPr sz="900" b="0" i="0">
                <a:solidFill>
                  <a:srgbClr val="555555"/>
                </a:solidFill>
                <a:latin typeface="Segoe UI"/>
              </a:rPr>
              <a:t>Microsoft · Confidential · © 2026 Microsoft Corporation</a:t>
            </a:r>
          </a:p>
        </p:txBody>
      </p:sp>
      <p:sp>
        <p:nvSpPr>
          <p:cNvPr id="20" name="TextBox 19"/>
          <p:cNvSpPr txBox="1"/>
          <p:nvPr/>
        </p:nvSpPr>
        <p:spPr>
          <a:xfrm>
            <a:off x="9784080" y="6510528"/>
            <a:ext cx="1828800" cy="274320"/>
          </a:xfrm>
          <a:prstGeom prst="rect">
            <a:avLst/>
          </a:prstGeom>
          <a:noFill/>
        </p:spPr>
        <p:txBody>
          <a:bodyPr wrap="square" lIns="0" rIns="0" tIns="0" bIns="0" anchor="t">
            <a:spAutoFit/>
          </a:bodyPr>
          <a:lstStyle/>
          <a:p>
            <a:pPr algn="r"/>
            <a:r>
              <a:rPr sz="900" b="0" i="0">
                <a:solidFill>
                  <a:srgbClr val="555555"/>
                </a:solidFill>
                <a:latin typeface="Segoe UI"/>
              </a:rPr>
              <a:t>10 / 14</a:t>
            </a:r>
          </a:p>
        </p:txBody>
      </p:sp>
      <p:sp>
        <p:nvSpPr>
          <p:cNvPr id="21" name="AICOE_GEO_ACCENT_Right Triangle 20"/>
          <p:cNvSpPr/>
          <p:nvPr/>
        </p:nvSpPr>
        <p:spPr>
          <a:xfrm rot="5400000">
            <a:off x="11761927" y="109728"/>
            <a:ext cx="320040" cy="320040"/>
          </a:xfrm>
          <a:prstGeom prst="rtTriangl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ICOE_GEO_ACCENT_Right Triangle 21"/>
          <p:cNvSpPr/>
          <p:nvPr/>
        </p:nvSpPr>
        <p:spPr>
          <a:xfrm rot="5400000">
            <a:off x="11873941" y="109728"/>
            <a:ext cx="208026" cy="208026"/>
          </a:xfrm>
          <a:prstGeom prst="rtTriangle">
            <a:avLst/>
          </a:prstGeom>
          <a:solidFill>
            <a:srgbClr val="50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144000" cy="274320"/>
          </a:xfrm>
          <a:prstGeom prst="rect">
            <a:avLst/>
          </a:prstGeom>
          <a:noFill/>
        </p:spPr>
        <p:txBody>
          <a:bodyPr wrap="square" lIns="0" rIns="0" tIns="0" bIns="0" anchor="t">
            <a:spAutoFit/>
          </a:bodyPr>
          <a:lstStyle/>
          <a:p>
            <a:pPr algn="l"/>
            <a:r>
              <a:rPr sz="1100" b="1" i="0">
                <a:solidFill>
                  <a:srgbClr val="0067B8"/>
                </a:solidFill>
                <a:latin typeface="Segoe UI"/>
              </a:rPr>
              <a:t>COUNTER-OBJECTIONS</a:t>
            </a:r>
          </a:p>
        </p:txBody>
      </p:sp>
      <p:sp>
        <p:nvSpPr>
          <p:cNvPr id="3" name="TextBox 2"/>
          <p:cNvSpPr txBox="1"/>
          <p:nvPr/>
        </p:nvSpPr>
        <p:spPr>
          <a:xfrm>
            <a:off x="548640" y="594360"/>
            <a:ext cx="11155680" cy="731520"/>
          </a:xfrm>
          <a:prstGeom prst="rect">
            <a:avLst/>
          </a:prstGeom>
          <a:noFill/>
        </p:spPr>
        <p:txBody>
          <a:bodyPr wrap="square" lIns="0" rIns="0" tIns="0" bIns="0" anchor="t">
            <a:spAutoFit/>
          </a:bodyPr>
          <a:lstStyle/>
          <a:p>
            <a:pPr algn="l"/>
            <a:r>
              <a:rPr sz="2800" b="1" i="0">
                <a:solidFill>
                  <a:srgbClr val="1A1A1A"/>
                </a:solidFill>
                <a:latin typeface="Segoe UI"/>
              </a:rPr>
              <a:t>What you will be asked, and what to say</a:t>
            </a:r>
          </a:p>
        </p:txBody>
      </p:sp>
      <p:graphicFrame>
        <p:nvGraphicFramePr>
          <p:cNvPr id="4" name="Table 3"/>
          <p:cNvGraphicFramePr>
            <a:graphicFrameLocks noGrp="1"/>
          </p:cNvGraphicFramePr>
          <p:nvPr/>
        </p:nvGraphicFramePr>
        <p:xfrm>
          <a:off x="548640" y="2103120"/>
          <a:ext cx="11155680" cy="4023360"/>
        </p:xfrm>
        <a:graphic>
          <a:graphicData uri="http://schemas.openxmlformats.org/drawingml/2006/table">
            <a:tbl>
              <a:tblPr firstRow="1" bandRow="1">
                <a:tableStyleId>{5C22544A-7EE6-4342-B048-85BDC9FD1C3A}</a:tableStyleId>
              </a:tblPr>
              <a:tblGrid>
                <a:gridCol w="4572000"/>
                <a:gridCol w="6583680"/>
              </a:tblGrid>
              <a:tr h="670560">
                <a:tc>
                  <a:txBody>
                    <a:bodyPr wrap="square"/>
                    <a:lstStyle/>
                    <a:p>
                      <a:r>
                        <a:rPr sz="1100" b="1">
                          <a:solidFill>
                            <a:srgbClr val="FFFFFF"/>
                          </a:solidFill>
                          <a:latin typeface="Segoe UI"/>
                        </a:rPr>
                        <a:t>Objection</a:t>
                      </a:r>
                    </a:p>
                  </a:txBody>
                  <a:tcPr marL="73152" marR="73152" marT="36576" marB="36576">
                    <a:solidFill>
                      <a:srgbClr val="0B1F3A"/>
                    </a:solidFill>
                  </a:tcPr>
                </a:tc>
                <a:tc>
                  <a:txBody>
                    <a:bodyPr wrap="square"/>
                    <a:lstStyle/>
                    <a:p>
                      <a:r>
                        <a:rPr sz="1100" b="1">
                          <a:solidFill>
                            <a:srgbClr val="FFFFFF"/>
                          </a:solidFill>
                          <a:latin typeface="Segoe UI"/>
                        </a:rPr>
                        <a:t>Response</a:t>
                      </a:r>
                    </a:p>
                  </a:txBody>
                  <a:tcPr marL="73152" marR="73152" marT="36576" marB="36576">
                    <a:solidFill>
                      <a:srgbClr val="0B1F3A"/>
                    </a:solidFill>
                  </a:tcPr>
                </a:tc>
              </a:tr>
              <a:tr h="670560">
                <a:tc>
                  <a:txBody>
                    <a:bodyPr wrap="square"/>
                    <a:lstStyle/>
                    <a:p>
                      <a:r>
                        <a:rPr sz="1100" b="1">
                          <a:solidFill>
                            <a:srgbClr val="1A1A1A"/>
                          </a:solidFill>
                          <a:latin typeface="Segoe UI"/>
                        </a:rPr>
                        <a:t>"M365 Copilot processes in EU — you're not sovereign."</a:t>
                      </a:r>
                    </a:p>
                  </a:txBody>
                  <a:tcPr marL="73152" marR="73152" marT="27432" marB="27432">
                    <a:solidFill>
                      <a:srgbClr val="FFFFFF"/>
                    </a:solidFill>
                  </a:tcPr>
                </a:tc>
                <a:tc>
                  <a:txBody>
                    <a:bodyPr wrap="square"/>
                    <a:lstStyle/>
                    <a:p>
                      <a:r>
                        <a:rPr sz="1100" b="0">
                          <a:solidFill>
                            <a:srgbClr val="1A1A1A"/>
                          </a:solidFill>
                          <a:latin typeface="Segoe UI"/>
                        </a:rPr>
                        <a:t>Correct for M365 Copilot today. For deep-sovereignty workloads, route via Foundry in SA. This offer makes that explicit.</a:t>
                      </a:r>
                    </a:p>
                  </a:txBody>
                  <a:tcPr marL="73152" marR="73152" marT="27432" marB="27432">
                    <a:solidFill>
                      <a:srgbClr val="FFFFFF"/>
                    </a:solidFill>
                  </a:tcPr>
                </a:tc>
              </a:tr>
              <a:tr h="670560">
                <a:tc>
                  <a:txBody>
                    <a:bodyPr wrap="square"/>
                    <a:lstStyle/>
                    <a:p>
                      <a:r>
                        <a:rPr sz="1100" b="1">
                          <a:solidFill>
                            <a:srgbClr val="1A1A1A"/>
                          </a:solidFill>
                          <a:latin typeface="Segoe UI"/>
                        </a:rPr>
                        <a:t>"You can't promise in-region forever."</a:t>
                      </a:r>
                    </a:p>
                  </a:txBody>
                  <a:tcPr marL="73152" marR="73152" marT="27432" marB="27432">
                    <a:solidFill>
                      <a:srgbClr val="F3F6FA"/>
                    </a:solidFill>
                  </a:tcPr>
                </a:tc>
                <a:tc>
                  <a:txBody>
                    <a:bodyPr wrap="square"/>
                    <a:lstStyle/>
                    <a:p>
                      <a:r>
                        <a:rPr sz="1100" b="0">
                          <a:solidFill>
                            <a:srgbClr val="1A1A1A"/>
                          </a:solidFill>
                          <a:latin typeface="Segoe UI"/>
                        </a:rPr>
                        <a:t>Correct. We commit to quarterly attestation and 12-month notice on region changes via the operating model.</a:t>
                      </a:r>
                    </a:p>
                  </a:txBody>
                  <a:tcPr marL="73152" marR="73152" marT="27432" marB="27432">
                    <a:solidFill>
                      <a:srgbClr val="F3F6FA"/>
                    </a:solidFill>
                  </a:tcPr>
                </a:tc>
              </a:tr>
              <a:tr h="670560">
                <a:tc>
                  <a:txBody>
                    <a:bodyPr wrap="square"/>
                    <a:lstStyle/>
                    <a:p>
                      <a:r>
                        <a:rPr sz="1100" b="1">
                          <a:solidFill>
                            <a:srgbClr val="1A1A1A"/>
                          </a:solidFill>
                          <a:latin typeface="Segoe UI"/>
                        </a:rPr>
                        <a:t>"AGSA will reject this."</a:t>
                      </a:r>
                    </a:p>
                  </a:txBody>
                  <a:tcPr marL="73152" marR="73152" marT="27432" marB="27432">
                    <a:solidFill>
                      <a:srgbClr val="FFFFFF"/>
                    </a:solidFill>
                  </a:tcPr>
                </a:tc>
                <a:tc>
                  <a:txBody>
                    <a:bodyPr wrap="square"/>
                    <a:lstStyle/>
                    <a:p>
                      <a:r>
                        <a:rPr sz="1100" b="0">
                          <a:solidFill>
                            <a:srgbClr val="1A1A1A"/>
                          </a:solidFill>
                          <a:latin typeface="Segoe UI"/>
                        </a:rPr>
                        <a:t>AGSA reviews evidence, not vendor promises. The evidence template in this pack is what an AGSA reviewer wants to see.</a:t>
                      </a:r>
                    </a:p>
                  </a:txBody>
                  <a:tcPr marL="73152" marR="73152" marT="27432" marB="27432">
                    <a:solidFill>
                      <a:srgbClr val="FFFFFF"/>
                    </a:solidFill>
                  </a:tcPr>
                </a:tc>
              </a:tr>
              <a:tr h="670560">
                <a:tc>
                  <a:txBody>
                    <a:bodyPr wrap="square"/>
                    <a:lstStyle/>
                    <a:p>
                      <a:r>
                        <a:rPr sz="1100" b="1">
                          <a:solidFill>
                            <a:srgbClr val="1A1A1A"/>
                          </a:solidFill>
                          <a:latin typeface="Segoe UI"/>
                        </a:rPr>
                        <a:t>"What about EU AI Act for our multinational parent?"</a:t>
                      </a:r>
                    </a:p>
                  </a:txBody>
                  <a:tcPr marL="73152" marR="73152" marT="27432" marB="27432">
                    <a:solidFill>
                      <a:srgbClr val="F3F6FA"/>
                    </a:solidFill>
                  </a:tcPr>
                </a:tc>
                <a:tc>
                  <a:txBody>
                    <a:bodyPr wrap="square"/>
                    <a:lstStyle/>
                    <a:p>
                      <a:r>
                        <a:rPr sz="1100" b="0">
                          <a:solidFill>
                            <a:srgbClr val="1A1A1A"/>
                          </a:solidFill>
                          <a:latin typeface="Segoe UI"/>
                        </a:rPr>
                        <a:t>Crosswalk includes EU AI Act categories; co-deployable with EU Data Boundary if needed.</a:t>
                      </a:r>
                    </a:p>
                  </a:txBody>
                  <a:tcPr marL="73152" marR="73152" marT="27432" marB="27432">
                    <a:solidFill>
                      <a:srgbClr val="F3F6FA"/>
                    </a:solidFill>
                  </a:tcPr>
                </a:tc>
              </a:tr>
              <a:tr h="670560">
                <a:tc>
                  <a:txBody>
                    <a:bodyPr wrap="square"/>
                    <a:lstStyle/>
                    <a:p>
                      <a:r>
                        <a:rPr sz="1100" b="1">
                          <a:solidFill>
                            <a:srgbClr val="1A1A1A"/>
                          </a:solidFill>
                          <a:latin typeface="Segoe UI"/>
                        </a:rPr>
                        <a:t>"How do we exit?"</a:t>
                      </a:r>
                    </a:p>
                  </a:txBody>
                  <a:tcPr marL="73152" marR="73152" marT="27432" marB="27432">
                    <a:solidFill>
                      <a:srgbClr val="FFFFFF"/>
                    </a:solidFill>
                  </a:tcPr>
                </a:tc>
                <a:tc>
                  <a:txBody>
                    <a:bodyPr wrap="square"/>
                    <a:lstStyle/>
                    <a:p>
                      <a:r>
                        <a:rPr sz="1100" b="0">
                          <a:solidFill>
                            <a:srgbClr val="1A1A1A"/>
                          </a:solidFill>
                          <a:latin typeface="Segoe UI"/>
                        </a:rPr>
                        <a:t>Customer-owned keys + customer tenant + Foundry multi-model = portability. Exit returns customer-owned assets.</a:t>
                      </a:r>
                    </a:p>
                  </a:txBody>
                  <a:tcPr marL="73152" marR="73152" marT="27432" marB="27432">
                    <a:solidFill>
                      <a:srgbClr val="FFFFFF"/>
                    </a:solidFill>
                  </a:tcPr>
                </a:tc>
              </a:tr>
            </a:tbl>
          </a:graphicData>
        </a:graphic>
      </p:graphicFrame>
      <p:sp>
        <p:nvSpPr>
          <p:cNvPr id="5" name="Rectangle 4"/>
          <p:cNvSpPr/>
          <p:nvPr/>
        </p:nvSpPr>
        <p:spPr>
          <a:xfrm>
            <a:off x="548640" y="256032"/>
            <a:ext cx="11091672" cy="9000"/>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446520"/>
            <a:ext cx="11091672" cy="9000"/>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10528"/>
            <a:ext cx="7315200" cy="274320"/>
          </a:xfrm>
          <a:prstGeom prst="rect">
            <a:avLst/>
          </a:prstGeom>
          <a:noFill/>
        </p:spPr>
        <p:txBody>
          <a:bodyPr wrap="square" lIns="0" rIns="0" tIns="0" bIns="0" anchor="t">
            <a:spAutoFit/>
          </a:bodyPr>
          <a:lstStyle/>
          <a:p>
            <a:pPr algn="l"/>
            <a:r>
              <a:rPr sz="900" b="0" i="0">
                <a:solidFill>
                  <a:srgbClr val="555555"/>
                </a:solidFill>
                <a:latin typeface="Segoe UI"/>
              </a:rPr>
              <a:t>Microsoft · Confidential · © 2026 Microsoft Corporation</a:t>
            </a:r>
          </a:p>
        </p:txBody>
      </p:sp>
      <p:sp>
        <p:nvSpPr>
          <p:cNvPr id="8" name="TextBox 7"/>
          <p:cNvSpPr txBox="1"/>
          <p:nvPr/>
        </p:nvSpPr>
        <p:spPr>
          <a:xfrm>
            <a:off x="9784080" y="6510528"/>
            <a:ext cx="1828800" cy="274320"/>
          </a:xfrm>
          <a:prstGeom prst="rect">
            <a:avLst/>
          </a:prstGeom>
          <a:noFill/>
        </p:spPr>
        <p:txBody>
          <a:bodyPr wrap="square" lIns="0" rIns="0" tIns="0" bIns="0" anchor="t">
            <a:spAutoFit/>
          </a:bodyPr>
          <a:lstStyle/>
          <a:p>
            <a:pPr algn="r"/>
            <a:r>
              <a:rPr sz="900" b="0" i="0">
                <a:solidFill>
                  <a:srgbClr val="555555"/>
                </a:solidFill>
                <a:latin typeface="Segoe UI"/>
              </a:rPr>
              <a:t>11 / 14</a:t>
            </a:r>
          </a:p>
        </p:txBody>
      </p:sp>
      <p:sp>
        <p:nvSpPr>
          <p:cNvPr id="9" name="AICOE_GEO_ACCENT_Right Triangle 8"/>
          <p:cNvSpPr/>
          <p:nvPr/>
        </p:nvSpPr>
        <p:spPr>
          <a:xfrm rot="5400000">
            <a:off x="11761927" y="109728"/>
            <a:ext cx="320040" cy="320040"/>
          </a:xfrm>
          <a:prstGeom prst="rtTriangl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AICOE_GEO_ACCENT_Right Triangle 9"/>
          <p:cNvSpPr/>
          <p:nvPr/>
        </p:nvSpPr>
        <p:spPr>
          <a:xfrm rot="5400000">
            <a:off x="11873941" y="109728"/>
            <a:ext cx="208026" cy="208026"/>
          </a:xfrm>
          <a:prstGeom prst="rtTriangle">
            <a:avLst/>
          </a:prstGeom>
          <a:solidFill>
            <a:srgbClr val="50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144000" cy="274320"/>
          </a:xfrm>
          <a:prstGeom prst="rect">
            <a:avLst/>
          </a:prstGeom>
          <a:noFill/>
        </p:spPr>
        <p:txBody>
          <a:bodyPr wrap="square" lIns="0" rIns="0" tIns="0" bIns="0" anchor="t">
            <a:spAutoFit/>
          </a:bodyPr>
          <a:lstStyle/>
          <a:p>
            <a:pPr algn="l"/>
            <a:r>
              <a:rPr sz="1100" b="1" i="0">
                <a:solidFill>
                  <a:srgbClr val="0067B8"/>
                </a:solidFill>
                <a:latin typeface="Segoe UI"/>
              </a:rPr>
              <a:t>LINKED ARTEFACTS</a:t>
            </a:r>
          </a:p>
        </p:txBody>
      </p:sp>
      <p:sp>
        <p:nvSpPr>
          <p:cNvPr id="3" name="TextBox 2"/>
          <p:cNvSpPr txBox="1"/>
          <p:nvPr/>
        </p:nvSpPr>
        <p:spPr>
          <a:xfrm>
            <a:off x="548640" y="594360"/>
            <a:ext cx="11155680" cy="731520"/>
          </a:xfrm>
          <a:prstGeom prst="rect">
            <a:avLst/>
          </a:prstGeom>
          <a:noFill/>
        </p:spPr>
        <p:txBody>
          <a:bodyPr wrap="square" lIns="0" rIns="0" tIns="0" bIns="0" anchor="t">
            <a:spAutoFit/>
          </a:bodyPr>
          <a:lstStyle/>
          <a:p>
            <a:pPr algn="l"/>
            <a:r>
              <a:rPr sz="2800" b="1" i="0">
                <a:solidFill>
                  <a:srgbClr val="1A1A1A"/>
                </a:solidFill>
                <a:latin typeface="Segoe UI"/>
              </a:rPr>
              <a:t>Where the rest of the answer lives</a:t>
            </a:r>
          </a:p>
        </p:txBody>
      </p:sp>
      <p:graphicFrame>
        <p:nvGraphicFramePr>
          <p:cNvPr id="4" name="Table 3"/>
          <p:cNvGraphicFramePr>
            <a:graphicFrameLocks noGrp="1"/>
          </p:cNvGraphicFramePr>
          <p:nvPr/>
        </p:nvGraphicFramePr>
        <p:xfrm>
          <a:off x="548640" y="2103120"/>
          <a:ext cx="11155680" cy="3840480"/>
        </p:xfrm>
        <a:graphic>
          <a:graphicData uri="http://schemas.openxmlformats.org/drawingml/2006/table">
            <a:tbl>
              <a:tblPr firstRow="1" bandRow="1">
                <a:tableStyleId>{5C22544A-7EE6-4342-B048-85BDC9FD1C3A}</a:tableStyleId>
              </a:tblPr>
              <a:tblGrid>
                <a:gridCol w="5029200"/>
                <a:gridCol w="6126480"/>
              </a:tblGrid>
              <a:tr h="480060">
                <a:tc>
                  <a:txBody>
                    <a:bodyPr wrap="square"/>
                    <a:lstStyle/>
                    <a:p>
                      <a:r>
                        <a:rPr sz="1100" b="1">
                          <a:solidFill>
                            <a:srgbClr val="FFFFFF"/>
                          </a:solidFill>
                          <a:latin typeface="Segoe UI"/>
                        </a:rPr>
                        <a:t>Artefact</a:t>
                      </a:r>
                    </a:p>
                  </a:txBody>
                  <a:tcPr marL="73152" marR="73152" marT="36576" marB="36576">
                    <a:solidFill>
                      <a:srgbClr val="0B1F3A"/>
                    </a:solidFill>
                  </a:tcPr>
                </a:tc>
                <a:tc>
                  <a:txBody>
                    <a:bodyPr wrap="square"/>
                    <a:lstStyle/>
                    <a:p>
                      <a:r>
                        <a:rPr sz="1100" b="1">
                          <a:solidFill>
                            <a:srgbClr val="FFFFFF"/>
                          </a:solidFill>
                          <a:latin typeface="Segoe UI"/>
                        </a:rPr>
                        <a:t>Use it for</a:t>
                      </a:r>
                    </a:p>
                  </a:txBody>
                  <a:tcPr marL="73152" marR="73152" marT="36576" marB="36576">
                    <a:solidFill>
                      <a:srgbClr val="0B1F3A"/>
                    </a:solidFill>
                  </a:tcPr>
                </a:tc>
              </a:tr>
              <a:tr h="480060">
                <a:tc>
                  <a:txBody>
                    <a:bodyPr wrap="square"/>
                    <a:lstStyle/>
                    <a:p>
                      <a:r>
                        <a:rPr sz="1100" b="1">
                          <a:solidFill>
                            <a:srgbClr val="1A1A1A"/>
                          </a:solidFill>
                          <a:latin typeface="Segoe UI"/>
                        </a:rPr>
                        <a:t>ai-coe-sovereign-ai-rsa-report.md</a:t>
                      </a:r>
                    </a:p>
                  </a:txBody>
                  <a:tcPr marL="73152" marR="73152" marT="27432" marB="27432">
                    <a:solidFill>
                      <a:srgbClr val="FFFFFF"/>
                    </a:solidFill>
                  </a:tcPr>
                </a:tc>
                <a:tc>
                  <a:txBody>
                    <a:bodyPr wrap="square"/>
                    <a:lstStyle/>
                    <a:p>
                      <a:r>
                        <a:rPr sz="1100" b="0">
                          <a:solidFill>
                            <a:srgbClr val="1A1A1A"/>
                          </a:solidFill>
                          <a:latin typeface="Segoe UI"/>
                        </a:rPr>
                        <a:t>Long-form source of truth for this deck</a:t>
                      </a:r>
                    </a:p>
                  </a:txBody>
                  <a:tcPr marL="73152" marR="73152" marT="27432" marB="27432">
                    <a:solidFill>
                      <a:srgbClr val="FFFFFF"/>
                    </a:solidFill>
                  </a:tcPr>
                </a:tc>
              </a:tr>
              <a:tr h="480060">
                <a:tc>
                  <a:txBody>
                    <a:bodyPr wrap="square"/>
                    <a:lstStyle/>
                    <a:p>
                      <a:r>
                        <a:rPr sz="1100" b="1">
                          <a:solidFill>
                            <a:srgbClr val="1A1A1A"/>
                          </a:solidFill>
                          <a:latin typeface="Segoe UI"/>
                        </a:rPr>
                        <a:t>AI-CoE-AI-Impact-Assessment.xlsx</a:t>
                      </a:r>
                    </a:p>
                  </a:txBody>
                  <a:tcPr marL="73152" marR="73152" marT="27432" marB="27432">
                    <a:solidFill>
                      <a:srgbClr val="F3F6FA"/>
                    </a:solidFill>
                  </a:tcPr>
                </a:tc>
                <a:tc>
                  <a:txBody>
                    <a:bodyPr wrap="square"/>
                    <a:lstStyle/>
                    <a:p>
                      <a:r>
                        <a:rPr sz="1100" b="0">
                          <a:solidFill>
                            <a:srgbClr val="1A1A1A"/>
                          </a:solidFill>
                          <a:latin typeface="Segoe UI"/>
                        </a:rPr>
                        <a:t>Per-use-case impact assessment with full control crosswalk</a:t>
                      </a:r>
                    </a:p>
                  </a:txBody>
                  <a:tcPr marL="73152" marR="73152" marT="27432" marB="27432">
                    <a:solidFill>
                      <a:srgbClr val="F3F6FA"/>
                    </a:solidFill>
                  </a:tcPr>
                </a:tc>
              </a:tr>
              <a:tr h="480060">
                <a:tc>
                  <a:txBody>
                    <a:bodyPr wrap="square"/>
                    <a:lstStyle/>
                    <a:p>
                      <a:r>
                        <a:rPr sz="1100" b="1">
                          <a:solidFill>
                            <a:srgbClr val="1A1A1A"/>
                          </a:solidFill>
                          <a:latin typeface="Segoe UI"/>
                        </a:rPr>
                        <a:t>AI-CoE-AI-Governance-Playbook.docx</a:t>
                      </a:r>
                    </a:p>
                  </a:txBody>
                  <a:tcPr marL="73152" marR="73152" marT="27432" marB="27432">
                    <a:solidFill>
                      <a:srgbClr val="FFFFFF"/>
                    </a:solidFill>
                  </a:tcPr>
                </a:tc>
                <a:tc>
                  <a:txBody>
                    <a:bodyPr wrap="square"/>
                    <a:lstStyle/>
                    <a:p>
                      <a:r>
                        <a:rPr sz="1100" b="0">
                          <a:solidFill>
                            <a:srgbClr val="1A1A1A"/>
                          </a:solidFill>
                          <a:latin typeface="Segoe UI"/>
                        </a:rPr>
                        <a:t>Operating model, gates, control library</a:t>
                      </a:r>
                    </a:p>
                  </a:txBody>
                  <a:tcPr marL="73152" marR="73152" marT="27432" marB="27432">
                    <a:solidFill>
                      <a:srgbClr val="FFFFFF"/>
                    </a:solidFill>
                  </a:tcPr>
                </a:tc>
              </a:tr>
              <a:tr h="480060">
                <a:tc>
                  <a:txBody>
                    <a:bodyPr wrap="square"/>
                    <a:lstStyle/>
                    <a:p>
                      <a:r>
                        <a:rPr sz="1100" b="1">
                          <a:solidFill>
                            <a:srgbClr val="1A1A1A"/>
                          </a:solidFill>
                          <a:latin typeface="Segoe UI"/>
                        </a:rPr>
                        <a:t>accelerators/acc-2-popia-landing-zone.md</a:t>
                      </a:r>
                    </a:p>
                  </a:txBody>
                  <a:tcPr marL="73152" marR="73152" marT="27432" marB="27432">
                    <a:solidFill>
                      <a:srgbClr val="F3F6FA"/>
                    </a:solidFill>
                  </a:tcPr>
                </a:tc>
                <a:tc>
                  <a:txBody>
                    <a:bodyPr wrap="square"/>
                    <a:lstStyle/>
                    <a:p>
                      <a:r>
                        <a:rPr sz="1100" b="0">
                          <a:solidFill>
                            <a:srgbClr val="1A1A1A"/>
                          </a:solidFill>
                          <a:latin typeface="Segoe UI"/>
                        </a:rPr>
                        <a:t>Bicep landing-zone blueprint</a:t>
                      </a:r>
                    </a:p>
                  </a:txBody>
                  <a:tcPr marL="73152" marR="73152" marT="27432" marB="27432">
                    <a:solidFill>
                      <a:srgbClr val="F3F6FA"/>
                    </a:solidFill>
                  </a:tcPr>
                </a:tc>
              </a:tr>
              <a:tr h="480060">
                <a:tc>
                  <a:txBody>
                    <a:bodyPr wrap="square"/>
                    <a:lstStyle/>
                    <a:p>
                      <a:r>
                        <a:rPr sz="1100" b="1">
                          <a:solidFill>
                            <a:srgbClr val="1A1A1A"/>
                          </a:solidFill>
                          <a:latin typeface="Segoe UI"/>
                        </a:rPr>
                        <a:t>accelerators/acc-4-regulated-pilot-kit.md</a:t>
                      </a:r>
                    </a:p>
                  </a:txBody>
                  <a:tcPr marL="73152" marR="73152" marT="27432" marB="27432">
                    <a:solidFill>
                      <a:srgbClr val="FFFFFF"/>
                    </a:solidFill>
                  </a:tcPr>
                </a:tc>
                <a:tc>
                  <a:txBody>
                    <a:bodyPr wrap="square"/>
                    <a:lstStyle/>
                    <a:p>
                      <a:r>
                        <a:rPr sz="1100" b="0">
                          <a:solidFill>
                            <a:srgbClr val="1A1A1A"/>
                          </a:solidFill>
                          <a:latin typeface="Segoe UI"/>
                        </a:rPr>
                        <a:t>4-week workshop kit + risk register</a:t>
                      </a:r>
                    </a:p>
                  </a:txBody>
                  <a:tcPr marL="73152" marR="73152" marT="27432" marB="27432">
                    <a:solidFill>
                      <a:srgbClr val="FFFFFF"/>
                    </a:solidFill>
                  </a:tcPr>
                </a:tc>
              </a:tr>
              <a:tr h="480060">
                <a:tc>
                  <a:txBody>
                    <a:bodyPr wrap="square"/>
                    <a:lstStyle/>
                    <a:p>
                      <a:r>
                        <a:rPr sz="1100" b="1">
                          <a:solidFill>
                            <a:srgbClr val="1A1A1A"/>
                          </a:solidFill>
                          <a:latin typeface="Segoe UI"/>
                        </a:rPr>
                        <a:t>AI-CoE-Eskom-Executive-Briefing.pptx</a:t>
                      </a:r>
                    </a:p>
                  </a:txBody>
                  <a:tcPr marL="73152" marR="73152" marT="27432" marB="27432">
                    <a:solidFill>
                      <a:srgbClr val="F3F6FA"/>
                    </a:solidFill>
                  </a:tcPr>
                </a:tc>
                <a:tc>
                  <a:txBody>
                    <a:bodyPr wrap="square"/>
                    <a:lstStyle/>
                    <a:p>
                      <a:r>
                        <a:rPr sz="1100" b="0">
                          <a:solidFill>
                            <a:srgbClr val="1A1A1A"/>
                          </a:solidFill>
                          <a:latin typeface="Segoe UI"/>
                        </a:rPr>
                        <a:t>Reference customer narrative</a:t>
                      </a:r>
                    </a:p>
                  </a:txBody>
                  <a:tcPr marL="73152" marR="73152" marT="27432" marB="27432">
                    <a:solidFill>
                      <a:srgbClr val="F3F6FA"/>
                    </a:solidFill>
                  </a:tcPr>
                </a:tc>
              </a:tr>
              <a:tr h="480060">
                <a:tc>
                  <a:txBody>
                    <a:bodyPr wrap="square"/>
                    <a:lstStyle/>
                    <a:p>
                      <a:r>
                        <a:rPr sz="1100" b="1">
                          <a:solidFill>
                            <a:srgbClr val="1A1A1A"/>
                          </a:solidFill>
                          <a:latin typeface="Segoe UI"/>
                        </a:rPr>
                        <a:t>AI-CoE-Objection-Handling.pptx</a:t>
                      </a:r>
                    </a:p>
                  </a:txBody>
                  <a:tcPr marL="73152" marR="73152" marT="27432" marB="27432">
                    <a:solidFill>
                      <a:srgbClr val="FFFFFF"/>
                    </a:solidFill>
                  </a:tcPr>
                </a:tc>
                <a:tc>
                  <a:txBody>
                    <a:bodyPr wrap="square"/>
                    <a:lstStyle/>
                    <a:p>
                      <a:r>
                        <a:rPr sz="1100" b="0">
                          <a:solidFill>
                            <a:srgbClr val="1A1A1A"/>
                          </a:solidFill>
                          <a:latin typeface="Segoe UI"/>
                        </a:rPr>
                        <a:t>Pillar 5 objections — governance &amp; security</a:t>
                      </a:r>
                    </a:p>
                  </a:txBody>
                  <a:tcPr marL="73152" marR="73152" marT="27432" marB="27432">
                    <a:solidFill>
                      <a:srgbClr val="FFFFFF"/>
                    </a:solidFill>
                  </a:tcPr>
                </a:tc>
              </a:tr>
            </a:tbl>
          </a:graphicData>
        </a:graphic>
      </p:graphicFrame>
      <p:sp>
        <p:nvSpPr>
          <p:cNvPr id="5" name="Rectangle 4"/>
          <p:cNvSpPr/>
          <p:nvPr/>
        </p:nvSpPr>
        <p:spPr>
          <a:xfrm>
            <a:off x="548640" y="256032"/>
            <a:ext cx="11091672" cy="9000"/>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446520"/>
            <a:ext cx="11091672" cy="9000"/>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10528"/>
            <a:ext cx="7315200" cy="274320"/>
          </a:xfrm>
          <a:prstGeom prst="rect">
            <a:avLst/>
          </a:prstGeom>
          <a:noFill/>
        </p:spPr>
        <p:txBody>
          <a:bodyPr wrap="square" lIns="0" rIns="0" tIns="0" bIns="0" anchor="t">
            <a:spAutoFit/>
          </a:bodyPr>
          <a:lstStyle/>
          <a:p>
            <a:pPr algn="l"/>
            <a:r>
              <a:rPr sz="900" b="0" i="0">
                <a:solidFill>
                  <a:srgbClr val="555555"/>
                </a:solidFill>
                <a:latin typeface="Segoe UI"/>
              </a:rPr>
              <a:t>Microsoft · Confidential · © 2026 Microsoft Corporation</a:t>
            </a:r>
          </a:p>
        </p:txBody>
      </p:sp>
      <p:sp>
        <p:nvSpPr>
          <p:cNvPr id="8" name="TextBox 7"/>
          <p:cNvSpPr txBox="1"/>
          <p:nvPr/>
        </p:nvSpPr>
        <p:spPr>
          <a:xfrm>
            <a:off x="9784080" y="6510528"/>
            <a:ext cx="1828800" cy="274320"/>
          </a:xfrm>
          <a:prstGeom prst="rect">
            <a:avLst/>
          </a:prstGeom>
          <a:noFill/>
        </p:spPr>
        <p:txBody>
          <a:bodyPr wrap="square" lIns="0" rIns="0" tIns="0" bIns="0" anchor="t">
            <a:spAutoFit/>
          </a:bodyPr>
          <a:lstStyle/>
          <a:p>
            <a:pPr algn="r"/>
            <a:r>
              <a:rPr sz="900" b="0" i="0">
                <a:solidFill>
                  <a:srgbClr val="555555"/>
                </a:solidFill>
                <a:latin typeface="Segoe UI"/>
              </a:rPr>
              <a:t>12 / 14</a:t>
            </a:r>
          </a:p>
        </p:txBody>
      </p:sp>
      <p:sp>
        <p:nvSpPr>
          <p:cNvPr id="9" name="AICOE_GEO_ACCENT_Right Triangle 8"/>
          <p:cNvSpPr/>
          <p:nvPr/>
        </p:nvSpPr>
        <p:spPr>
          <a:xfrm rot="5400000">
            <a:off x="11761927" y="109728"/>
            <a:ext cx="320040" cy="320040"/>
          </a:xfrm>
          <a:prstGeom prst="rtTriangl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AICOE_GEO_ACCENT_Right Triangle 9"/>
          <p:cNvSpPr/>
          <p:nvPr/>
        </p:nvSpPr>
        <p:spPr>
          <a:xfrm rot="5400000">
            <a:off x="11873941" y="109728"/>
            <a:ext cx="208026" cy="208026"/>
          </a:xfrm>
          <a:prstGeom prst="rtTriangle">
            <a:avLst/>
          </a:prstGeom>
          <a:solidFill>
            <a:srgbClr val="50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144000" cy="274320"/>
          </a:xfrm>
          <a:prstGeom prst="rect">
            <a:avLst/>
          </a:prstGeom>
          <a:noFill/>
        </p:spPr>
        <p:txBody>
          <a:bodyPr wrap="square" lIns="0" rIns="0" tIns="0" bIns="0" anchor="t">
            <a:spAutoFit/>
          </a:bodyPr>
          <a:lstStyle/>
          <a:p>
            <a:pPr algn="l"/>
            <a:r>
              <a:rPr sz="1100" b="1" i="0">
                <a:solidFill>
                  <a:srgbClr val="0067B8"/>
                </a:solidFill>
                <a:latin typeface="Segoe UI"/>
              </a:rPr>
              <a:t>SOURCES &amp; VERIFICATION</a:t>
            </a:r>
          </a:p>
        </p:txBody>
      </p:sp>
      <p:sp>
        <p:nvSpPr>
          <p:cNvPr id="3" name="TextBox 2"/>
          <p:cNvSpPr txBox="1"/>
          <p:nvPr/>
        </p:nvSpPr>
        <p:spPr>
          <a:xfrm>
            <a:off x="548640" y="594360"/>
            <a:ext cx="11155680" cy="731520"/>
          </a:xfrm>
          <a:prstGeom prst="rect">
            <a:avLst/>
          </a:prstGeom>
          <a:noFill/>
        </p:spPr>
        <p:txBody>
          <a:bodyPr wrap="square" lIns="0" rIns="0" tIns="0" bIns="0" anchor="t">
            <a:spAutoFit/>
          </a:bodyPr>
          <a:lstStyle/>
          <a:p>
            <a:pPr algn="l"/>
            <a:r>
              <a:rPr sz="2800" b="1" i="0">
                <a:solidFill>
                  <a:srgbClr val="1A1A1A"/>
                </a:solidFill>
                <a:latin typeface="Segoe UI"/>
              </a:rPr>
              <a:t>Where these claims come from</a:t>
            </a:r>
          </a:p>
        </p:txBody>
      </p:sp>
      <p:sp>
        <p:nvSpPr>
          <p:cNvPr id="4" name="TextBox 3"/>
          <p:cNvSpPr txBox="1"/>
          <p:nvPr/>
        </p:nvSpPr>
        <p:spPr>
          <a:xfrm>
            <a:off x="548640" y="2011680"/>
            <a:ext cx="11155680" cy="4114800"/>
          </a:xfrm>
          <a:prstGeom prst="rect">
            <a:avLst/>
          </a:prstGeom>
          <a:noFill/>
        </p:spPr>
        <p:txBody>
          <a:bodyPr wrap="square" lIns="0" tIns="0">
            <a:spAutoFit/>
          </a:bodyPr>
          <a:lstStyle/>
          <a:p>
            <a:pPr algn="l">
              <a:lnSpc>
                <a:spcPct val="120000"/>
              </a:lnSpc>
            </a:pPr>
            <a:r>
              <a:rPr sz="1300" b="1">
                <a:solidFill>
                  <a:srgbClr val="0067B8"/>
                </a:solidFill>
                <a:latin typeface="Segoe UI"/>
              </a:rPr>
              <a:t>•  </a:t>
            </a:r>
            <a:r>
              <a:rPr sz="1300">
                <a:solidFill>
                  <a:srgbClr val="1A1A1A"/>
                </a:solidFill>
                <a:latin typeface="Segoe UI"/>
              </a:rPr>
              <a:t>aka.ms/AzureRegions — region availability (verify quarterly)</a:t>
            </a:r>
          </a:p>
          <a:p>
            <a:pPr algn="l">
              <a:lnSpc>
                <a:spcPct val="120000"/>
              </a:lnSpc>
            </a:pPr>
            <a:r>
              <a:rPr sz="1300" b="1">
                <a:solidFill>
                  <a:srgbClr val="0067B8"/>
                </a:solidFill>
                <a:latin typeface="Segoe UI"/>
              </a:rPr>
              <a:t>•  </a:t>
            </a:r>
            <a:r>
              <a:rPr sz="1300">
                <a:solidFill>
                  <a:srgbClr val="1A1A1A"/>
                </a:solidFill>
                <a:latin typeface="Segoe UI"/>
              </a:rPr>
              <a:t>Microsoft Trust Center — Data Residency and Sovereignty</a:t>
            </a:r>
          </a:p>
          <a:p>
            <a:pPr algn="l">
              <a:lnSpc>
                <a:spcPct val="120000"/>
              </a:lnSpc>
            </a:pPr>
            <a:r>
              <a:rPr sz="1300" b="1">
                <a:solidFill>
                  <a:srgbClr val="0067B8"/>
                </a:solidFill>
                <a:latin typeface="Segoe UI"/>
              </a:rPr>
              <a:t>•  </a:t>
            </a:r>
            <a:r>
              <a:rPr sz="1300">
                <a:solidFill>
                  <a:srgbClr val="1A1A1A"/>
                </a:solidFill>
                <a:latin typeface="Segoe UI"/>
              </a:rPr>
              <a:t>Azure AI Foundry Data Zone documentation</a:t>
            </a:r>
          </a:p>
          <a:p>
            <a:pPr algn="l">
              <a:lnSpc>
                <a:spcPct val="120000"/>
              </a:lnSpc>
            </a:pPr>
            <a:r>
              <a:rPr sz="1300" b="1">
                <a:solidFill>
                  <a:srgbClr val="0067B8"/>
                </a:solidFill>
                <a:latin typeface="Segoe UI"/>
              </a:rPr>
              <a:t>•  </a:t>
            </a:r>
            <a:r>
              <a:rPr sz="1300">
                <a:solidFill>
                  <a:srgbClr val="1A1A1A"/>
                </a:solidFill>
                <a:latin typeface="Segoe UI"/>
              </a:rPr>
              <a:t>Microsoft Responsible AI Standard v2 (RAI v2)</a:t>
            </a:r>
          </a:p>
          <a:p>
            <a:pPr algn="l">
              <a:lnSpc>
                <a:spcPct val="120000"/>
              </a:lnSpc>
            </a:pPr>
            <a:r>
              <a:rPr sz="1300" b="1">
                <a:solidFill>
                  <a:srgbClr val="0067B8"/>
                </a:solidFill>
                <a:latin typeface="Segoe UI"/>
              </a:rPr>
              <a:t>•  </a:t>
            </a:r>
            <a:r>
              <a:rPr sz="1300">
                <a:solidFill>
                  <a:srgbClr val="1A1A1A"/>
                </a:solidFill>
                <a:latin typeface="Segoe UI"/>
              </a:rPr>
              <a:t>POPI Act, PFMA, NERSA Act, SARB Directive 7 — publicly available statute</a:t>
            </a:r>
          </a:p>
          <a:p>
            <a:pPr algn="l">
              <a:lnSpc>
                <a:spcPct val="120000"/>
              </a:lnSpc>
            </a:pPr>
            <a:r>
              <a:rPr sz="1300" b="1">
                <a:solidFill>
                  <a:srgbClr val="0067B8"/>
                </a:solidFill>
                <a:latin typeface="Segoe UI"/>
              </a:rPr>
              <a:t>•  </a:t>
            </a:r>
            <a:r>
              <a:rPr sz="1300">
                <a:solidFill>
                  <a:srgbClr val="1A1A1A"/>
                </a:solidFill>
                <a:latin typeface="Segoe UI"/>
              </a:rPr>
              <a:t>ISO/IEC 42001:2023, NIST AI RMF 1.0, EU AI Act (Regulation 2024/1689)</a:t>
            </a:r>
          </a:p>
          <a:p>
            <a:pPr algn="l">
              <a:lnSpc>
                <a:spcPct val="120000"/>
              </a:lnSpc>
            </a:pPr>
            <a:r>
              <a:rPr sz="1300" b="1">
                <a:solidFill>
                  <a:srgbClr val="0067B8"/>
                </a:solidFill>
                <a:latin typeface="Segoe UI"/>
              </a:rPr>
              <a:t>•  </a:t>
            </a:r>
            <a:r>
              <a:rPr sz="1300">
                <a:solidFill>
                  <a:srgbClr val="1A1A1A"/>
                </a:solidFill>
                <a:latin typeface="Segoe UI"/>
              </a:rPr>
              <a:t>HIGH trust — ai-coe-sovereign-ai-rsa-report.md (Yuri Baijnath, author)</a:t>
            </a:r>
          </a:p>
        </p:txBody>
      </p:sp>
      <p:sp>
        <p:nvSpPr>
          <p:cNvPr id="5" name="Rectangle 4"/>
          <p:cNvSpPr/>
          <p:nvPr/>
        </p:nvSpPr>
        <p:spPr>
          <a:xfrm>
            <a:off x="548640" y="256032"/>
            <a:ext cx="11091672" cy="9000"/>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446520"/>
            <a:ext cx="11091672" cy="9000"/>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10528"/>
            <a:ext cx="7315200" cy="274320"/>
          </a:xfrm>
          <a:prstGeom prst="rect">
            <a:avLst/>
          </a:prstGeom>
          <a:noFill/>
        </p:spPr>
        <p:txBody>
          <a:bodyPr wrap="square" lIns="0" rIns="0" tIns="0" bIns="0" anchor="t">
            <a:spAutoFit/>
          </a:bodyPr>
          <a:lstStyle/>
          <a:p>
            <a:pPr algn="l"/>
            <a:r>
              <a:rPr sz="900" b="0" i="0">
                <a:solidFill>
                  <a:srgbClr val="555555"/>
                </a:solidFill>
                <a:latin typeface="Segoe UI"/>
              </a:rPr>
              <a:t>Microsoft · Confidential · © 2026 Microsoft Corporation</a:t>
            </a:r>
          </a:p>
        </p:txBody>
      </p:sp>
      <p:sp>
        <p:nvSpPr>
          <p:cNvPr id="8" name="TextBox 7"/>
          <p:cNvSpPr txBox="1"/>
          <p:nvPr/>
        </p:nvSpPr>
        <p:spPr>
          <a:xfrm>
            <a:off x="9784080" y="6510528"/>
            <a:ext cx="1828800" cy="274320"/>
          </a:xfrm>
          <a:prstGeom prst="rect">
            <a:avLst/>
          </a:prstGeom>
          <a:noFill/>
        </p:spPr>
        <p:txBody>
          <a:bodyPr wrap="square" lIns="0" rIns="0" tIns="0" bIns="0" anchor="t">
            <a:spAutoFit/>
          </a:bodyPr>
          <a:lstStyle/>
          <a:p>
            <a:pPr algn="r"/>
            <a:r>
              <a:rPr sz="900" b="0" i="0">
                <a:solidFill>
                  <a:srgbClr val="555555"/>
                </a:solidFill>
                <a:latin typeface="Segoe UI"/>
              </a:rPr>
              <a:t>13 / 14</a:t>
            </a:r>
          </a:p>
        </p:txBody>
      </p:sp>
      <p:sp>
        <p:nvSpPr>
          <p:cNvPr id="9" name="AICOE_GEO_ACCENT_Right Triangle 8"/>
          <p:cNvSpPr/>
          <p:nvPr/>
        </p:nvSpPr>
        <p:spPr>
          <a:xfrm rot="5400000">
            <a:off x="11761927" y="109728"/>
            <a:ext cx="320040" cy="320040"/>
          </a:xfrm>
          <a:prstGeom prst="rtTriangl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AICOE_GEO_ACCENT_Right Triangle 9"/>
          <p:cNvSpPr/>
          <p:nvPr/>
        </p:nvSpPr>
        <p:spPr>
          <a:xfrm rot="5400000">
            <a:off x="11873941" y="109728"/>
            <a:ext cx="208026" cy="208026"/>
          </a:xfrm>
          <a:prstGeom prst="rtTriangle">
            <a:avLst/>
          </a:prstGeom>
          <a:solidFill>
            <a:srgbClr val="50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663440"/>
            <a:ext cx="12191695" cy="54864"/>
          </a:xfrm>
          <a:prstGeom prst="rect">
            <a:avLst/>
          </a:prstGeom>
          <a:solidFill>
            <a:srgbClr val="50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9144000" cy="365760"/>
          </a:xfrm>
          <a:prstGeom prst="rect">
            <a:avLst/>
          </a:prstGeom>
          <a:noFill/>
        </p:spPr>
        <p:txBody>
          <a:bodyPr wrap="square" lIns="0" rIns="0" tIns="0" bIns="0" anchor="t">
            <a:spAutoFit/>
          </a:bodyPr>
          <a:lstStyle/>
          <a:p>
            <a:pPr algn="l"/>
            <a:r>
              <a:rPr sz="1200" b="1" i="0">
                <a:solidFill>
                  <a:srgbClr val="50E6FF"/>
                </a:solidFill>
                <a:latin typeface="Segoe UI"/>
              </a:rPr>
              <a:t>AI CENTER OF EXCELLENCE · SOVEREIGN AI</a:t>
            </a:r>
          </a:p>
        </p:txBody>
      </p:sp>
      <p:sp>
        <p:nvSpPr>
          <p:cNvPr id="5" name="TextBox 4"/>
          <p:cNvSpPr txBox="1"/>
          <p:nvPr/>
        </p:nvSpPr>
        <p:spPr>
          <a:xfrm>
            <a:off x="548640" y="2560320"/>
            <a:ext cx="11155680" cy="1097280"/>
          </a:xfrm>
          <a:prstGeom prst="rect">
            <a:avLst/>
          </a:prstGeom>
          <a:noFill/>
        </p:spPr>
        <p:txBody>
          <a:bodyPr wrap="square" lIns="0" rIns="0" tIns="0" bIns="0" anchor="t">
            <a:spAutoFit/>
          </a:bodyPr>
          <a:lstStyle/>
          <a:p>
            <a:pPr algn="l"/>
            <a:r>
              <a:rPr sz="4200" b="1" i="0">
                <a:solidFill>
                  <a:srgbClr val="FFFFFF"/>
                </a:solidFill>
                <a:latin typeface="Segoe UI"/>
              </a:rPr>
              <a:t>Sell it as one offer.</a:t>
            </a:r>
          </a:p>
        </p:txBody>
      </p:sp>
      <p:sp>
        <p:nvSpPr>
          <p:cNvPr id="6" name="TextBox 5"/>
          <p:cNvSpPr txBox="1"/>
          <p:nvPr/>
        </p:nvSpPr>
        <p:spPr>
          <a:xfrm>
            <a:off x="548640" y="3657600"/>
            <a:ext cx="11155680" cy="548640"/>
          </a:xfrm>
          <a:prstGeom prst="rect">
            <a:avLst/>
          </a:prstGeom>
          <a:noFill/>
        </p:spPr>
        <p:txBody>
          <a:bodyPr wrap="square" lIns="0" rIns="0" tIns="0" bIns="0" anchor="t">
            <a:spAutoFit/>
          </a:bodyPr>
          <a:lstStyle/>
          <a:p>
            <a:pPr algn="l"/>
            <a:r>
              <a:rPr sz="1800" b="0" i="0">
                <a:solidFill>
                  <a:srgbClr val="50E6FF"/>
                </a:solidFill>
                <a:latin typeface="Segoe UI"/>
              </a:rPr>
              <a:t>Five components. One signed gate. Every framework an RSA buyer asks about.</a:t>
            </a:r>
          </a:p>
        </p:txBody>
      </p:sp>
      <p:sp>
        <p:nvSpPr>
          <p:cNvPr id="7" name="TextBox 6"/>
          <p:cNvSpPr txBox="1"/>
          <p:nvPr/>
        </p:nvSpPr>
        <p:spPr>
          <a:xfrm>
            <a:off x="548640" y="6035040"/>
            <a:ext cx="5486400" cy="365760"/>
          </a:xfrm>
          <a:prstGeom prst="rect">
            <a:avLst/>
          </a:prstGeom>
          <a:noFill/>
        </p:spPr>
        <p:txBody>
          <a:bodyPr wrap="square" lIns="0" rIns="0" tIns="0" bIns="0" anchor="t">
            <a:spAutoFit/>
          </a:bodyPr>
          <a:lstStyle/>
          <a:p>
            <a:pPr algn="l"/>
            <a:r>
              <a:rPr sz="1800" b="1" i="0">
                <a:solidFill>
                  <a:srgbClr val="FFFFFF"/>
                </a:solidFill>
                <a:latin typeface="Segoe UI"/>
              </a:rPr>
              <a:t>Yuri Baijnath</a:t>
            </a:r>
          </a:p>
        </p:txBody>
      </p:sp>
      <p:sp>
        <p:nvSpPr>
          <p:cNvPr id="8" name="TextBox 7"/>
          <p:cNvSpPr txBox="1"/>
          <p:nvPr/>
        </p:nvSpPr>
        <p:spPr>
          <a:xfrm>
            <a:off x="548640" y="6355080"/>
            <a:ext cx="9144000" cy="365760"/>
          </a:xfrm>
          <a:prstGeom prst="rect">
            <a:avLst/>
          </a:prstGeom>
          <a:noFill/>
        </p:spPr>
        <p:txBody>
          <a:bodyPr wrap="square" lIns="0" rIns="0" tIns="0" bIns="0" anchor="t">
            <a:spAutoFit/>
          </a:bodyPr>
          <a:lstStyle/>
          <a:p>
            <a:pPr algn="l"/>
            <a:r>
              <a:rPr sz="1100" b="0" i="0">
                <a:solidFill>
                  <a:srgbClr val="50E6FF"/>
                </a:solidFill>
                <a:latin typeface="Segoe UI"/>
              </a:rPr>
              <a:t>CSU Cloud &amp; AI Lead (South Africa)  ·  Yuri.Baijnath@microsoft.com  ·  Microsoft</a:t>
            </a:r>
          </a:p>
        </p:txBody>
      </p:sp>
      <p:sp>
        <p:nvSpPr>
          <p:cNvPr id="9" name="AICOE_GEO_ACCENT_Right Triangle 8"/>
          <p:cNvSpPr/>
          <p:nvPr/>
        </p:nvSpPr>
        <p:spPr>
          <a:xfrm rot="5400000">
            <a:off x="11761927" y="109728"/>
            <a:ext cx="320040" cy="320040"/>
          </a:xfrm>
          <a:prstGeom prst="rtTriangl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AICOE_GEO_ACCENT_Right Triangle 9"/>
          <p:cNvSpPr/>
          <p:nvPr/>
        </p:nvSpPr>
        <p:spPr>
          <a:xfrm rot="5400000">
            <a:off x="11873941" y="109728"/>
            <a:ext cx="208026" cy="208026"/>
          </a:xfrm>
          <a:prstGeom prst="rtTriangle">
            <a:avLst/>
          </a:prstGeom>
          <a:solidFill>
            <a:srgbClr val="50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