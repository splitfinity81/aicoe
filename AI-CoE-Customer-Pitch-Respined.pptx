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320040" cy="20116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377440"/>
            <a:ext cx="164592" cy="201168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058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Segoe UI"/>
              </a:rPr>
              <a:t>Microsoft AI Center of Excellence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0">
                <a:solidFill>
                  <a:srgbClr val="50E6FF"/>
                </a:solidFill>
                <a:latin typeface="Segoe UI"/>
              </a:rPr>
              <a:t>for South Africa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233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Segoe UI"/>
              </a:rPr>
              <a:t>Three AI surfaces. Three funding streams. One operating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0E6FF"/>
                </a:solidFill>
                <a:latin typeface="Segoe UI"/>
              </a:rPr>
              <a:t>Yuri Baijnath — CSU Cloud &amp; AI Lead (South Africa), Microsoft  ·  2026-06-03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The moat: three surfaces × three streams = nine cells only Microsoft can fill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6400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1005840"/>
            <a:ext cx="32461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31720" y="1051560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MCAPS-sponsored
(landing &amp; enable)</a:t>
            </a:r>
          </a:p>
        </p:txBody>
      </p:sp>
      <p:sp>
        <p:nvSpPr>
          <p:cNvPr id="8" name="Rectangle 7"/>
          <p:cNvSpPr/>
          <p:nvPr/>
        </p:nvSpPr>
        <p:spPr>
          <a:xfrm>
            <a:off x="5532120" y="1005840"/>
            <a:ext cx="32461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51560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Factory zero-cost
(F1–F10 build)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0" y="1005840"/>
            <a:ext cx="32461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3960" y="1051560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Partner build-run
(MAICPP scale)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45920"/>
            <a:ext cx="1828800" cy="15544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691640"/>
            <a:ext cx="1737360" cy="1463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M365 Copilot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164592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73736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Copilot Adoption
Acceleration ECIF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32120" y="164592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3560" y="173736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F3 SOE rollout +
F7 governance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0" y="164592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173736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Partner-led change
&amp; measurement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00400"/>
            <a:ext cx="1828800" cy="15544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246120"/>
            <a:ext cx="1737360" cy="1463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Copilot Studio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0" y="3200400"/>
            <a:ext cx="32461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329184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Agent envisioning
(ACO funded)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32120" y="3200400"/>
            <a:ext cx="32461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60" y="329184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F4 Studio agent
factory pattern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0" y="3200400"/>
            <a:ext cx="32461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0" y="329184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Partner agent
build-and-run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754880"/>
            <a:ext cx="1828800" cy="155448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00600"/>
            <a:ext cx="1737360" cy="1463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B1F3A"/>
                </a:solidFill>
                <a:latin typeface="Segoe UI"/>
              </a:rPr>
              <a:t>Azure AI Foundry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475488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77440" y="484632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Foundry envisioning
+ landing zone (ACO)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32120" y="475488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23560" y="484632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F5 Foundry pattern
+ F8 eval harness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0" y="475488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484632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Partner build-run
MAICPP commitment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9893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No hyperscaler controls all three surfaces. No SI controls all three streams. The grid is the moat.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The moat grid (anchor)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ATO economics — the funding spine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Segoe UI"/>
              </a:rPr>
              <a:t>One Azure Consumption commitment unlocks funded landing, funded factory, and funded first three production use-cases.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3657600" cy="23774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50E6FF"/>
                </a:solidFill>
                <a:latin typeface="Segoe UI"/>
              </a:rPr>
              <a:t>Customer commits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47472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800" b="1">
                <a:solidFill>
                  <a:srgbClr val="FFFFFF"/>
                </a:solidFill>
                <a:latin typeface="Segoe UI"/>
              </a:rPr>
              <a:t>$1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50E6FF"/>
                </a:solidFill>
                <a:latin typeface="Segoe UI"/>
              </a:rPr>
              <a:t>of ACR commitment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743200"/>
            <a:ext cx="365760" cy="36576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2743200"/>
            <a:ext cx="3657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1737360"/>
            <a:ext cx="6858000" cy="23774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1828800"/>
            <a:ext cx="6492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Microsoft + partner-funded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286000"/>
            <a:ext cx="649224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6600" b="1">
                <a:solidFill>
                  <a:srgbClr val="0067B8"/>
                </a:solidFill>
                <a:latin typeface="Segoe UI"/>
              </a:rPr>
              <a:t>$3 – $5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520440"/>
            <a:ext cx="6492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202020"/>
                </a:solidFill>
                <a:latin typeface="Segoe UI"/>
              </a:rPr>
              <a:t>of envisioning, landing zone, factory builds, change &amp; adoption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Instruments stacked behind the ATO: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46320"/>
            <a:ext cx="2743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8920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067B8"/>
                </a:solidFill>
                <a:latin typeface="Segoe UI"/>
              </a:rPr>
              <a:t>ECIF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25780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Envisioning, pilot, adoption acceleration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4846320"/>
            <a:ext cx="2743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48920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067B8"/>
                </a:solidFill>
                <a:latin typeface="Segoe UI"/>
              </a:rPr>
              <a:t>MAICPP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525780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Partner build-and-run subsidy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846320"/>
            <a:ext cx="2743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8920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067B8"/>
                </a:solidFill>
                <a:latin typeface="Segoe UI"/>
              </a:rPr>
              <a:t>ACO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25780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Azure Consumption commitment offset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4846320"/>
            <a:ext cx="2743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48920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067B8"/>
                </a:solidFill>
                <a:latin typeface="Segoe UI"/>
              </a:rPr>
              <a:t>SA / CF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525780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Strategic Architect / Customer Factory 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ATO economics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The operating model — one CoE, three surfaces, three streams, four gates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27448" y="2926080"/>
            <a:ext cx="2743200" cy="1463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27448" y="3017520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AI CoE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3566160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50E6FF"/>
                </a:solidFill>
                <a:latin typeface="Segoe UI"/>
              </a:rPr>
              <a:t>charter • RACI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27448" y="393192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50E6FF"/>
                </a:solidFill>
                <a:latin typeface="Segoe UI"/>
              </a:rPr>
              <a:t>quarterly attestation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097280"/>
            <a:ext cx="2743200" cy="9144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188720"/>
            <a:ext cx="2743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M365 Copilot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097280"/>
            <a:ext cx="2743200" cy="91440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1188720"/>
            <a:ext cx="2743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Copilot 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1097280"/>
            <a:ext cx="2743200" cy="9144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188720"/>
            <a:ext cx="2743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Segoe UI"/>
              </a:rPr>
              <a:t>Foundry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$ MCAPS-sponsored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8328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42900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$ Factory zero-cost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02336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06908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$ Partner build-run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256032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260604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⚑ G1 Envision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3154679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3200399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⚑ G2 Pre-pilot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0" y="3749039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3794759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⚑ G3 Pre-prod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434340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438912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⚑ G4 Attestation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Three surfaces deliver. Three streams fund. Four gates govern. One CoE owns the spine.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Operating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What we ask of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>
                <a:solidFill>
                  <a:srgbClr val="50E6FF"/>
                </a:solidFill>
                <a:latin typeface="Segoe UI"/>
              </a:rPr>
              <a:t>Four asks. Nothing else needed to start.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822960" cy="8229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331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One named executive sponsor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74320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0E6FF"/>
                </a:solidFill>
                <a:latin typeface="Segoe UI"/>
              </a:rPr>
              <a:t>C-suite or direct report. Owns the AI CoE charter end-to-end.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154680"/>
            <a:ext cx="822960" cy="8229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15468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20040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One measurable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61188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0E6FF"/>
                </a:solidFill>
                <a:latin typeface="Segoe UI"/>
              </a:rPr>
              <a:t>Cycle time, cost-to-serve, or FTE-hours per unit on the chosen workload.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23360"/>
            <a:ext cx="822960" cy="8229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02336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6908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One signed 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48056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0E6FF"/>
                </a:solidFill>
                <a:latin typeface="Segoe UI"/>
              </a:rPr>
              <a:t>Azure Consumption commitment. Unlocks the funded landing zone and first three use-cases.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92040"/>
            <a:ext cx="822960" cy="8229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9204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3776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One quarterly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34924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0E6FF"/>
                </a:solidFill>
                <a:latin typeface="Segoe UI"/>
              </a:rPr>
              <a:t>Sponsor + CISO + Internal Audit. Attestation evidence sampled and signed.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035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Next step: a 90-minute envisioning workshop. We bring the surfaces, the streams, and a draft charter.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