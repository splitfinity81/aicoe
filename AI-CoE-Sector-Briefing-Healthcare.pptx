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789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50E6FF"/>
                </a:solidFill>
                <a:latin typeface="Segoe UI"/>
              </a:rPr>
              <a:t>AI Center of Excellence | Healthcare (RSA)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78992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egoe UI"/>
              </a:rPr>
              <a:t>AI for clinical documentation, pre-authorisation, and medical-scheme 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14800"/>
            <a:ext cx="10789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EAF4FB"/>
                </a:solidFill>
                <a:latin typeface="Segoe UI"/>
              </a:rPr>
              <a:t>Executive briefing | 9 slides | Internal seller reference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EAF4FB"/>
                </a:solidFill>
                <a:latin typeface="Segoe UI"/>
              </a:rPr>
              <a:t>Yuri Baijnath - CSU Cloud &amp; AI Lead (South Africa), Microsoft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29200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Segoe UI"/>
              </a:rPr>
              <a:t>Version 1.0 | 2026-06-03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AI CoE | RSA Sector Briefing | Healthcare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Segoe UI"/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6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88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2. Sector context | what's driving AI in this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Segoe UI"/>
              </a:rPr>
              <a:t>RSA healthcare: HPCSA-regulated clinical decisions, NHI in flight, capacity-constrained workforce, medical-scheme rule complexity.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0B1F3A"/>
                </a:solidFill>
                <a:latin typeface="Segoe UI"/>
              </a:rPr>
              <a:t>•  HPCSA: any AI that touches clinical reasoning must remain clearly clinician-assistive, not clinician-replacing.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0B1F3A"/>
                </a:solidFill>
                <a:latin typeface="Segoe UI"/>
              </a:rPr>
              <a:t>•  NHI roll-in: medical schemes + private providers face regulatory uncertainty; AI investments must be NHI-portable.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0B1F3A"/>
                </a:solidFill>
                <a:latin typeface="Segoe UI"/>
              </a:rPr>
              <a:t>•  Clinical documentation burden is the #1 clinician complaint - ambient + drafted notes are the highest-trust first wave.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0B1F3A"/>
                </a:solidFill>
                <a:latin typeface="Segoe UI"/>
              </a:rPr>
              <a:t>•  Pre-authorisation cycle times drive patient + clinician + scheme frustration in equal measure.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0B1F3A"/>
                </a:solidFill>
                <a:latin typeface="Segoe UI"/>
              </a:rPr>
              <a:t>•  Medical-scheme rule complexity: AI co-pilots for benefit reasoning are high-value, high-risk.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0B1F3A"/>
                </a:solidFill>
                <a:latin typeface="Segoe UI"/>
              </a:rPr>
              <a:t>•  Workforce capacity: nurse + allied-health productivity matters as much as physician productivity.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AI CoE | RSA Sector Briefing | Healthcare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Segoe U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6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88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3. Regulators &amp; frameworks | what governs the AI use-case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22960"/>
            <a:ext cx="566928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77824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Sector regulators (RSA)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0B1F3A"/>
                </a:solidFill>
                <a:latin typeface="Segoe UI"/>
              </a:rPr>
              <a:t>•  HPCSA - Health Professions Council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B1F3A"/>
                </a:solidFill>
                <a:latin typeface="Segoe UI"/>
              </a:rPr>
              <a:t>•  National Department of Health - NHI + facility licensing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B1F3A"/>
                </a:solidFill>
                <a:latin typeface="Segoe UI"/>
              </a:rPr>
              <a:t>•  Council for Medical Schemes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B1F3A"/>
                </a:solidFill>
                <a:latin typeface="Segoe UI"/>
              </a:rPr>
              <a:t>•  SAHPRA - if device-classified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B1F3A"/>
                </a:solidFill>
                <a:latin typeface="Segoe UI"/>
              </a:rPr>
              <a:t>•  Information Regulator - POPIA (special-category data)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B1F3A"/>
                </a:solidFill>
                <a:latin typeface="Segoe UI"/>
              </a:rPr>
              <a:t>•  Office of Health Standards Compliance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822960"/>
            <a:ext cx="5669280" cy="457200"/>
          </a:xfrm>
          <a:prstGeom prst="rect">
            <a:avLst/>
          </a:prstGeom>
          <a:solidFill>
            <a:srgbClr val="742A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877824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Cross-cutting frameworks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37160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0B1F3A"/>
                </a:solidFill>
                <a:latin typeface="Segoe UI"/>
              </a:rPr>
              <a:t>•  Microsoft RAI v2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B1F3A"/>
                </a:solidFill>
                <a:latin typeface="Segoe UI"/>
              </a:rPr>
              <a:t>•  ISO/IEC 42001:2023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B1F3A"/>
                </a:solidFill>
                <a:latin typeface="Segoe UI"/>
              </a:rPr>
              <a:t>•  NIST AI RMF 1.0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B1F3A"/>
                </a:solidFill>
                <a:latin typeface="Segoe UI"/>
              </a:rPr>
              <a:t>•  ISO 27799 (health information security)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B1F3A"/>
                </a:solidFill>
                <a:latin typeface="Segoe UI"/>
              </a:rPr>
              <a:t>•  HL7 FHIR (interoperability)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B1F3A"/>
                </a:solidFill>
                <a:latin typeface="Segoe UI"/>
              </a:rPr>
              <a:t>•  Microsoft Cloud for Healthcare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AI CoE | RSA Sector Briefing | Healthcare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Segoe UI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6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88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4. Top 3 named AI use-cases for this sector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22960"/>
            <a:ext cx="3749039" cy="548640"/>
          </a:xfrm>
          <a:prstGeom prst="rect">
            <a:avLst/>
          </a:prstGeom>
          <a:solidFill>
            <a:srgbClr val="006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86968"/>
            <a:ext cx="3566159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Clinical documentation co-pilot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3749039" cy="4937760"/>
          </a:xfrm>
          <a:prstGeom prst="rect">
            <a:avLst/>
          </a:prstGeom>
          <a:solidFill>
            <a:srgbClr val="EA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3474719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742A9B"/>
                </a:solidFill>
                <a:latin typeface="Segoe UI"/>
              </a:rPr>
              <a:t>Surface: M365 Copilot + Foundry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3474719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Segoe UI"/>
              </a:rPr>
              <a:t>Value: 1-2 hr/clinician/day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68880"/>
            <a:ext cx="347471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Segoe UI"/>
              </a:rPr>
              <a:t>What it does: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88920"/>
            <a:ext cx="347471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0B1F3A"/>
                </a:solidFill>
                <a:latin typeface="Segoe UI"/>
              </a:rPr>
              <a:t>•  Ambient encounter capture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0B1F3A"/>
                </a:solidFill>
                <a:latin typeface="Segoe UI"/>
              </a:rPr>
              <a:t>•  Drafted SOAP note for clinician review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0B1F3A"/>
                </a:solidFill>
                <a:latin typeface="Segoe UI"/>
              </a:rPr>
              <a:t>•  Coding suggestion (ICD-10 / CPT)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0B1F3A"/>
                </a:solidFill>
                <a:latin typeface="Segoe UI"/>
              </a:rPr>
              <a:t>•  Patient-facing visit summary draft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120640"/>
            <a:ext cx="347471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Segoe UI"/>
              </a:rPr>
              <a:t>Key controls: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440680"/>
            <a:ext cx="347471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0B1F3A"/>
                </a:solidFill>
                <a:latin typeface="Segoe UI"/>
              </a:rPr>
              <a:t>•  Clinician-always-in-the-loop; HPCSA-aligned eval; POPIA special-category controls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822960"/>
            <a:ext cx="3749039" cy="548640"/>
          </a:xfrm>
          <a:prstGeom prst="rect">
            <a:avLst/>
          </a:prstGeom>
          <a:solidFill>
            <a:srgbClr val="742A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399" y="886968"/>
            <a:ext cx="3566159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Pre-authorisation co-pilot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59" y="1371600"/>
            <a:ext cx="3749039" cy="4937760"/>
          </a:xfrm>
          <a:prstGeom prst="rect">
            <a:avLst/>
          </a:prstGeom>
          <a:solidFill>
            <a:srgbClr val="EA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19" y="1463040"/>
            <a:ext cx="3474719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742A9B"/>
                </a:solidFill>
                <a:latin typeface="Segoe UI"/>
              </a:rPr>
              <a:t>Surface: Azure AI Foundry + DocIntel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19" y="1920240"/>
            <a:ext cx="3474719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Segoe UI"/>
              </a:rPr>
              <a:t>Value: Cycle time -60%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19" y="2468880"/>
            <a:ext cx="347471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Segoe UI"/>
              </a:rPr>
              <a:t>What it does: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19" y="2788920"/>
            <a:ext cx="347471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0B1F3A"/>
                </a:solidFill>
                <a:latin typeface="Segoe UI"/>
              </a:rPr>
              <a:t>•  Submission completeness check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0B1F3A"/>
                </a:solidFill>
                <a:latin typeface="Segoe UI"/>
              </a:rPr>
              <a:t>•  Medical-scheme rule reasoning with citation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0B1F3A"/>
                </a:solidFill>
                <a:latin typeface="Segoe UI"/>
              </a:rPr>
              <a:t>•  Outcome draft with rationale for HITL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0B1F3A"/>
                </a:solidFill>
                <a:latin typeface="Segoe UI"/>
              </a:rPr>
              <a:t>•  Appeals package assembly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19" y="5120640"/>
            <a:ext cx="347471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Segoe UI"/>
              </a:rPr>
              <a:t>Key controls: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19" y="5440680"/>
            <a:ext cx="347471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0B1F3A"/>
                </a:solidFill>
                <a:latin typeface="Segoe UI"/>
              </a:rPr>
              <a:t>•  HITL on adverse decisions; reasoning trace; CMS-aligned audit log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58" y="822960"/>
            <a:ext cx="3749039" cy="548640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8" y="886968"/>
            <a:ext cx="3566159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Segoe UI"/>
              </a:rPr>
              <a:t>Operations + scheduling co-pilot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58" y="1371600"/>
            <a:ext cx="3749039" cy="4937760"/>
          </a:xfrm>
          <a:prstGeom prst="rect">
            <a:avLst/>
          </a:prstGeom>
          <a:solidFill>
            <a:srgbClr val="EA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18" y="1463040"/>
            <a:ext cx="3474719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742A9B"/>
                </a:solidFill>
                <a:latin typeface="Segoe UI"/>
              </a:rPr>
              <a:t>Surface: M365 Copilot + Copilot Studio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18" y="1920240"/>
            <a:ext cx="3474719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Segoe UI"/>
              </a:rPr>
              <a:t>Value: OT block utilisation +5-10%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18" y="2468880"/>
            <a:ext cx="347471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Segoe UI"/>
              </a:rPr>
              <a:t>What it does: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8" y="2788920"/>
            <a:ext cx="347471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0B1F3A"/>
                </a:solidFill>
                <a:latin typeface="Segoe UI"/>
              </a:rPr>
              <a:t>•  Block-utilisation reasoning + reschedule suggestion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0B1F3A"/>
                </a:solidFill>
                <a:latin typeface="Segoe UI"/>
              </a:rPr>
              <a:t>•  Staffing co-pilot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0B1F3A"/>
                </a:solidFill>
                <a:latin typeface="Segoe UI"/>
              </a:rPr>
              <a:t>•  Supply demand forecasting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0B1F3A"/>
                </a:solidFill>
                <a:latin typeface="Segoe UI"/>
              </a:rPr>
              <a:t>•  Quality metric synthesis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18" y="5120640"/>
            <a:ext cx="347471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Segoe UI"/>
              </a:rPr>
              <a:t>Key controls: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8" y="5440680"/>
            <a:ext cx="347471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0B1F3A"/>
                </a:solidFill>
                <a:latin typeface="Segoe UI"/>
              </a:rPr>
              <a:t>•  Purview labels; non-clinical scope; Copilot SOE adoption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AI CoE | RSA Sector Briefing | Healthcare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Segoe UI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6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88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5. Sample reference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Segoe UI"/>
              </a:rPr>
              <a:t>Five-layer reference: clinical + admin surfaces over agents over FHIR + EMR + scheme-rule corpus, under POPIA special-category controls.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2743200" cy="960120"/>
          </a:xfrm>
          <a:prstGeom prst="rect">
            <a:avLst/>
          </a:prstGeom>
          <a:solidFill>
            <a:srgbClr val="006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24688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Experience layer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280160"/>
            <a:ext cx="8595360" cy="960120"/>
          </a:xfrm>
          <a:prstGeom prst="rect">
            <a:avLst/>
          </a:prstGeom>
          <a:solidFill>
            <a:srgbClr val="EA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1463040"/>
            <a:ext cx="832104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Segoe UI"/>
              </a:rPr>
              <a:t>M365 Copilot for clinicians + admin; Copilot Studio for patient channels; Power Pages for HITL queues.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13432"/>
            <a:ext cx="2743200" cy="960120"/>
          </a:xfrm>
          <a:prstGeom prst="rect">
            <a:avLst/>
          </a:prstGeom>
          <a:solidFill>
            <a:srgbClr val="742A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587752"/>
            <a:ext cx="24688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Orchestration / agents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2313432"/>
            <a:ext cx="8595360" cy="960120"/>
          </a:xfrm>
          <a:prstGeom prst="rect">
            <a:avLst/>
          </a:prstGeom>
          <a:solidFill>
            <a:srgbClr val="EA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2496312"/>
            <a:ext cx="832104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Segoe UI"/>
              </a:rPr>
              <a:t>Foundry orchestrators for clinical + pre-auth reasoning; Copilot Studio for patient intents.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346704"/>
            <a:ext cx="2743200" cy="960120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621024"/>
            <a:ext cx="24688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Segoe UI"/>
              </a:rPr>
              <a:t>Reasoning &amp; retrieval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3346704"/>
            <a:ext cx="8595360" cy="960120"/>
          </a:xfrm>
          <a:prstGeom prst="rect">
            <a:avLst/>
          </a:prstGeom>
          <a:solidFill>
            <a:srgbClr val="EA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3529584"/>
            <a:ext cx="832104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Segoe UI"/>
              </a:rPr>
              <a:t>gpt-4o for clinical reasoning; gpt-4o-mini default; vector index over scheme rules + protocols.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379976"/>
            <a:ext cx="2743200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654296"/>
            <a:ext cx="24688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Data foundation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4379976"/>
            <a:ext cx="8595360" cy="960120"/>
          </a:xfrm>
          <a:prstGeom prst="rect">
            <a:avLst/>
          </a:prstGeom>
          <a:solidFill>
            <a:srgbClr val="EA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37560" y="4562856"/>
            <a:ext cx="832104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Segoe UI"/>
              </a:rPr>
              <a:t>Fabric + Synapse + Dataverse Healthcare; EMR via FHIR endpoints; CMK-encrypted clinical data.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413248"/>
            <a:ext cx="2743200" cy="960120"/>
          </a:xfrm>
          <a:prstGeom prst="rect">
            <a:avLst/>
          </a:prstGeom>
          <a:solidFill>
            <a:srgbClr val="006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687568"/>
            <a:ext cx="24688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Governance &amp; security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5413248"/>
            <a:ext cx="8595360" cy="960120"/>
          </a:xfrm>
          <a:prstGeom prst="rect">
            <a:avLst/>
          </a:prstGeom>
          <a:solidFill>
            <a:srgbClr val="EA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37560" y="5596128"/>
            <a:ext cx="832104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Segoe UI"/>
              </a:rPr>
              <a:t>Purview AI Hub; Defender for Cloud AI; POPIA special-category controls; clinician HITL by default.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AI CoE | RSA Sector Briefing | Healthcare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Segoe UI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6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88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6. Sovereignty &amp; governance posture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Segoe UI"/>
              </a:rPr>
              <a:t>POPIA special-category data + HPCSA clinician accountability define the governance perimeter; sovereignty is the operating constraint.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0B1F3A"/>
                </a:solidFill>
                <a:latin typeface="Segoe UI"/>
              </a:rPr>
              <a:t>•  SA North + SA West regions; data-zone scoping for clinical data.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B1F3A"/>
                </a:solidFill>
                <a:latin typeface="Segoe UI"/>
              </a:rPr>
              <a:t>•  Customer-Managed Keys in HSM; private endpoints; VNet integration.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B1F3A"/>
                </a:solidFill>
                <a:latin typeface="Segoe UI"/>
              </a:rPr>
              <a:t>•  Clinician-always-in-the-loop on diagnostic suggestion; HPCSA-aligned eval slices.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B1F3A"/>
                </a:solidFill>
                <a:latin typeface="Segoe UI"/>
              </a:rPr>
              <a:t>•  Purview AI Hub provides reasoning trace for HPCSA + Council for Medical Schemes review.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B1F3A"/>
                </a:solidFill>
                <a:latin typeface="Segoe UI"/>
              </a:rPr>
              <a:t>•  Defender for Cloud AI surfaces shadow-AI in clinician toolchains.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B1F3A"/>
                </a:solidFill>
                <a:latin typeface="Segoe UI"/>
              </a:rPr>
              <a:t>•  Quarterly attestation; clinician + DPO + Internal Audit sign-off.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AI CoE | RSA Sector Briefing | Healthcare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Segoe UI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6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88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7. Engagement shape | ATO sizing &amp; funding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22960"/>
            <a:ext cx="2560320" cy="457200"/>
          </a:xfrm>
          <a:prstGeom prst="rect">
            <a:avLst/>
          </a:prstGeom>
          <a:solidFill>
            <a:srgbClr val="006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86968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Phase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822960"/>
            <a:ext cx="2926080" cy="457200"/>
          </a:xfrm>
          <a:prstGeom prst="rect">
            <a:avLst/>
          </a:prstGeom>
          <a:solidFill>
            <a:srgbClr val="006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886968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Vehicle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0" y="822960"/>
            <a:ext cx="2011680" cy="457200"/>
          </a:xfrm>
          <a:prstGeom prst="rect">
            <a:avLst/>
          </a:prstGeom>
          <a:solidFill>
            <a:srgbClr val="006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886968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Envelope (USD)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822960"/>
            <a:ext cx="4297680" cy="457200"/>
          </a:xfrm>
          <a:prstGeom prst="rect">
            <a:avLst/>
          </a:prstGeom>
          <a:solidFill>
            <a:srgbClr val="006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0" y="886968"/>
            <a:ext cx="42976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Output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280160"/>
            <a:ext cx="2560320" cy="548640"/>
          </a:xfrm>
          <a:prstGeom prst="rect">
            <a:avLst/>
          </a:prstGeom>
          <a:solidFill>
            <a:srgbClr val="EA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371600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Segoe UI"/>
              </a:rPr>
              <a:t>Envision workshop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1280160"/>
            <a:ext cx="2926080" cy="548640"/>
          </a:xfrm>
          <a:prstGeom prst="rect">
            <a:avLst/>
          </a:prstGeom>
          <a:solidFill>
            <a:srgbClr val="EA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0" y="1371600"/>
            <a:ext cx="2788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Segoe UI"/>
              </a:rPr>
              <a:t>Pre-sales ECIF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1280160"/>
            <a:ext cx="2011680" cy="548640"/>
          </a:xfrm>
          <a:prstGeom prst="rect">
            <a:avLst/>
          </a:prstGeom>
          <a:solidFill>
            <a:srgbClr val="EA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1371600"/>
            <a:ext cx="18745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Segoe UI"/>
              </a:rPr>
              <a:t>50,000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0" y="1280160"/>
            <a:ext cx="4297680" cy="548640"/>
          </a:xfrm>
          <a:prstGeom prst="rect">
            <a:avLst/>
          </a:prstGeom>
          <a:solidFill>
            <a:srgbClr val="EA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0" y="1371600"/>
            <a:ext cx="41605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Segoe UI"/>
              </a:rPr>
              <a:t>Clinical + admin shortlist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1828800"/>
            <a:ext cx="256032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1920240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Segoe UI"/>
              </a:rPr>
              <a:t>Documentation pilot (10 wk)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26080" y="1828800"/>
            <a:ext cx="292608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7520" y="1920240"/>
            <a:ext cx="2788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Segoe UI"/>
              </a:rPr>
              <a:t>ATO + partner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52160" y="1828800"/>
            <a:ext cx="201168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0" y="1920240"/>
            <a:ext cx="18745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Segoe UI"/>
              </a:rPr>
              <a:t>400,000-800,000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0" y="1828800"/>
            <a:ext cx="429768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0" y="1920240"/>
            <a:ext cx="41605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Segoe UI"/>
              </a:rPr>
              <a:t>Production-ready ambient + drafted notes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377440"/>
            <a:ext cx="2560320" cy="548640"/>
          </a:xfrm>
          <a:prstGeom prst="rect">
            <a:avLst/>
          </a:prstGeom>
          <a:solidFill>
            <a:srgbClr val="EA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2468880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Segoe UI"/>
              </a:rPr>
              <a:t>Pre-auth pilot (12 wk)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26080" y="2377440"/>
            <a:ext cx="2926080" cy="548640"/>
          </a:xfrm>
          <a:prstGeom prst="rect">
            <a:avLst/>
          </a:prstGeom>
          <a:solidFill>
            <a:srgbClr val="EA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17520" y="2468880"/>
            <a:ext cx="2788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Segoe UI"/>
              </a:rPr>
              <a:t>ATO + partner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52160" y="2377440"/>
            <a:ext cx="2011680" cy="548640"/>
          </a:xfrm>
          <a:prstGeom prst="rect">
            <a:avLst/>
          </a:prstGeom>
          <a:solidFill>
            <a:srgbClr val="EA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0" y="2468880"/>
            <a:ext cx="18745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Segoe UI"/>
              </a:rPr>
              <a:t>500,000-1,000,000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63840" y="2377440"/>
            <a:ext cx="4297680" cy="548640"/>
          </a:xfrm>
          <a:prstGeom prst="rect">
            <a:avLst/>
          </a:prstGeom>
          <a:solidFill>
            <a:srgbClr val="EA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80" y="2468880"/>
            <a:ext cx="41605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Segoe UI"/>
              </a:rPr>
              <a:t>Production-ready pre-auth agent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2926080"/>
            <a:ext cx="256032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017520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Segoe UI"/>
              </a:rPr>
              <a:t>Operations Copilot adoption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26080" y="2926080"/>
            <a:ext cx="292608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17520" y="3017520"/>
            <a:ext cx="2788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Segoe UI"/>
              </a:rPr>
              <a:t>ECIF + ACO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52160" y="2926080"/>
            <a:ext cx="201168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0" y="3017520"/>
            <a:ext cx="18745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Segoe UI"/>
              </a:rPr>
              <a:t>200,000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63840" y="2926080"/>
            <a:ext cx="429768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55280" y="3017520"/>
            <a:ext cx="41605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Segoe UI"/>
              </a:rPr>
              <a:t>Non-clinical productivity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474720"/>
            <a:ext cx="2560320" cy="548640"/>
          </a:xfrm>
          <a:prstGeom prst="rect">
            <a:avLst/>
          </a:prstGeom>
          <a:solidFill>
            <a:srgbClr val="EA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3566160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Segoe UI"/>
              </a:rPr>
              <a:t>Production + attestation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926080" y="3474720"/>
            <a:ext cx="2926080" cy="548640"/>
          </a:xfrm>
          <a:prstGeom prst="rect">
            <a:avLst/>
          </a:prstGeom>
          <a:solidFill>
            <a:srgbClr val="EA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017520" y="3566160"/>
            <a:ext cx="2788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Segoe UI"/>
              </a:rPr>
              <a:t>MAICPP + partner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52160" y="3474720"/>
            <a:ext cx="2011680" cy="548640"/>
          </a:xfrm>
          <a:prstGeom prst="rect">
            <a:avLst/>
          </a:prstGeom>
          <a:solidFill>
            <a:srgbClr val="EA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43600" y="3566160"/>
            <a:ext cx="18745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Segoe UI"/>
              </a:rPr>
              <a:t>by partner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63840" y="3474720"/>
            <a:ext cx="4297680" cy="548640"/>
          </a:xfrm>
          <a:prstGeom prst="rect">
            <a:avLst/>
          </a:prstGeom>
          <a:solidFill>
            <a:srgbClr val="EA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955280" y="3566160"/>
            <a:ext cx="41605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Segoe UI"/>
              </a:rPr>
              <a:t>Scale + governance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5029200"/>
            <a:ext cx="11430000" cy="457200"/>
          </a:xfrm>
          <a:prstGeom prst="rect">
            <a:avLst/>
          </a:prstGeom>
          <a:solidFill>
            <a:srgbClr val="742A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2920" y="5093208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Anonymised reference: RSA private hospital group - clinical documentation co-pilot pilot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557784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Segoe UI"/>
              </a:rPr>
              <a:t>12-week pilot with 60 clinicians; self-reported 90 minutes/day recovered; clinician satisfaction +40 NPS points; HPCSA-aligned eval passed. Reference under NDA via account team.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432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AI CoE | RSA Sector Briefing | Healthcare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Segoe UI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6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88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8. Anchored accelerators (from accelerators/)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B1F3A"/>
                </a:solidFill>
                <a:latin typeface="Segoe UI"/>
              </a:rPr>
              <a:t>Pre-built CoE assets that compress weeks 1-8 of pilot delivery for this sector.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0B1F3A"/>
                </a:solidFill>
                <a:latin typeface="Segoe UI"/>
              </a:rPr>
              <a:t>•  ACC-3 M365 Copilot SOE Adoption - clinician + admin adoption path.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B1F3A"/>
                </a:solidFill>
                <a:latin typeface="Segoe UI"/>
              </a:rPr>
              <a:t>•  ACC-2 POPIA Landing Zone - special-category data foundation.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B1F3A"/>
                </a:solidFill>
                <a:latin typeface="Segoe UI"/>
              </a:rPr>
              <a:t>•  ACC-4 Regulated-Industry Pilot Kit - HPCSA + CMS scoping.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B1F3A"/>
                </a:solidFill>
                <a:latin typeface="Segoe UI"/>
              </a:rPr>
              <a:t>•  ACC-5 DocIntel + Foundry Pattern - pre-auth + claims processing.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B1F3A"/>
                </a:solidFill>
                <a:latin typeface="Segoe UI"/>
              </a:rPr>
              <a:t>•  AI-CoE-AI-Impact-Assessment.xlsx - per-use-case governance (special-category emphasis).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B1F3A"/>
                </a:solidFill>
                <a:latin typeface="Segoe UI"/>
              </a:rPr>
              <a:t>•  AI-CoE-AI-TCO-Calculator.xlsx - per-token vs per-seat for clinician workloads.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AI CoE | RSA Sector Briefing | Healthcare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Segoe UI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789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50E6FF"/>
                </a:solidFill>
                <a:latin typeface="Segoe UI"/>
              </a:rPr>
              <a:t>9. What to do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78992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Clinical documentation first - clinician trust compounds every other use-case.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10789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>
                <a:solidFill>
                  <a:srgbClr val="EAF4FB"/>
                </a:solidFill>
                <a:latin typeface="Segoe UI"/>
              </a:rPr>
              <a:t>•  Book the Envision workshop ($50K ECIF).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EAF4FB"/>
                </a:solidFill>
                <a:latin typeface="Segoe UI"/>
              </a:rPr>
              <a:t>•  Anchor on documentation co-pilot - the clinician-trust win unlocks pre-auth.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EAF4FB"/>
                </a:solidFill>
                <a:latin typeface="Segoe UI"/>
              </a:rPr>
              <a:t>•  Sequence pre-auth pilot after documentation; reuse the reasoning + HITL patterns.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EAF4FB"/>
                </a:solidFill>
                <a:latin typeface="Segoe UI"/>
              </a:rPr>
              <a:t>•  Bring HPCSA-aligned clinical lead into Gate 2 - clinician sign-off is the moat.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43600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Segoe UI"/>
              </a:rPr>
              <a:t>Pair with: AI-CoE-Pitch-Deck.pptx | AI-CoE-Sovereign-AI-RSA.pptx | AI-CoE-Objection-Handling.pptx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AI CoE | RSA Sector Briefing | Healthcare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Segoe UI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