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Opening. This is the Banking &amp; Insurance sector briefing - 9 slides, ~20 minutes. Spine: sector context -&gt; regulators -&gt; top 3 use-cases -&gt; reference architecture -&gt; sovereignty -&gt; ATO sizing -&gt; accelerators -&gt; next steps. Set expectation that we will name regulators, name use-cases, and name the ATO envelope. No abstractions.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Sector context for Banking &amp; Insurance. Lead with the structural drivers from the slide. Translate market pressure into AI demand: which board-level metrics move when AI is applied here? Ask the room to validate or reorder the drivers - their answer informs which of the top 3 use-cases to lead with in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Regulators and frameworks for Banking &amp; Insurance. Walk the sector-specific regulators first, then the cross-cutting frameworks (RAI v2, ISO 42001, NIST AI RMF). Land the point: every use-case in slide 4 is engineered to map to these controls. Governance is the spine, not a tax. If the buyer is a CRO or compliance officer, dwell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The three named use-cases. For each: surface (M365 / Studio / Foundry), value range, what it does, key controls. Ask the room which one their executive sponsor would fund first - that is the workload for the pilot. Do not pitch all three; let them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Reference architecture for Banking &amp; Insurance. Five layers: experience, orchestration, reasoning and retrieval, data and grounding, governance. Stress the governance wrap - Purview, Defender, impact assessments, eval harness. Architecture is sector-tailored but built on the same CoE foundation, so partner delivery 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Sovereignty posture for Banking &amp; Insurance. Map data residency, network segregation, key custody, and audit posture to this sector's specific regulators (named on slide 3). For regulated buyers, this slide alongside AI-CoE-Sovereign-AI-RSA.pptx is the unlock. ACC-2 POPIA Landing Zone is the underlying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ATO sizing for Banking &amp; Insurance. Walk the envelopes by phase: Envision workshop, pilot, scale. Numbers in USD; vehicles named (ECIF, MCI, MAICPP). The point: every phase has a funding vehicle, so the customer commits ACR and we fund the work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Pre-built CoE accelerators that compress weeks 1-8 for Banking &amp; Insurance. Point to ACC-2 POPIA Landing Zone, ACC-3 SOE Adoption Playbook, sector-specific patterns from accelerators/. These are what make 'first outcome by day 90' a default, not a stretch.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Close. Three concrete next steps: book the Envision workshop ($50K ECIF); stand up the M365 SOE adoption path in parallel; reserve the lead agent build for the post-Envision window. Pair this briefing with the Pitch-Deck, Sovereign-AI deck, and Objection-Handling in the follow-up pack. Confirm sponsor and baseline before the meeting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AI Center of Excellence | Banking &amp; Insurance (RSA)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78992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AI for prudential, conduct, and customer-experience leverage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EAF4FB"/>
                </a:solidFill>
                <a:latin typeface="Segoe UI"/>
              </a:rPr>
              <a:t>Executive briefing | 9 slides | Internal seller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EAF4FB"/>
                </a:solidFill>
                <a:latin typeface="Segoe UI"/>
              </a:rPr>
              <a:t>Yuri Baijnath - CSU Cloud &amp; AI Lead (South Africa), 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Version 1.0 | 2026-06-03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1 / 9</a:t>
            </a:r>
          </a:p>
        </p:txBody>
      </p:sp>
      <p:sp>
        <p:nvSpPr>
          <p:cNvPr id="13" name="AICOE_GEO_ACCENT_Right Triangle 12"/>
          <p:cNvSpPr/>
          <p:nvPr/>
        </p:nvSpPr>
        <p:spPr>
          <a:xfrm>
            <a:off x="11368735" y="445770"/>
            <a:ext cx="822960" cy="82296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ICOE_GEO_ACCENT_Right Triangle 13"/>
          <p:cNvSpPr/>
          <p:nvPr/>
        </p:nvSpPr>
        <p:spPr>
          <a:xfrm rot="10800000">
            <a:off x="11368735" y="2160270"/>
            <a:ext cx="822960" cy="822960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ICOE_GEO_ACCENT_Right Triangle 14"/>
          <p:cNvSpPr/>
          <p:nvPr/>
        </p:nvSpPr>
        <p:spPr>
          <a:xfrm>
            <a:off x="11368735" y="3874770"/>
            <a:ext cx="822960" cy="822960"/>
          </a:xfrm>
          <a:prstGeom prst="rtTriangle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ICOE_GEO_ACCENT_Right Triangle 15"/>
          <p:cNvSpPr/>
          <p:nvPr/>
        </p:nvSpPr>
        <p:spPr>
          <a:xfrm rot="5400000">
            <a:off x="11368735" y="5589270"/>
            <a:ext cx="822960" cy="822960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ICOE_GEO_ACCENT_Rectangle 16"/>
          <p:cNvSpPr/>
          <p:nvPr/>
        </p:nvSpPr>
        <p:spPr>
          <a:xfrm>
            <a:off x="11295583" y="0"/>
            <a:ext cx="73152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2. Sector context | what's driving AI in this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RSA financial services: thin margins, conduct scrutiny, and a regulator stack that treats AI as model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Big-4 banks + insurers run on mainframe + SAP + bespoke; AI must integrate, not replace, core systems.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SARB Directive 7 on model risk applies to AI used in credit / pricing / fraud decisions - explainability is mandatory.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PA Joint Standard 1 of 2023 (cybersecurity &amp; cyber resilience) extends to AI components.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FSCA Conduct Standards require demonstrable fairness in customer-facing automated decisions (TCF principles).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Cost-to-serve pressure: tier-1 contact-centre cost-per-call is the #1 board-level AI target.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Fraud signal volumes outpace human review - AI co-pilot for fraud analysts is a force-multiplier, not a replacement.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2 / 9</a:t>
            </a:r>
          </a:p>
        </p:txBody>
      </p:sp>
      <p:sp>
        <p:nvSpPr>
          <p:cNvPr id="10" name="AICOE_GEO_ACCENT_Right Triangle 9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ICOE_GEO_ACCENT_Right Triangle 10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3. Regulators &amp; frameworks | what governs the AI use-case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56692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Sector regulators (RSA)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SARB (Prudential Authority) - Directive 7 model risk; Joint Standard 1 cyber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FSCA - Conduct Standards; TCF (Treating Customers Fairly)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FAIS Act - financial advice disclosure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FICA - AML / KYC obligations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Information Regulator - POPIA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JSE Listings Requirements - disclosure of material AI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822960"/>
            <a:ext cx="566928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Cross-cutting frameworks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RAI v2 (control families G1-G3, T1-T4)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ISO/IEC 42001:2023 - AI Management System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NIST AI RMF 1.0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EU AI Act (spillover for SA banks operating in EU)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BCBS 239 (risk data aggregation) for AI inputs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WAF + Cloud Adoption Framework for FSI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3 / 9</a:t>
            </a:r>
          </a:p>
        </p:txBody>
      </p:sp>
      <p:sp>
        <p:nvSpPr>
          <p:cNvPr id="14" name="AICOE_GEO_ACCENT_Right Triangle 13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ICOE_GEO_ACCENT_Right Triangle 14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4. Top 3 named AI use-cases for this sector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3749039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Tier-1 contact-centre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Copilot Studio + Foundry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30-45% AHT reduction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Authenticated customer intent recognition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Policy / product retrieval over SharePoint + core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Drafted response with citation to source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HITL handoff on regulated topics (advice, complaints)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Purview AI Hub log; FSCA TCF eval slice; kill-switch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822960"/>
            <a:ext cx="3749039" cy="54864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KYC / FICA document processing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Azure AI Foundry + DocIntel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70% faster onboarding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Extract identity + proof-of-address fields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Cross-check sanctions / PEP lists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Reasoning trace for auditor sample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Risk-rated routing to analyst queue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19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CMK; private endpoint; auditor-sample log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58" y="822960"/>
            <a:ext cx="3749039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8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Fraud-analyst co-pilot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58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18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Foundry agent + Sentinel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8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2-3x analyst throughput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8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8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Pattern explanation over alert cluster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Similar-case retrieval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Suggested next-best-action with confidence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Audit-trail-grade reasoning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18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8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Defender for Cloud AI; reasoning trace; HITL on freeze decisions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4 / 9</a:t>
            </a:r>
          </a:p>
        </p:txBody>
      </p:sp>
      <p:sp>
        <p:nvSpPr>
          <p:cNvPr id="35" name="AICOE_GEO_ACCENT_Right Triangle 34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ICOE_GEO_ACCENT_Right Triangle 35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5. Sample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Five-layer reference: Copilot surfaces over Foundry agents over PostgreSQL + Synapse + Purview, all under POPIA landing zone.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Experience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80160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M365 Copilot for ops + Power Pages portal for HITL; Teams for case collaboration.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13432"/>
            <a:ext cx="2743200" cy="9601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87752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Orchestration /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313432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496312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Copilot Studio agents for tier-1; Foundry orchestrators for tier-2/3 with tool calls.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46704"/>
            <a:ext cx="2743200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21024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Reasoning &amp; retrieval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346704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3529584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gpt-4o + gpt-4o-mini routing; Azure AI Search vector index over policy + case corpus.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79976"/>
            <a:ext cx="2743200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654296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Data foundation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4379976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4562856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Synapse + PostgreSQL HyperScale; core-banking via API gateway; Purview lineage end-to-end.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13248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87568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Governance &amp; security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5413248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0" y="5596128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Purview AI Hub + Defender for Cloud AI + Azure Policy POPIA initiative; Customer-Managed Keys.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5 / 9</a:t>
            </a:r>
          </a:p>
        </p:txBody>
      </p:sp>
      <p:sp>
        <p:nvSpPr>
          <p:cNvPr id="29" name="AICOE_GEO_ACCENT_Right Triangle 28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ICOE_GEO_ACCENT_Right Triangle 29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6. Sovereignty &amp; governance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POPIA + SARB + FSCA compliance is the entry ticket; sovereignty is the trust ticket.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SA North + SA West dual-region for active-active resilience; data-zone scoping prevents EU/US drift.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Customer-Managed Keys in Azure Key Vault HSM (FIPS 140-2 Level 3).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Private endpoints; VNet integration; no public model endpoints.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Purview AI Hub provides reasoning trace for AGSA / SARB / FSCA inspection.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Defender for Cloud AI surfaces shadow-AI in M365 + dev environments.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Quarterly attestation via AI-CoE-AI-Impact-Assessment.xlsx; 18 controls default-on.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Use AI-CoE-Sovereign-AI-RSA.pptx as the long-form companion when CISO/DPO ask for depth.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6 / 9</a:t>
            </a:r>
          </a:p>
        </p:txBody>
      </p:sp>
      <p:sp>
        <p:nvSpPr>
          <p:cNvPr id="10" name="AICOE_GEO_ACCENT_Right Triangle 9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ICOE_GEO_ACCENT_Right Triangle 10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7. Engagement shape | ATO sizing &amp;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256032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822960"/>
            <a:ext cx="29260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886968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Vehicle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822960"/>
            <a:ext cx="2011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8869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Envelope (USD)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822960"/>
            <a:ext cx="4297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886968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28016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Envision workshop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128016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37160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Pre-sales ECIF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28016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37160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128016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137160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Use-case shortlist + crosswalk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82880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92024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Impact assessment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182880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92024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ECIF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0" y="182880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192024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100,000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182880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92024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Signed assessment per use-case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37744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46888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Pilot (8-12 wk)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237744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246888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ATO + partner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37744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246888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500,000-1,000,000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37744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0" y="246888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Production-ready agent + eval pack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92608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1752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Production hardening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292608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0" y="301752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MAICPP + partner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92608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301752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by partner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292608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80" y="301752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Scale + run-rate governance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7472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56616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Quarterly attestation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347472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356616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Customer + Microsoft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47472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0" y="356616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n/a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347472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5280" y="356616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Refreshed AGSA-ready evidence pack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029200"/>
            <a:ext cx="1143000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093208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Anonymised reference: Tier-1 SA bank - Banking CX Agent (ACC-1) production case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57784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Tier-1 bank scaled contact-centre agent from 90-day pilot to 1.2M monthly customer interactions; cost-per-call reduced 32%; FSCA TCF complaint rate held flat. Reference available under NDA via account team.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7 / 9</a:t>
            </a:r>
          </a:p>
        </p:txBody>
      </p:sp>
      <p:sp>
        <p:nvSpPr>
          <p:cNvPr id="59" name="AICOE_GEO_ACCENT_Right Triangle 58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AICOE_GEO_ACCENT_Right Triangle 59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8. Anchored accelerators (from accelerators/)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Pre-built CoE assets that compress weeks 1-8 of pilot delivery for this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ACC-1 Banking CX Agent - end-to-end Copilot Studio + Foundry blueprint for tier-1.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ACC-2 POPIA Landing Zone - Azure Policy initiative + Purview baseline for regulated workloads.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ACC-4 Regulated-Industry Pilot Kit - Gate-2 pre-pilot workshop pack.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ACC-5 DocIntel + Foundry Pattern - KYC / claims / contract processing blueprint.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AI-CoE-AI-Impact-Assessment.xlsx - per-use-case governance working tool.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AI-CoE-AI-TCO-Calculator.xlsx - per-token vs per-seat trade-off (issue #8).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8 / 9</a:t>
            </a:r>
          </a:p>
        </p:txBody>
      </p:sp>
      <p:sp>
        <p:nvSpPr>
          <p:cNvPr id="10" name="AICOE_GEO_ACCENT_Right Triangle 9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ICOE_GEO_ACCENT_Right Triangle 10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9. What to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7899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From envisioning to production agent in 8-12 weeks, governance-clean.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Book the Envision workshop (ECIF-funded, $50K).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Nominate one tier-1 use-case + one document-processing use-case to run in parallel.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Bring CISO + DPO + Internal Audit to Gate 2 - that is when value compounds.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Use the TCO Calculator before committing seat counts; cross-over usually at 15-20 queries/user/day.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Pair with: AI-CoE-Pitch-Deck.pptx | AI-CoE-Sovereign-AI-RSA.pptx | AI-CoE-Objection-Handling.pptx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Banking &amp;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9 / 9</a:t>
            </a:r>
          </a:p>
        </p:txBody>
      </p:sp>
      <p:sp>
        <p:nvSpPr>
          <p:cNvPr id="12" name="AICOE_GEO_ACCENT_Right Triangle 11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ICOE_GEO_ACCENT_Right Triangle 12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