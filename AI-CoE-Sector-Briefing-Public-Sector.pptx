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AI Center of Excellence | Public Sector &amp; SOE (RSA)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AI for citizen services, document workflows, and PFMA-grade accountability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EAF4FB"/>
                </a:solidFill>
                <a:latin typeface="Segoe UI"/>
              </a:rPr>
              <a:t>Executive briefing | 9 slides | Internal seller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AF4FB"/>
                </a:solidFill>
                <a:latin typeface="Segoe UI"/>
              </a:rPr>
              <a:t>Yuri Baijnath - CSU Cloud &amp; AI Lead (South Africa), 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Version 1.0 | 2026-06-03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2. Sector context | what's driving AI in this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RSA public sector: PFMA/MFMA accountability, AGSA scrutiny, citizen-facing service backlogs, and the highest bar on sovereignty.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PFMA + MFMA make accounting officers personally accountable - AI introductions must produce evidence, not just outcomes.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AGSA's audit findings drive board-level urgency; AI is being approached as an audit-readiness investment.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Citizen-facing service backlogs (Home Affairs, SARS, SASSA) make conversational + document agents the highest-leverage wins.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National Treasury procurement frameworks make ATO + ECIF + MAICPP the natural commercial path.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Sovereignty: data residency in SA is mandatory for most departments; some workloads require air-gap option.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Skills constraint is the throttle; partner-led delivery with strong Microsoft technical underpin is the operating shape.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3. Regulators &amp; frameworks | what governs the AI use-case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56692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Sector regulators (RSA)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AGSA - Auditor-General of South Africa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National Treasury - PFMA + MFMA + SCM frameworks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Information Regulator - POPIA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Department of Communications - DPSA AI guideline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SITA (where applicable) - government IT framework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Accounting officer / accounting authority (entity level)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822960"/>
            <a:ext cx="566928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Cross-cutting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RAI v2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ISO/IEC 42001:2023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NIST AI RMF 1.0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Cloud for Sovereignty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WAF + CAF (Government)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DPSA Guidelines on AI Adoption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4. Top 3 named AI use-cases for this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3749039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Citizen services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Copilot Studio + Foundry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First-contact resolution +30%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Service-status enquiry + next-step guidance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Document-required checklist by service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Appointment booking + reminders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WhatsApp / web / IVR channels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POPIA opt-in; Purview AI Hub log; HITL on regulated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822960"/>
            <a:ext cx="3749039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Document workflow co-pilot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Azure AI Foundry + DocIntel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Cycle time 60-80% reduction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Extract + classify incoming submissions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Compliance check against policy / regulation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Routing + assignment to officer queue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Reasoning trace for AGSA sample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CMK; private endpoint; auditor-grade trace; HITL on edge cases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8" y="822960"/>
            <a:ext cx="3749039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Programme-management co-pilot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8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8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M365 Copilot + Copilot Studio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1-2 hr/officer/day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8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Drafting briefing notes from source documents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Risk-register synthesis across programmes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AGSA-finding cross-reference + remediation tracking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Audit-readiness pack assembly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Purview labels; sensitivity-aware grounding; Copilot SOE adoption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5. Sample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Five-layer reference: citizen + officer surfaces over agents over departmental data + workflow systems, all under PFMA-grade controls.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Experience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M365 Copilot for officers; Copilot Studio for citizen channels; Power Pages for HITL + portals.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2743200" cy="9601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87752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Orchestration /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313432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496312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Foundry orchestrators for document + reasoning; Copilot Studio for service intents.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743200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21024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Reasoning &amp;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346704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529584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gpt-4o-mini default; gpt-4o for reasoning; vector index over policy + regulation corpus.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2743200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54296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Data foundation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4379976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4562856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Fabric + Synapse + Dataverse; departmental systems via APIM; CMK-encrypted citizen-data store.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13248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 &amp; security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413248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5596128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Purview AI Hub; Defender for Cloud AI; AGSA-ready evidence pack; sovereign cloud option.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6. Sovereignty &amp; governance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PFMA accountability + POPIA residency + AGSA audit posture: sovereignty is the entry condition.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 North + SA West dual-region default; sovereign / air-gapped option for sensitive workloads.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Customer-Managed Keys; private endpoints; VNet isolation.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Purview AI Hub provides AGSA-ready reasoning trace.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Defender for Cloud AI surfaces shadow-AI in officer toolchains.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Quarterly attestation via Impact Assessment workbook - signed by accounting officer.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Use AI-CoE-Sovereign-AI-RSA.pptx as the long-form companion when DPSA / AGSA ask for depth.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7. Engagement shape | ATO sizing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256032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822960"/>
            <a:ext cx="29260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886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Vehicle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822960"/>
            <a:ext cx="2011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8869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Envelope (USD)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822960"/>
            <a:ext cx="4297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88696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28016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Envision 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28016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37160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Pre-sales ECIF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28016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37160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28016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137160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Service + document use-case shortlist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Officer Copilot adoption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2880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92024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ECIF + ACO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92024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200,000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92024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1-2 directorates, AGSA-readiness focus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37744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46888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Document pilot (12 wk)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37744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246888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37744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46888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37744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46888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Production-ready document agent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Citizen agent pilot (12 wk)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92608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301752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01752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92608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301752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WhatsApp + web service agent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56616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 + attestation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47472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56616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MAICPP + partner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7472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56616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by partner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347472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0" y="356616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Scale + AGSA-ready quarterly pack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093208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Anonymised reference: RSA national department - document workflow co-pilot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7784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Document cycle reduced from 12 to 4 days on 60K monthly submissions; AGSA auditor-sample pass-rate 100%; accounting-officer attestation signed. Reference under NDA via account team.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8. Anchored accelerators (from accelerators/)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Pre-built CoE assets that compress weeks 1-8 of pilot delivery for this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ACC-2 POPIA Landing Zone - the foundation under everything here.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ACC-3 M365 Copilot SOE Adoption - officer adoption path.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ACC-4 Regulated-Industry Pilot Kit - PFMA + AGSA scoping.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ACC-5 DocIntel + Foundry Pattern - document workflow blueprint.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AI-CoE-AI-Impact-Assessment.xlsx + AI-CoE-AI-Governance-Playbook.docx - the AGSA-ready governance pack.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AI-CoE-Sovereign-AI-RSA.pptx - long-form sovereignty companion.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9. What to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Officer Copilot adoption first - AGSA-readiness compounds from day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Book the Envision workshop ($50K ECIF).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Stand up officer Copilot adoption in parallel with envisioning.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Sequence document workflow agent before citizen agent - lower risk, higher AGSA leverage.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Bring AGSA-aligned Internal Audit into Gate 2 - that is the trust moment.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Pair with: AI-CoE-Pitch-Deck.pptx | AI-CoE-Sovereign-AI-RSA.pptx | AI-CoE-Objection-Handling.pptx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Public Sector &amp; SOE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