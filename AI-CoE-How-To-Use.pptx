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8" d="100"/>
          <a:sy n="98" d="100"/>
        </p:scale>
        <p:origin x="82"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7105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field-facing how-to deck. Audience: CSAs, ATU/STU/EPS counterparts, Anchor Partner delivery leads.
Framing: the pitch deck sells the offering. This deck shows you how to run it. Walk through it once when you join the motion; refer back as you move from qualification to scale.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set expectations. The deck is sequenced like a delivery — Step 1 (qualify) through Step 8 (federate). You don't have to do every step on every account, but you do them in order.
If a customer is already mid-flight (e.g., already in production with one agent), drop in at the right step rather than restarting.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60-second recap. Do not deep-dive — anyone in the room who needs the full pitch should read the pitch deck. Anchor on three things: 5+1 pillars, three streams, ATO funding.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step. A CoE on a customer that isn't ready burns CSA cycles and partner goodwill.
Three disqualifiers: no named exec sponsor, no data foundation conversation possible, no AI use-case backlog. If any of those is true, run a Solution Assessment first — not a CoE.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customers enter through one surface and discover the others later. Lead with where the customer is — never with where Microsoft wants them to be.
If the customer just bought M365 Copilot seats — start at A. If they're trying to automate a finance workflow — start at B. If they have a dev team building something custom — start at C.
The CoE covers all three. The question is sequencing.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choices to make in Stage 1:
1. Which Tier? (1 Envision, 2 Build, 3 Managed Run)
2. Which ATO component? (C1 Journey, C2 Foundation, C3 Agent Factory)
3. Who delivers? (Partner-led default, or ISD Model A/B/C if regulated/sovereign)
Name the choice in the account plan before Stage 3. Improvising mid-delivery causes channel conflict.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ATO Component 1 / Tier 1 Envisioning. Up to $50k pre-sales ECIF, 1:5 ROI gate.
Three-day workshop is the standard. Outputs: CoE charter, prioritised use-case backlog, Horizon 0–3 maturity baseline, exec sponsor signed.
Do not skip the maturity assessment. It's the artefact you'll come back to in every QBR.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ATO Component 2 / Tier 2 first half. Landing zone, governance ratification, first pilot to production.
Gate to advance: Responsible AI standard ratified, AI landing zone deployed, one pilot live with named business owner.
This is also the gate for the post-sales ECIF/ACO envelope to unlock — AI Foundry plus Fabric or Databases attach.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ATO Component 3. The repeatable build engine — GenAIOps, agentic solution co-build, optimisation.
At this point the CoE has stood up. C3 turns it into a factory. 7–9 weeks per agent, but the same pattern repeats.
If the customer can't name three more use cases, you don't have a factory — you have one pilot. Pause and re-prioritise the backlog.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MCEM Stage 4. This is where ACR compounds. Where the CSA earns the renewal.
Value Realisation Dashboard in Power BI, refreshed monthly, presented at every steerco. Tied to the metrics the customer signed at Stage 3.
If you can't show value in dashboards, the customer will assume there isn't any — even when there 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MCEM Stage 5. The CoE moves from a central team to a federated operating model — domain CoEs in finance, ops, customer service.
This is the renewal conversation. Frontier Firm E7 step-up lives here. Multi-year ACR commitments live here.
Do not start federating before there are at least three production agents. Premature federation creates governance vacuums.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slide together with the playbook RACI. The RACI is exhaustive; this slide is the field shorthand.
Key reminders:
• ATU holds the budget conversation
• STU is the technical co-design partner
• CSU CSA owns Stage 4 — full stop
• EPS PDM primes partner lifecycle, not the CSA
• ISD only when the model says ISD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 the funding instrument to the stage:
• Stage 1–2: ECIF pre-sales (up to $50k)
• Stage 2–4: ECIF + ACO post-sales (up to $1M envelope)
• Stage 3–4: AMM for Azure migration workloads
• Across: MAICPP for partner co-investment
Do not stack funding instruments without naming the gate. Compliance reviews catch this.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patterns we've seen succeed and fail. Read them once, then come back when something feels off.</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artefact pack is everything you need to run the offering. If something isn't in the pack, you don't need it for delivery.
The playbook is the source of truth. The pitch deck is for selling. The one-pager is for the CIO inbox. The partner kit is for the Anchor onboarding session. The FY27 plan is for Area leadership.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slide. Pin it above your desk.
Three questions answer 80% of 'what do I do next' situations.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you've just been assigned a CoE account, this is the playbook for the first 30 days. Compress where you can — but don't skip the readiness scorecard.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support model. Do not let the room leave without knowing where to ask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F2C"/>
        </a:solidFill>
        <a:effectLst/>
      </p:bgPr>
    </p:bg>
    <p:spTree>
      <p:nvGrpSpPr>
        <p:cNvPr id="1" name=""/>
        <p:cNvGrpSpPr/>
        <p:nvPr/>
      </p:nvGrpSpPr>
      <p:grpSpPr>
        <a:xfrm>
          <a:off x="0" y="0"/>
          <a:ext cx="0" cy="0"/>
          <a:chOff x="0" y="0"/>
          <a:chExt cx="0" cy="0"/>
        </a:xfrm>
      </p:grpSpPr>
      <p:sp>
        <p:nvSpPr>
          <p:cNvPr id="2" name="Shape 0"/>
          <p:cNvSpPr/>
          <p:nvPr/>
        </p:nvSpPr>
        <p:spPr>
          <a:xfrm>
            <a:off x="0" y="4937760"/>
            <a:ext cx="12191695" cy="73152"/>
          </a:xfrm>
          <a:prstGeom prst="rect">
            <a:avLst/>
          </a:prstGeom>
          <a:solidFill>
            <a:srgbClr val="C03BC4"/>
          </a:solidFill>
          <a:ln/>
        </p:spPr>
        <p:txBody>
          <a:bodyPr/>
          <a:lstStyle/>
          <a:p>
            <a:endParaRPr lang="en-ZA"/>
          </a:p>
        </p:txBody>
      </p:sp>
      <p:sp>
        <p:nvSpPr>
          <p:cNvPr id="3" name="Shape 1"/>
          <p:cNvSpPr/>
          <p:nvPr/>
        </p:nvSpPr>
        <p:spPr>
          <a:xfrm>
            <a:off x="0" y="5074920"/>
            <a:ext cx="3657509" cy="27432"/>
          </a:xfrm>
          <a:prstGeom prst="rect">
            <a:avLst/>
          </a:prstGeom>
          <a:solidFill>
            <a:srgbClr val="702573"/>
          </a:solidFill>
          <a:ln/>
        </p:spPr>
        <p:txBody>
          <a:bodyPr/>
          <a:lstStyle/>
          <a:p>
            <a:endParaRPr lang="en-ZA"/>
          </a:p>
        </p:txBody>
      </p:sp>
      <p:pic>
        <p:nvPicPr>
          <p:cNvPr id="4" name="Image 0" descr="assets/microsoft-mark.png"/>
          <p:cNvPicPr>
            <a:picLocks noChangeAspect="1"/>
          </p:cNvPicPr>
          <p:nvPr/>
        </p:nvPicPr>
        <p:blipFill>
          <a:blip r:embed="rId3"/>
          <a:stretch>
            <a:fillRect/>
          </a:stretch>
        </p:blipFill>
        <p:spPr>
          <a:xfrm>
            <a:off x="822960" y="502920"/>
            <a:ext cx="457200" cy="457200"/>
          </a:xfrm>
          <a:prstGeom prst="rect">
            <a:avLst/>
          </a:prstGeom>
        </p:spPr>
      </p:pic>
      <p:sp>
        <p:nvSpPr>
          <p:cNvPr id="5" name="Text 2"/>
          <p:cNvSpPr/>
          <p:nvPr/>
        </p:nvSpPr>
        <p:spPr>
          <a:xfrm>
            <a:off x="1371600" y="502920"/>
            <a:ext cx="2743200" cy="457200"/>
          </a:xfrm>
          <a:prstGeom prst="rect">
            <a:avLst/>
          </a:prstGeom>
          <a:noFill/>
          <a:ln/>
        </p:spPr>
        <p:txBody>
          <a:bodyPr wrap="square" rtlCol="0" anchor="ctr"/>
          <a:lstStyle/>
          <a:p>
            <a:pPr marL="0" indent="0">
              <a:buNone/>
            </a:pPr>
            <a:r>
              <a:rPr lang="en-US" sz="2200" b="1" dirty="0">
                <a:solidFill>
                  <a:srgbClr val="FFFFFF"/>
                </a:solidFill>
                <a:latin typeface="Segoe UI" pitchFamily="34" charset="0"/>
                <a:ea typeface="Segoe UI" pitchFamily="34" charset="-122"/>
                <a:cs typeface="Segoe UI" pitchFamily="34" charset="-120"/>
              </a:rPr>
              <a:t>Microsoft</a:t>
            </a:r>
            <a:endParaRPr lang="en-US" sz="2200" dirty="0"/>
          </a:p>
        </p:txBody>
      </p:sp>
      <p:sp>
        <p:nvSpPr>
          <p:cNvPr id="6" name="Text 3"/>
          <p:cNvSpPr/>
          <p:nvPr/>
        </p:nvSpPr>
        <p:spPr>
          <a:xfrm>
            <a:off x="822960" y="1143000"/>
            <a:ext cx="10058400" cy="320040"/>
          </a:xfrm>
          <a:prstGeom prst="rect">
            <a:avLst/>
          </a:prstGeom>
          <a:noFill/>
          <a:ln/>
        </p:spPr>
        <p:txBody>
          <a:bodyPr wrap="square" rtlCol="0" anchor="ctr"/>
          <a:lstStyle/>
          <a:p>
            <a:pPr marL="0" indent="0">
              <a:buNone/>
            </a:pPr>
            <a:r>
              <a:rPr lang="en-US" sz="1200" b="1" kern="0" spc="600" dirty="0">
                <a:solidFill>
                  <a:srgbClr val="C03BC4"/>
                </a:solidFill>
                <a:latin typeface="Segoe UI" pitchFamily="34" charset="0"/>
                <a:ea typeface="Segoe UI" pitchFamily="34" charset="-122"/>
                <a:cs typeface="Segoe UI" pitchFamily="34" charset="-120"/>
              </a:rPr>
              <a:t>FIELD GUIDE  ·  MCAPS + PARTNERS</a:t>
            </a:r>
            <a:endParaRPr lang="en-US" sz="1200" dirty="0"/>
          </a:p>
        </p:txBody>
      </p:sp>
      <p:sp>
        <p:nvSpPr>
          <p:cNvPr id="7" name="Text 4"/>
          <p:cNvSpPr/>
          <p:nvPr/>
        </p:nvSpPr>
        <p:spPr>
          <a:xfrm>
            <a:off x="822960" y="1645920"/>
            <a:ext cx="10515600" cy="1280160"/>
          </a:xfrm>
          <a:prstGeom prst="rect">
            <a:avLst/>
          </a:prstGeom>
          <a:noFill/>
          <a:ln/>
        </p:spPr>
        <p:txBody>
          <a:bodyPr wrap="square" rtlCol="0" anchor="ctr"/>
          <a:lstStyle/>
          <a:p>
            <a:pPr marL="0" indent="0">
              <a:buNone/>
            </a:pPr>
            <a:r>
              <a:rPr lang="en-US" sz="5000" b="1" dirty="0">
                <a:solidFill>
                  <a:srgbClr val="FFFFFF"/>
                </a:solidFill>
                <a:latin typeface="Segoe UI" pitchFamily="34" charset="0"/>
                <a:ea typeface="Segoe UI" pitchFamily="34" charset="-122"/>
                <a:cs typeface="Segoe UI" pitchFamily="34" charset="-120"/>
              </a:rPr>
              <a:t>How to Use the AI CoE Offering</a:t>
            </a:r>
            <a:endParaRPr lang="en-US" sz="5000" dirty="0"/>
          </a:p>
        </p:txBody>
      </p:sp>
      <p:sp>
        <p:nvSpPr>
          <p:cNvPr id="8" name="Text 5"/>
          <p:cNvSpPr/>
          <p:nvPr/>
        </p:nvSpPr>
        <p:spPr>
          <a:xfrm>
            <a:off x="822960" y="3017520"/>
            <a:ext cx="10058400" cy="731520"/>
          </a:xfrm>
          <a:prstGeom prst="rect">
            <a:avLst/>
          </a:prstGeom>
          <a:noFill/>
          <a:ln/>
        </p:spPr>
        <p:txBody>
          <a:bodyPr wrap="square" rtlCol="0" anchor="ctr"/>
          <a:lstStyle/>
          <a:p>
            <a:pPr marL="0" indent="0">
              <a:buNone/>
            </a:pPr>
            <a:r>
              <a:rPr lang="en-US" sz="2200" i="1" dirty="0">
                <a:solidFill>
                  <a:srgbClr val="F5E6F0"/>
                </a:solidFill>
                <a:latin typeface="Segoe UI" pitchFamily="34" charset="0"/>
                <a:ea typeface="Segoe UI" pitchFamily="34" charset="-122"/>
                <a:cs typeface="Segoe UI" pitchFamily="34" charset="-120"/>
              </a:rPr>
              <a:t>From qualification to scale — the operating manual for delivery</a:t>
            </a:r>
            <a:endParaRPr lang="en-US" sz="2200" dirty="0"/>
          </a:p>
        </p:txBody>
      </p:sp>
      <p:sp>
        <p:nvSpPr>
          <p:cNvPr id="9" name="Text 6"/>
          <p:cNvSpPr/>
          <p:nvPr/>
        </p:nvSpPr>
        <p:spPr>
          <a:xfrm>
            <a:off x="822960" y="3931920"/>
            <a:ext cx="10058400" cy="457200"/>
          </a:xfrm>
          <a:prstGeom prst="rect">
            <a:avLst/>
          </a:prstGeom>
          <a:noFill/>
          <a:ln/>
        </p:spPr>
        <p:txBody>
          <a:bodyPr wrap="square" rtlCol="0" anchor="ctr"/>
          <a:lstStyle/>
          <a:p>
            <a:pPr marL="0" indent="0">
              <a:buNone/>
            </a:pPr>
            <a:r>
              <a:rPr lang="en-US" sz="1600" dirty="0">
                <a:solidFill>
                  <a:srgbClr val="B8C5DB"/>
                </a:solidFill>
                <a:latin typeface="Segoe UI" pitchFamily="34" charset="0"/>
                <a:ea typeface="Segoe UI" pitchFamily="34" charset="-122"/>
                <a:cs typeface="Segoe UI" pitchFamily="34" charset="-120"/>
              </a:rPr>
              <a:t>Read this once before your first engagement. Refer back when you need it.</a:t>
            </a:r>
            <a:endParaRPr lang="en-US" sz="1600" dirty="0"/>
          </a:p>
        </p:txBody>
      </p:sp>
      <p:sp>
        <p:nvSpPr>
          <p:cNvPr id="10" name="Text 7"/>
          <p:cNvSpPr/>
          <p:nvPr/>
        </p:nvSpPr>
        <p:spPr>
          <a:xfrm>
            <a:off x="822960" y="5486400"/>
            <a:ext cx="7315200" cy="27432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Yuri Baijnath  ·  SR CSA Manager  ·  MCAPS RSA CSU</a:t>
            </a:r>
            <a:endParaRPr lang="en-US" sz="1200" dirty="0"/>
          </a:p>
        </p:txBody>
      </p:sp>
      <p:sp>
        <p:nvSpPr>
          <p:cNvPr id="11" name="Text 8"/>
          <p:cNvSpPr/>
          <p:nvPr/>
        </p:nvSpPr>
        <p:spPr>
          <a:xfrm>
            <a:off x="822960" y="5760720"/>
            <a:ext cx="7315200" cy="274320"/>
          </a:xfrm>
          <a:prstGeom prst="rect">
            <a:avLst/>
          </a:prstGeom>
          <a:noFill/>
          <a:ln/>
        </p:spPr>
        <p:txBody>
          <a:bodyPr wrap="square" rtlCol="0" anchor="ctr"/>
          <a:lstStyle/>
          <a:p>
            <a:pPr marL="0" indent="0">
              <a:buNone/>
            </a:pPr>
            <a:r>
              <a:rPr lang="en-US" sz="1100" dirty="0">
                <a:solidFill>
                  <a:srgbClr val="F5E6F0"/>
                </a:solidFill>
                <a:latin typeface="Segoe UI" pitchFamily="34" charset="0"/>
                <a:ea typeface="Segoe UI" pitchFamily="34" charset="-122"/>
                <a:cs typeface="Segoe UI" pitchFamily="34" charset="-120"/>
              </a:rPr>
              <a:t>Microsoft South Africa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ORIENTATION</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000" b="1" dirty="0">
                <a:solidFill>
                  <a:srgbClr val="091F2C"/>
                </a:solidFill>
                <a:latin typeface="Segoe UI" pitchFamily="34" charset="0"/>
                <a:ea typeface="Segoe UI" pitchFamily="34" charset="-122"/>
                <a:cs typeface="Segoe UI" pitchFamily="34" charset="-120"/>
              </a:rPr>
              <a:t>How to read this deck</a:t>
            </a:r>
            <a:endParaRPr lang="en-US" sz="3000" dirty="0"/>
          </a:p>
        </p:txBody>
      </p:sp>
      <p:sp>
        <p:nvSpPr>
          <p:cNvPr id="5" name="Shape 3"/>
          <p:cNvSpPr/>
          <p:nvPr/>
        </p:nvSpPr>
        <p:spPr>
          <a:xfrm>
            <a:off x="548640" y="1828800"/>
            <a:ext cx="5486400" cy="4297680"/>
          </a:xfrm>
          <a:prstGeom prst="roundRect">
            <a:avLst>
              <a:gd name="adj" fmla="val 2553"/>
            </a:avLst>
          </a:prstGeom>
          <a:solidFill>
            <a:srgbClr val="FFF8F5"/>
          </a:solidFill>
          <a:ln w="12700">
            <a:solidFill>
              <a:srgbClr val="E1E6EF"/>
            </a:solidFill>
            <a:prstDash val="solid"/>
          </a:ln>
        </p:spPr>
        <p:txBody>
          <a:bodyPr/>
          <a:lstStyle/>
          <a:p>
            <a:endParaRPr lang="en-ZA"/>
          </a:p>
        </p:txBody>
      </p:sp>
      <p:sp>
        <p:nvSpPr>
          <p:cNvPr id="6" name="Text 4"/>
          <p:cNvSpPr/>
          <p:nvPr/>
        </p:nvSpPr>
        <p:spPr>
          <a:xfrm>
            <a:off x="777240" y="2011680"/>
            <a:ext cx="5029200" cy="274320"/>
          </a:xfrm>
          <a:prstGeom prst="rect">
            <a:avLst/>
          </a:prstGeom>
          <a:noFill/>
          <a:ln/>
        </p:spPr>
        <p:txBody>
          <a:bodyPr wrap="square" rtlCol="0" anchor="ctr"/>
          <a:lstStyle/>
          <a:p>
            <a:pPr marL="0" indent="0">
              <a:buNone/>
            </a:pPr>
            <a:r>
              <a:rPr lang="en-US" sz="1100" b="1" kern="0" spc="300" dirty="0">
                <a:solidFill>
                  <a:srgbClr val="0078D4"/>
                </a:solidFill>
                <a:latin typeface="Segoe UI" pitchFamily="34" charset="0"/>
                <a:ea typeface="Segoe UI" pitchFamily="34" charset="-122"/>
                <a:cs typeface="Segoe UI" pitchFamily="34" charset="-120"/>
              </a:rPr>
              <a:t>WHO IT'S FOR</a:t>
            </a:r>
            <a:endParaRPr lang="en-US" sz="1100" dirty="0"/>
          </a:p>
        </p:txBody>
      </p:sp>
      <p:sp>
        <p:nvSpPr>
          <p:cNvPr id="7" name="Shape 5"/>
          <p:cNvSpPr/>
          <p:nvPr/>
        </p:nvSpPr>
        <p:spPr>
          <a:xfrm>
            <a:off x="868680" y="2514600"/>
            <a:ext cx="164592" cy="164592"/>
          </a:xfrm>
          <a:prstGeom prst="ellipse">
            <a:avLst/>
          </a:prstGeom>
          <a:solidFill>
            <a:srgbClr val="0078D4"/>
          </a:solidFill>
          <a:ln w="12700">
            <a:solidFill>
              <a:srgbClr val="0078D4"/>
            </a:solidFill>
            <a:prstDash val="solid"/>
          </a:ln>
        </p:spPr>
        <p:txBody>
          <a:bodyPr/>
          <a:lstStyle/>
          <a:p>
            <a:endParaRPr lang="en-ZA"/>
          </a:p>
        </p:txBody>
      </p:sp>
      <p:sp>
        <p:nvSpPr>
          <p:cNvPr id="8" name="Text 6"/>
          <p:cNvSpPr/>
          <p:nvPr/>
        </p:nvSpPr>
        <p:spPr>
          <a:xfrm>
            <a:off x="1143000" y="2423160"/>
            <a:ext cx="1828800" cy="32004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CSAs (CSU)</a:t>
            </a:r>
            <a:endParaRPr lang="en-US" sz="1300" dirty="0"/>
          </a:p>
        </p:txBody>
      </p:sp>
      <p:sp>
        <p:nvSpPr>
          <p:cNvPr id="9" name="Text 7"/>
          <p:cNvSpPr/>
          <p:nvPr/>
        </p:nvSpPr>
        <p:spPr>
          <a:xfrm>
            <a:off x="3017520" y="2423160"/>
            <a:ext cx="2926080" cy="3200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Your delivery manual — Stage 3 to Stage 5</a:t>
            </a:r>
            <a:endParaRPr lang="en-US" sz="1100" dirty="0"/>
          </a:p>
        </p:txBody>
      </p:sp>
      <p:sp>
        <p:nvSpPr>
          <p:cNvPr id="10" name="Shape 8"/>
          <p:cNvSpPr/>
          <p:nvPr/>
        </p:nvSpPr>
        <p:spPr>
          <a:xfrm>
            <a:off x="868680" y="3081528"/>
            <a:ext cx="164592" cy="164592"/>
          </a:xfrm>
          <a:prstGeom prst="ellipse">
            <a:avLst/>
          </a:prstGeom>
          <a:solidFill>
            <a:srgbClr val="0078D4"/>
          </a:solidFill>
          <a:ln w="12700">
            <a:solidFill>
              <a:srgbClr val="0078D4"/>
            </a:solidFill>
            <a:prstDash val="solid"/>
          </a:ln>
        </p:spPr>
        <p:txBody>
          <a:bodyPr/>
          <a:lstStyle/>
          <a:p>
            <a:endParaRPr lang="en-ZA"/>
          </a:p>
        </p:txBody>
      </p:sp>
      <p:sp>
        <p:nvSpPr>
          <p:cNvPr id="11" name="Text 9"/>
          <p:cNvSpPr/>
          <p:nvPr/>
        </p:nvSpPr>
        <p:spPr>
          <a:xfrm>
            <a:off x="1143000" y="2990088"/>
            <a:ext cx="1828800" cy="32004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ATU AE / ATS</a:t>
            </a:r>
            <a:endParaRPr lang="en-US" sz="1300" dirty="0"/>
          </a:p>
        </p:txBody>
      </p:sp>
      <p:sp>
        <p:nvSpPr>
          <p:cNvPr id="12" name="Text 10"/>
          <p:cNvSpPr/>
          <p:nvPr/>
        </p:nvSpPr>
        <p:spPr>
          <a:xfrm>
            <a:off x="3017520" y="2990088"/>
            <a:ext cx="2926080" cy="3200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Qualify, fund, and renew CoE accounts</a:t>
            </a:r>
            <a:endParaRPr lang="en-US" sz="1100" dirty="0"/>
          </a:p>
        </p:txBody>
      </p:sp>
      <p:sp>
        <p:nvSpPr>
          <p:cNvPr id="13" name="Shape 11"/>
          <p:cNvSpPr/>
          <p:nvPr/>
        </p:nvSpPr>
        <p:spPr>
          <a:xfrm>
            <a:off x="868680" y="3648456"/>
            <a:ext cx="164592" cy="164592"/>
          </a:xfrm>
          <a:prstGeom prst="ellipse">
            <a:avLst/>
          </a:prstGeom>
          <a:solidFill>
            <a:srgbClr val="0078D4"/>
          </a:solidFill>
          <a:ln w="12700">
            <a:solidFill>
              <a:srgbClr val="0078D4"/>
            </a:solidFill>
            <a:prstDash val="solid"/>
          </a:ln>
        </p:spPr>
        <p:txBody>
          <a:bodyPr/>
          <a:lstStyle/>
          <a:p>
            <a:endParaRPr lang="en-ZA"/>
          </a:p>
        </p:txBody>
      </p:sp>
      <p:sp>
        <p:nvSpPr>
          <p:cNvPr id="14" name="Text 12"/>
          <p:cNvSpPr/>
          <p:nvPr/>
        </p:nvSpPr>
        <p:spPr>
          <a:xfrm>
            <a:off x="1143000" y="3557016"/>
            <a:ext cx="1828800" cy="32004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STU Specialists</a:t>
            </a:r>
            <a:endParaRPr lang="en-US" sz="1300" dirty="0"/>
          </a:p>
        </p:txBody>
      </p:sp>
      <p:sp>
        <p:nvSpPr>
          <p:cNvPr id="15" name="Text 13"/>
          <p:cNvSpPr/>
          <p:nvPr/>
        </p:nvSpPr>
        <p:spPr>
          <a:xfrm>
            <a:off x="3017520" y="3557016"/>
            <a:ext cx="2926080" cy="3200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Co-design the blueprint at envisioning</a:t>
            </a:r>
            <a:endParaRPr lang="en-US" sz="1100" dirty="0"/>
          </a:p>
        </p:txBody>
      </p:sp>
      <p:sp>
        <p:nvSpPr>
          <p:cNvPr id="16" name="Shape 14"/>
          <p:cNvSpPr/>
          <p:nvPr/>
        </p:nvSpPr>
        <p:spPr>
          <a:xfrm>
            <a:off x="868680" y="4215384"/>
            <a:ext cx="164592" cy="164592"/>
          </a:xfrm>
          <a:prstGeom prst="ellipse">
            <a:avLst/>
          </a:prstGeom>
          <a:solidFill>
            <a:srgbClr val="0078D4"/>
          </a:solidFill>
          <a:ln w="12700">
            <a:solidFill>
              <a:srgbClr val="0078D4"/>
            </a:solidFill>
            <a:prstDash val="solid"/>
          </a:ln>
        </p:spPr>
        <p:txBody>
          <a:bodyPr/>
          <a:lstStyle/>
          <a:p>
            <a:endParaRPr lang="en-ZA"/>
          </a:p>
        </p:txBody>
      </p:sp>
      <p:sp>
        <p:nvSpPr>
          <p:cNvPr id="17" name="Text 15"/>
          <p:cNvSpPr/>
          <p:nvPr/>
        </p:nvSpPr>
        <p:spPr>
          <a:xfrm>
            <a:off x="1143000" y="4123944"/>
            <a:ext cx="1828800" cy="32004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EPS PDMs</a:t>
            </a:r>
            <a:endParaRPr lang="en-US" sz="1300" dirty="0"/>
          </a:p>
        </p:txBody>
      </p:sp>
      <p:sp>
        <p:nvSpPr>
          <p:cNvPr id="18" name="Text 16"/>
          <p:cNvSpPr/>
          <p:nvPr/>
        </p:nvSpPr>
        <p:spPr>
          <a:xfrm>
            <a:off x="3017520" y="4123944"/>
            <a:ext cx="2926080" cy="3200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Onboard and manage Anchor Partners</a:t>
            </a:r>
            <a:endParaRPr lang="en-US" sz="1100" dirty="0"/>
          </a:p>
        </p:txBody>
      </p:sp>
      <p:sp>
        <p:nvSpPr>
          <p:cNvPr id="19" name="Shape 17"/>
          <p:cNvSpPr/>
          <p:nvPr/>
        </p:nvSpPr>
        <p:spPr>
          <a:xfrm>
            <a:off x="868680" y="4782312"/>
            <a:ext cx="164592" cy="164592"/>
          </a:xfrm>
          <a:prstGeom prst="ellipse">
            <a:avLst/>
          </a:prstGeom>
          <a:solidFill>
            <a:srgbClr val="0078D4"/>
          </a:solidFill>
          <a:ln w="12700">
            <a:solidFill>
              <a:srgbClr val="0078D4"/>
            </a:solidFill>
            <a:prstDash val="solid"/>
          </a:ln>
        </p:spPr>
        <p:txBody>
          <a:bodyPr/>
          <a:lstStyle/>
          <a:p>
            <a:endParaRPr lang="en-ZA"/>
          </a:p>
        </p:txBody>
      </p:sp>
      <p:sp>
        <p:nvSpPr>
          <p:cNvPr id="20" name="Text 18"/>
          <p:cNvSpPr/>
          <p:nvPr/>
        </p:nvSpPr>
        <p:spPr>
          <a:xfrm>
            <a:off x="1143000" y="4690872"/>
            <a:ext cx="1828800" cy="32004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Anchor Partners</a:t>
            </a:r>
            <a:endParaRPr lang="en-US" sz="1300" dirty="0"/>
          </a:p>
        </p:txBody>
      </p:sp>
      <p:sp>
        <p:nvSpPr>
          <p:cNvPr id="21" name="Text 19"/>
          <p:cNvSpPr/>
          <p:nvPr/>
        </p:nvSpPr>
        <p:spPr>
          <a:xfrm>
            <a:off x="3017520" y="4690872"/>
            <a:ext cx="2926080" cy="3200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Deliver Tier 2 / Tier 3 inside the operating model</a:t>
            </a:r>
            <a:endParaRPr lang="en-US" sz="1100" dirty="0"/>
          </a:p>
        </p:txBody>
      </p:sp>
      <p:sp>
        <p:nvSpPr>
          <p:cNvPr id="22" name="Shape 20"/>
          <p:cNvSpPr/>
          <p:nvPr/>
        </p:nvSpPr>
        <p:spPr>
          <a:xfrm>
            <a:off x="868680" y="5349240"/>
            <a:ext cx="164592" cy="164592"/>
          </a:xfrm>
          <a:prstGeom prst="ellipse">
            <a:avLst/>
          </a:prstGeom>
          <a:solidFill>
            <a:srgbClr val="0078D4"/>
          </a:solidFill>
          <a:ln w="12700">
            <a:solidFill>
              <a:srgbClr val="0078D4"/>
            </a:solidFill>
            <a:prstDash val="solid"/>
          </a:ln>
        </p:spPr>
        <p:txBody>
          <a:bodyPr/>
          <a:lstStyle/>
          <a:p>
            <a:endParaRPr lang="en-ZA"/>
          </a:p>
        </p:txBody>
      </p:sp>
      <p:sp>
        <p:nvSpPr>
          <p:cNvPr id="23" name="Text 21"/>
          <p:cNvSpPr/>
          <p:nvPr/>
        </p:nvSpPr>
        <p:spPr>
          <a:xfrm>
            <a:off x="1143000" y="5257800"/>
            <a:ext cx="1828800" cy="32004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ISD Architects</a:t>
            </a:r>
            <a:endParaRPr lang="en-US" sz="1300" dirty="0"/>
          </a:p>
        </p:txBody>
      </p:sp>
      <p:sp>
        <p:nvSpPr>
          <p:cNvPr id="24" name="Text 22"/>
          <p:cNvSpPr/>
          <p:nvPr/>
        </p:nvSpPr>
        <p:spPr>
          <a:xfrm>
            <a:off x="3017520" y="5257800"/>
            <a:ext cx="2926080" cy="3200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When Model A / B / C applies</a:t>
            </a:r>
            <a:endParaRPr lang="en-US" sz="1100" dirty="0"/>
          </a:p>
        </p:txBody>
      </p:sp>
      <p:sp>
        <p:nvSpPr>
          <p:cNvPr id="25" name="Shape 23"/>
          <p:cNvSpPr/>
          <p:nvPr/>
        </p:nvSpPr>
        <p:spPr>
          <a:xfrm>
            <a:off x="6172200" y="1828800"/>
            <a:ext cx="5486400" cy="4297680"/>
          </a:xfrm>
          <a:prstGeom prst="roundRect">
            <a:avLst>
              <a:gd name="adj" fmla="val 2553"/>
            </a:avLst>
          </a:prstGeom>
          <a:solidFill>
            <a:srgbClr val="091F2C"/>
          </a:solidFill>
          <a:ln w="12700">
            <a:solidFill>
              <a:srgbClr val="091F2C"/>
            </a:solidFill>
            <a:prstDash val="solid"/>
          </a:ln>
        </p:spPr>
        <p:txBody>
          <a:bodyPr/>
          <a:lstStyle/>
          <a:p>
            <a:endParaRPr lang="en-ZA"/>
          </a:p>
        </p:txBody>
      </p:sp>
      <p:sp>
        <p:nvSpPr>
          <p:cNvPr id="26" name="Text 24"/>
          <p:cNvSpPr/>
          <p:nvPr/>
        </p:nvSpPr>
        <p:spPr>
          <a:xfrm>
            <a:off x="6400800" y="2011680"/>
            <a:ext cx="5029200" cy="274320"/>
          </a:xfrm>
          <a:prstGeom prst="rect">
            <a:avLst/>
          </a:prstGeom>
          <a:noFill/>
          <a:ln/>
        </p:spPr>
        <p:txBody>
          <a:bodyPr wrap="square" rtlCol="0" anchor="ctr"/>
          <a:lstStyle/>
          <a:p>
            <a:pPr marL="0" indent="0">
              <a:buNone/>
            </a:pPr>
            <a:r>
              <a:rPr lang="en-US" sz="1100" b="1" kern="0" spc="300" dirty="0">
                <a:solidFill>
                  <a:srgbClr val="C03BC4"/>
                </a:solidFill>
                <a:latin typeface="Segoe UI" pitchFamily="34" charset="0"/>
                <a:ea typeface="Segoe UI" pitchFamily="34" charset="-122"/>
                <a:cs typeface="Segoe UI" pitchFamily="34" charset="-120"/>
              </a:rPr>
              <a:t>HOW TO USE IT</a:t>
            </a:r>
            <a:endParaRPr lang="en-US" sz="1100" dirty="0"/>
          </a:p>
        </p:txBody>
      </p:sp>
      <p:sp>
        <p:nvSpPr>
          <p:cNvPr id="27" name="Shape 25"/>
          <p:cNvSpPr/>
          <p:nvPr/>
        </p:nvSpPr>
        <p:spPr>
          <a:xfrm>
            <a:off x="6492240" y="2560320"/>
            <a:ext cx="54864" cy="274320"/>
          </a:xfrm>
          <a:prstGeom prst="rect">
            <a:avLst/>
          </a:prstGeom>
          <a:solidFill>
            <a:srgbClr val="C03BC4"/>
          </a:solidFill>
          <a:ln w="12700">
            <a:solidFill>
              <a:srgbClr val="C03BC4"/>
            </a:solidFill>
            <a:prstDash val="solid"/>
          </a:ln>
        </p:spPr>
        <p:txBody>
          <a:bodyPr/>
          <a:lstStyle/>
          <a:p>
            <a:endParaRPr lang="en-ZA"/>
          </a:p>
        </p:txBody>
      </p:sp>
      <p:sp>
        <p:nvSpPr>
          <p:cNvPr id="28" name="Text 26"/>
          <p:cNvSpPr/>
          <p:nvPr/>
        </p:nvSpPr>
        <p:spPr>
          <a:xfrm>
            <a:off x="6720840" y="2468880"/>
            <a:ext cx="4800600" cy="502920"/>
          </a:xfrm>
          <a:prstGeom prst="rect">
            <a:avLst/>
          </a:prstGeom>
          <a:noFill/>
          <a:ln/>
        </p:spPr>
        <p:txBody>
          <a:bodyPr wrap="square" rtlCol="0" anchor="t"/>
          <a:lstStyle/>
          <a:p>
            <a:pPr marL="0" indent="0">
              <a:buNone/>
            </a:pPr>
            <a:r>
              <a:rPr lang="en-US" sz="1300" dirty="0">
                <a:solidFill>
                  <a:srgbClr val="FFFFFF"/>
                </a:solidFill>
                <a:latin typeface="Segoe UI" pitchFamily="34" charset="0"/>
                <a:ea typeface="Segoe UI" pitchFamily="34" charset="-122"/>
                <a:cs typeface="Segoe UI" pitchFamily="34" charset="-120"/>
              </a:rPr>
              <a:t>Slides are sequenced like a delivery — Step 1 to Step 8</a:t>
            </a:r>
            <a:endParaRPr lang="en-US" sz="1300" dirty="0"/>
          </a:p>
        </p:txBody>
      </p:sp>
      <p:sp>
        <p:nvSpPr>
          <p:cNvPr id="29" name="Shape 27"/>
          <p:cNvSpPr/>
          <p:nvPr/>
        </p:nvSpPr>
        <p:spPr>
          <a:xfrm>
            <a:off x="6492240" y="3200400"/>
            <a:ext cx="54864" cy="274320"/>
          </a:xfrm>
          <a:prstGeom prst="rect">
            <a:avLst/>
          </a:prstGeom>
          <a:solidFill>
            <a:srgbClr val="C03BC4"/>
          </a:solidFill>
          <a:ln w="12700">
            <a:solidFill>
              <a:srgbClr val="C03BC4"/>
            </a:solidFill>
            <a:prstDash val="solid"/>
          </a:ln>
        </p:spPr>
        <p:txBody>
          <a:bodyPr/>
          <a:lstStyle/>
          <a:p>
            <a:endParaRPr lang="en-ZA"/>
          </a:p>
        </p:txBody>
      </p:sp>
      <p:sp>
        <p:nvSpPr>
          <p:cNvPr id="30" name="Text 28"/>
          <p:cNvSpPr/>
          <p:nvPr/>
        </p:nvSpPr>
        <p:spPr>
          <a:xfrm>
            <a:off x="6720840" y="3108960"/>
            <a:ext cx="4800600" cy="502920"/>
          </a:xfrm>
          <a:prstGeom prst="rect">
            <a:avLst/>
          </a:prstGeom>
          <a:noFill/>
          <a:ln/>
        </p:spPr>
        <p:txBody>
          <a:bodyPr wrap="square" rtlCol="0" anchor="t"/>
          <a:lstStyle/>
          <a:p>
            <a:pPr marL="0" indent="0">
              <a:buNone/>
            </a:pPr>
            <a:r>
              <a:rPr lang="en-US" sz="1300" dirty="0">
                <a:solidFill>
                  <a:srgbClr val="FFFFFF"/>
                </a:solidFill>
                <a:latin typeface="Segoe UI" pitchFamily="34" charset="0"/>
                <a:ea typeface="Segoe UI" pitchFamily="34" charset="-122"/>
                <a:cs typeface="Segoe UI" pitchFamily="34" charset="-120"/>
              </a:rPr>
              <a:t>Drop in at the right step if the customer is mid-flight</a:t>
            </a:r>
            <a:endParaRPr lang="en-US" sz="1300" dirty="0"/>
          </a:p>
        </p:txBody>
      </p:sp>
      <p:sp>
        <p:nvSpPr>
          <p:cNvPr id="31" name="Shape 29"/>
          <p:cNvSpPr/>
          <p:nvPr/>
        </p:nvSpPr>
        <p:spPr>
          <a:xfrm>
            <a:off x="6492240" y="3840480"/>
            <a:ext cx="54864" cy="274320"/>
          </a:xfrm>
          <a:prstGeom prst="rect">
            <a:avLst/>
          </a:prstGeom>
          <a:solidFill>
            <a:srgbClr val="C03BC4"/>
          </a:solidFill>
          <a:ln w="12700">
            <a:solidFill>
              <a:srgbClr val="C03BC4"/>
            </a:solidFill>
            <a:prstDash val="solid"/>
          </a:ln>
        </p:spPr>
        <p:txBody>
          <a:bodyPr/>
          <a:lstStyle/>
          <a:p>
            <a:endParaRPr lang="en-ZA"/>
          </a:p>
        </p:txBody>
      </p:sp>
      <p:sp>
        <p:nvSpPr>
          <p:cNvPr id="32" name="Text 30"/>
          <p:cNvSpPr/>
          <p:nvPr/>
        </p:nvSpPr>
        <p:spPr>
          <a:xfrm>
            <a:off x="6720840" y="3749040"/>
            <a:ext cx="4800600" cy="502920"/>
          </a:xfrm>
          <a:prstGeom prst="rect">
            <a:avLst/>
          </a:prstGeom>
          <a:noFill/>
          <a:ln/>
        </p:spPr>
        <p:txBody>
          <a:bodyPr wrap="square" rtlCol="0" anchor="t"/>
          <a:lstStyle/>
          <a:p>
            <a:pPr marL="0" indent="0">
              <a:buNone/>
            </a:pPr>
            <a:r>
              <a:rPr lang="en-US" sz="1300" dirty="0">
                <a:solidFill>
                  <a:srgbClr val="FFFFFF"/>
                </a:solidFill>
                <a:latin typeface="Segoe UI" pitchFamily="34" charset="0"/>
                <a:ea typeface="Segoe UI" pitchFamily="34" charset="-122"/>
                <a:cs typeface="Segoe UI" pitchFamily="34" charset="-120"/>
              </a:rPr>
              <a:t>Pair every step with the playbook section (cited bottom-right)</a:t>
            </a:r>
            <a:endParaRPr lang="en-US" sz="1300" dirty="0"/>
          </a:p>
        </p:txBody>
      </p:sp>
      <p:sp>
        <p:nvSpPr>
          <p:cNvPr id="33" name="Shape 31"/>
          <p:cNvSpPr/>
          <p:nvPr/>
        </p:nvSpPr>
        <p:spPr>
          <a:xfrm>
            <a:off x="6492240" y="4480560"/>
            <a:ext cx="54864" cy="274320"/>
          </a:xfrm>
          <a:prstGeom prst="rect">
            <a:avLst/>
          </a:prstGeom>
          <a:solidFill>
            <a:srgbClr val="C03BC4"/>
          </a:solidFill>
          <a:ln w="12700">
            <a:solidFill>
              <a:srgbClr val="C03BC4"/>
            </a:solidFill>
            <a:prstDash val="solid"/>
          </a:ln>
        </p:spPr>
        <p:txBody>
          <a:bodyPr/>
          <a:lstStyle/>
          <a:p>
            <a:endParaRPr lang="en-ZA"/>
          </a:p>
        </p:txBody>
      </p:sp>
      <p:sp>
        <p:nvSpPr>
          <p:cNvPr id="34" name="Text 32"/>
          <p:cNvSpPr/>
          <p:nvPr/>
        </p:nvSpPr>
        <p:spPr>
          <a:xfrm>
            <a:off x="6720840" y="4389120"/>
            <a:ext cx="4800600" cy="502920"/>
          </a:xfrm>
          <a:prstGeom prst="rect">
            <a:avLst/>
          </a:prstGeom>
          <a:noFill/>
          <a:ln/>
        </p:spPr>
        <p:txBody>
          <a:bodyPr wrap="square" rtlCol="0" anchor="t"/>
          <a:lstStyle/>
          <a:p>
            <a:pPr marL="0" indent="0">
              <a:buNone/>
            </a:pPr>
            <a:r>
              <a:rPr lang="en-US" sz="1300" dirty="0">
                <a:solidFill>
                  <a:srgbClr val="FFFFFF"/>
                </a:solidFill>
                <a:latin typeface="Segoe UI" pitchFamily="34" charset="0"/>
                <a:ea typeface="Segoe UI" pitchFamily="34" charset="-122"/>
                <a:cs typeface="Segoe UI" pitchFamily="34" charset="-120"/>
              </a:rPr>
              <a:t>Save the decision tree (Slide 16) and the 30-day plan (Slide 17)</a:t>
            </a:r>
            <a:endParaRPr lang="en-US" sz="1300" dirty="0"/>
          </a:p>
        </p:txBody>
      </p:sp>
      <p:sp>
        <p:nvSpPr>
          <p:cNvPr id="35" name="Shape 33"/>
          <p:cNvSpPr/>
          <p:nvPr/>
        </p:nvSpPr>
        <p:spPr>
          <a:xfrm>
            <a:off x="6492240" y="5120640"/>
            <a:ext cx="54864" cy="274320"/>
          </a:xfrm>
          <a:prstGeom prst="rect">
            <a:avLst/>
          </a:prstGeom>
          <a:solidFill>
            <a:srgbClr val="C03BC4"/>
          </a:solidFill>
          <a:ln w="12700">
            <a:solidFill>
              <a:srgbClr val="C03BC4"/>
            </a:solidFill>
            <a:prstDash val="solid"/>
          </a:ln>
        </p:spPr>
        <p:txBody>
          <a:bodyPr/>
          <a:lstStyle/>
          <a:p>
            <a:endParaRPr lang="en-ZA"/>
          </a:p>
        </p:txBody>
      </p:sp>
      <p:sp>
        <p:nvSpPr>
          <p:cNvPr id="36" name="Text 34"/>
          <p:cNvSpPr/>
          <p:nvPr/>
        </p:nvSpPr>
        <p:spPr>
          <a:xfrm>
            <a:off x="6720840" y="5029200"/>
            <a:ext cx="4800600" cy="502920"/>
          </a:xfrm>
          <a:prstGeom prst="rect">
            <a:avLst/>
          </a:prstGeom>
          <a:noFill/>
          <a:ln/>
        </p:spPr>
        <p:txBody>
          <a:bodyPr wrap="square" rtlCol="0" anchor="t"/>
          <a:lstStyle/>
          <a:p>
            <a:pPr marL="0" indent="0">
              <a:buNone/>
            </a:pPr>
            <a:r>
              <a:rPr lang="en-US" sz="1300" dirty="0">
                <a:solidFill>
                  <a:srgbClr val="FFFFFF"/>
                </a:solidFill>
                <a:latin typeface="Segoe UI" pitchFamily="34" charset="0"/>
                <a:ea typeface="Segoe UI" pitchFamily="34" charset="-122"/>
                <a:cs typeface="Segoe UI" pitchFamily="34" charset="-120"/>
              </a:rPr>
              <a:t>When in doubt, escalate to the Area CSU Lead — never freelance</a:t>
            </a:r>
            <a:endParaRPr lang="en-US" sz="1300" dirty="0"/>
          </a:p>
        </p:txBody>
      </p:sp>
      <p:pic>
        <p:nvPicPr>
          <p:cNvPr id="37"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8" name="Text 35"/>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39" name="Text 36"/>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60-SECOND RECAP</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000" b="1" dirty="0">
                <a:solidFill>
                  <a:srgbClr val="091F2C"/>
                </a:solidFill>
                <a:latin typeface="Segoe UI" pitchFamily="34" charset="0"/>
                <a:ea typeface="Segoe UI" pitchFamily="34" charset="-122"/>
                <a:cs typeface="Segoe UI" pitchFamily="34" charset="-120"/>
              </a:rPr>
              <a:t>The offering at a glance</a:t>
            </a:r>
            <a:endParaRPr lang="en-US" sz="3000" dirty="0"/>
          </a:p>
        </p:txBody>
      </p:sp>
      <p:sp>
        <p:nvSpPr>
          <p:cNvPr id="5" name="Shape 3"/>
          <p:cNvSpPr/>
          <p:nvPr/>
        </p:nvSpPr>
        <p:spPr>
          <a:xfrm>
            <a:off x="548640" y="1828800"/>
            <a:ext cx="5440680" cy="1965960"/>
          </a:xfrm>
          <a:prstGeom prst="roundRect">
            <a:avLst>
              <a:gd name="adj" fmla="val 4651"/>
            </a:avLst>
          </a:prstGeom>
          <a:solidFill>
            <a:srgbClr val="FFFFFF"/>
          </a:solidFill>
          <a:ln w="12700">
            <a:solidFill>
              <a:srgbClr val="E1E6EF"/>
            </a:solidFill>
            <a:prstDash val="solid"/>
          </a:ln>
        </p:spPr>
        <p:txBody>
          <a:bodyPr/>
          <a:lstStyle/>
          <a:p>
            <a:endParaRPr lang="en-ZA"/>
          </a:p>
        </p:txBody>
      </p:sp>
      <p:sp>
        <p:nvSpPr>
          <p:cNvPr id="6" name="Shape 4"/>
          <p:cNvSpPr/>
          <p:nvPr/>
        </p:nvSpPr>
        <p:spPr>
          <a:xfrm>
            <a:off x="548640" y="1828800"/>
            <a:ext cx="137160" cy="1965960"/>
          </a:xfrm>
          <a:prstGeom prst="rect">
            <a:avLst/>
          </a:prstGeom>
          <a:solidFill>
            <a:srgbClr val="0078D4"/>
          </a:solidFill>
          <a:ln w="12700">
            <a:solidFill>
              <a:srgbClr val="0078D4"/>
            </a:solidFill>
            <a:prstDash val="solid"/>
          </a:ln>
        </p:spPr>
        <p:txBody>
          <a:bodyPr/>
          <a:lstStyle/>
          <a:p>
            <a:endParaRPr lang="en-ZA"/>
          </a:p>
        </p:txBody>
      </p:sp>
      <p:sp>
        <p:nvSpPr>
          <p:cNvPr id="7" name="Text 5"/>
          <p:cNvSpPr/>
          <p:nvPr/>
        </p:nvSpPr>
        <p:spPr>
          <a:xfrm>
            <a:off x="914400" y="2103120"/>
            <a:ext cx="4892040" cy="457200"/>
          </a:xfrm>
          <a:prstGeom prst="rect">
            <a:avLst/>
          </a:prstGeom>
          <a:noFill/>
          <a:ln/>
        </p:spPr>
        <p:txBody>
          <a:bodyPr wrap="square" rtlCol="0" anchor="ctr"/>
          <a:lstStyle/>
          <a:p>
            <a:pPr marL="0" indent="0">
              <a:buNone/>
            </a:pPr>
            <a:r>
              <a:rPr lang="en-US" sz="2000" b="1" dirty="0">
                <a:solidFill>
                  <a:srgbClr val="091F2C"/>
                </a:solidFill>
                <a:latin typeface="Segoe UI" pitchFamily="34" charset="0"/>
                <a:ea typeface="Segoe UI" pitchFamily="34" charset="-122"/>
                <a:cs typeface="Segoe UI" pitchFamily="34" charset="-120"/>
              </a:rPr>
              <a:t>5+1 Pillars</a:t>
            </a:r>
            <a:endParaRPr lang="en-US" sz="2000" dirty="0"/>
          </a:p>
        </p:txBody>
      </p:sp>
      <p:sp>
        <p:nvSpPr>
          <p:cNvPr id="8" name="Text 6"/>
          <p:cNvSpPr/>
          <p:nvPr/>
        </p:nvSpPr>
        <p:spPr>
          <a:xfrm>
            <a:off x="914400" y="2697480"/>
            <a:ext cx="4892040" cy="1051560"/>
          </a:xfrm>
          <a:prstGeom prst="rect">
            <a:avLst/>
          </a:prstGeom>
          <a:noFill/>
          <a:ln/>
        </p:spPr>
        <p:txBody>
          <a:bodyPr wrap="square" rtlCol="0" anchor="ctr"/>
          <a:lstStyle/>
          <a:p>
            <a:pPr marL="0" indent="0">
              <a:buNone/>
            </a:pPr>
            <a:r>
              <a:rPr lang="en-US" sz="1400" dirty="0">
                <a:solidFill>
                  <a:srgbClr val="4B5563"/>
                </a:solidFill>
                <a:latin typeface="Segoe UI" pitchFamily="34" charset="0"/>
                <a:ea typeface="Segoe UI" pitchFamily="34" charset="-122"/>
                <a:cs typeface="Segoe UI" pitchFamily="34" charset="-120"/>
              </a:rPr>
              <a:t>Business · Org · Strategy · Tech &amp; Data · Governance · Co-sell</a:t>
            </a:r>
            <a:endParaRPr lang="en-US" sz="1400" dirty="0"/>
          </a:p>
        </p:txBody>
      </p:sp>
      <p:sp>
        <p:nvSpPr>
          <p:cNvPr id="9" name="Shape 7"/>
          <p:cNvSpPr/>
          <p:nvPr/>
        </p:nvSpPr>
        <p:spPr>
          <a:xfrm>
            <a:off x="6217920" y="1828800"/>
            <a:ext cx="5440680" cy="1965960"/>
          </a:xfrm>
          <a:prstGeom prst="roundRect">
            <a:avLst>
              <a:gd name="adj" fmla="val 4651"/>
            </a:avLst>
          </a:prstGeom>
          <a:solidFill>
            <a:srgbClr val="FFFFFF"/>
          </a:solidFill>
          <a:ln w="12700">
            <a:solidFill>
              <a:srgbClr val="E1E6EF"/>
            </a:solidFill>
            <a:prstDash val="solid"/>
          </a:ln>
        </p:spPr>
        <p:txBody>
          <a:bodyPr/>
          <a:lstStyle/>
          <a:p>
            <a:endParaRPr lang="en-ZA"/>
          </a:p>
        </p:txBody>
      </p:sp>
      <p:sp>
        <p:nvSpPr>
          <p:cNvPr id="10" name="Shape 8"/>
          <p:cNvSpPr/>
          <p:nvPr/>
        </p:nvSpPr>
        <p:spPr>
          <a:xfrm>
            <a:off x="6217920" y="1828800"/>
            <a:ext cx="137160" cy="1965960"/>
          </a:xfrm>
          <a:prstGeom prst="rect">
            <a:avLst/>
          </a:prstGeom>
          <a:solidFill>
            <a:srgbClr val="0057B8"/>
          </a:solidFill>
          <a:ln w="12700">
            <a:solidFill>
              <a:srgbClr val="0057B8"/>
            </a:solidFill>
            <a:prstDash val="solid"/>
          </a:ln>
        </p:spPr>
        <p:txBody>
          <a:bodyPr/>
          <a:lstStyle/>
          <a:p>
            <a:endParaRPr lang="en-ZA"/>
          </a:p>
        </p:txBody>
      </p:sp>
      <p:sp>
        <p:nvSpPr>
          <p:cNvPr id="11" name="Text 9"/>
          <p:cNvSpPr/>
          <p:nvPr/>
        </p:nvSpPr>
        <p:spPr>
          <a:xfrm>
            <a:off x="6583680" y="2103120"/>
            <a:ext cx="4892040" cy="457200"/>
          </a:xfrm>
          <a:prstGeom prst="rect">
            <a:avLst/>
          </a:prstGeom>
          <a:noFill/>
          <a:ln/>
        </p:spPr>
        <p:txBody>
          <a:bodyPr wrap="square" rtlCol="0" anchor="ctr"/>
          <a:lstStyle/>
          <a:p>
            <a:pPr marL="0" indent="0">
              <a:buNone/>
            </a:pPr>
            <a:r>
              <a:rPr lang="en-US" sz="2000" b="1" dirty="0">
                <a:solidFill>
                  <a:srgbClr val="091F2C"/>
                </a:solidFill>
                <a:latin typeface="Segoe UI" pitchFamily="34" charset="0"/>
                <a:ea typeface="Segoe UI" pitchFamily="34" charset="-122"/>
                <a:cs typeface="Segoe UI" pitchFamily="34" charset="-120"/>
              </a:rPr>
              <a:t>Three Streams</a:t>
            </a:r>
            <a:endParaRPr lang="en-US" sz="2000" dirty="0"/>
          </a:p>
        </p:txBody>
      </p:sp>
      <p:sp>
        <p:nvSpPr>
          <p:cNvPr id="12" name="Text 10"/>
          <p:cNvSpPr/>
          <p:nvPr/>
        </p:nvSpPr>
        <p:spPr>
          <a:xfrm>
            <a:off x="6583680" y="2697480"/>
            <a:ext cx="4892040" cy="1051560"/>
          </a:xfrm>
          <a:prstGeom prst="rect">
            <a:avLst/>
          </a:prstGeom>
          <a:noFill/>
          <a:ln/>
        </p:spPr>
        <p:txBody>
          <a:bodyPr wrap="square" rtlCol="0" anchor="ctr"/>
          <a:lstStyle/>
          <a:p>
            <a:pPr marL="0" indent="0">
              <a:buNone/>
            </a:pPr>
            <a:r>
              <a:rPr lang="en-US" sz="1400" dirty="0">
                <a:solidFill>
                  <a:srgbClr val="4B5563"/>
                </a:solidFill>
                <a:latin typeface="Segoe UI" pitchFamily="34" charset="0"/>
                <a:ea typeface="Segoe UI" pitchFamily="34" charset="-122"/>
                <a:cs typeface="Segoe UI" pitchFamily="34" charset="-120"/>
              </a:rPr>
              <a:t>MCAPS led · Factory zero-cost foundation · Partners led build &amp; run</a:t>
            </a:r>
            <a:endParaRPr lang="en-US" sz="1400" dirty="0"/>
          </a:p>
        </p:txBody>
      </p:sp>
      <p:sp>
        <p:nvSpPr>
          <p:cNvPr id="13" name="Shape 11"/>
          <p:cNvSpPr/>
          <p:nvPr/>
        </p:nvSpPr>
        <p:spPr>
          <a:xfrm>
            <a:off x="548640" y="4023360"/>
            <a:ext cx="5440680" cy="1965960"/>
          </a:xfrm>
          <a:prstGeom prst="roundRect">
            <a:avLst>
              <a:gd name="adj" fmla="val 4651"/>
            </a:avLst>
          </a:prstGeom>
          <a:solidFill>
            <a:srgbClr val="FFFFFF"/>
          </a:solidFill>
          <a:ln w="12700">
            <a:solidFill>
              <a:srgbClr val="E1E6EF"/>
            </a:solidFill>
            <a:prstDash val="solid"/>
          </a:ln>
        </p:spPr>
        <p:txBody>
          <a:bodyPr/>
          <a:lstStyle/>
          <a:p>
            <a:endParaRPr lang="en-ZA"/>
          </a:p>
        </p:txBody>
      </p:sp>
      <p:sp>
        <p:nvSpPr>
          <p:cNvPr id="14" name="Shape 12"/>
          <p:cNvSpPr/>
          <p:nvPr/>
        </p:nvSpPr>
        <p:spPr>
          <a:xfrm>
            <a:off x="548640" y="4023360"/>
            <a:ext cx="137160" cy="1965960"/>
          </a:xfrm>
          <a:prstGeom prst="rect">
            <a:avLst/>
          </a:prstGeom>
          <a:solidFill>
            <a:srgbClr val="225B62"/>
          </a:solidFill>
          <a:ln w="12700">
            <a:solidFill>
              <a:srgbClr val="225B62"/>
            </a:solidFill>
            <a:prstDash val="solid"/>
          </a:ln>
        </p:spPr>
        <p:txBody>
          <a:bodyPr/>
          <a:lstStyle/>
          <a:p>
            <a:endParaRPr lang="en-ZA"/>
          </a:p>
        </p:txBody>
      </p:sp>
      <p:sp>
        <p:nvSpPr>
          <p:cNvPr id="15" name="Text 13"/>
          <p:cNvSpPr/>
          <p:nvPr/>
        </p:nvSpPr>
        <p:spPr>
          <a:xfrm>
            <a:off x="914400" y="4297680"/>
            <a:ext cx="4892040" cy="457200"/>
          </a:xfrm>
          <a:prstGeom prst="rect">
            <a:avLst/>
          </a:prstGeom>
          <a:noFill/>
          <a:ln/>
        </p:spPr>
        <p:txBody>
          <a:bodyPr wrap="square" rtlCol="0" anchor="ctr"/>
          <a:lstStyle/>
          <a:p>
            <a:pPr marL="0" indent="0">
              <a:buNone/>
            </a:pPr>
            <a:r>
              <a:rPr lang="en-US" sz="2000" b="1" dirty="0">
                <a:solidFill>
                  <a:srgbClr val="091F2C"/>
                </a:solidFill>
                <a:latin typeface="Segoe UI" pitchFamily="34" charset="0"/>
                <a:ea typeface="Segoe UI" pitchFamily="34" charset="-122"/>
                <a:cs typeface="Segoe UI" pitchFamily="34" charset="-120"/>
              </a:rPr>
              <a:t>ATO Funding</a:t>
            </a:r>
            <a:endParaRPr lang="en-US" sz="2000" dirty="0"/>
          </a:p>
        </p:txBody>
      </p:sp>
      <p:sp>
        <p:nvSpPr>
          <p:cNvPr id="16" name="Text 14"/>
          <p:cNvSpPr/>
          <p:nvPr/>
        </p:nvSpPr>
        <p:spPr>
          <a:xfrm>
            <a:off x="914400" y="4892040"/>
            <a:ext cx="4892040" cy="1051560"/>
          </a:xfrm>
          <a:prstGeom prst="rect">
            <a:avLst/>
          </a:prstGeom>
          <a:noFill/>
          <a:ln/>
        </p:spPr>
        <p:txBody>
          <a:bodyPr wrap="square" rtlCol="0" anchor="ctr"/>
          <a:lstStyle/>
          <a:p>
            <a:pPr marL="0" indent="0">
              <a:buNone/>
            </a:pPr>
            <a:r>
              <a:rPr lang="en-US" sz="1400" dirty="0">
                <a:solidFill>
                  <a:srgbClr val="4B5563"/>
                </a:solidFill>
                <a:latin typeface="Segoe UI" pitchFamily="34" charset="0"/>
                <a:ea typeface="Segoe UI" pitchFamily="34" charset="-122"/>
                <a:cs typeface="Segoe UI" pitchFamily="34" charset="-120"/>
              </a:rPr>
              <a:t>Up to $50k pre-sales ECIF + up to $1M post-sales envelope</a:t>
            </a:r>
            <a:endParaRPr lang="en-US" sz="1400" dirty="0"/>
          </a:p>
        </p:txBody>
      </p:sp>
      <p:sp>
        <p:nvSpPr>
          <p:cNvPr id="17" name="Shape 15"/>
          <p:cNvSpPr/>
          <p:nvPr/>
        </p:nvSpPr>
        <p:spPr>
          <a:xfrm>
            <a:off x="6217920" y="4023360"/>
            <a:ext cx="5440680" cy="1965960"/>
          </a:xfrm>
          <a:prstGeom prst="roundRect">
            <a:avLst>
              <a:gd name="adj" fmla="val 4651"/>
            </a:avLst>
          </a:prstGeom>
          <a:solidFill>
            <a:srgbClr val="FFFFFF"/>
          </a:solidFill>
          <a:ln w="12700">
            <a:solidFill>
              <a:srgbClr val="E1E6EF"/>
            </a:solidFill>
            <a:prstDash val="solid"/>
          </a:ln>
        </p:spPr>
        <p:txBody>
          <a:bodyPr/>
          <a:lstStyle/>
          <a:p>
            <a:endParaRPr lang="en-ZA"/>
          </a:p>
        </p:txBody>
      </p:sp>
      <p:sp>
        <p:nvSpPr>
          <p:cNvPr id="18" name="Shape 16"/>
          <p:cNvSpPr/>
          <p:nvPr/>
        </p:nvSpPr>
        <p:spPr>
          <a:xfrm>
            <a:off x="6217920" y="4023360"/>
            <a:ext cx="137160" cy="1965960"/>
          </a:xfrm>
          <a:prstGeom prst="rect">
            <a:avLst/>
          </a:prstGeom>
          <a:solidFill>
            <a:srgbClr val="FF5C39"/>
          </a:solidFill>
          <a:ln w="12700">
            <a:solidFill>
              <a:srgbClr val="FF5C39"/>
            </a:solidFill>
            <a:prstDash val="solid"/>
          </a:ln>
        </p:spPr>
        <p:txBody>
          <a:bodyPr/>
          <a:lstStyle/>
          <a:p>
            <a:endParaRPr lang="en-ZA"/>
          </a:p>
        </p:txBody>
      </p:sp>
      <p:sp>
        <p:nvSpPr>
          <p:cNvPr id="19" name="Text 17"/>
          <p:cNvSpPr/>
          <p:nvPr/>
        </p:nvSpPr>
        <p:spPr>
          <a:xfrm>
            <a:off x="6583680" y="4297680"/>
            <a:ext cx="4892040" cy="457200"/>
          </a:xfrm>
          <a:prstGeom prst="rect">
            <a:avLst/>
          </a:prstGeom>
          <a:noFill/>
          <a:ln/>
        </p:spPr>
        <p:txBody>
          <a:bodyPr wrap="square" rtlCol="0" anchor="ctr"/>
          <a:lstStyle/>
          <a:p>
            <a:pPr marL="0" indent="0">
              <a:buNone/>
            </a:pPr>
            <a:r>
              <a:rPr lang="en-US" sz="2000" b="1" dirty="0">
                <a:solidFill>
                  <a:srgbClr val="091F2C"/>
                </a:solidFill>
                <a:latin typeface="Segoe UI" pitchFamily="34" charset="0"/>
                <a:ea typeface="Segoe UI" pitchFamily="34" charset="-122"/>
                <a:cs typeface="Segoe UI" pitchFamily="34" charset="-120"/>
              </a:rPr>
              <a:t>Three AI Surfaces</a:t>
            </a:r>
            <a:endParaRPr lang="en-US" sz="2000" dirty="0"/>
          </a:p>
        </p:txBody>
      </p:sp>
      <p:sp>
        <p:nvSpPr>
          <p:cNvPr id="20" name="Text 18"/>
          <p:cNvSpPr/>
          <p:nvPr/>
        </p:nvSpPr>
        <p:spPr>
          <a:xfrm>
            <a:off x="6583680" y="4892040"/>
            <a:ext cx="4892040" cy="1051560"/>
          </a:xfrm>
          <a:prstGeom prst="rect">
            <a:avLst/>
          </a:prstGeom>
          <a:noFill/>
          <a:ln/>
        </p:spPr>
        <p:txBody>
          <a:bodyPr wrap="square" rtlCol="0" anchor="ctr"/>
          <a:lstStyle/>
          <a:p>
            <a:pPr marL="0" indent="0">
              <a:buNone/>
            </a:pPr>
            <a:r>
              <a:rPr lang="en-US" sz="1400" dirty="0">
                <a:solidFill>
                  <a:srgbClr val="4B5563"/>
                </a:solidFill>
                <a:latin typeface="Segoe UI" pitchFamily="34" charset="0"/>
                <a:ea typeface="Segoe UI" pitchFamily="34" charset="-122"/>
                <a:cs typeface="Segoe UI" pitchFamily="34" charset="-120"/>
              </a:rPr>
              <a:t>M365 Copilot · Copilot Studio · Azure AI Foundry</a:t>
            </a:r>
            <a:endParaRPr lang="en-US" sz="1400" dirty="0"/>
          </a:p>
        </p:txBody>
      </p:sp>
      <p:sp>
        <p:nvSpPr>
          <p:cNvPr id="21" name="Text 19"/>
          <p:cNvSpPr/>
          <p:nvPr/>
        </p:nvSpPr>
        <p:spPr>
          <a:xfrm>
            <a:off x="548640" y="6126480"/>
            <a:ext cx="11155680" cy="320040"/>
          </a:xfrm>
          <a:prstGeom prst="rect">
            <a:avLst/>
          </a:prstGeom>
          <a:noFill/>
          <a:ln/>
        </p:spPr>
        <p:txBody>
          <a:bodyPr wrap="square" rtlCol="0" anchor="ctr"/>
          <a:lstStyle/>
          <a:p>
            <a:pPr marL="0" indent="0">
              <a:buNone/>
            </a:pPr>
            <a:r>
              <a:rPr lang="en-US" sz="1200" i="1" dirty="0">
                <a:solidFill>
                  <a:srgbClr val="0078D4"/>
                </a:solidFill>
                <a:latin typeface="Segoe UI" pitchFamily="34" charset="0"/>
                <a:ea typeface="Segoe UI" pitchFamily="34" charset="-122"/>
                <a:cs typeface="Segoe UI" pitchFamily="34" charset="-120"/>
              </a:rPr>
              <a:t>If anyone in the room needs the full pitch, send them the AI CoE Pitch Deck. This deck assumes they're already convinced.</a:t>
            </a:r>
            <a:endParaRPr lang="en-US" sz="1200" dirty="0"/>
          </a:p>
        </p:txBody>
      </p:sp>
      <p:pic>
        <p:nvPicPr>
          <p:cNvPr id="22"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23" name="Text 20"/>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24" name="Text 21"/>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STEP 1</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000" b="1" dirty="0">
                <a:solidFill>
                  <a:srgbClr val="091F2C"/>
                </a:solidFill>
                <a:latin typeface="Segoe UI" pitchFamily="34" charset="0"/>
                <a:ea typeface="Segoe UI" pitchFamily="34" charset="-122"/>
                <a:cs typeface="Segoe UI" pitchFamily="34" charset="-120"/>
              </a:rPr>
              <a:t>Qualify the opportunity</a:t>
            </a:r>
            <a:endParaRPr lang="en-US" sz="3000" dirty="0"/>
          </a:p>
        </p:txBody>
      </p:sp>
      <p:sp>
        <p:nvSpPr>
          <p:cNvPr id="5" name="Shape 3"/>
          <p:cNvSpPr/>
          <p:nvPr/>
        </p:nvSpPr>
        <p:spPr>
          <a:xfrm>
            <a:off x="548640" y="1828800"/>
            <a:ext cx="5486400" cy="4297680"/>
          </a:xfrm>
          <a:prstGeom prst="roundRect">
            <a:avLst>
              <a:gd name="adj" fmla="val 2553"/>
            </a:avLst>
          </a:prstGeom>
          <a:solidFill>
            <a:srgbClr val="F1F8F1"/>
          </a:solidFill>
          <a:ln w="12700">
            <a:solidFill>
              <a:srgbClr val="225B62"/>
            </a:solidFill>
            <a:prstDash val="solid"/>
          </a:ln>
        </p:spPr>
        <p:txBody>
          <a:bodyPr/>
          <a:lstStyle/>
          <a:p>
            <a:endParaRPr lang="en-ZA"/>
          </a:p>
        </p:txBody>
      </p:sp>
      <p:sp>
        <p:nvSpPr>
          <p:cNvPr id="6" name="Text 4"/>
          <p:cNvSpPr/>
          <p:nvPr/>
        </p:nvSpPr>
        <p:spPr>
          <a:xfrm>
            <a:off x="777240" y="1965960"/>
            <a:ext cx="5029200" cy="274320"/>
          </a:xfrm>
          <a:prstGeom prst="rect">
            <a:avLst/>
          </a:prstGeom>
          <a:noFill/>
          <a:ln/>
        </p:spPr>
        <p:txBody>
          <a:bodyPr wrap="square" rtlCol="0" anchor="ctr"/>
          <a:lstStyle/>
          <a:p>
            <a:pPr marL="0" indent="0">
              <a:buNone/>
            </a:pPr>
            <a:r>
              <a:rPr lang="en-US" sz="1100" b="1" kern="0" spc="300" dirty="0">
                <a:solidFill>
                  <a:srgbClr val="225B62"/>
                </a:solidFill>
                <a:latin typeface="Segoe UI" pitchFamily="34" charset="0"/>
                <a:ea typeface="Segoe UI" pitchFamily="34" charset="-122"/>
                <a:cs typeface="Segoe UI" pitchFamily="34" charset="-120"/>
              </a:rPr>
              <a:t>RUN THE COE</a:t>
            </a:r>
            <a:endParaRPr lang="en-US" sz="1100" dirty="0"/>
          </a:p>
        </p:txBody>
      </p:sp>
      <p:sp>
        <p:nvSpPr>
          <p:cNvPr id="7" name="Text 5"/>
          <p:cNvSpPr/>
          <p:nvPr/>
        </p:nvSpPr>
        <p:spPr>
          <a:xfrm>
            <a:off x="777240" y="2240280"/>
            <a:ext cx="5029200" cy="457200"/>
          </a:xfrm>
          <a:prstGeom prst="rect">
            <a:avLst/>
          </a:prstGeom>
          <a:noFill/>
          <a:ln/>
        </p:spPr>
        <p:txBody>
          <a:bodyPr wrap="square" rtlCol="0" anchor="ctr"/>
          <a:lstStyle/>
          <a:p>
            <a:pPr marL="0" indent="0">
              <a:buNone/>
            </a:pPr>
            <a:r>
              <a:rPr lang="en-US" sz="1800" b="1" dirty="0">
                <a:solidFill>
                  <a:srgbClr val="091F2C"/>
                </a:solidFill>
                <a:latin typeface="Segoe UI" pitchFamily="34" charset="0"/>
                <a:ea typeface="Segoe UI" pitchFamily="34" charset="-122"/>
                <a:cs typeface="Segoe UI" pitchFamily="34" charset="-120"/>
              </a:rPr>
              <a:t>Good signals</a:t>
            </a:r>
            <a:endParaRPr lang="en-US" sz="1800" dirty="0"/>
          </a:p>
        </p:txBody>
      </p:sp>
      <p:sp>
        <p:nvSpPr>
          <p:cNvPr id="8" name="Text 6"/>
          <p:cNvSpPr/>
          <p:nvPr/>
        </p:nvSpPr>
        <p:spPr>
          <a:xfrm>
            <a:off x="868680" y="2788920"/>
            <a:ext cx="274320" cy="365760"/>
          </a:xfrm>
          <a:prstGeom prst="rect">
            <a:avLst/>
          </a:prstGeom>
          <a:noFill/>
          <a:ln/>
        </p:spPr>
        <p:txBody>
          <a:bodyPr wrap="square" rtlCol="0" anchor="ctr"/>
          <a:lstStyle/>
          <a:p>
            <a:pPr marL="0" indent="0">
              <a:buNone/>
            </a:pPr>
            <a:r>
              <a:rPr lang="en-US" sz="1800" b="1" dirty="0">
                <a:solidFill>
                  <a:srgbClr val="225B62"/>
                </a:solidFill>
                <a:latin typeface="Segoe UI" pitchFamily="34" charset="0"/>
                <a:ea typeface="Segoe UI" pitchFamily="34" charset="-122"/>
                <a:cs typeface="Segoe UI" pitchFamily="34" charset="-120"/>
              </a:rPr>
              <a:t>✓</a:t>
            </a:r>
            <a:endParaRPr lang="en-US" sz="1800" dirty="0"/>
          </a:p>
        </p:txBody>
      </p:sp>
      <p:sp>
        <p:nvSpPr>
          <p:cNvPr id="9" name="Text 7"/>
          <p:cNvSpPr/>
          <p:nvPr/>
        </p:nvSpPr>
        <p:spPr>
          <a:xfrm>
            <a:off x="1188720" y="2834640"/>
            <a:ext cx="4754880" cy="41148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Named exec sponsor (CIO, CDO, or LoB head)</a:t>
            </a:r>
            <a:endParaRPr lang="en-US" sz="1250" dirty="0"/>
          </a:p>
        </p:txBody>
      </p:sp>
      <p:sp>
        <p:nvSpPr>
          <p:cNvPr id="10" name="Text 8"/>
          <p:cNvSpPr/>
          <p:nvPr/>
        </p:nvSpPr>
        <p:spPr>
          <a:xfrm>
            <a:off x="868680" y="3291840"/>
            <a:ext cx="274320" cy="365760"/>
          </a:xfrm>
          <a:prstGeom prst="rect">
            <a:avLst/>
          </a:prstGeom>
          <a:noFill/>
          <a:ln/>
        </p:spPr>
        <p:txBody>
          <a:bodyPr wrap="square" rtlCol="0" anchor="ctr"/>
          <a:lstStyle/>
          <a:p>
            <a:pPr marL="0" indent="0">
              <a:buNone/>
            </a:pPr>
            <a:r>
              <a:rPr lang="en-US" sz="1800" b="1" dirty="0">
                <a:solidFill>
                  <a:srgbClr val="225B62"/>
                </a:solidFill>
                <a:latin typeface="Segoe UI" pitchFamily="34" charset="0"/>
                <a:ea typeface="Segoe UI" pitchFamily="34" charset="-122"/>
                <a:cs typeface="Segoe UI" pitchFamily="34" charset="-120"/>
              </a:rPr>
              <a:t>✓</a:t>
            </a:r>
            <a:endParaRPr lang="en-US" sz="1800" dirty="0"/>
          </a:p>
        </p:txBody>
      </p:sp>
      <p:sp>
        <p:nvSpPr>
          <p:cNvPr id="11" name="Text 9"/>
          <p:cNvSpPr/>
          <p:nvPr/>
        </p:nvSpPr>
        <p:spPr>
          <a:xfrm>
            <a:off x="1188720" y="3337560"/>
            <a:ext cx="4754880" cy="41148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Existing AI ambition with budget pressure to show value</a:t>
            </a:r>
            <a:endParaRPr lang="en-US" sz="1250" dirty="0"/>
          </a:p>
        </p:txBody>
      </p:sp>
      <p:sp>
        <p:nvSpPr>
          <p:cNvPr id="12" name="Text 10"/>
          <p:cNvSpPr/>
          <p:nvPr/>
        </p:nvSpPr>
        <p:spPr>
          <a:xfrm>
            <a:off x="868680" y="3794760"/>
            <a:ext cx="274320" cy="365760"/>
          </a:xfrm>
          <a:prstGeom prst="rect">
            <a:avLst/>
          </a:prstGeom>
          <a:noFill/>
          <a:ln/>
        </p:spPr>
        <p:txBody>
          <a:bodyPr wrap="square" rtlCol="0" anchor="ctr"/>
          <a:lstStyle/>
          <a:p>
            <a:pPr marL="0" indent="0">
              <a:buNone/>
            </a:pPr>
            <a:r>
              <a:rPr lang="en-US" sz="1800" b="1" dirty="0">
                <a:solidFill>
                  <a:srgbClr val="225B62"/>
                </a:solidFill>
                <a:latin typeface="Segoe UI" pitchFamily="34" charset="0"/>
                <a:ea typeface="Segoe UI" pitchFamily="34" charset="-122"/>
                <a:cs typeface="Segoe UI" pitchFamily="34" charset="-120"/>
              </a:rPr>
              <a:t>✓</a:t>
            </a:r>
            <a:endParaRPr lang="en-US" sz="1800" dirty="0"/>
          </a:p>
        </p:txBody>
      </p:sp>
      <p:sp>
        <p:nvSpPr>
          <p:cNvPr id="13" name="Text 11"/>
          <p:cNvSpPr/>
          <p:nvPr/>
        </p:nvSpPr>
        <p:spPr>
          <a:xfrm>
            <a:off x="1188720" y="3840480"/>
            <a:ext cx="4754880" cy="41148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Multi-year Azure or M365 commitment</a:t>
            </a:r>
            <a:endParaRPr lang="en-US" sz="1250" dirty="0"/>
          </a:p>
        </p:txBody>
      </p:sp>
      <p:sp>
        <p:nvSpPr>
          <p:cNvPr id="14" name="Text 12"/>
          <p:cNvSpPr/>
          <p:nvPr/>
        </p:nvSpPr>
        <p:spPr>
          <a:xfrm>
            <a:off x="868680" y="4297680"/>
            <a:ext cx="274320" cy="365760"/>
          </a:xfrm>
          <a:prstGeom prst="rect">
            <a:avLst/>
          </a:prstGeom>
          <a:noFill/>
          <a:ln/>
        </p:spPr>
        <p:txBody>
          <a:bodyPr wrap="square" rtlCol="0" anchor="ctr"/>
          <a:lstStyle/>
          <a:p>
            <a:pPr marL="0" indent="0">
              <a:buNone/>
            </a:pPr>
            <a:r>
              <a:rPr lang="en-US" sz="1800" b="1" dirty="0">
                <a:solidFill>
                  <a:srgbClr val="225B62"/>
                </a:solidFill>
                <a:latin typeface="Segoe UI" pitchFamily="34" charset="0"/>
                <a:ea typeface="Segoe UI" pitchFamily="34" charset="-122"/>
                <a:cs typeface="Segoe UI" pitchFamily="34" charset="-120"/>
              </a:rPr>
              <a:t>✓</a:t>
            </a:r>
            <a:endParaRPr lang="en-US" sz="1800" dirty="0"/>
          </a:p>
        </p:txBody>
      </p:sp>
      <p:sp>
        <p:nvSpPr>
          <p:cNvPr id="15" name="Text 13"/>
          <p:cNvSpPr/>
          <p:nvPr/>
        </p:nvSpPr>
        <p:spPr>
          <a:xfrm>
            <a:off x="1188720" y="4343400"/>
            <a:ext cx="4754880" cy="41148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At least 3 candidate use-cases with named owners</a:t>
            </a:r>
            <a:endParaRPr lang="en-US" sz="1250" dirty="0"/>
          </a:p>
        </p:txBody>
      </p:sp>
      <p:sp>
        <p:nvSpPr>
          <p:cNvPr id="16" name="Text 14"/>
          <p:cNvSpPr/>
          <p:nvPr/>
        </p:nvSpPr>
        <p:spPr>
          <a:xfrm>
            <a:off x="868680" y="4800600"/>
            <a:ext cx="274320" cy="365760"/>
          </a:xfrm>
          <a:prstGeom prst="rect">
            <a:avLst/>
          </a:prstGeom>
          <a:noFill/>
          <a:ln/>
        </p:spPr>
        <p:txBody>
          <a:bodyPr wrap="square" rtlCol="0" anchor="ctr"/>
          <a:lstStyle/>
          <a:p>
            <a:pPr marL="0" indent="0">
              <a:buNone/>
            </a:pPr>
            <a:r>
              <a:rPr lang="en-US" sz="1800" b="1" dirty="0">
                <a:solidFill>
                  <a:srgbClr val="225B62"/>
                </a:solidFill>
                <a:latin typeface="Segoe UI" pitchFamily="34" charset="0"/>
                <a:ea typeface="Segoe UI" pitchFamily="34" charset="-122"/>
                <a:cs typeface="Segoe UI" pitchFamily="34" charset="-120"/>
              </a:rPr>
              <a:t>✓</a:t>
            </a:r>
            <a:endParaRPr lang="en-US" sz="1800" dirty="0"/>
          </a:p>
        </p:txBody>
      </p:sp>
      <p:sp>
        <p:nvSpPr>
          <p:cNvPr id="17" name="Text 15"/>
          <p:cNvSpPr/>
          <p:nvPr/>
        </p:nvSpPr>
        <p:spPr>
          <a:xfrm>
            <a:off x="1188720" y="4846320"/>
            <a:ext cx="4754880" cy="41148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Data foundation conversation already underway</a:t>
            </a:r>
            <a:endParaRPr lang="en-US" sz="1250" dirty="0"/>
          </a:p>
        </p:txBody>
      </p:sp>
      <p:sp>
        <p:nvSpPr>
          <p:cNvPr id="18" name="Text 16"/>
          <p:cNvSpPr/>
          <p:nvPr/>
        </p:nvSpPr>
        <p:spPr>
          <a:xfrm>
            <a:off x="868680" y="5303520"/>
            <a:ext cx="274320" cy="365760"/>
          </a:xfrm>
          <a:prstGeom prst="rect">
            <a:avLst/>
          </a:prstGeom>
          <a:noFill/>
          <a:ln/>
        </p:spPr>
        <p:txBody>
          <a:bodyPr wrap="square" rtlCol="0" anchor="ctr"/>
          <a:lstStyle/>
          <a:p>
            <a:pPr marL="0" indent="0">
              <a:buNone/>
            </a:pPr>
            <a:r>
              <a:rPr lang="en-US" sz="1800" b="1" dirty="0">
                <a:solidFill>
                  <a:srgbClr val="225B62"/>
                </a:solidFill>
                <a:latin typeface="Segoe UI" pitchFamily="34" charset="0"/>
                <a:ea typeface="Segoe UI" pitchFamily="34" charset="-122"/>
                <a:cs typeface="Segoe UI" pitchFamily="34" charset="-120"/>
              </a:rPr>
              <a:t>✓</a:t>
            </a:r>
            <a:endParaRPr lang="en-US" sz="1800" dirty="0"/>
          </a:p>
        </p:txBody>
      </p:sp>
      <p:sp>
        <p:nvSpPr>
          <p:cNvPr id="19" name="Text 17"/>
          <p:cNvSpPr/>
          <p:nvPr/>
        </p:nvSpPr>
        <p:spPr>
          <a:xfrm>
            <a:off x="1188720" y="5349240"/>
            <a:ext cx="4754880" cy="41148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Willingness to publish a Responsible AI standard</a:t>
            </a:r>
            <a:endParaRPr lang="en-US" sz="1250" dirty="0"/>
          </a:p>
        </p:txBody>
      </p:sp>
      <p:sp>
        <p:nvSpPr>
          <p:cNvPr id="20" name="Shape 18"/>
          <p:cNvSpPr/>
          <p:nvPr/>
        </p:nvSpPr>
        <p:spPr>
          <a:xfrm>
            <a:off x="6172200" y="1828800"/>
            <a:ext cx="5486400" cy="4297680"/>
          </a:xfrm>
          <a:prstGeom prst="roundRect">
            <a:avLst>
              <a:gd name="adj" fmla="val 2553"/>
            </a:avLst>
          </a:prstGeom>
          <a:solidFill>
            <a:srgbClr val="FDF3F2"/>
          </a:solidFill>
          <a:ln w="12700">
            <a:solidFill>
              <a:srgbClr val="FF5C39"/>
            </a:solidFill>
            <a:prstDash val="solid"/>
          </a:ln>
        </p:spPr>
        <p:txBody>
          <a:bodyPr/>
          <a:lstStyle/>
          <a:p>
            <a:endParaRPr lang="en-ZA"/>
          </a:p>
        </p:txBody>
      </p:sp>
      <p:sp>
        <p:nvSpPr>
          <p:cNvPr id="21" name="Text 19"/>
          <p:cNvSpPr/>
          <p:nvPr/>
        </p:nvSpPr>
        <p:spPr>
          <a:xfrm>
            <a:off x="6400800" y="1965960"/>
            <a:ext cx="5029200" cy="274320"/>
          </a:xfrm>
          <a:prstGeom prst="rect">
            <a:avLst/>
          </a:prstGeom>
          <a:noFill/>
          <a:ln/>
        </p:spPr>
        <p:txBody>
          <a:bodyPr wrap="square" rtlCol="0" anchor="ctr"/>
          <a:lstStyle/>
          <a:p>
            <a:pPr marL="0" indent="0">
              <a:buNone/>
            </a:pPr>
            <a:r>
              <a:rPr lang="en-US" sz="1100" b="1" kern="0" spc="300" dirty="0">
                <a:solidFill>
                  <a:srgbClr val="FF5C39"/>
                </a:solidFill>
                <a:latin typeface="Segoe UI" pitchFamily="34" charset="0"/>
                <a:ea typeface="Segoe UI" pitchFamily="34" charset="-122"/>
                <a:cs typeface="Segoe UI" pitchFamily="34" charset="-120"/>
              </a:rPr>
              <a:t>DO NOT START YET</a:t>
            </a:r>
            <a:endParaRPr lang="en-US" sz="1100" dirty="0"/>
          </a:p>
        </p:txBody>
      </p:sp>
      <p:sp>
        <p:nvSpPr>
          <p:cNvPr id="22" name="Text 20"/>
          <p:cNvSpPr/>
          <p:nvPr/>
        </p:nvSpPr>
        <p:spPr>
          <a:xfrm>
            <a:off x="6400800" y="2240280"/>
            <a:ext cx="5029200" cy="457200"/>
          </a:xfrm>
          <a:prstGeom prst="rect">
            <a:avLst/>
          </a:prstGeom>
          <a:noFill/>
          <a:ln/>
        </p:spPr>
        <p:txBody>
          <a:bodyPr wrap="square" rtlCol="0" anchor="ctr"/>
          <a:lstStyle/>
          <a:p>
            <a:pPr marL="0" indent="0">
              <a:buNone/>
            </a:pPr>
            <a:r>
              <a:rPr lang="en-US" sz="1800" b="1" dirty="0">
                <a:solidFill>
                  <a:srgbClr val="091F2C"/>
                </a:solidFill>
                <a:latin typeface="Segoe UI" pitchFamily="34" charset="0"/>
                <a:ea typeface="Segoe UI" pitchFamily="34" charset="-122"/>
                <a:cs typeface="Segoe UI" pitchFamily="34" charset="-120"/>
              </a:rPr>
              <a:t>Red flags</a:t>
            </a:r>
            <a:endParaRPr lang="en-US" sz="1800" dirty="0"/>
          </a:p>
        </p:txBody>
      </p:sp>
      <p:sp>
        <p:nvSpPr>
          <p:cNvPr id="23" name="Text 21"/>
          <p:cNvSpPr/>
          <p:nvPr/>
        </p:nvSpPr>
        <p:spPr>
          <a:xfrm>
            <a:off x="6492240" y="2788920"/>
            <a:ext cx="274320" cy="365760"/>
          </a:xfrm>
          <a:prstGeom prst="rect">
            <a:avLst/>
          </a:prstGeom>
          <a:noFill/>
          <a:ln/>
        </p:spPr>
        <p:txBody>
          <a:bodyPr wrap="square" rtlCol="0" anchor="ctr"/>
          <a:lstStyle/>
          <a:p>
            <a:pPr marL="0" indent="0">
              <a:buNone/>
            </a:pPr>
            <a:r>
              <a:rPr lang="en-US" sz="1800" b="1" dirty="0">
                <a:solidFill>
                  <a:srgbClr val="FF5C39"/>
                </a:solidFill>
                <a:latin typeface="Segoe UI" pitchFamily="34" charset="0"/>
                <a:ea typeface="Segoe UI" pitchFamily="34" charset="-122"/>
                <a:cs typeface="Segoe UI" pitchFamily="34" charset="-120"/>
              </a:rPr>
              <a:t>✕</a:t>
            </a:r>
            <a:endParaRPr lang="en-US" sz="1800" dirty="0"/>
          </a:p>
        </p:txBody>
      </p:sp>
      <p:sp>
        <p:nvSpPr>
          <p:cNvPr id="24" name="Text 22"/>
          <p:cNvSpPr/>
          <p:nvPr/>
        </p:nvSpPr>
        <p:spPr>
          <a:xfrm>
            <a:off x="6812280" y="2834640"/>
            <a:ext cx="4754880" cy="41148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No named exec sponsor — "the CTO is interested" is not enough</a:t>
            </a:r>
            <a:endParaRPr lang="en-US" sz="1250" dirty="0"/>
          </a:p>
        </p:txBody>
      </p:sp>
      <p:sp>
        <p:nvSpPr>
          <p:cNvPr id="25" name="Text 23"/>
          <p:cNvSpPr/>
          <p:nvPr/>
        </p:nvSpPr>
        <p:spPr>
          <a:xfrm>
            <a:off x="6492240" y="3291840"/>
            <a:ext cx="274320" cy="365760"/>
          </a:xfrm>
          <a:prstGeom prst="rect">
            <a:avLst/>
          </a:prstGeom>
          <a:noFill/>
          <a:ln/>
        </p:spPr>
        <p:txBody>
          <a:bodyPr wrap="square" rtlCol="0" anchor="ctr"/>
          <a:lstStyle/>
          <a:p>
            <a:pPr marL="0" indent="0">
              <a:buNone/>
            </a:pPr>
            <a:r>
              <a:rPr lang="en-US" sz="1800" b="1" dirty="0">
                <a:solidFill>
                  <a:srgbClr val="FF5C39"/>
                </a:solidFill>
                <a:latin typeface="Segoe UI" pitchFamily="34" charset="0"/>
                <a:ea typeface="Segoe UI" pitchFamily="34" charset="-122"/>
                <a:cs typeface="Segoe UI" pitchFamily="34" charset="-120"/>
              </a:rPr>
              <a:t>✕</a:t>
            </a:r>
            <a:endParaRPr lang="en-US" sz="1800" dirty="0"/>
          </a:p>
        </p:txBody>
      </p:sp>
      <p:sp>
        <p:nvSpPr>
          <p:cNvPr id="26" name="Text 24"/>
          <p:cNvSpPr/>
          <p:nvPr/>
        </p:nvSpPr>
        <p:spPr>
          <a:xfrm>
            <a:off x="6812280" y="3337560"/>
            <a:ext cx="4754880" cy="41148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No AI use-case backlog — the customer doesn't know what to build</a:t>
            </a:r>
            <a:endParaRPr lang="en-US" sz="1250" dirty="0"/>
          </a:p>
        </p:txBody>
      </p:sp>
      <p:sp>
        <p:nvSpPr>
          <p:cNvPr id="27" name="Text 25"/>
          <p:cNvSpPr/>
          <p:nvPr/>
        </p:nvSpPr>
        <p:spPr>
          <a:xfrm>
            <a:off x="6492240" y="3794760"/>
            <a:ext cx="274320" cy="365760"/>
          </a:xfrm>
          <a:prstGeom prst="rect">
            <a:avLst/>
          </a:prstGeom>
          <a:noFill/>
          <a:ln/>
        </p:spPr>
        <p:txBody>
          <a:bodyPr wrap="square" rtlCol="0" anchor="ctr"/>
          <a:lstStyle/>
          <a:p>
            <a:pPr marL="0" indent="0">
              <a:buNone/>
            </a:pPr>
            <a:r>
              <a:rPr lang="en-US" sz="1800" b="1" dirty="0">
                <a:solidFill>
                  <a:srgbClr val="FF5C39"/>
                </a:solidFill>
                <a:latin typeface="Segoe UI" pitchFamily="34" charset="0"/>
                <a:ea typeface="Segoe UI" pitchFamily="34" charset="-122"/>
                <a:cs typeface="Segoe UI" pitchFamily="34" charset="-120"/>
              </a:rPr>
              <a:t>✕</a:t>
            </a:r>
            <a:endParaRPr lang="en-US" sz="1800" dirty="0"/>
          </a:p>
        </p:txBody>
      </p:sp>
      <p:sp>
        <p:nvSpPr>
          <p:cNvPr id="28" name="Text 26"/>
          <p:cNvSpPr/>
          <p:nvPr/>
        </p:nvSpPr>
        <p:spPr>
          <a:xfrm>
            <a:off x="6812280" y="3840480"/>
            <a:ext cx="4754880" cy="41148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Data is fragmented and there's no governance owner</a:t>
            </a:r>
            <a:endParaRPr lang="en-US" sz="1250" dirty="0"/>
          </a:p>
        </p:txBody>
      </p:sp>
      <p:sp>
        <p:nvSpPr>
          <p:cNvPr id="29" name="Text 27"/>
          <p:cNvSpPr/>
          <p:nvPr/>
        </p:nvSpPr>
        <p:spPr>
          <a:xfrm>
            <a:off x="6492240" y="4297680"/>
            <a:ext cx="274320" cy="365760"/>
          </a:xfrm>
          <a:prstGeom prst="rect">
            <a:avLst/>
          </a:prstGeom>
          <a:noFill/>
          <a:ln/>
        </p:spPr>
        <p:txBody>
          <a:bodyPr wrap="square" rtlCol="0" anchor="ctr"/>
          <a:lstStyle/>
          <a:p>
            <a:pPr marL="0" indent="0">
              <a:buNone/>
            </a:pPr>
            <a:r>
              <a:rPr lang="en-US" sz="1800" b="1" dirty="0">
                <a:solidFill>
                  <a:srgbClr val="FF5C39"/>
                </a:solidFill>
                <a:latin typeface="Segoe UI" pitchFamily="34" charset="0"/>
                <a:ea typeface="Segoe UI" pitchFamily="34" charset="-122"/>
                <a:cs typeface="Segoe UI" pitchFamily="34" charset="-120"/>
              </a:rPr>
              <a:t>✕</a:t>
            </a:r>
            <a:endParaRPr lang="en-US" sz="1800" dirty="0"/>
          </a:p>
        </p:txBody>
      </p:sp>
      <p:sp>
        <p:nvSpPr>
          <p:cNvPr id="30" name="Text 28"/>
          <p:cNvSpPr/>
          <p:nvPr/>
        </p:nvSpPr>
        <p:spPr>
          <a:xfrm>
            <a:off x="6812280" y="4343400"/>
            <a:ext cx="4754880" cy="41148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Procurement won't engage on multi-year commitment</a:t>
            </a:r>
            <a:endParaRPr lang="en-US" sz="1250" dirty="0"/>
          </a:p>
        </p:txBody>
      </p:sp>
      <p:sp>
        <p:nvSpPr>
          <p:cNvPr id="31" name="Text 29"/>
          <p:cNvSpPr/>
          <p:nvPr/>
        </p:nvSpPr>
        <p:spPr>
          <a:xfrm>
            <a:off x="6492240" y="4800600"/>
            <a:ext cx="274320" cy="365760"/>
          </a:xfrm>
          <a:prstGeom prst="rect">
            <a:avLst/>
          </a:prstGeom>
          <a:noFill/>
          <a:ln/>
        </p:spPr>
        <p:txBody>
          <a:bodyPr wrap="square" rtlCol="0" anchor="ctr"/>
          <a:lstStyle/>
          <a:p>
            <a:pPr marL="0" indent="0">
              <a:buNone/>
            </a:pPr>
            <a:r>
              <a:rPr lang="en-US" sz="1800" b="1" dirty="0">
                <a:solidFill>
                  <a:srgbClr val="FF5C39"/>
                </a:solidFill>
                <a:latin typeface="Segoe UI" pitchFamily="34" charset="0"/>
                <a:ea typeface="Segoe UI" pitchFamily="34" charset="-122"/>
                <a:cs typeface="Segoe UI" pitchFamily="34" charset="-120"/>
              </a:rPr>
              <a:t>✕</a:t>
            </a:r>
            <a:endParaRPr lang="en-US" sz="1800" dirty="0"/>
          </a:p>
        </p:txBody>
      </p:sp>
      <p:sp>
        <p:nvSpPr>
          <p:cNvPr id="32" name="Text 30"/>
          <p:cNvSpPr/>
          <p:nvPr/>
        </p:nvSpPr>
        <p:spPr>
          <a:xfrm>
            <a:off x="6812280" y="4846320"/>
            <a:ext cx="4754880" cy="41148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Past AI pilots stalled and no one knows why</a:t>
            </a:r>
            <a:endParaRPr lang="en-US" sz="1250" dirty="0"/>
          </a:p>
        </p:txBody>
      </p:sp>
      <p:sp>
        <p:nvSpPr>
          <p:cNvPr id="33" name="Text 31"/>
          <p:cNvSpPr/>
          <p:nvPr/>
        </p:nvSpPr>
        <p:spPr>
          <a:xfrm>
            <a:off x="6492240" y="5303520"/>
            <a:ext cx="274320" cy="365760"/>
          </a:xfrm>
          <a:prstGeom prst="rect">
            <a:avLst/>
          </a:prstGeom>
          <a:noFill/>
          <a:ln/>
        </p:spPr>
        <p:txBody>
          <a:bodyPr wrap="square" rtlCol="0" anchor="ctr"/>
          <a:lstStyle/>
          <a:p>
            <a:pPr marL="0" indent="0">
              <a:buNone/>
            </a:pPr>
            <a:r>
              <a:rPr lang="en-US" sz="1800" b="1" dirty="0">
                <a:solidFill>
                  <a:srgbClr val="FF5C39"/>
                </a:solidFill>
                <a:latin typeface="Segoe UI" pitchFamily="34" charset="0"/>
                <a:ea typeface="Segoe UI" pitchFamily="34" charset="-122"/>
                <a:cs typeface="Segoe UI" pitchFamily="34" charset="-120"/>
              </a:rPr>
              <a:t>✕</a:t>
            </a:r>
            <a:endParaRPr lang="en-US" sz="1800" dirty="0"/>
          </a:p>
        </p:txBody>
      </p:sp>
      <p:sp>
        <p:nvSpPr>
          <p:cNvPr id="34" name="Text 32"/>
          <p:cNvSpPr/>
          <p:nvPr/>
        </p:nvSpPr>
        <p:spPr>
          <a:xfrm>
            <a:off x="6812280" y="5349240"/>
            <a:ext cx="4754880" cy="41148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Compliance / sovereignty concerns unresolved at C-suite</a:t>
            </a:r>
            <a:endParaRPr lang="en-US" sz="1250" dirty="0"/>
          </a:p>
        </p:txBody>
      </p:sp>
      <p:sp>
        <p:nvSpPr>
          <p:cNvPr id="35" name="Text 33"/>
          <p:cNvSpPr/>
          <p:nvPr/>
        </p:nvSpPr>
        <p:spPr>
          <a:xfrm>
            <a:off x="548640" y="6263640"/>
            <a:ext cx="11155680" cy="274320"/>
          </a:xfrm>
          <a:prstGeom prst="rect">
            <a:avLst/>
          </a:prstGeom>
          <a:noFill/>
          <a:ln/>
        </p:spPr>
        <p:txBody>
          <a:bodyPr wrap="square" rtlCol="0" anchor="ctr"/>
          <a:lstStyle/>
          <a:p>
            <a:pPr marL="0" indent="0">
              <a:buNone/>
            </a:pPr>
            <a:r>
              <a:rPr lang="en-US" sz="1100" b="1" i="1" dirty="0">
                <a:solidFill>
                  <a:srgbClr val="0078D4"/>
                </a:solidFill>
                <a:latin typeface="Segoe UI" pitchFamily="34" charset="0"/>
                <a:ea typeface="Segoe UI" pitchFamily="34" charset="-122"/>
                <a:cs typeface="Segoe UI" pitchFamily="34" charset="-120"/>
              </a:rPr>
              <a:t>Output of Step 1: signed CoE Readiness Scorecard. If 3+ red flags — run a Solution Assessment first.</a:t>
            </a:r>
            <a:endParaRPr lang="en-US" sz="1100" dirty="0"/>
          </a:p>
        </p:txBody>
      </p:sp>
      <p:pic>
        <p:nvPicPr>
          <p:cNvPr id="36"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7" name="Text 34"/>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38" name="Text 35"/>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STEP 2</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000" b="1" dirty="0">
                <a:solidFill>
                  <a:srgbClr val="091F2C"/>
                </a:solidFill>
                <a:latin typeface="Segoe UI" pitchFamily="34" charset="0"/>
                <a:ea typeface="Segoe UI" pitchFamily="34" charset="-122"/>
                <a:cs typeface="Segoe UI" pitchFamily="34" charset="-120"/>
              </a:rPr>
              <a:t>Pick the entry point — lead with where the customer is</a:t>
            </a:r>
            <a:endParaRPr lang="en-US" sz="3000" dirty="0"/>
          </a:p>
        </p:txBody>
      </p:sp>
      <p:sp>
        <p:nvSpPr>
          <p:cNvPr id="5" name="Shape 3"/>
          <p:cNvSpPr/>
          <p:nvPr/>
        </p:nvSpPr>
        <p:spPr>
          <a:xfrm>
            <a:off x="472288" y="1828800"/>
            <a:ext cx="3657600" cy="4114800"/>
          </a:xfrm>
          <a:prstGeom prst="roundRect">
            <a:avLst>
              <a:gd name="adj" fmla="val 2500"/>
            </a:avLst>
          </a:prstGeom>
          <a:solidFill>
            <a:srgbClr val="FFFFFF"/>
          </a:solidFill>
          <a:ln w="12700">
            <a:solidFill>
              <a:srgbClr val="E1E6EF"/>
            </a:solidFill>
            <a:prstDash val="solid"/>
          </a:ln>
        </p:spPr>
        <p:txBody>
          <a:bodyPr/>
          <a:lstStyle/>
          <a:p>
            <a:endParaRPr lang="en-ZA"/>
          </a:p>
        </p:txBody>
      </p:sp>
      <p:sp>
        <p:nvSpPr>
          <p:cNvPr id="6" name="Shape 4"/>
          <p:cNvSpPr/>
          <p:nvPr/>
        </p:nvSpPr>
        <p:spPr>
          <a:xfrm>
            <a:off x="472288" y="1828800"/>
            <a:ext cx="3657600" cy="73152"/>
          </a:xfrm>
          <a:prstGeom prst="rect">
            <a:avLst/>
          </a:prstGeom>
          <a:solidFill>
            <a:srgbClr val="0078D4"/>
          </a:solidFill>
          <a:ln/>
        </p:spPr>
        <p:txBody>
          <a:bodyPr/>
          <a:lstStyle/>
          <a:p>
            <a:endParaRPr lang="en-ZA"/>
          </a:p>
        </p:txBody>
      </p:sp>
      <p:sp>
        <p:nvSpPr>
          <p:cNvPr id="7" name="Shape 5"/>
          <p:cNvSpPr/>
          <p:nvPr/>
        </p:nvSpPr>
        <p:spPr>
          <a:xfrm>
            <a:off x="746608" y="2103120"/>
            <a:ext cx="640080" cy="640080"/>
          </a:xfrm>
          <a:prstGeom prst="ellipse">
            <a:avLst/>
          </a:prstGeom>
          <a:solidFill>
            <a:srgbClr val="0078D4"/>
          </a:solidFill>
          <a:ln w="12700">
            <a:solidFill>
              <a:srgbClr val="0078D4"/>
            </a:solidFill>
            <a:prstDash val="solid"/>
          </a:ln>
        </p:spPr>
        <p:txBody>
          <a:bodyPr/>
          <a:lstStyle/>
          <a:p>
            <a:endParaRPr lang="en-ZA"/>
          </a:p>
        </p:txBody>
      </p:sp>
      <p:sp>
        <p:nvSpPr>
          <p:cNvPr id="8" name="Text 6"/>
          <p:cNvSpPr/>
          <p:nvPr/>
        </p:nvSpPr>
        <p:spPr>
          <a:xfrm>
            <a:off x="746608" y="2103120"/>
            <a:ext cx="64008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A</a:t>
            </a:r>
            <a:endParaRPr lang="en-US" sz="2200" dirty="0"/>
          </a:p>
        </p:txBody>
      </p:sp>
      <p:sp>
        <p:nvSpPr>
          <p:cNvPr id="9" name="Text 7"/>
          <p:cNvSpPr/>
          <p:nvPr/>
        </p:nvSpPr>
        <p:spPr>
          <a:xfrm>
            <a:off x="1478128" y="2148840"/>
            <a:ext cx="2468880" cy="640080"/>
          </a:xfrm>
          <a:prstGeom prst="rect">
            <a:avLst/>
          </a:prstGeom>
          <a:noFill/>
          <a:ln/>
        </p:spPr>
        <p:txBody>
          <a:bodyPr wrap="square" rtlCol="0" anchor="ctr"/>
          <a:lstStyle/>
          <a:p>
            <a:pPr marL="0" indent="0">
              <a:buNone/>
            </a:pPr>
            <a:r>
              <a:rPr lang="en-US" sz="1200" i="1" dirty="0">
                <a:solidFill>
                  <a:srgbClr val="4B5563"/>
                </a:solidFill>
                <a:latin typeface="Segoe UI" pitchFamily="34" charset="0"/>
                <a:ea typeface="Segoe UI" pitchFamily="34" charset="-122"/>
                <a:cs typeface="Segoe UI" pitchFamily="34" charset="-120"/>
              </a:rPr>
              <a:t>If the customer just bought Copilot seats</a:t>
            </a:r>
            <a:endParaRPr lang="en-US" sz="1200" dirty="0"/>
          </a:p>
        </p:txBody>
      </p:sp>
      <p:sp>
        <p:nvSpPr>
          <p:cNvPr id="10" name="Text 8"/>
          <p:cNvSpPr/>
          <p:nvPr/>
        </p:nvSpPr>
        <p:spPr>
          <a:xfrm>
            <a:off x="746608" y="2926080"/>
            <a:ext cx="3200400" cy="457200"/>
          </a:xfrm>
          <a:prstGeom prst="rect">
            <a:avLst/>
          </a:prstGeom>
          <a:noFill/>
          <a:ln/>
        </p:spPr>
        <p:txBody>
          <a:bodyPr wrap="square" rtlCol="0" anchor="ctr"/>
          <a:lstStyle/>
          <a:p>
            <a:pPr marL="0" indent="0">
              <a:buNone/>
            </a:pPr>
            <a:r>
              <a:rPr lang="en-US" sz="1800" b="1" dirty="0">
                <a:solidFill>
                  <a:srgbClr val="091F2C"/>
                </a:solidFill>
                <a:latin typeface="Segoe UI" pitchFamily="34" charset="0"/>
                <a:ea typeface="Segoe UI" pitchFamily="34" charset="-122"/>
                <a:cs typeface="Segoe UI" pitchFamily="34" charset="-120"/>
              </a:rPr>
              <a:t>M365 Copilot</a:t>
            </a:r>
            <a:endParaRPr lang="en-US" sz="1800" dirty="0"/>
          </a:p>
        </p:txBody>
      </p:sp>
      <p:sp>
        <p:nvSpPr>
          <p:cNvPr id="11" name="Shape 9"/>
          <p:cNvSpPr/>
          <p:nvPr/>
        </p:nvSpPr>
        <p:spPr>
          <a:xfrm>
            <a:off x="746608" y="3520440"/>
            <a:ext cx="3108960" cy="18288"/>
          </a:xfrm>
          <a:prstGeom prst="rect">
            <a:avLst/>
          </a:prstGeom>
          <a:solidFill>
            <a:srgbClr val="E1E6EF"/>
          </a:solidFill>
          <a:ln w="12700">
            <a:solidFill>
              <a:srgbClr val="E1E6EF"/>
            </a:solidFill>
            <a:prstDash val="solid"/>
          </a:ln>
        </p:spPr>
        <p:txBody>
          <a:bodyPr/>
          <a:lstStyle/>
          <a:p>
            <a:endParaRPr lang="en-ZA"/>
          </a:p>
        </p:txBody>
      </p:sp>
      <p:sp>
        <p:nvSpPr>
          <p:cNvPr id="12" name="Text 10"/>
          <p:cNvSpPr/>
          <p:nvPr/>
        </p:nvSpPr>
        <p:spPr>
          <a:xfrm>
            <a:off x="746608" y="3611880"/>
            <a:ext cx="3108960" cy="182880"/>
          </a:xfrm>
          <a:prstGeom prst="rect">
            <a:avLst/>
          </a:prstGeom>
          <a:noFill/>
          <a:ln/>
        </p:spPr>
        <p:txBody>
          <a:bodyPr wrap="square" rtlCol="0" anchor="ctr"/>
          <a:lstStyle/>
          <a:p>
            <a:pPr marL="0" indent="0">
              <a:buNone/>
            </a:pPr>
            <a:r>
              <a:rPr lang="en-US" sz="900" b="1" kern="0" spc="200" dirty="0">
                <a:solidFill>
                  <a:srgbClr val="8A94A6"/>
                </a:solidFill>
                <a:latin typeface="Segoe UI" pitchFamily="34" charset="0"/>
                <a:ea typeface="Segoe UI" pitchFamily="34" charset="-122"/>
                <a:cs typeface="Segoe UI" pitchFamily="34" charset="-120"/>
              </a:rPr>
              <a:t>FIRST</a:t>
            </a:r>
            <a:endParaRPr lang="en-US" sz="900" dirty="0"/>
          </a:p>
        </p:txBody>
      </p:sp>
      <p:sp>
        <p:nvSpPr>
          <p:cNvPr id="13" name="Text 11"/>
          <p:cNvSpPr/>
          <p:nvPr/>
        </p:nvSpPr>
        <p:spPr>
          <a:xfrm>
            <a:off x="746608" y="3794760"/>
            <a:ext cx="3108960" cy="777240"/>
          </a:xfrm>
          <a:prstGeom prst="rect">
            <a:avLst/>
          </a:prstGeom>
          <a:noFill/>
          <a:ln/>
        </p:spPr>
        <p:txBody>
          <a:bodyPr wrap="square" rtlCol="0" anchor="ctr"/>
          <a:lstStyle/>
          <a:p>
            <a:pPr marL="0" indent="0">
              <a:buNone/>
            </a:pPr>
            <a:r>
              <a:rPr lang="en-US" sz="1200" b="1" dirty="0">
                <a:solidFill>
                  <a:srgbClr val="091F2C"/>
                </a:solidFill>
                <a:latin typeface="Segoe UI" pitchFamily="34" charset="0"/>
                <a:ea typeface="Segoe UI" pitchFamily="34" charset="-122"/>
                <a:cs typeface="Segoe UI" pitchFamily="34" charset="-120"/>
              </a:rPr>
              <a:t>Adoption + governance lift</a:t>
            </a:r>
            <a:endParaRPr lang="en-US" sz="1200" dirty="0"/>
          </a:p>
        </p:txBody>
      </p:sp>
      <p:sp>
        <p:nvSpPr>
          <p:cNvPr id="14" name="Text 12"/>
          <p:cNvSpPr/>
          <p:nvPr/>
        </p:nvSpPr>
        <p:spPr>
          <a:xfrm>
            <a:off x="746608" y="4663440"/>
            <a:ext cx="3108960" cy="182880"/>
          </a:xfrm>
          <a:prstGeom prst="rect">
            <a:avLst/>
          </a:prstGeom>
          <a:noFill/>
          <a:ln/>
        </p:spPr>
        <p:txBody>
          <a:bodyPr wrap="square" rtlCol="0" anchor="ctr"/>
          <a:lstStyle/>
          <a:p>
            <a:pPr marL="0" indent="0">
              <a:buNone/>
            </a:pPr>
            <a:r>
              <a:rPr lang="en-US" sz="900" b="1" kern="0" spc="200" dirty="0">
                <a:solidFill>
                  <a:srgbClr val="8A94A6"/>
                </a:solidFill>
                <a:latin typeface="Segoe UI" pitchFamily="34" charset="0"/>
                <a:ea typeface="Segoe UI" pitchFamily="34" charset="-122"/>
                <a:cs typeface="Segoe UI" pitchFamily="34" charset="-120"/>
              </a:rPr>
              <a:t>THEN</a:t>
            </a:r>
            <a:endParaRPr lang="en-US" sz="900" dirty="0"/>
          </a:p>
        </p:txBody>
      </p:sp>
      <p:sp>
        <p:nvSpPr>
          <p:cNvPr id="15" name="Text 13"/>
          <p:cNvSpPr/>
          <p:nvPr/>
        </p:nvSpPr>
        <p:spPr>
          <a:xfrm>
            <a:off x="746608" y="4846320"/>
            <a:ext cx="3108960" cy="100584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Surface B agents grounded on M365 data</a:t>
            </a:r>
            <a:endParaRPr lang="en-US" sz="1200" dirty="0"/>
          </a:p>
        </p:txBody>
      </p:sp>
      <p:sp>
        <p:nvSpPr>
          <p:cNvPr id="16" name="Shape 14"/>
          <p:cNvSpPr/>
          <p:nvPr/>
        </p:nvSpPr>
        <p:spPr>
          <a:xfrm>
            <a:off x="4267048" y="1828800"/>
            <a:ext cx="3657600" cy="4114800"/>
          </a:xfrm>
          <a:prstGeom prst="roundRect">
            <a:avLst>
              <a:gd name="adj" fmla="val 2500"/>
            </a:avLst>
          </a:prstGeom>
          <a:solidFill>
            <a:srgbClr val="FFFFFF"/>
          </a:solidFill>
          <a:ln w="12700">
            <a:solidFill>
              <a:srgbClr val="E1E6EF"/>
            </a:solidFill>
            <a:prstDash val="solid"/>
          </a:ln>
        </p:spPr>
        <p:txBody>
          <a:bodyPr/>
          <a:lstStyle/>
          <a:p>
            <a:endParaRPr lang="en-ZA"/>
          </a:p>
        </p:txBody>
      </p:sp>
      <p:sp>
        <p:nvSpPr>
          <p:cNvPr id="17" name="Shape 15"/>
          <p:cNvSpPr/>
          <p:nvPr/>
        </p:nvSpPr>
        <p:spPr>
          <a:xfrm>
            <a:off x="4267048" y="1828800"/>
            <a:ext cx="3657600" cy="73152"/>
          </a:xfrm>
          <a:prstGeom prst="rect">
            <a:avLst/>
          </a:prstGeom>
          <a:solidFill>
            <a:srgbClr val="C03BC4"/>
          </a:solidFill>
          <a:ln/>
        </p:spPr>
        <p:txBody>
          <a:bodyPr/>
          <a:lstStyle/>
          <a:p>
            <a:endParaRPr lang="en-ZA"/>
          </a:p>
        </p:txBody>
      </p:sp>
      <p:sp>
        <p:nvSpPr>
          <p:cNvPr id="18" name="Shape 16"/>
          <p:cNvSpPr/>
          <p:nvPr/>
        </p:nvSpPr>
        <p:spPr>
          <a:xfrm>
            <a:off x="4541368" y="2103120"/>
            <a:ext cx="640080" cy="640080"/>
          </a:xfrm>
          <a:prstGeom prst="ellipse">
            <a:avLst/>
          </a:prstGeom>
          <a:solidFill>
            <a:srgbClr val="C03BC4"/>
          </a:solidFill>
          <a:ln w="12700">
            <a:solidFill>
              <a:srgbClr val="C03BC4"/>
            </a:solidFill>
            <a:prstDash val="solid"/>
          </a:ln>
        </p:spPr>
        <p:txBody>
          <a:bodyPr/>
          <a:lstStyle/>
          <a:p>
            <a:endParaRPr lang="en-ZA"/>
          </a:p>
        </p:txBody>
      </p:sp>
      <p:sp>
        <p:nvSpPr>
          <p:cNvPr id="19" name="Text 17"/>
          <p:cNvSpPr/>
          <p:nvPr/>
        </p:nvSpPr>
        <p:spPr>
          <a:xfrm>
            <a:off x="4541368" y="2103120"/>
            <a:ext cx="64008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B</a:t>
            </a:r>
            <a:endParaRPr lang="en-US" sz="2200" dirty="0"/>
          </a:p>
        </p:txBody>
      </p:sp>
      <p:sp>
        <p:nvSpPr>
          <p:cNvPr id="20" name="Text 18"/>
          <p:cNvSpPr/>
          <p:nvPr/>
        </p:nvSpPr>
        <p:spPr>
          <a:xfrm>
            <a:off x="5272888" y="2148840"/>
            <a:ext cx="2468880" cy="640080"/>
          </a:xfrm>
          <a:prstGeom prst="rect">
            <a:avLst/>
          </a:prstGeom>
          <a:noFill/>
          <a:ln/>
        </p:spPr>
        <p:txBody>
          <a:bodyPr wrap="square" rtlCol="0" anchor="ctr"/>
          <a:lstStyle/>
          <a:p>
            <a:pPr marL="0" indent="0">
              <a:buNone/>
            </a:pPr>
            <a:r>
              <a:rPr lang="en-US" sz="1200" i="1" dirty="0">
                <a:solidFill>
                  <a:srgbClr val="4B5563"/>
                </a:solidFill>
                <a:latin typeface="Segoe UI" pitchFamily="34" charset="0"/>
                <a:ea typeface="Segoe UI" pitchFamily="34" charset="-122"/>
                <a:cs typeface="Segoe UI" pitchFamily="34" charset="-120"/>
              </a:rPr>
              <a:t>If the customer is automating a workflow</a:t>
            </a:r>
            <a:endParaRPr lang="en-US" sz="1200" dirty="0"/>
          </a:p>
        </p:txBody>
      </p:sp>
      <p:sp>
        <p:nvSpPr>
          <p:cNvPr id="21" name="Text 19"/>
          <p:cNvSpPr/>
          <p:nvPr/>
        </p:nvSpPr>
        <p:spPr>
          <a:xfrm>
            <a:off x="4541368" y="2926080"/>
            <a:ext cx="3200400" cy="457200"/>
          </a:xfrm>
          <a:prstGeom prst="rect">
            <a:avLst/>
          </a:prstGeom>
          <a:noFill/>
          <a:ln/>
        </p:spPr>
        <p:txBody>
          <a:bodyPr wrap="square" rtlCol="0" anchor="ctr"/>
          <a:lstStyle/>
          <a:p>
            <a:pPr marL="0" indent="0">
              <a:buNone/>
            </a:pPr>
            <a:r>
              <a:rPr lang="en-US" sz="1800" b="1" dirty="0">
                <a:solidFill>
                  <a:srgbClr val="091F2C"/>
                </a:solidFill>
                <a:latin typeface="Segoe UI" pitchFamily="34" charset="0"/>
                <a:ea typeface="Segoe UI" pitchFamily="34" charset="-122"/>
                <a:cs typeface="Segoe UI" pitchFamily="34" charset="-120"/>
              </a:rPr>
              <a:t>Copilot Studio</a:t>
            </a:r>
            <a:endParaRPr lang="en-US" sz="1800" dirty="0"/>
          </a:p>
        </p:txBody>
      </p:sp>
      <p:sp>
        <p:nvSpPr>
          <p:cNvPr id="22" name="Shape 20"/>
          <p:cNvSpPr/>
          <p:nvPr/>
        </p:nvSpPr>
        <p:spPr>
          <a:xfrm>
            <a:off x="4541368" y="3520440"/>
            <a:ext cx="3108960" cy="18288"/>
          </a:xfrm>
          <a:prstGeom prst="rect">
            <a:avLst/>
          </a:prstGeom>
          <a:solidFill>
            <a:srgbClr val="E1E6EF"/>
          </a:solidFill>
          <a:ln w="12700">
            <a:solidFill>
              <a:srgbClr val="E1E6EF"/>
            </a:solidFill>
            <a:prstDash val="solid"/>
          </a:ln>
        </p:spPr>
        <p:txBody>
          <a:bodyPr/>
          <a:lstStyle/>
          <a:p>
            <a:endParaRPr lang="en-ZA"/>
          </a:p>
        </p:txBody>
      </p:sp>
      <p:sp>
        <p:nvSpPr>
          <p:cNvPr id="23" name="Text 21"/>
          <p:cNvSpPr/>
          <p:nvPr/>
        </p:nvSpPr>
        <p:spPr>
          <a:xfrm>
            <a:off x="4541368" y="3611880"/>
            <a:ext cx="3108960" cy="182880"/>
          </a:xfrm>
          <a:prstGeom prst="rect">
            <a:avLst/>
          </a:prstGeom>
          <a:noFill/>
          <a:ln/>
        </p:spPr>
        <p:txBody>
          <a:bodyPr wrap="square" rtlCol="0" anchor="ctr"/>
          <a:lstStyle/>
          <a:p>
            <a:pPr marL="0" indent="0">
              <a:buNone/>
            </a:pPr>
            <a:r>
              <a:rPr lang="en-US" sz="900" b="1" kern="0" spc="200" dirty="0">
                <a:solidFill>
                  <a:srgbClr val="8A94A6"/>
                </a:solidFill>
                <a:latin typeface="Segoe UI" pitchFamily="34" charset="0"/>
                <a:ea typeface="Segoe UI" pitchFamily="34" charset="-122"/>
                <a:cs typeface="Segoe UI" pitchFamily="34" charset="-120"/>
              </a:rPr>
              <a:t>FIRST</a:t>
            </a:r>
            <a:endParaRPr lang="en-US" sz="900" dirty="0"/>
          </a:p>
        </p:txBody>
      </p:sp>
      <p:sp>
        <p:nvSpPr>
          <p:cNvPr id="24" name="Text 22"/>
          <p:cNvSpPr/>
          <p:nvPr/>
        </p:nvSpPr>
        <p:spPr>
          <a:xfrm>
            <a:off x="4541368" y="3794760"/>
            <a:ext cx="3108960" cy="777240"/>
          </a:xfrm>
          <a:prstGeom prst="rect">
            <a:avLst/>
          </a:prstGeom>
          <a:noFill/>
          <a:ln/>
        </p:spPr>
        <p:txBody>
          <a:bodyPr wrap="square" rtlCol="0" anchor="ctr"/>
          <a:lstStyle/>
          <a:p>
            <a:pPr marL="0" indent="0">
              <a:buNone/>
            </a:pPr>
            <a:r>
              <a:rPr lang="en-US" sz="1200" b="1" dirty="0">
                <a:solidFill>
                  <a:srgbClr val="091F2C"/>
                </a:solidFill>
                <a:latin typeface="Segoe UI" pitchFamily="34" charset="0"/>
                <a:ea typeface="Segoe UI" pitchFamily="34" charset="-122"/>
                <a:cs typeface="Segoe UI" pitchFamily="34" charset="-120"/>
              </a:rPr>
              <a:t>Departmental agent · ID Agents → POC → OoB</a:t>
            </a:r>
            <a:endParaRPr lang="en-US" sz="1200" dirty="0"/>
          </a:p>
        </p:txBody>
      </p:sp>
      <p:sp>
        <p:nvSpPr>
          <p:cNvPr id="25" name="Text 23"/>
          <p:cNvSpPr/>
          <p:nvPr/>
        </p:nvSpPr>
        <p:spPr>
          <a:xfrm>
            <a:off x="4541368" y="4663440"/>
            <a:ext cx="3108960" cy="182880"/>
          </a:xfrm>
          <a:prstGeom prst="rect">
            <a:avLst/>
          </a:prstGeom>
          <a:noFill/>
          <a:ln/>
        </p:spPr>
        <p:txBody>
          <a:bodyPr wrap="square" rtlCol="0" anchor="ctr"/>
          <a:lstStyle/>
          <a:p>
            <a:pPr marL="0" indent="0">
              <a:buNone/>
            </a:pPr>
            <a:r>
              <a:rPr lang="en-US" sz="900" b="1" kern="0" spc="200" dirty="0">
                <a:solidFill>
                  <a:srgbClr val="8A94A6"/>
                </a:solidFill>
                <a:latin typeface="Segoe UI" pitchFamily="34" charset="0"/>
                <a:ea typeface="Segoe UI" pitchFamily="34" charset="-122"/>
                <a:cs typeface="Segoe UI" pitchFamily="34" charset="-120"/>
              </a:rPr>
              <a:t>THEN</a:t>
            </a:r>
            <a:endParaRPr lang="en-US" sz="900" dirty="0"/>
          </a:p>
        </p:txBody>
      </p:sp>
      <p:sp>
        <p:nvSpPr>
          <p:cNvPr id="26" name="Text 24"/>
          <p:cNvSpPr/>
          <p:nvPr/>
        </p:nvSpPr>
        <p:spPr>
          <a:xfrm>
            <a:off x="4541368" y="4846320"/>
            <a:ext cx="3108960" cy="100584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Surface C custom agents · agentic orchestration</a:t>
            </a:r>
            <a:endParaRPr lang="en-US" sz="1200" dirty="0"/>
          </a:p>
        </p:txBody>
      </p:sp>
      <p:sp>
        <p:nvSpPr>
          <p:cNvPr id="27" name="Shape 25"/>
          <p:cNvSpPr/>
          <p:nvPr/>
        </p:nvSpPr>
        <p:spPr>
          <a:xfrm>
            <a:off x="8061808" y="1828800"/>
            <a:ext cx="3657600" cy="4114800"/>
          </a:xfrm>
          <a:prstGeom prst="roundRect">
            <a:avLst>
              <a:gd name="adj" fmla="val 2500"/>
            </a:avLst>
          </a:prstGeom>
          <a:solidFill>
            <a:srgbClr val="FFFFFF"/>
          </a:solidFill>
          <a:ln w="12700">
            <a:solidFill>
              <a:srgbClr val="E1E6EF"/>
            </a:solidFill>
            <a:prstDash val="solid"/>
          </a:ln>
        </p:spPr>
        <p:txBody>
          <a:bodyPr/>
          <a:lstStyle/>
          <a:p>
            <a:endParaRPr lang="en-ZA"/>
          </a:p>
        </p:txBody>
      </p:sp>
      <p:sp>
        <p:nvSpPr>
          <p:cNvPr id="28" name="Shape 26"/>
          <p:cNvSpPr/>
          <p:nvPr/>
        </p:nvSpPr>
        <p:spPr>
          <a:xfrm>
            <a:off x="8061808" y="1828800"/>
            <a:ext cx="3657600" cy="73152"/>
          </a:xfrm>
          <a:prstGeom prst="rect">
            <a:avLst/>
          </a:prstGeom>
          <a:solidFill>
            <a:srgbClr val="FF5C39"/>
          </a:solidFill>
          <a:ln/>
        </p:spPr>
        <p:txBody>
          <a:bodyPr/>
          <a:lstStyle/>
          <a:p>
            <a:endParaRPr lang="en-ZA"/>
          </a:p>
        </p:txBody>
      </p:sp>
      <p:sp>
        <p:nvSpPr>
          <p:cNvPr id="29" name="Shape 27"/>
          <p:cNvSpPr/>
          <p:nvPr/>
        </p:nvSpPr>
        <p:spPr>
          <a:xfrm>
            <a:off x="8336128" y="2103120"/>
            <a:ext cx="640080" cy="640080"/>
          </a:xfrm>
          <a:prstGeom prst="ellipse">
            <a:avLst/>
          </a:prstGeom>
          <a:solidFill>
            <a:srgbClr val="FF5C39"/>
          </a:solidFill>
          <a:ln w="12700">
            <a:solidFill>
              <a:srgbClr val="FF5C39"/>
            </a:solidFill>
            <a:prstDash val="solid"/>
          </a:ln>
        </p:spPr>
        <p:txBody>
          <a:bodyPr/>
          <a:lstStyle/>
          <a:p>
            <a:endParaRPr lang="en-ZA"/>
          </a:p>
        </p:txBody>
      </p:sp>
      <p:sp>
        <p:nvSpPr>
          <p:cNvPr id="30" name="Text 28"/>
          <p:cNvSpPr/>
          <p:nvPr/>
        </p:nvSpPr>
        <p:spPr>
          <a:xfrm>
            <a:off x="8336128" y="2103120"/>
            <a:ext cx="64008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C</a:t>
            </a:r>
            <a:endParaRPr lang="en-US" sz="2200" dirty="0"/>
          </a:p>
        </p:txBody>
      </p:sp>
      <p:sp>
        <p:nvSpPr>
          <p:cNvPr id="31" name="Text 29"/>
          <p:cNvSpPr/>
          <p:nvPr/>
        </p:nvSpPr>
        <p:spPr>
          <a:xfrm>
            <a:off x="9067648" y="2148840"/>
            <a:ext cx="2468880" cy="640080"/>
          </a:xfrm>
          <a:prstGeom prst="rect">
            <a:avLst/>
          </a:prstGeom>
          <a:noFill/>
          <a:ln/>
        </p:spPr>
        <p:txBody>
          <a:bodyPr wrap="square" rtlCol="0" anchor="ctr"/>
          <a:lstStyle/>
          <a:p>
            <a:pPr marL="0" indent="0">
              <a:buNone/>
            </a:pPr>
            <a:r>
              <a:rPr lang="en-US" sz="1200" i="1" dirty="0">
                <a:solidFill>
                  <a:srgbClr val="4B5563"/>
                </a:solidFill>
                <a:latin typeface="Segoe UI" pitchFamily="34" charset="0"/>
                <a:ea typeface="Segoe UI" pitchFamily="34" charset="-122"/>
                <a:cs typeface="Segoe UI" pitchFamily="34" charset="-120"/>
              </a:rPr>
              <a:t>If the customer has a dev team building</a:t>
            </a:r>
            <a:endParaRPr lang="en-US" sz="1200" dirty="0"/>
          </a:p>
        </p:txBody>
      </p:sp>
      <p:sp>
        <p:nvSpPr>
          <p:cNvPr id="32" name="Text 30"/>
          <p:cNvSpPr/>
          <p:nvPr/>
        </p:nvSpPr>
        <p:spPr>
          <a:xfrm>
            <a:off x="8336128" y="2926080"/>
            <a:ext cx="3200400" cy="457200"/>
          </a:xfrm>
          <a:prstGeom prst="rect">
            <a:avLst/>
          </a:prstGeom>
          <a:noFill/>
          <a:ln/>
        </p:spPr>
        <p:txBody>
          <a:bodyPr wrap="square" rtlCol="0" anchor="ctr"/>
          <a:lstStyle/>
          <a:p>
            <a:pPr marL="0" indent="0">
              <a:buNone/>
            </a:pPr>
            <a:r>
              <a:rPr lang="en-US" sz="1800" b="1" dirty="0">
                <a:solidFill>
                  <a:srgbClr val="091F2C"/>
                </a:solidFill>
                <a:latin typeface="Segoe UI" pitchFamily="34" charset="0"/>
                <a:ea typeface="Segoe UI" pitchFamily="34" charset="-122"/>
                <a:cs typeface="Segoe UI" pitchFamily="34" charset="-120"/>
              </a:rPr>
              <a:t>Azure AI Foundry</a:t>
            </a:r>
            <a:endParaRPr lang="en-US" sz="1800" dirty="0"/>
          </a:p>
        </p:txBody>
      </p:sp>
      <p:sp>
        <p:nvSpPr>
          <p:cNvPr id="33" name="Shape 31"/>
          <p:cNvSpPr/>
          <p:nvPr/>
        </p:nvSpPr>
        <p:spPr>
          <a:xfrm>
            <a:off x="8336128" y="3520440"/>
            <a:ext cx="3108960" cy="18288"/>
          </a:xfrm>
          <a:prstGeom prst="rect">
            <a:avLst/>
          </a:prstGeom>
          <a:solidFill>
            <a:srgbClr val="E1E6EF"/>
          </a:solidFill>
          <a:ln w="12700">
            <a:solidFill>
              <a:srgbClr val="E1E6EF"/>
            </a:solidFill>
            <a:prstDash val="solid"/>
          </a:ln>
        </p:spPr>
        <p:txBody>
          <a:bodyPr/>
          <a:lstStyle/>
          <a:p>
            <a:endParaRPr lang="en-ZA"/>
          </a:p>
        </p:txBody>
      </p:sp>
      <p:sp>
        <p:nvSpPr>
          <p:cNvPr id="34" name="Text 32"/>
          <p:cNvSpPr/>
          <p:nvPr/>
        </p:nvSpPr>
        <p:spPr>
          <a:xfrm>
            <a:off x="8336128" y="3611880"/>
            <a:ext cx="3108960" cy="182880"/>
          </a:xfrm>
          <a:prstGeom prst="rect">
            <a:avLst/>
          </a:prstGeom>
          <a:noFill/>
          <a:ln/>
        </p:spPr>
        <p:txBody>
          <a:bodyPr wrap="square" rtlCol="0" anchor="ctr"/>
          <a:lstStyle/>
          <a:p>
            <a:pPr marL="0" indent="0">
              <a:buNone/>
            </a:pPr>
            <a:r>
              <a:rPr lang="en-US" sz="900" b="1" kern="0" spc="200" dirty="0">
                <a:solidFill>
                  <a:srgbClr val="8A94A6"/>
                </a:solidFill>
                <a:latin typeface="Segoe UI" pitchFamily="34" charset="0"/>
                <a:ea typeface="Segoe UI" pitchFamily="34" charset="-122"/>
                <a:cs typeface="Segoe UI" pitchFamily="34" charset="-120"/>
              </a:rPr>
              <a:t>FIRST</a:t>
            </a:r>
            <a:endParaRPr lang="en-US" sz="900" dirty="0"/>
          </a:p>
        </p:txBody>
      </p:sp>
      <p:sp>
        <p:nvSpPr>
          <p:cNvPr id="35" name="Text 33"/>
          <p:cNvSpPr/>
          <p:nvPr/>
        </p:nvSpPr>
        <p:spPr>
          <a:xfrm>
            <a:off x="8336128" y="3794760"/>
            <a:ext cx="3108960" cy="777240"/>
          </a:xfrm>
          <a:prstGeom prst="rect">
            <a:avLst/>
          </a:prstGeom>
          <a:noFill/>
          <a:ln/>
        </p:spPr>
        <p:txBody>
          <a:bodyPr wrap="square" rtlCol="0" anchor="ctr"/>
          <a:lstStyle/>
          <a:p>
            <a:pPr marL="0" indent="0">
              <a:buNone/>
            </a:pPr>
            <a:r>
              <a:rPr lang="en-US" sz="1200" b="1" dirty="0">
                <a:solidFill>
                  <a:srgbClr val="091F2C"/>
                </a:solidFill>
                <a:latin typeface="Segoe UI" pitchFamily="34" charset="0"/>
                <a:ea typeface="Segoe UI" pitchFamily="34" charset="-122"/>
                <a:cs typeface="Segoe UI" pitchFamily="34" charset="-120"/>
              </a:rPr>
              <a:t>AI landing zone · first production agent</a:t>
            </a:r>
            <a:endParaRPr lang="en-US" sz="1200" dirty="0"/>
          </a:p>
        </p:txBody>
      </p:sp>
      <p:sp>
        <p:nvSpPr>
          <p:cNvPr id="36" name="Text 34"/>
          <p:cNvSpPr/>
          <p:nvPr/>
        </p:nvSpPr>
        <p:spPr>
          <a:xfrm>
            <a:off x="8336128" y="4663440"/>
            <a:ext cx="3108960" cy="182880"/>
          </a:xfrm>
          <a:prstGeom prst="rect">
            <a:avLst/>
          </a:prstGeom>
          <a:noFill/>
          <a:ln/>
        </p:spPr>
        <p:txBody>
          <a:bodyPr wrap="square" rtlCol="0" anchor="ctr"/>
          <a:lstStyle/>
          <a:p>
            <a:pPr marL="0" indent="0">
              <a:buNone/>
            </a:pPr>
            <a:r>
              <a:rPr lang="en-US" sz="900" b="1" kern="0" spc="200" dirty="0">
                <a:solidFill>
                  <a:srgbClr val="8A94A6"/>
                </a:solidFill>
                <a:latin typeface="Segoe UI" pitchFamily="34" charset="0"/>
                <a:ea typeface="Segoe UI" pitchFamily="34" charset="-122"/>
                <a:cs typeface="Segoe UI" pitchFamily="34" charset="-120"/>
              </a:rPr>
              <a:t>THEN</a:t>
            </a:r>
            <a:endParaRPr lang="en-US" sz="900" dirty="0"/>
          </a:p>
        </p:txBody>
      </p:sp>
      <p:sp>
        <p:nvSpPr>
          <p:cNvPr id="37" name="Text 35"/>
          <p:cNvSpPr/>
          <p:nvPr/>
        </p:nvSpPr>
        <p:spPr>
          <a:xfrm>
            <a:off x="8336128" y="4846320"/>
            <a:ext cx="3108960" cy="100584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Surface A/B activation across remaining LoBs</a:t>
            </a:r>
            <a:endParaRPr lang="en-US" sz="1200" dirty="0"/>
          </a:p>
        </p:txBody>
      </p:sp>
      <p:sp>
        <p:nvSpPr>
          <p:cNvPr id="38" name="Text 36"/>
          <p:cNvSpPr/>
          <p:nvPr/>
        </p:nvSpPr>
        <p:spPr>
          <a:xfrm>
            <a:off x="548640" y="6126480"/>
            <a:ext cx="11155680" cy="320040"/>
          </a:xfrm>
          <a:prstGeom prst="rect">
            <a:avLst/>
          </a:prstGeom>
          <a:noFill/>
          <a:ln/>
        </p:spPr>
        <p:txBody>
          <a:bodyPr wrap="square" rtlCol="0" anchor="ctr"/>
          <a:lstStyle/>
          <a:p>
            <a:pPr marL="0" indent="0">
              <a:buNone/>
            </a:pPr>
            <a:r>
              <a:rPr lang="en-US" sz="1200" i="1" dirty="0">
                <a:solidFill>
                  <a:srgbClr val="0078D4"/>
                </a:solidFill>
                <a:latin typeface="Segoe UI" pitchFamily="34" charset="0"/>
                <a:ea typeface="Segoe UI" pitchFamily="34" charset="-122"/>
                <a:cs typeface="Segoe UI" pitchFamily="34" charset="-120"/>
              </a:rPr>
              <a:t>Whichever surface starts the conversation — the CoE covers all three. Lead with the customer's problem; never with our SKU.</a:t>
            </a:r>
            <a:endParaRPr lang="en-US" sz="1200" dirty="0"/>
          </a:p>
        </p:txBody>
      </p:sp>
      <p:pic>
        <p:nvPicPr>
          <p:cNvPr id="39"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40" name="Text 37"/>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41" name="Text 38"/>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STEP 3</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000" b="1" dirty="0">
                <a:solidFill>
                  <a:srgbClr val="091F2C"/>
                </a:solidFill>
                <a:latin typeface="Segoe UI" pitchFamily="34" charset="0"/>
                <a:ea typeface="Segoe UI" pitchFamily="34" charset="-122"/>
                <a:cs typeface="Segoe UI" pitchFamily="34" charset="-120"/>
              </a:rPr>
              <a:t>Choose the engagement shape</a:t>
            </a:r>
            <a:endParaRPr lang="en-US" sz="3000" dirty="0"/>
          </a:p>
        </p:txBody>
      </p:sp>
      <p:sp>
        <p:nvSpPr>
          <p:cNvPr id="5" name="Shape 3"/>
          <p:cNvSpPr/>
          <p:nvPr/>
        </p:nvSpPr>
        <p:spPr>
          <a:xfrm>
            <a:off x="472288" y="1828800"/>
            <a:ext cx="3657600" cy="4206240"/>
          </a:xfrm>
          <a:prstGeom prst="roundRect">
            <a:avLst>
              <a:gd name="adj" fmla="val 2500"/>
            </a:avLst>
          </a:prstGeom>
          <a:solidFill>
            <a:srgbClr val="FFF8F5"/>
          </a:solidFill>
          <a:ln w="12700">
            <a:solidFill>
              <a:srgbClr val="E1E6EF"/>
            </a:solidFill>
            <a:prstDash val="solid"/>
          </a:ln>
        </p:spPr>
        <p:txBody>
          <a:bodyPr/>
          <a:lstStyle/>
          <a:p>
            <a:endParaRPr lang="en-ZA"/>
          </a:p>
        </p:txBody>
      </p:sp>
      <p:sp>
        <p:nvSpPr>
          <p:cNvPr id="6" name="Shape 4"/>
          <p:cNvSpPr/>
          <p:nvPr/>
        </p:nvSpPr>
        <p:spPr>
          <a:xfrm>
            <a:off x="472288" y="1828800"/>
            <a:ext cx="3657600" cy="640080"/>
          </a:xfrm>
          <a:prstGeom prst="rect">
            <a:avLst/>
          </a:prstGeom>
          <a:solidFill>
            <a:srgbClr val="0078D4"/>
          </a:solidFill>
          <a:ln w="12700">
            <a:solidFill>
              <a:srgbClr val="0078D4"/>
            </a:solidFill>
            <a:prstDash val="solid"/>
          </a:ln>
        </p:spPr>
        <p:txBody>
          <a:bodyPr/>
          <a:lstStyle/>
          <a:p>
            <a:endParaRPr lang="en-ZA"/>
          </a:p>
        </p:txBody>
      </p:sp>
      <p:sp>
        <p:nvSpPr>
          <p:cNvPr id="7" name="Text 5"/>
          <p:cNvSpPr/>
          <p:nvPr/>
        </p:nvSpPr>
        <p:spPr>
          <a:xfrm>
            <a:off x="746608" y="1874520"/>
            <a:ext cx="3200400" cy="320040"/>
          </a:xfrm>
          <a:prstGeom prst="rect">
            <a:avLst/>
          </a:prstGeom>
          <a:noFill/>
          <a:ln/>
        </p:spPr>
        <p:txBody>
          <a:bodyPr wrap="square" rtlCol="0" anchor="ctr"/>
          <a:lstStyle/>
          <a:p>
            <a:pPr marL="0" indent="0">
              <a:buNone/>
            </a:pPr>
            <a:r>
              <a:rPr lang="en-US" sz="1200" b="1" kern="0" spc="300" dirty="0">
                <a:solidFill>
                  <a:srgbClr val="FFFFFF"/>
                </a:solidFill>
                <a:latin typeface="Segoe UI" pitchFamily="34" charset="0"/>
                <a:ea typeface="Segoe UI" pitchFamily="34" charset="-122"/>
                <a:cs typeface="Segoe UI" pitchFamily="34" charset="-120"/>
              </a:rPr>
              <a:t>TIER</a:t>
            </a:r>
            <a:endParaRPr lang="en-US" sz="1200" dirty="0"/>
          </a:p>
        </p:txBody>
      </p:sp>
      <p:sp>
        <p:nvSpPr>
          <p:cNvPr id="8" name="Text 6"/>
          <p:cNvSpPr/>
          <p:nvPr/>
        </p:nvSpPr>
        <p:spPr>
          <a:xfrm>
            <a:off x="746608" y="2148840"/>
            <a:ext cx="3200400" cy="274320"/>
          </a:xfrm>
          <a:prstGeom prst="rect">
            <a:avLst/>
          </a:prstGeom>
          <a:noFill/>
          <a:ln/>
        </p:spPr>
        <p:txBody>
          <a:bodyPr wrap="square" rtlCol="0" anchor="ctr"/>
          <a:lstStyle/>
          <a:p>
            <a:pPr marL="0" indent="0">
              <a:buNone/>
            </a:pPr>
            <a:r>
              <a:rPr lang="en-US" sz="1100" i="1" dirty="0">
                <a:solidFill>
                  <a:srgbClr val="FFFFFF"/>
                </a:solidFill>
                <a:latin typeface="Segoe UI" pitchFamily="34" charset="0"/>
                <a:ea typeface="Segoe UI" pitchFamily="34" charset="-122"/>
                <a:cs typeface="Segoe UI" pitchFamily="34" charset="-120"/>
              </a:rPr>
              <a:t>Commercial structure</a:t>
            </a:r>
            <a:endParaRPr lang="en-US" sz="1100" dirty="0"/>
          </a:p>
        </p:txBody>
      </p:sp>
      <p:sp>
        <p:nvSpPr>
          <p:cNvPr id="9" name="Shape 7"/>
          <p:cNvSpPr/>
          <p:nvPr/>
        </p:nvSpPr>
        <p:spPr>
          <a:xfrm>
            <a:off x="700888" y="2743200"/>
            <a:ext cx="3200400" cy="822960"/>
          </a:xfrm>
          <a:prstGeom prst="roundRect">
            <a:avLst>
              <a:gd name="adj" fmla="val 6667"/>
            </a:avLst>
          </a:prstGeom>
          <a:solidFill>
            <a:srgbClr val="FFFFFF"/>
          </a:solidFill>
          <a:ln w="12700">
            <a:solidFill>
              <a:srgbClr val="E1E6EF"/>
            </a:solidFill>
            <a:prstDash val="solid"/>
          </a:ln>
        </p:spPr>
        <p:txBody>
          <a:bodyPr/>
          <a:lstStyle/>
          <a:p>
            <a:endParaRPr lang="en-ZA"/>
          </a:p>
        </p:txBody>
      </p:sp>
      <p:sp>
        <p:nvSpPr>
          <p:cNvPr id="10" name="Text 8"/>
          <p:cNvSpPr/>
          <p:nvPr/>
        </p:nvSpPr>
        <p:spPr>
          <a:xfrm>
            <a:off x="838048" y="2834640"/>
            <a:ext cx="3017520" cy="320040"/>
          </a:xfrm>
          <a:prstGeom prst="rect">
            <a:avLst/>
          </a:prstGeom>
          <a:noFill/>
          <a:ln/>
        </p:spPr>
        <p:txBody>
          <a:bodyPr wrap="square" rtlCol="0" anchor="ctr"/>
          <a:lstStyle/>
          <a:p>
            <a:pPr marL="0" indent="0">
              <a:buNone/>
            </a:pPr>
            <a:r>
              <a:rPr lang="en-US" sz="1400" b="1" dirty="0">
                <a:solidFill>
                  <a:srgbClr val="0078D4"/>
                </a:solidFill>
                <a:latin typeface="Segoe UI" pitchFamily="34" charset="0"/>
                <a:ea typeface="Segoe UI" pitchFamily="34" charset="-122"/>
                <a:cs typeface="Segoe UI" pitchFamily="34" charset="-120"/>
              </a:rPr>
              <a:t>Tier 1</a:t>
            </a:r>
            <a:endParaRPr lang="en-US" sz="1400" dirty="0"/>
          </a:p>
        </p:txBody>
      </p:sp>
      <p:sp>
        <p:nvSpPr>
          <p:cNvPr id="11" name="Text 9"/>
          <p:cNvSpPr/>
          <p:nvPr/>
        </p:nvSpPr>
        <p:spPr>
          <a:xfrm>
            <a:off x="838048" y="3136392"/>
            <a:ext cx="3017520" cy="365760"/>
          </a:xfrm>
          <a:prstGeom prst="rect">
            <a:avLst/>
          </a:prstGeom>
          <a:noFill/>
          <a:ln/>
        </p:spPr>
        <p:txBody>
          <a:bodyPr wrap="square" rtlCol="0" anchor="ctr"/>
          <a:lstStyle/>
          <a:p>
            <a:pPr marL="0" indent="0">
              <a:buNone/>
            </a:pPr>
            <a:r>
              <a:rPr lang="en-US" sz="1100" dirty="0">
                <a:solidFill>
                  <a:srgbClr val="091F2C"/>
                </a:solidFill>
                <a:latin typeface="Segoe UI" pitchFamily="34" charset="0"/>
                <a:ea typeface="Segoe UI" pitchFamily="34" charset="-122"/>
                <a:cs typeface="Segoe UI" pitchFamily="34" charset="-120"/>
              </a:rPr>
              <a:t>Envisioning · 2–6 weeks</a:t>
            </a:r>
            <a:endParaRPr lang="en-US" sz="1100" dirty="0"/>
          </a:p>
        </p:txBody>
      </p:sp>
      <p:sp>
        <p:nvSpPr>
          <p:cNvPr id="12" name="Shape 10"/>
          <p:cNvSpPr/>
          <p:nvPr/>
        </p:nvSpPr>
        <p:spPr>
          <a:xfrm>
            <a:off x="700888" y="3703320"/>
            <a:ext cx="3200400" cy="822960"/>
          </a:xfrm>
          <a:prstGeom prst="roundRect">
            <a:avLst>
              <a:gd name="adj" fmla="val 6667"/>
            </a:avLst>
          </a:prstGeom>
          <a:solidFill>
            <a:srgbClr val="FFFFFF"/>
          </a:solidFill>
          <a:ln w="12700">
            <a:solidFill>
              <a:srgbClr val="E1E6EF"/>
            </a:solidFill>
            <a:prstDash val="solid"/>
          </a:ln>
        </p:spPr>
        <p:txBody>
          <a:bodyPr/>
          <a:lstStyle/>
          <a:p>
            <a:endParaRPr lang="en-ZA"/>
          </a:p>
        </p:txBody>
      </p:sp>
      <p:sp>
        <p:nvSpPr>
          <p:cNvPr id="13" name="Text 11"/>
          <p:cNvSpPr/>
          <p:nvPr/>
        </p:nvSpPr>
        <p:spPr>
          <a:xfrm>
            <a:off x="838048" y="3794760"/>
            <a:ext cx="3017520" cy="320040"/>
          </a:xfrm>
          <a:prstGeom prst="rect">
            <a:avLst/>
          </a:prstGeom>
          <a:noFill/>
          <a:ln/>
        </p:spPr>
        <p:txBody>
          <a:bodyPr wrap="square" rtlCol="0" anchor="ctr"/>
          <a:lstStyle/>
          <a:p>
            <a:pPr marL="0" indent="0">
              <a:buNone/>
            </a:pPr>
            <a:r>
              <a:rPr lang="en-US" sz="1400" b="1" dirty="0">
                <a:solidFill>
                  <a:srgbClr val="0078D4"/>
                </a:solidFill>
                <a:latin typeface="Segoe UI" pitchFamily="34" charset="0"/>
                <a:ea typeface="Segoe UI" pitchFamily="34" charset="-122"/>
                <a:cs typeface="Segoe UI" pitchFamily="34" charset="-120"/>
              </a:rPr>
              <a:t>Tier 2</a:t>
            </a:r>
            <a:endParaRPr lang="en-US" sz="1400" dirty="0"/>
          </a:p>
        </p:txBody>
      </p:sp>
      <p:sp>
        <p:nvSpPr>
          <p:cNvPr id="14" name="Text 12"/>
          <p:cNvSpPr/>
          <p:nvPr/>
        </p:nvSpPr>
        <p:spPr>
          <a:xfrm>
            <a:off x="838048" y="4096512"/>
            <a:ext cx="3017520" cy="365760"/>
          </a:xfrm>
          <a:prstGeom prst="rect">
            <a:avLst/>
          </a:prstGeom>
          <a:noFill/>
          <a:ln/>
        </p:spPr>
        <p:txBody>
          <a:bodyPr wrap="square" rtlCol="0" anchor="ctr"/>
          <a:lstStyle/>
          <a:p>
            <a:pPr marL="0" indent="0">
              <a:buNone/>
            </a:pPr>
            <a:r>
              <a:rPr lang="en-US" sz="1100" dirty="0">
                <a:solidFill>
                  <a:srgbClr val="091F2C"/>
                </a:solidFill>
                <a:latin typeface="Segoe UI" pitchFamily="34" charset="0"/>
                <a:ea typeface="Segoe UI" pitchFamily="34" charset="-122"/>
                <a:cs typeface="Segoe UI" pitchFamily="34" charset="-120"/>
              </a:rPr>
              <a:t>Build · 3–9 months</a:t>
            </a:r>
            <a:endParaRPr lang="en-US" sz="1100" dirty="0"/>
          </a:p>
        </p:txBody>
      </p:sp>
      <p:sp>
        <p:nvSpPr>
          <p:cNvPr id="15" name="Shape 13"/>
          <p:cNvSpPr/>
          <p:nvPr/>
        </p:nvSpPr>
        <p:spPr>
          <a:xfrm>
            <a:off x="700888" y="4663440"/>
            <a:ext cx="3200400" cy="822960"/>
          </a:xfrm>
          <a:prstGeom prst="roundRect">
            <a:avLst>
              <a:gd name="adj" fmla="val 6667"/>
            </a:avLst>
          </a:prstGeom>
          <a:solidFill>
            <a:srgbClr val="FFFFFF"/>
          </a:solidFill>
          <a:ln w="12700">
            <a:solidFill>
              <a:srgbClr val="E1E6EF"/>
            </a:solidFill>
            <a:prstDash val="solid"/>
          </a:ln>
        </p:spPr>
        <p:txBody>
          <a:bodyPr/>
          <a:lstStyle/>
          <a:p>
            <a:endParaRPr lang="en-ZA"/>
          </a:p>
        </p:txBody>
      </p:sp>
      <p:sp>
        <p:nvSpPr>
          <p:cNvPr id="16" name="Text 14"/>
          <p:cNvSpPr/>
          <p:nvPr/>
        </p:nvSpPr>
        <p:spPr>
          <a:xfrm>
            <a:off x="838048" y="4754880"/>
            <a:ext cx="3017520" cy="320040"/>
          </a:xfrm>
          <a:prstGeom prst="rect">
            <a:avLst/>
          </a:prstGeom>
          <a:noFill/>
          <a:ln/>
        </p:spPr>
        <p:txBody>
          <a:bodyPr wrap="square" rtlCol="0" anchor="ctr"/>
          <a:lstStyle/>
          <a:p>
            <a:pPr marL="0" indent="0">
              <a:buNone/>
            </a:pPr>
            <a:r>
              <a:rPr lang="en-US" sz="1400" b="1" dirty="0">
                <a:solidFill>
                  <a:srgbClr val="0078D4"/>
                </a:solidFill>
                <a:latin typeface="Segoe UI" pitchFamily="34" charset="0"/>
                <a:ea typeface="Segoe UI" pitchFamily="34" charset="-122"/>
                <a:cs typeface="Segoe UI" pitchFamily="34" charset="-120"/>
              </a:rPr>
              <a:t>Tier 3</a:t>
            </a:r>
            <a:endParaRPr lang="en-US" sz="1400" dirty="0"/>
          </a:p>
        </p:txBody>
      </p:sp>
      <p:sp>
        <p:nvSpPr>
          <p:cNvPr id="17" name="Text 15"/>
          <p:cNvSpPr/>
          <p:nvPr/>
        </p:nvSpPr>
        <p:spPr>
          <a:xfrm>
            <a:off x="838048" y="5056632"/>
            <a:ext cx="3017520" cy="365760"/>
          </a:xfrm>
          <a:prstGeom prst="rect">
            <a:avLst/>
          </a:prstGeom>
          <a:noFill/>
          <a:ln/>
        </p:spPr>
        <p:txBody>
          <a:bodyPr wrap="square" rtlCol="0" anchor="ctr"/>
          <a:lstStyle/>
          <a:p>
            <a:pPr marL="0" indent="0">
              <a:buNone/>
            </a:pPr>
            <a:r>
              <a:rPr lang="en-US" sz="1100" dirty="0">
                <a:solidFill>
                  <a:srgbClr val="091F2C"/>
                </a:solidFill>
                <a:latin typeface="Segoe UI" pitchFamily="34" charset="0"/>
                <a:ea typeface="Segoe UI" pitchFamily="34" charset="-122"/>
                <a:cs typeface="Segoe UI" pitchFamily="34" charset="-120"/>
              </a:rPr>
              <a:t>Managed Run · 12–36 months</a:t>
            </a:r>
            <a:endParaRPr lang="en-US" sz="1100" dirty="0"/>
          </a:p>
        </p:txBody>
      </p:sp>
      <p:sp>
        <p:nvSpPr>
          <p:cNvPr id="18" name="Shape 16"/>
          <p:cNvSpPr/>
          <p:nvPr/>
        </p:nvSpPr>
        <p:spPr>
          <a:xfrm>
            <a:off x="4267048" y="1828800"/>
            <a:ext cx="3657600" cy="4206240"/>
          </a:xfrm>
          <a:prstGeom prst="roundRect">
            <a:avLst>
              <a:gd name="adj" fmla="val 2500"/>
            </a:avLst>
          </a:prstGeom>
          <a:solidFill>
            <a:srgbClr val="FFF8F5"/>
          </a:solidFill>
          <a:ln w="12700">
            <a:solidFill>
              <a:srgbClr val="E1E6EF"/>
            </a:solidFill>
            <a:prstDash val="solid"/>
          </a:ln>
        </p:spPr>
        <p:txBody>
          <a:bodyPr/>
          <a:lstStyle/>
          <a:p>
            <a:endParaRPr lang="en-ZA"/>
          </a:p>
        </p:txBody>
      </p:sp>
      <p:sp>
        <p:nvSpPr>
          <p:cNvPr id="19" name="Shape 17"/>
          <p:cNvSpPr/>
          <p:nvPr/>
        </p:nvSpPr>
        <p:spPr>
          <a:xfrm>
            <a:off x="4267048" y="1828800"/>
            <a:ext cx="3657600" cy="640080"/>
          </a:xfrm>
          <a:prstGeom prst="rect">
            <a:avLst/>
          </a:prstGeom>
          <a:solidFill>
            <a:srgbClr val="FF5C39"/>
          </a:solidFill>
          <a:ln w="12700">
            <a:solidFill>
              <a:srgbClr val="FF5C39"/>
            </a:solidFill>
            <a:prstDash val="solid"/>
          </a:ln>
        </p:spPr>
        <p:txBody>
          <a:bodyPr/>
          <a:lstStyle/>
          <a:p>
            <a:endParaRPr lang="en-ZA"/>
          </a:p>
        </p:txBody>
      </p:sp>
      <p:sp>
        <p:nvSpPr>
          <p:cNvPr id="20" name="Text 18"/>
          <p:cNvSpPr/>
          <p:nvPr/>
        </p:nvSpPr>
        <p:spPr>
          <a:xfrm>
            <a:off x="4541368" y="1874520"/>
            <a:ext cx="3200400" cy="320040"/>
          </a:xfrm>
          <a:prstGeom prst="rect">
            <a:avLst/>
          </a:prstGeom>
          <a:noFill/>
          <a:ln/>
        </p:spPr>
        <p:txBody>
          <a:bodyPr wrap="square" rtlCol="0" anchor="ctr"/>
          <a:lstStyle/>
          <a:p>
            <a:pPr marL="0" indent="0">
              <a:buNone/>
            </a:pPr>
            <a:r>
              <a:rPr lang="en-US" sz="1200" b="1" kern="0" spc="300" dirty="0">
                <a:solidFill>
                  <a:srgbClr val="FFFFFF"/>
                </a:solidFill>
                <a:latin typeface="Segoe UI" pitchFamily="34" charset="0"/>
                <a:ea typeface="Segoe UI" pitchFamily="34" charset="-122"/>
                <a:cs typeface="Segoe UI" pitchFamily="34" charset="-120"/>
              </a:rPr>
              <a:t>ATO COMPONENT</a:t>
            </a:r>
            <a:endParaRPr lang="en-US" sz="1200" dirty="0"/>
          </a:p>
        </p:txBody>
      </p:sp>
      <p:sp>
        <p:nvSpPr>
          <p:cNvPr id="21" name="Text 19"/>
          <p:cNvSpPr/>
          <p:nvPr/>
        </p:nvSpPr>
        <p:spPr>
          <a:xfrm>
            <a:off x="4541368" y="2148840"/>
            <a:ext cx="3200400" cy="274320"/>
          </a:xfrm>
          <a:prstGeom prst="rect">
            <a:avLst/>
          </a:prstGeom>
          <a:noFill/>
          <a:ln/>
        </p:spPr>
        <p:txBody>
          <a:bodyPr wrap="square" rtlCol="0" anchor="ctr"/>
          <a:lstStyle/>
          <a:p>
            <a:pPr marL="0" indent="0">
              <a:buNone/>
            </a:pPr>
            <a:r>
              <a:rPr lang="en-US" sz="1100" i="1" dirty="0">
                <a:solidFill>
                  <a:srgbClr val="FFFFFF"/>
                </a:solidFill>
                <a:latin typeface="Segoe UI" pitchFamily="34" charset="0"/>
                <a:ea typeface="Segoe UI" pitchFamily="34" charset="-122"/>
                <a:cs typeface="Segoe UI" pitchFamily="34" charset="-120"/>
              </a:rPr>
              <a:t>Funded delivery engine</a:t>
            </a:r>
            <a:endParaRPr lang="en-US" sz="1100" dirty="0"/>
          </a:p>
        </p:txBody>
      </p:sp>
      <p:sp>
        <p:nvSpPr>
          <p:cNvPr id="22" name="Shape 20"/>
          <p:cNvSpPr/>
          <p:nvPr/>
        </p:nvSpPr>
        <p:spPr>
          <a:xfrm>
            <a:off x="4495648" y="2743200"/>
            <a:ext cx="3200400" cy="822960"/>
          </a:xfrm>
          <a:prstGeom prst="roundRect">
            <a:avLst>
              <a:gd name="adj" fmla="val 6667"/>
            </a:avLst>
          </a:prstGeom>
          <a:solidFill>
            <a:srgbClr val="FFFFFF"/>
          </a:solidFill>
          <a:ln w="12700">
            <a:solidFill>
              <a:srgbClr val="E1E6EF"/>
            </a:solidFill>
            <a:prstDash val="solid"/>
          </a:ln>
        </p:spPr>
        <p:txBody>
          <a:bodyPr/>
          <a:lstStyle/>
          <a:p>
            <a:endParaRPr lang="en-ZA"/>
          </a:p>
        </p:txBody>
      </p:sp>
      <p:sp>
        <p:nvSpPr>
          <p:cNvPr id="23" name="Text 21"/>
          <p:cNvSpPr/>
          <p:nvPr/>
        </p:nvSpPr>
        <p:spPr>
          <a:xfrm>
            <a:off x="4632808" y="2834640"/>
            <a:ext cx="3017520" cy="320040"/>
          </a:xfrm>
          <a:prstGeom prst="rect">
            <a:avLst/>
          </a:prstGeom>
          <a:noFill/>
          <a:ln/>
        </p:spPr>
        <p:txBody>
          <a:bodyPr wrap="square" rtlCol="0" anchor="ctr"/>
          <a:lstStyle/>
          <a:p>
            <a:pPr marL="0" indent="0">
              <a:buNone/>
            </a:pPr>
            <a:r>
              <a:rPr lang="en-US" sz="1400" b="1" dirty="0">
                <a:solidFill>
                  <a:srgbClr val="FF5C39"/>
                </a:solidFill>
                <a:latin typeface="Segoe UI" pitchFamily="34" charset="0"/>
                <a:ea typeface="Segoe UI" pitchFamily="34" charset="-122"/>
                <a:cs typeface="Segoe UI" pitchFamily="34" charset="-120"/>
              </a:rPr>
              <a:t>C1</a:t>
            </a:r>
            <a:endParaRPr lang="en-US" sz="1400" dirty="0"/>
          </a:p>
        </p:txBody>
      </p:sp>
      <p:sp>
        <p:nvSpPr>
          <p:cNvPr id="24" name="Text 22"/>
          <p:cNvSpPr/>
          <p:nvPr/>
        </p:nvSpPr>
        <p:spPr>
          <a:xfrm>
            <a:off x="4632808" y="3136392"/>
            <a:ext cx="3017520" cy="365760"/>
          </a:xfrm>
          <a:prstGeom prst="rect">
            <a:avLst/>
          </a:prstGeom>
          <a:noFill/>
          <a:ln/>
        </p:spPr>
        <p:txBody>
          <a:bodyPr wrap="square" rtlCol="0" anchor="ctr"/>
          <a:lstStyle/>
          <a:p>
            <a:pPr marL="0" indent="0">
              <a:buNone/>
            </a:pPr>
            <a:r>
              <a:rPr lang="en-US" sz="1100" dirty="0">
                <a:solidFill>
                  <a:srgbClr val="091F2C"/>
                </a:solidFill>
                <a:latin typeface="Segoe UI" pitchFamily="34" charset="0"/>
                <a:ea typeface="Segoe UI" pitchFamily="34" charset="-122"/>
                <a:cs typeface="Segoe UI" pitchFamily="34" charset="-120"/>
              </a:rPr>
              <a:t>Journey to Value · 1–2 wk</a:t>
            </a:r>
            <a:endParaRPr lang="en-US" sz="1100" dirty="0"/>
          </a:p>
        </p:txBody>
      </p:sp>
      <p:sp>
        <p:nvSpPr>
          <p:cNvPr id="25" name="Shape 23"/>
          <p:cNvSpPr/>
          <p:nvPr/>
        </p:nvSpPr>
        <p:spPr>
          <a:xfrm>
            <a:off x="4495648" y="3703320"/>
            <a:ext cx="3200400" cy="822960"/>
          </a:xfrm>
          <a:prstGeom prst="roundRect">
            <a:avLst>
              <a:gd name="adj" fmla="val 6667"/>
            </a:avLst>
          </a:prstGeom>
          <a:solidFill>
            <a:srgbClr val="FFFFFF"/>
          </a:solidFill>
          <a:ln w="12700">
            <a:solidFill>
              <a:srgbClr val="E1E6EF"/>
            </a:solidFill>
            <a:prstDash val="solid"/>
          </a:ln>
        </p:spPr>
        <p:txBody>
          <a:bodyPr/>
          <a:lstStyle/>
          <a:p>
            <a:endParaRPr lang="en-ZA"/>
          </a:p>
        </p:txBody>
      </p:sp>
      <p:sp>
        <p:nvSpPr>
          <p:cNvPr id="26" name="Text 24"/>
          <p:cNvSpPr/>
          <p:nvPr/>
        </p:nvSpPr>
        <p:spPr>
          <a:xfrm>
            <a:off x="4632808" y="3794760"/>
            <a:ext cx="3017520" cy="320040"/>
          </a:xfrm>
          <a:prstGeom prst="rect">
            <a:avLst/>
          </a:prstGeom>
          <a:noFill/>
          <a:ln/>
        </p:spPr>
        <p:txBody>
          <a:bodyPr wrap="square" rtlCol="0" anchor="ctr"/>
          <a:lstStyle/>
          <a:p>
            <a:pPr marL="0" indent="0">
              <a:buNone/>
            </a:pPr>
            <a:r>
              <a:rPr lang="en-US" sz="1400" b="1" dirty="0">
                <a:solidFill>
                  <a:srgbClr val="FF5C39"/>
                </a:solidFill>
                <a:latin typeface="Segoe UI" pitchFamily="34" charset="0"/>
                <a:ea typeface="Segoe UI" pitchFamily="34" charset="-122"/>
                <a:cs typeface="Segoe UI" pitchFamily="34" charset="-120"/>
              </a:rPr>
              <a:t>C2</a:t>
            </a:r>
            <a:endParaRPr lang="en-US" sz="1400" dirty="0"/>
          </a:p>
        </p:txBody>
      </p:sp>
      <p:sp>
        <p:nvSpPr>
          <p:cNvPr id="27" name="Text 25"/>
          <p:cNvSpPr/>
          <p:nvPr/>
        </p:nvSpPr>
        <p:spPr>
          <a:xfrm>
            <a:off x="4632808" y="4096512"/>
            <a:ext cx="3017520" cy="365760"/>
          </a:xfrm>
          <a:prstGeom prst="rect">
            <a:avLst/>
          </a:prstGeom>
          <a:noFill/>
          <a:ln/>
        </p:spPr>
        <p:txBody>
          <a:bodyPr wrap="square" rtlCol="0" anchor="ctr"/>
          <a:lstStyle/>
          <a:p>
            <a:pPr marL="0" indent="0">
              <a:buNone/>
            </a:pPr>
            <a:r>
              <a:rPr lang="en-US" sz="1100" dirty="0">
                <a:solidFill>
                  <a:srgbClr val="091F2C"/>
                </a:solidFill>
                <a:latin typeface="Segoe UI" pitchFamily="34" charset="0"/>
                <a:ea typeface="Segoe UI" pitchFamily="34" charset="-122"/>
                <a:cs typeface="Segoe UI" pitchFamily="34" charset="-120"/>
              </a:rPr>
              <a:t>Foundation Architecture · 2–4 wk</a:t>
            </a:r>
            <a:endParaRPr lang="en-US" sz="1100" dirty="0"/>
          </a:p>
        </p:txBody>
      </p:sp>
      <p:sp>
        <p:nvSpPr>
          <p:cNvPr id="28" name="Shape 26"/>
          <p:cNvSpPr/>
          <p:nvPr/>
        </p:nvSpPr>
        <p:spPr>
          <a:xfrm>
            <a:off x="4495648" y="4663440"/>
            <a:ext cx="3200400" cy="822960"/>
          </a:xfrm>
          <a:prstGeom prst="roundRect">
            <a:avLst>
              <a:gd name="adj" fmla="val 6667"/>
            </a:avLst>
          </a:prstGeom>
          <a:solidFill>
            <a:srgbClr val="FFFFFF"/>
          </a:solidFill>
          <a:ln w="12700">
            <a:solidFill>
              <a:srgbClr val="E1E6EF"/>
            </a:solidFill>
            <a:prstDash val="solid"/>
          </a:ln>
        </p:spPr>
        <p:txBody>
          <a:bodyPr/>
          <a:lstStyle/>
          <a:p>
            <a:endParaRPr lang="en-ZA"/>
          </a:p>
        </p:txBody>
      </p:sp>
      <p:sp>
        <p:nvSpPr>
          <p:cNvPr id="29" name="Text 27"/>
          <p:cNvSpPr/>
          <p:nvPr/>
        </p:nvSpPr>
        <p:spPr>
          <a:xfrm>
            <a:off x="4632808" y="4754880"/>
            <a:ext cx="3017520" cy="320040"/>
          </a:xfrm>
          <a:prstGeom prst="rect">
            <a:avLst/>
          </a:prstGeom>
          <a:noFill/>
          <a:ln/>
        </p:spPr>
        <p:txBody>
          <a:bodyPr wrap="square" rtlCol="0" anchor="ctr"/>
          <a:lstStyle/>
          <a:p>
            <a:pPr marL="0" indent="0">
              <a:buNone/>
            </a:pPr>
            <a:r>
              <a:rPr lang="en-US" sz="1400" b="1" dirty="0">
                <a:solidFill>
                  <a:srgbClr val="FF5C39"/>
                </a:solidFill>
                <a:latin typeface="Segoe UI" pitchFamily="34" charset="0"/>
                <a:ea typeface="Segoe UI" pitchFamily="34" charset="-122"/>
                <a:cs typeface="Segoe UI" pitchFamily="34" charset="-120"/>
              </a:rPr>
              <a:t>C3</a:t>
            </a:r>
            <a:endParaRPr lang="en-US" sz="1400" dirty="0"/>
          </a:p>
        </p:txBody>
      </p:sp>
      <p:sp>
        <p:nvSpPr>
          <p:cNvPr id="30" name="Text 28"/>
          <p:cNvSpPr/>
          <p:nvPr/>
        </p:nvSpPr>
        <p:spPr>
          <a:xfrm>
            <a:off x="4632808" y="5056632"/>
            <a:ext cx="3017520" cy="365760"/>
          </a:xfrm>
          <a:prstGeom prst="rect">
            <a:avLst/>
          </a:prstGeom>
          <a:noFill/>
          <a:ln/>
        </p:spPr>
        <p:txBody>
          <a:bodyPr wrap="square" rtlCol="0" anchor="ctr"/>
          <a:lstStyle/>
          <a:p>
            <a:pPr marL="0" indent="0">
              <a:buNone/>
            </a:pPr>
            <a:r>
              <a:rPr lang="en-US" sz="1100" dirty="0">
                <a:solidFill>
                  <a:srgbClr val="091F2C"/>
                </a:solidFill>
                <a:latin typeface="Segoe UI" pitchFamily="34" charset="0"/>
                <a:ea typeface="Segoe UI" pitchFamily="34" charset="-122"/>
                <a:cs typeface="Segoe UI" pitchFamily="34" charset="-120"/>
              </a:rPr>
              <a:t>Agent Factory · 7–9 wk</a:t>
            </a:r>
            <a:endParaRPr lang="en-US" sz="1100" dirty="0"/>
          </a:p>
        </p:txBody>
      </p:sp>
      <p:sp>
        <p:nvSpPr>
          <p:cNvPr id="31" name="Shape 29"/>
          <p:cNvSpPr/>
          <p:nvPr/>
        </p:nvSpPr>
        <p:spPr>
          <a:xfrm>
            <a:off x="8061808" y="1828800"/>
            <a:ext cx="3657600" cy="4206240"/>
          </a:xfrm>
          <a:prstGeom prst="roundRect">
            <a:avLst>
              <a:gd name="adj" fmla="val 2500"/>
            </a:avLst>
          </a:prstGeom>
          <a:solidFill>
            <a:srgbClr val="FFF8F5"/>
          </a:solidFill>
          <a:ln w="12700">
            <a:solidFill>
              <a:srgbClr val="E1E6EF"/>
            </a:solidFill>
            <a:prstDash val="solid"/>
          </a:ln>
        </p:spPr>
        <p:txBody>
          <a:bodyPr/>
          <a:lstStyle/>
          <a:p>
            <a:endParaRPr lang="en-ZA"/>
          </a:p>
        </p:txBody>
      </p:sp>
      <p:sp>
        <p:nvSpPr>
          <p:cNvPr id="32" name="Shape 30"/>
          <p:cNvSpPr/>
          <p:nvPr/>
        </p:nvSpPr>
        <p:spPr>
          <a:xfrm>
            <a:off x="8061808" y="1828800"/>
            <a:ext cx="3657600" cy="640080"/>
          </a:xfrm>
          <a:prstGeom prst="rect">
            <a:avLst/>
          </a:prstGeom>
          <a:solidFill>
            <a:srgbClr val="FFB900"/>
          </a:solidFill>
          <a:ln w="12700">
            <a:solidFill>
              <a:srgbClr val="FFB900"/>
            </a:solidFill>
            <a:prstDash val="solid"/>
          </a:ln>
        </p:spPr>
        <p:txBody>
          <a:bodyPr/>
          <a:lstStyle/>
          <a:p>
            <a:endParaRPr lang="en-ZA"/>
          </a:p>
        </p:txBody>
      </p:sp>
      <p:sp>
        <p:nvSpPr>
          <p:cNvPr id="33" name="Text 31"/>
          <p:cNvSpPr/>
          <p:nvPr/>
        </p:nvSpPr>
        <p:spPr>
          <a:xfrm>
            <a:off x="8336128" y="1874520"/>
            <a:ext cx="3200400" cy="320040"/>
          </a:xfrm>
          <a:prstGeom prst="rect">
            <a:avLst/>
          </a:prstGeom>
          <a:noFill/>
          <a:ln/>
        </p:spPr>
        <p:txBody>
          <a:bodyPr wrap="square" rtlCol="0" anchor="ctr"/>
          <a:lstStyle/>
          <a:p>
            <a:pPr marL="0" indent="0">
              <a:buNone/>
            </a:pPr>
            <a:r>
              <a:rPr lang="en-US" sz="1200" b="1" kern="0" spc="300" dirty="0">
                <a:solidFill>
                  <a:srgbClr val="FFFFFF"/>
                </a:solidFill>
                <a:latin typeface="Segoe UI" pitchFamily="34" charset="0"/>
                <a:ea typeface="Segoe UI" pitchFamily="34" charset="-122"/>
                <a:cs typeface="Segoe UI" pitchFamily="34" charset="-120"/>
              </a:rPr>
              <a:t>DELIVERY</a:t>
            </a:r>
            <a:endParaRPr lang="en-US" sz="1200" dirty="0"/>
          </a:p>
        </p:txBody>
      </p:sp>
      <p:sp>
        <p:nvSpPr>
          <p:cNvPr id="34" name="Text 32"/>
          <p:cNvSpPr/>
          <p:nvPr/>
        </p:nvSpPr>
        <p:spPr>
          <a:xfrm>
            <a:off x="8336128" y="2148840"/>
            <a:ext cx="3200400" cy="274320"/>
          </a:xfrm>
          <a:prstGeom prst="rect">
            <a:avLst/>
          </a:prstGeom>
          <a:noFill/>
          <a:ln/>
        </p:spPr>
        <p:txBody>
          <a:bodyPr wrap="square" rtlCol="0" anchor="ctr"/>
          <a:lstStyle/>
          <a:p>
            <a:pPr marL="0" indent="0">
              <a:buNone/>
            </a:pPr>
            <a:r>
              <a:rPr lang="en-US" sz="1100" i="1" dirty="0">
                <a:solidFill>
                  <a:srgbClr val="FFFFFF"/>
                </a:solidFill>
                <a:latin typeface="Segoe UI" pitchFamily="34" charset="0"/>
                <a:ea typeface="Segoe UI" pitchFamily="34" charset="-122"/>
                <a:cs typeface="Segoe UI" pitchFamily="34" charset="-120"/>
              </a:rPr>
              <a:t>Who builds it</a:t>
            </a:r>
            <a:endParaRPr lang="en-US" sz="1100" dirty="0"/>
          </a:p>
        </p:txBody>
      </p:sp>
      <p:sp>
        <p:nvSpPr>
          <p:cNvPr id="35" name="Shape 33"/>
          <p:cNvSpPr/>
          <p:nvPr/>
        </p:nvSpPr>
        <p:spPr>
          <a:xfrm>
            <a:off x="8290408" y="2743200"/>
            <a:ext cx="3200400" cy="822960"/>
          </a:xfrm>
          <a:prstGeom prst="roundRect">
            <a:avLst>
              <a:gd name="adj" fmla="val 6667"/>
            </a:avLst>
          </a:prstGeom>
          <a:solidFill>
            <a:srgbClr val="FFFFFF"/>
          </a:solidFill>
          <a:ln w="12700">
            <a:solidFill>
              <a:srgbClr val="E1E6EF"/>
            </a:solidFill>
            <a:prstDash val="solid"/>
          </a:ln>
        </p:spPr>
        <p:txBody>
          <a:bodyPr/>
          <a:lstStyle/>
          <a:p>
            <a:endParaRPr lang="en-ZA"/>
          </a:p>
        </p:txBody>
      </p:sp>
      <p:sp>
        <p:nvSpPr>
          <p:cNvPr id="36" name="Text 34"/>
          <p:cNvSpPr/>
          <p:nvPr/>
        </p:nvSpPr>
        <p:spPr>
          <a:xfrm>
            <a:off x="8427568" y="2834640"/>
            <a:ext cx="3017520" cy="320040"/>
          </a:xfrm>
          <a:prstGeom prst="rect">
            <a:avLst/>
          </a:prstGeom>
          <a:noFill/>
          <a:ln/>
        </p:spPr>
        <p:txBody>
          <a:bodyPr wrap="square" rtlCol="0" anchor="ctr"/>
          <a:lstStyle/>
          <a:p>
            <a:pPr marL="0" indent="0">
              <a:buNone/>
            </a:pPr>
            <a:r>
              <a:rPr lang="en-US" sz="1400" b="1" dirty="0">
                <a:solidFill>
                  <a:srgbClr val="FFB900"/>
                </a:solidFill>
                <a:latin typeface="Segoe UI" pitchFamily="34" charset="0"/>
                <a:ea typeface="Segoe UI" pitchFamily="34" charset="-122"/>
                <a:cs typeface="Segoe UI" pitchFamily="34" charset="-120"/>
              </a:rPr>
              <a:t>Default</a:t>
            </a:r>
            <a:endParaRPr lang="en-US" sz="1400" dirty="0"/>
          </a:p>
        </p:txBody>
      </p:sp>
      <p:sp>
        <p:nvSpPr>
          <p:cNvPr id="37" name="Text 35"/>
          <p:cNvSpPr/>
          <p:nvPr/>
        </p:nvSpPr>
        <p:spPr>
          <a:xfrm>
            <a:off x="8427568" y="3136392"/>
            <a:ext cx="3017520" cy="365760"/>
          </a:xfrm>
          <a:prstGeom prst="rect">
            <a:avLst/>
          </a:prstGeom>
          <a:noFill/>
          <a:ln/>
        </p:spPr>
        <p:txBody>
          <a:bodyPr wrap="square" rtlCol="0" anchor="ctr"/>
          <a:lstStyle/>
          <a:p>
            <a:pPr marL="0" indent="0">
              <a:buNone/>
            </a:pPr>
            <a:r>
              <a:rPr lang="en-US" sz="1100" dirty="0">
                <a:solidFill>
                  <a:srgbClr val="091F2C"/>
                </a:solidFill>
                <a:latin typeface="Segoe UI" pitchFamily="34" charset="0"/>
                <a:ea typeface="Segoe UI" pitchFamily="34" charset="-122"/>
                <a:cs typeface="Segoe UI" pitchFamily="34" charset="-120"/>
              </a:rPr>
              <a:t>Partner-led (Stream 3)</a:t>
            </a:r>
            <a:endParaRPr lang="en-US" sz="1100" dirty="0"/>
          </a:p>
        </p:txBody>
      </p:sp>
      <p:sp>
        <p:nvSpPr>
          <p:cNvPr id="38" name="Shape 36"/>
          <p:cNvSpPr/>
          <p:nvPr/>
        </p:nvSpPr>
        <p:spPr>
          <a:xfrm>
            <a:off x="8290408" y="3703320"/>
            <a:ext cx="3200400" cy="822960"/>
          </a:xfrm>
          <a:prstGeom prst="roundRect">
            <a:avLst>
              <a:gd name="adj" fmla="val 6667"/>
            </a:avLst>
          </a:prstGeom>
          <a:solidFill>
            <a:srgbClr val="FFFFFF"/>
          </a:solidFill>
          <a:ln w="12700">
            <a:solidFill>
              <a:srgbClr val="E1E6EF"/>
            </a:solidFill>
            <a:prstDash val="solid"/>
          </a:ln>
        </p:spPr>
        <p:txBody>
          <a:bodyPr/>
          <a:lstStyle/>
          <a:p>
            <a:endParaRPr lang="en-ZA"/>
          </a:p>
        </p:txBody>
      </p:sp>
      <p:sp>
        <p:nvSpPr>
          <p:cNvPr id="39" name="Text 37"/>
          <p:cNvSpPr/>
          <p:nvPr/>
        </p:nvSpPr>
        <p:spPr>
          <a:xfrm>
            <a:off x="8427568" y="3794760"/>
            <a:ext cx="3017520" cy="320040"/>
          </a:xfrm>
          <a:prstGeom prst="rect">
            <a:avLst/>
          </a:prstGeom>
          <a:noFill/>
          <a:ln/>
        </p:spPr>
        <p:txBody>
          <a:bodyPr wrap="square" rtlCol="0" anchor="ctr"/>
          <a:lstStyle/>
          <a:p>
            <a:pPr marL="0" indent="0">
              <a:buNone/>
            </a:pPr>
            <a:r>
              <a:rPr lang="en-US" sz="1400" b="1" dirty="0">
                <a:solidFill>
                  <a:srgbClr val="FFB900"/>
                </a:solidFill>
                <a:latin typeface="Segoe UI" pitchFamily="34" charset="0"/>
                <a:ea typeface="Segoe UI" pitchFamily="34" charset="-122"/>
                <a:cs typeface="Segoe UI" pitchFamily="34" charset="-120"/>
              </a:rPr>
              <a:t>Factory</a:t>
            </a:r>
            <a:endParaRPr lang="en-US" sz="1400" dirty="0"/>
          </a:p>
        </p:txBody>
      </p:sp>
      <p:sp>
        <p:nvSpPr>
          <p:cNvPr id="40" name="Text 38"/>
          <p:cNvSpPr/>
          <p:nvPr/>
        </p:nvSpPr>
        <p:spPr>
          <a:xfrm>
            <a:off x="8427568" y="4096512"/>
            <a:ext cx="3017520" cy="365760"/>
          </a:xfrm>
          <a:prstGeom prst="rect">
            <a:avLst/>
          </a:prstGeom>
          <a:noFill/>
          <a:ln/>
        </p:spPr>
        <p:txBody>
          <a:bodyPr wrap="square" rtlCol="0" anchor="ctr"/>
          <a:lstStyle/>
          <a:p>
            <a:pPr marL="0" indent="0">
              <a:buNone/>
            </a:pPr>
            <a:r>
              <a:rPr lang="en-US" sz="1100" dirty="0">
                <a:solidFill>
                  <a:srgbClr val="091F2C"/>
                </a:solidFill>
                <a:latin typeface="Segoe UI" pitchFamily="34" charset="0"/>
                <a:ea typeface="Segoe UI" pitchFamily="34" charset="-122"/>
                <a:cs typeface="Segoe UI" pitchFamily="34" charset="-120"/>
              </a:rPr>
              <a:t>F1 GenAI MVP / F2 ALZ — $0</a:t>
            </a:r>
            <a:endParaRPr lang="en-US" sz="1100" dirty="0"/>
          </a:p>
        </p:txBody>
      </p:sp>
      <p:sp>
        <p:nvSpPr>
          <p:cNvPr id="41" name="Shape 39"/>
          <p:cNvSpPr/>
          <p:nvPr/>
        </p:nvSpPr>
        <p:spPr>
          <a:xfrm>
            <a:off x="8290408" y="4663440"/>
            <a:ext cx="3200400" cy="822960"/>
          </a:xfrm>
          <a:prstGeom prst="roundRect">
            <a:avLst>
              <a:gd name="adj" fmla="val 6667"/>
            </a:avLst>
          </a:prstGeom>
          <a:solidFill>
            <a:srgbClr val="FFFFFF"/>
          </a:solidFill>
          <a:ln w="12700">
            <a:solidFill>
              <a:srgbClr val="E1E6EF"/>
            </a:solidFill>
            <a:prstDash val="solid"/>
          </a:ln>
        </p:spPr>
        <p:txBody>
          <a:bodyPr/>
          <a:lstStyle/>
          <a:p>
            <a:endParaRPr lang="en-ZA"/>
          </a:p>
        </p:txBody>
      </p:sp>
      <p:sp>
        <p:nvSpPr>
          <p:cNvPr id="42" name="Text 40"/>
          <p:cNvSpPr/>
          <p:nvPr/>
        </p:nvSpPr>
        <p:spPr>
          <a:xfrm>
            <a:off x="8427568" y="4754880"/>
            <a:ext cx="3017520" cy="320040"/>
          </a:xfrm>
          <a:prstGeom prst="rect">
            <a:avLst/>
          </a:prstGeom>
          <a:noFill/>
          <a:ln/>
        </p:spPr>
        <p:txBody>
          <a:bodyPr wrap="square" rtlCol="0" anchor="ctr"/>
          <a:lstStyle/>
          <a:p>
            <a:pPr marL="0" indent="0">
              <a:buNone/>
            </a:pPr>
            <a:r>
              <a:rPr lang="en-US" sz="1400" b="1" dirty="0">
                <a:solidFill>
                  <a:srgbClr val="FFB900"/>
                </a:solidFill>
                <a:latin typeface="Segoe UI" pitchFamily="34" charset="0"/>
                <a:ea typeface="Segoe UI" pitchFamily="34" charset="-122"/>
                <a:cs typeface="Segoe UI" pitchFamily="34" charset="-120"/>
              </a:rPr>
              <a:t>ISD</a:t>
            </a:r>
            <a:endParaRPr lang="en-US" sz="1400" dirty="0"/>
          </a:p>
        </p:txBody>
      </p:sp>
      <p:sp>
        <p:nvSpPr>
          <p:cNvPr id="43" name="Text 41"/>
          <p:cNvSpPr/>
          <p:nvPr/>
        </p:nvSpPr>
        <p:spPr>
          <a:xfrm>
            <a:off x="8427568" y="5056632"/>
            <a:ext cx="3017520" cy="365760"/>
          </a:xfrm>
          <a:prstGeom prst="rect">
            <a:avLst/>
          </a:prstGeom>
          <a:noFill/>
          <a:ln/>
        </p:spPr>
        <p:txBody>
          <a:bodyPr wrap="square" rtlCol="0" anchor="ctr"/>
          <a:lstStyle/>
          <a:p>
            <a:pPr marL="0" indent="0">
              <a:buNone/>
            </a:pPr>
            <a:r>
              <a:rPr lang="en-US" sz="1100" dirty="0">
                <a:solidFill>
                  <a:srgbClr val="091F2C"/>
                </a:solidFill>
                <a:latin typeface="Segoe UI" pitchFamily="34" charset="0"/>
                <a:ea typeface="Segoe UI" pitchFamily="34" charset="-122"/>
                <a:cs typeface="Segoe UI" pitchFamily="34" charset="-120"/>
              </a:rPr>
              <a:t>Model A/B/C — sovereign</a:t>
            </a:r>
            <a:endParaRPr lang="en-US" sz="1100" dirty="0"/>
          </a:p>
        </p:txBody>
      </p:sp>
      <p:sp>
        <p:nvSpPr>
          <p:cNvPr id="44" name="Text 42"/>
          <p:cNvSpPr/>
          <p:nvPr/>
        </p:nvSpPr>
        <p:spPr>
          <a:xfrm>
            <a:off x="548640" y="6263640"/>
            <a:ext cx="11155680" cy="274320"/>
          </a:xfrm>
          <a:prstGeom prst="rect">
            <a:avLst/>
          </a:prstGeom>
          <a:noFill/>
          <a:ln/>
        </p:spPr>
        <p:txBody>
          <a:bodyPr wrap="square" rtlCol="0" anchor="ctr"/>
          <a:lstStyle/>
          <a:p>
            <a:pPr marL="0" indent="0">
              <a:buNone/>
            </a:pPr>
            <a:r>
              <a:rPr lang="en-US" sz="1100" b="1" i="1" dirty="0">
                <a:solidFill>
                  <a:srgbClr val="091F2C"/>
                </a:solidFill>
                <a:latin typeface="Segoe UI" pitchFamily="34" charset="0"/>
                <a:ea typeface="Segoe UI" pitchFamily="34" charset="-122"/>
                <a:cs typeface="Segoe UI" pitchFamily="34" charset="-120"/>
              </a:rPr>
              <a:t>Name all three choices in the account plan — before Stage 3 kick-off. Improvising mid-delivery causes channel conflict.</a:t>
            </a:r>
            <a:endParaRPr lang="en-US" sz="1100" dirty="0"/>
          </a:p>
        </p:txBody>
      </p:sp>
      <p:pic>
        <p:nvPicPr>
          <p:cNvPr id="45"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46" name="Text 43"/>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47" name="Text 44"/>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STEP 4 · TIER 1 / ATO C1</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000" b="1" dirty="0">
                <a:solidFill>
                  <a:srgbClr val="091F2C"/>
                </a:solidFill>
                <a:latin typeface="Segoe UI" pitchFamily="34" charset="0"/>
                <a:ea typeface="Segoe UI" pitchFamily="34" charset="-122"/>
                <a:cs typeface="Segoe UI" pitchFamily="34" charset="-120"/>
              </a:rPr>
              <a:t>Run the Envisioning workshop</a:t>
            </a:r>
            <a:endParaRPr lang="en-US" sz="3000" dirty="0"/>
          </a:p>
        </p:txBody>
      </p:sp>
      <p:sp>
        <p:nvSpPr>
          <p:cNvPr id="5" name="Shape 3"/>
          <p:cNvSpPr/>
          <p:nvPr/>
        </p:nvSpPr>
        <p:spPr>
          <a:xfrm>
            <a:off x="548640" y="1691640"/>
            <a:ext cx="11064240" cy="640080"/>
          </a:xfrm>
          <a:prstGeom prst="roundRect">
            <a:avLst>
              <a:gd name="adj" fmla="val 11429"/>
            </a:avLst>
          </a:prstGeom>
          <a:solidFill>
            <a:srgbClr val="091F2C"/>
          </a:solidFill>
          <a:ln w="12700">
            <a:solidFill>
              <a:srgbClr val="091F2C"/>
            </a:solidFill>
            <a:prstDash val="solid"/>
          </a:ln>
        </p:spPr>
        <p:txBody>
          <a:bodyPr/>
          <a:lstStyle/>
          <a:p>
            <a:endParaRPr lang="en-ZA"/>
          </a:p>
        </p:txBody>
      </p:sp>
      <p:sp>
        <p:nvSpPr>
          <p:cNvPr id="6" name="Text 4"/>
          <p:cNvSpPr/>
          <p:nvPr/>
        </p:nvSpPr>
        <p:spPr>
          <a:xfrm>
            <a:off x="777240" y="1737360"/>
            <a:ext cx="1371600" cy="548640"/>
          </a:xfrm>
          <a:prstGeom prst="rect">
            <a:avLst/>
          </a:prstGeom>
          <a:noFill/>
          <a:ln/>
        </p:spPr>
        <p:txBody>
          <a:bodyPr wrap="square" rtlCol="0" anchor="ctr"/>
          <a:lstStyle/>
          <a:p>
            <a:pPr marL="0" indent="0">
              <a:buNone/>
            </a:pPr>
            <a:r>
              <a:rPr lang="en-US" sz="1000" b="1" kern="0" spc="300" dirty="0">
                <a:solidFill>
                  <a:srgbClr val="C03BC4"/>
                </a:solidFill>
                <a:latin typeface="Segoe UI" pitchFamily="34" charset="0"/>
                <a:ea typeface="Segoe UI" pitchFamily="34" charset="-122"/>
                <a:cs typeface="Segoe UI" pitchFamily="34" charset="-120"/>
              </a:rPr>
              <a:t>FUNDING</a:t>
            </a:r>
            <a:endParaRPr lang="en-US" sz="1000" dirty="0"/>
          </a:p>
        </p:txBody>
      </p:sp>
      <p:sp>
        <p:nvSpPr>
          <p:cNvPr id="7" name="Text 5"/>
          <p:cNvSpPr/>
          <p:nvPr/>
        </p:nvSpPr>
        <p:spPr>
          <a:xfrm>
            <a:off x="2194560" y="1737360"/>
            <a:ext cx="5943600" cy="548640"/>
          </a:xfrm>
          <a:prstGeom prst="rect">
            <a:avLst/>
          </a:prstGeom>
          <a:noFill/>
          <a:ln/>
        </p:spPr>
        <p:txBody>
          <a:bodyPr wrap="square"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Up to $50k pre-sales ECIF · 1:5 ROI gate · any Y1 ACR &gt; $1</a:t>
            </a:r>
            <a:endParaRPr lang="en-US" sz="1300" dirty="0"/>
          </a:p>
        </p:txBody>
      </p:sp>
      <p:sp>
        <p:nvSpPr>
          <p:cNvPr id="8" name="Text 6"/>
          <p:cNvSpPr/>
          <p:nvPr/>
        </p:nvSpPr>
        <p:spPr>
          <a:xfrm>
            <a:off x="8138160" y="1737360"/>
            <a:ext cx="3474720" cy="548640"/>
          </a:xfrm>
          <a:prstGeom prst="rect">
            <a:avLst/>
          </a:prstGeom>
          <a:noFill/>
          <a:ln/>
        </p:spPr>
        <p:txBody>
          <a:bodyPr wrap="square" rtlCol="0" anchor="ctr"/>
          <a:lstStyle/>
          <a:p>
            <a:pPr marL="0" indent="0">
              <a:buNone/>
            </a:pPr>
            <a:r>
              <a:rPr lang="en-US" sz="1200" i="1" dirty="0">
                <a:solidFill>
                  <a:srgbClr val="F5E6F0"/>
                </a:solidFill>
                <a:latin typeface="Segoe UI" pitchFamily="34" charset="0"/>
                <a:ea typeface="Segoe UI" pitchFamily="34" charset="-122"/>
                <a:cs typeface="Segoe UI" pitchFamily="34" charset="-120"/>
              </a:rPr>
              <a:t>Duration: 3 days workshop + 2 weeks output prep</a:t>
            </a:r>
            <a:endParaRPr lang="en-US" sz="1200" dirty="0"/>
          </a:p>
        </p:txBody>
      </p:sp>
      <p:sp>
        <p:nvSpPr>
          <p:cNvPr id="9" name="Shape 7"/>
          <p:cNvSpPr/>
          <p:nvPr/>
        </p:nvSpPr>
        <p:spPr>
          <a:xfrm>
            <a:off x="472288" y="2468880"/>
            <a:ext cx="3657600" cy="3657600"/>
          </a:xfrm>
          <a:prstGeom prst="roundRect">
            <a:avLst>
              <a:gd name="adj" fmla="val 2000"/>
            </a:avLst>
          </a:prstGeom>
          <a:solidFill>
            <a:srgbClr val="FFFFFF"/>
          </a:solidFill>
          <a:ln w="12700">
            <a:solidFill>
              <a:srgbClr val="E1E6EF"/>
            </a:solidFill>
            <a:prstDash val="solid"/>
          </a:ln>
        </p:spPr>
        <p:txBody>
          <a:bodyPr/>
          <a:lstStyle/>
          <a:p>
            <a:endParaRPr lang="en-ZA"/>
          </a:p>
        </p:txBody>
      </p:sp>
      <p:sp>
        <p:nvSpPr>
          <p:cNvPr id="10" name="Shape 8"/>
          <p:cNvSpPr/>
          <p:nvPr/>
        </p:nvSpPr>
        <p:spPr>
          <a:xfrm>
            <a:off x="472288" y="2468880"/>
            <a:ext cx="3657600" cy="457200"/>
          </a:xfrm>
          <a:prstGeom prst="rect">
            <a:avLst/>
          </a:prstGeom>
          <a:solidFill>
            <a:srgbClr val="0078D4"/>
          </a:solidFill>
          <a:ln w="12700">
            <a:solidFill>
              <a:srgbClr val="0078D4"/>
            </a:solidFill>
            <a:prstDash val="solid"/>
          </a:ln>
        </p:spPr>
        <p:txBody>
          <a:bodyPr/>
          <a:lstStyle/>
          <a:p>
            <a:endParaRPr lang="en-ZA"/>
          </a:p>
        </p:txBody>
      </p:sp>
      <p:sp>
        <p:nvSpPr>
          <p:cNvPr id="11" name="Text 9"/>
          <p:cNvSpPr/>
          <p:nvPr/>
        </p:nvSpPr>
        <p:spPr>
          <a:xfrm>
            <a:off x="700888" y="2468880"/>
            <a:ext cx="3200400" cy="457200"/>
          </a:xfrm>
          <a:prstGeom prst="rect">
            <a:avLst/>
          </a:prstGeom>
          <a:noFill/>
          <a:ln/>
        </p:spPr>
        <p:txBody>
          <a:bodyPr wrap="square" rtlCol="0" anchor="ctr"/>
          <a:lstStyle/>
          <a:p>
            <a:pPr marL="0" indent="0">
              <a:buNone/>
            </a:pPr>
            <a:r>
              <a:rPr lang="en-US" sz="1200" b="1" kern="0" spc="300" dirty="0">
                <a:solidFill>
                  <a:srgbClr val="FFFFFF"/>
                </a:solidFill>
                <a:latin typeface="Segoe UI" pitchFamily="34" charset="0"/>
                <a:ea typeface="Segoe UI" pitchFamily="34" charset="-122"/>
                <a:cs typeface="Segoe UI" pitchFamily="34" charset="-120"/>
              </a:rPr>
              <a:t>INPUTS</a:t>
            </a:r>
            <a:endParaRPr lang="en-US" sz="1200" dirty="0"/>
          </a:p>
        </p:txBody>
      </p:sp>
      <p:sp>
        <p:nvSpPr>
          <p:cNvPr id="12" name="Shape 10"/>
          <p:cNvSpPr/>
          <p:nvPr/>
        </p:nvSpPr>
        <p:spPr>
          <a:xfrm>
            <a:off x="746608" y="3154680"/>
            <a:ext cx="128016" cy="128016"/>
          </a:xfrm>
          <a:prstGeom prst="ellipse">
            <a:avLst/>
          </a:prstGeom>
          <a:solidFill>
            <a:srgbClr val="0078D4"/>
          </a:solidFill>
          <a:ln w="12700">
            <a:solidFill>
              <a:srgbClr val="0078D4"/>
            </a:solidFill>
            <a:prstDash val="solid"/>
          </a:ln>
        </p:spPr>
        <p:txBody>
          <a:bodyPr/>
          <a:lstStyle/>
          <a:p>
            <a:endParaRPr lang="en-ZA"/>
          </a:p>
        </p:txBody>
      </p:sp>
      <p:sp>
        <p:nvSpPr>
          <p:cNvPr id="13" name="Text 11"/>
          <p:cNvSpPr/>
          <p:nvPr/>
        </p:nvSpPr>
        <p:spPr>
          <a:xfrm>
            <a:off x="975208" y="3063240"/>
            <a:ext cx="2971800" cy="4572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Signed CoE Readiness Scorecard</a:t>
            </a:r>
            <a:endParaRPr lang="en-US" sz="1100" dirty="0"/>
          </a:p>
        </p:txBody>
      </p:sp>
      <p:sp>
        <p:nvSpPr>
          <p:cNvPr id="14" name="Shape 12"/>
          <p:cNvSpPr/>
          <p:nvPr/>
        </p:nvSpPr>
        <p:spPr>
          <a:xfrm>
            <a:off x="746608" y="3703320"/>
            <a:ext cx="128016" cy="128016"/>
          </a:xfrm>
          <a:prstGeom prst="ellipse">
            <a:avLst/>
          </a:prstGeom>
          <a:solidFill>
            <a:srgbClr val="0078D4"/>
          </a:solidFill>
          <a:ln w="12700">
            <a:solidFill>
              <a:srgbClr val="0078D4"/>
            </a:solidFill>
            <a:prstDash val="solid"/>
          </a:ln>
        </p:spPr>
        <p:txBody>
          <a:bodyPr/>
          <a:lstStyle/>
          <a:p>
            <a:endParaRPr lang="en-ZA"/>
          </a:p>
        </p:txBody>
      </p:sp>
      <p:sp>
        <p:nvSpPr>
          <p:cNvPr id="15" name="Text 13"/>
          <p:cNvSpPr/>
          <p:nvPr/>
        </p:nvSpPr>
        <p:spPr>
          <a:xfrm>
            <a:off x="975208" y="3611880"/>
            <a:ext cx="2971800" cy="4572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Customer's AI ambition statement</a:t>
            </a:r>
            <a:endParaRPr lang="en-US" sz="1100" dirty="0"/>
          </a:p>
        </p:txBody>
      </p:sp>
      <p:sp>
        <p:nvSpPr>
          <p:cNvPr id="16" name="Shape 14"/>
          <p:cNvSpPr/>
          <p:nvPr/>
        </p:nvSpPr>
        <p:spPr>
          <a:xfrm>
            <a:off x="746608" y="4251960"/>
            <a:ext cx="128016" cy="128016"/>
          </a:xfrm>
          <a:prstGeom prst="ellipse">
            <a:avLst/>
          </a:prstGeom>
          <a:solidFill>
            <a:srgbClr val="0078D4"/>
          </a:solidFill>
          <a:ln w="12700">
            <a:solidFill>
              <a:srgbClr val="0078D4"/>
            </a:solidFill>
            <a:prstDash val="solid"/>
          </a:ln>
        </p:spPr>
        <p:txBody>
          <a:bodyPr/>
          <a:lstStyle/>
          <a:p>
            <a:endParaRPr lang="en-ZA"/>
          </a:p>
        </p:txBody>
      </p:sp>
      <p:sp>
        <p:nvSpPr>
          <p:cNvPr id="17" name="Text 15"/>
          <p:cNvSpPr/>
          <p:nvPr/>
        </p:nvSpPr>
        <p:spPr>
          <a:xfrm>
            <a:off x="975208" y="4160520"/>
            <a:ext cx="2971800" cy="4572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Existing data estate map</a:t>
            </a:r>
            <a:endParaRPr lang="en-US" sz="1100" dirty="0"/>
          </a:p>
        </p:txBody>
      </p:sp>
      <p:sp>
        <p:nvSpPr>
          <p:cNvPr id="18" name="Shape 16"/>
          <p:cNvSpPr/>
          <p:nvPr/>
        </p:nvSpPr>
        <p:spPr>
          <a:xfrm>
            <a:off x="746608" y="4800600"/>
            <a:ext cx="128016" cy="128016"/>
          </a:xfrm>
          <a:prstGeom prst="ellipse">
            <a:avLst/>
          </a:prstGeom>
          <a:solidFill>
            <a:srgbClr val="0078D4"/>
          </a:solidFill>
          <a:ln w="12700">
            <a:solidFill>
              <a:srgbClr val="0078D4"/>
            </a:solidFill>
            <a:prstDash val="solid"/>
          </a:ln>
        </p:spPr>
        <p:txBody>
          <a:bodyPr/>
          <a:lstStyle/>
          <a:p>
            <a:endParaRPr lang="en-ZA"/>
          </a:p>
        </p:txBody>
      </p:sp>
      <p:sp>
        <p:nvSpPr>
          <p:cNvPr id="19" name="Text 17"/>
          <p:cNvSpPr/>
          <p:nvPr/>
        </p:nvSpPr>
        <p:spPr>
          <a:xfrm>
            <a:off x="975208" y="4709160"/>
            <a:ext cx="2971800" cy="4572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Use-case backlog (&gt;= 3 candidates)</a:t>
            </a:r>
            <a:endParaRPr lang="en-US" sz="1100" dirty="0"/>
          </a:p>
        </p:txBody>
      </p:sp>
      <p:sp>
        <p:nvSpPr>
          <p:cNvPr id="20" name="Shape 18"/>
          <p:cNvSpPr/>
          <p:nvPr/>
        </p:nvSpPr>
        <p:spPr>
          <a:xfrm>
            <a:off x="746608" y="5349240"/>
            <a:ext cx="128016" cy="128016"/>
          </a:xfrm>
          <a:prstGeom prst="ellipse">
            <a:avLst/>
          </a:prstGeom>
          <a:solidFill>
            <a:srgbClr val="0078D4"/>
          </a:solidFill>
          <a:ln w="12700">
            <a:solidFill>
              <a:srgbClr val="0078D4"/>
            </a:solidFill>
            <a:prstDash val="solid"/>
          </a:ln>
        </p:spPr>
        <p:txBody>
          <a:bodyPr/>
          <a:lstStyle/>
          <a:p>
            <a:endParaRPr lang="en-ZA"/>
          </a:p>
        </p:txBody>
      </p:sp>
      <p:sp>
        <p:nvSpPr>
          <p:cNvPr id="21" name="Text 19"/>
          <p:cNvSpPr/>
          <p:nvPr/>
        </p:nvSpPr>
        <p:spPr>
          <a:xfrm>
            <a:off x="975208" y="5257800"/>
            <a:ext cx="2971800" cy="4572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Exec sponsor calendar locked</a:t>
            </a:r>
            <a:endParaRPr lang="en-US" sz="1100" dirty="0"/>
          </a:p>
        </p:txBody>
      </p:sp>
      <p:sp>
        <p:nvSpPr>
          <p:cNvPr id="22" name="Shape 20"/>
          <p:cNvSpPr/>
          <p:nvPr/>
        </p:nvSpPr>
        <p:spPr>
          <a:xfrm>
            <a:off x="4267048" y="2468880"/>
            <a:ext cx="3657600" cy="3657600"/>
          </a:xfrm>
          <a:prstGeom prst="roundRect">
            <a:avLst>
              <a:gd name="adj" fmla="val 2000"/>
            </a:avLst>
          </a:prstGeom>
          <a:solidFill>
            <a:srgbClr val="FFFFFF"/>
          </a:solidFill>
          <a:ln w="12700">
            <a:solidFill>
              <a:srgbClr val="E1E6EF"/>
            </a:solidFill>
            <a:prstDash val="solid"/>
          </a:ln>
        </p:spPr>
        <p:txBody>
          <a:bodyPr/>
          <a:lstStyle/>
          <a:p>
            <a:endParaRPr lang="en-ZA"/>
          </a:p>
        </p:txBody>
      </p:sp>
      <p:sp>
        <p:nvSpPr>
          <p:cNvPr id="23" name="Shape 21"/>
          <p:cNvSpPr/>
          <p:nvPr/>
        </p:nvSpPr>
        <p:spPr>
          <a:xfrm>
            <a:off x="4267048" y="2468880"/>
            <a:ext cx="3657600" cy="457200"/>
          </a:xfrm>
          <a:prstGeom prst="rect">
            <a:avLst/>
          </a:prstGeom>
          <a:solidFill>
            <a:srgbClr val="FF5C39"/>
          </a:solidFill>
          <a:ln w="12700">
            <a:solidFill>
              <a:srgbClr val="FF5C39"/>
            </a:solidFill>
            <a:prstDash val="solid"/>
          </a:ln>
        </p:spPr>
        <p:txBody>
          <a:bodyPr/>
          <a:lstStyle/>
          <a:p>
            <a:endParaRPr lang="en-ZA"/>
          </a:p>
        </p:txBody>
      </p:sp>
      <p:sp>
        <p:nvSpPr>
          <p:cNvPr id="24" name="Text 22"/>
          <p:cNvSpPr/>
          <p:nvPr/>
        </p:nvSpPr>
        <p:spPr>
          <a:xfrm>
            <a:off x="4495648" y="2468880"/>
            <a:ext cx="3200400" cy="457200"/>
          </a:xfrm>
          <a:prstGeom prst="rect">
            <a:avLst/>
          </a:prstGeom>
          <a:noFill/>
          <a:ln/>
        </p:spPr>
        <p:txBody>
          <a:bodyPr wrap="square" rtlCol="0" anchor="ctr"/>
          <a:lstStyle/>
          <a:p>
            <a:pPr marL="0" indent="0">
              <a:buNone/>
            </a:pPr>
            <a:r>
              <a:rPr lang="en-US" sz="1200" b="1" kern="0" spc="300" dirty="0">
                <a:solidFill>
                  <a:srgbClr val="FFFFFF"/>
                </a:solidFill>
                <a:latin typeface="Segoe UI" pitchFamily="34" charset="0"/>
                <a:ea typeface="Segoe UI" pitchFamily="34" charset="-122"/>
                <a:cs typeface="Segoe UI" pitchFamily="34" charset="-120"/>
              </a:rPr>
              <a:t>WORKSHOP AGENDA</a:t>
            </a:r>
            <a:endParaRPr lang="en-US" sz="1200" dirty="0"/>
          </a:p>
        </p:txBody>
      </p:sp>
      <p:sp>
        <p:nvSpPr>
          <p:cNvPr id="25" name="Shape 23"/>
          <p:cNvSpPr/>
          <p:nvPr/>
        </p:nvSpPr>
        <p:spPr>
          <a:xfrm>
            <a:off x="4541368" y="3154680"/>
            <a:ext cx="128016" cy="128016"/>
          </a:xfrm>
          <a:prstGeom prst="ellipse">
            <a:avLst/>
          </a:prstGeom>
          <a:solidFill>
            <a:srgbClr val="FF5C39"/>
          </a:solidFill>
          <a:ln w="12700">
            <a:solidFill>
              <a:srgbClr val="FF5C39"/>
            </a:solidFill>
            <a:prstDash val="solid"/>
          </a:ln>
        </p:spPr>
        <p:txBody>
          <a:bodyPr/>
          <a:lstStyle/>
          <a:p>
            <a:endParaRPr lang="en-ZA"/>
          </a:p>
        </p:txBody>
      </p:sp>
      <p:sp>
        <p:nvSpPr>
          <p:cNvPr id="26" name="Text 24"/>
          <p:cNvSpPr/>
          <p:nvPr/>
        </p:nvSpPr>
        <p:spPr>
          <a:xfrm>
            <a:off x="4769968" y="3063240"/>
            <a:ext cx="2971800" cy="4572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Day 1 · Maturity assessment (Horizon 0–3)</a:t>
            </a:r>
            <a:endParaRPr lang="en-US" sz="1100" dirty="0"/>
          </a:p>
        </p:txBody>
      </p:sp>
      <p:sp>
        <p:nvSpPr>
          <p:cNvPr id="27" name="Shape 25"/>
          <p:cNvSpPr/>
          <p:nvPr/>
        </p:nvSpPr>
        <p:spPr>
          <a:xfrm>
            <a:off x="4541368" y="3703320"/>
            <a:ext cx="128016" cy="128016"/>
          </a:xfrm>
          <a:prstGeom prst="ellipse">
            <a:avLst/>
          </a:prstGeom>
          <a:solidFill>
            <a:srgbClr val="FF5C39"/>
          </a:solidFill>
          <a:ln w="12700">
            <a:solidFill>
              <a:srgbClr val="FF5C39"/>
            </a:solidFill>
            <a:prstDash val="solid"/>
          </a:ln>
        </p:spPr>
        <p:txBody>
          <a:bodyPr/>
          <a:lstStyle/>
          <a:p>
            <a:endParaRPr lang="en-ZA"/>
          </a:p>
        </p:txBody>
      </p:sp>
      <p:sp>
        <p:nvSpPr>
          <p:cNvPr id="28" name="Text 26"/>
          <p:cNvSpPr/>
          <p:nvPr/>
        </p:nvSpPr>
        <p:spPr>
          <a:xfrm>
            <a:off x="4769968" y="3611880"/>
            <a:ext cx="2971800" cy="4572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Day 1 · Pillar gap analysis (5+1)</a:t>
            </a:r>
            <a:endParaRPr lang="en-US" sz="1100" dirty="0"/>
          </a:p>
        </p:txBody>
      </p:sp>
      <p:sp>
        <p:nvSpPr>
          <p:cNvPr id="29" name="Shape 27"/>
          <p:cNvSpPr/>
          <p:nvPr/>
        </p:nvSpPr>
        <p:spPr>
          <a:xfrm>
            <a:off x="4541368" y="4251960"/>
            <a:ext cx="128016" cy="128016"/>
          </a:xfrm>
          <a:prstGeom prst="ellipse">
            <a:avLst/>
          </a:prstGeom>
          <a:solidFill>
            <a:srgbClr val="FF5C39"/>
          </a:solidFill>
          <a:ln w="12700">
            <a:solidFill>
              <a:srgbClr val="FF5C39"/>
            </a:solidFill>
            <a:prstDash val="solid"/>
          </a:ln>
        </p:spPr>
        <p:txBody>
          <a:bodyPr/>
          <a:lstStyle/>
          <a:p>
            <a:endParaRPr lang="en-ZA"/>
          </a:p>
        </p:txBody>
      </p:sp>
      <p:sp>
        <p:nvSpPr>
          <p:cNvPr id="30" name="Text 28"/>
          <p:cNvSpPr/>
          <p:nvPr/>
        </p:nvSpPr>
        <p:spPr>
          <a:xfrm>
            <a:off x="4769968" y="4160520"/>
            <a:ext cx="2971800" cy="4572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Day 2 · Use-case prioritisation matrix</a:t>
            </a:r>
            <a:endParaRPr lang="en-US" sz="1100" dirty="0"/>
          </a:p>
        </p:txBody>
      </p:sp>
      <p:sp>
        <p:nvSpPr>
          <p:cNvPr id="31" name="Shape 29"/>
          <p:cNvSpPr/>
          <p:nvPr/>
        </p:nvSpPr>
        <p:spPr>
          <a:xfrm>
            <a:off x="4541368" y="4800600"/>
            <a:ext cx="128016" cy="128016"/>
          </a:xfrm>
          <a:prstGeom prst="ellipse">
            <a:avLst/>
          </a:prstGeom>
          <a:solidFill>
            <a:srgbClr val="FF5C39"/>
          </a:solidFill>
          <a:ln w="12700">
            <a:solidFill>
              <a:srgbClr val="FF5C39"/>
            </a:solidFill>
            <a:prstDash val="solid"/>
          </a:ln>
        </p:spPr>
        <p:txBody>
          <a:bodyPr/>
          <a:lstStyle/>
          <a:p>
            <a:endParaRPr lang="en-ZA"/>
          </a:p>
        </p:txBody>
      </p:sp>
      <p:sp>
        <p:nvSpPr>
          <p:cNvPr id="32" name="Text 30"/>
          <p:cNvSpPr/>
          <p:nvPr/>
        </p:nvSpPr>
        <p:spPr>
          <a:xfrm>
            <a:off x="4769968" y="4709160"/>
            <a:ext cx="2971800" cy="4572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Day 2 · Responsible AI red-team</a:t>
            </a:r>
            <a:endParaRPr lang="en-US" sz="1100" dirty="0"/>
          </a:p>
        </p:txBody>
      </p:sp>
      <p:sp>
        <p:nvSpPr>
          <p:cNvPr id="33" name="Shape 31"/>
          <p:cNvSpPr/>
          <p:nvPr/>
        </p:nvSpPr>
        <p:spPr>
          <a:xfrm>
            <a:off x="4541368" y="5349240"/>
            <a:ext cx="128016" cy="128016"/>
          </a:xfrm>
          <a:prstGeom prst="ellipse">
            <a:avLst/>
          </a:prstGeom>
          <a:solidFill>
            <a:srgbClr val="FF5C39"/>
          </a:solidFill>
          <a:ln w="12700">
            <a:solidFill>
              <a:srgbClr val="FF5C39"/>
            </a:solidFill>
            <a:prstDash val="solid"/>
          </a:ln>
        </p:spPr>
        <p:txBody>
          <a:bodyPr/>
          <a:lstStyle/>
          <a:p>
            <a:endParaRPr lang="en-ZA"/>
          </a:p>
        </p:txBody>
      </p:sp>
      <p:sp>
        <p:nvSpPr>
          <p:cNvPr id="34" name="Text 32"/>
          <p:cNvSpPr/>
          <p:nvPr/>
        </p:nvSpPr>
        <p:spPr>
          <a:xfrm>
            <a:off x="4769968" y="5257800"/>
            <a:ext cx="2971800" cy="4572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Day 3 · CoE charter + roadmap signing</a:t>
            </a:r>
            <a:endParaRPr lang="en-US" sz="1100" dirty="0"/>
          </a:p>
        </p:txBody>
      </p:sp>
      <p:sp>
        <p:nvSpPr>
          <p:cNvPr id="35" name="Shape 33"/>
          <p:cNvSpPr/>
          <p:nvPr/>
        </p:nvSpPr>
        <p:spPr>
          <a:xfrm>
            <a:off x="8061808" y="2468880"/>
            <a:ext cx="3657600" cy="3657600"/>
          </a:xfrm>
          <a:prstGeom prst="roundRect">
            <a:avLst>
              <a:gd name="adj" fmla="val 2000"/>
            </a:avLst>
          </a:prstGeom>
          <a:solidFill>
            <a:srgbClr val="FFFFFF"/>
          </a:solidFill>
          <a:ln w="12700">
            <a:solidFill>
              <a:srgbClr val="E1E6EF"/>
            </a:solidFill>
            <a:prstDash val="solid"/>
          </a:ln>
        </p:spPr>
        <p:txBody>
          <a:bodyPr/>
          <a:lstStyle/>
          <a:p>
            <a:endParaRPr lang="en-ZA"/>
          </a:p>
        </p:txBody>
      </p:sp>
      <p:sp>
        <p:nvSpPr>
          <p:cNvPr id="36" name="Shape 34"/>
          <p:cNvSpPr/>
          <p:nvPr/>
        </p:nvSpPr>
        <p:spPr>
          <a:xfrm>
            <a:off x="8061808" y="2468880"/>
            <a:ext cx="3657600" cy="457200"/>
          </a:xfrm>
          <a:prstGeom prst="rect">
            <a:avLst/>
          </a:prstGeom>
          <a:solidFill>
            <a:srgbClr val="225B62"/>
          </a:solidFill>
          <a:ln w="12700">
            <a:solidFill>
              <a:srgbClr val="225B62"/>
            </a:solidFill>
            <a:prstDash val="solid"/>
          </a:ln>
        </p:spPr>
        <p:txBody>
          <a:bodyPr/>
          <a:lstStyle/>
          <a:p>
            <a:endParaRPr lang="en-ZA"/>
          </a:p>
        </p:txBody>
      </p:sp>
      <p:sp>
        <p:nvSpPr>
          <p:cNvPr id="37" name="Text 35"/>
          <p:cNvSpPr/>
          <p:nvPr/>
        </p:nvSpPr>
        <p:spPr>
          <a:xfrm>
            <a:off x="8290408" y="2468880"/>
            <a:ext cx="3200400" cy="457200"/>
          </a:xfrm>
          <a:prstGeom prst="rect">
            <a:avLst/>
          </a:prstGeom>
          <a:noFill/>
          <a:ln/>
        </p:spPr>
        <p:txBody>
          <a:bodyPr wrap="square" rtlCol="0" anchor="ctr"/>
          <a:lstStyle/>
          <a:p>
            <a:pPr marL="0" indent="0">
              <a:buNone/>
            </a:pPr>
            <a:r>
              <a:rPr lang="en-US" sz="1200" b="1" kern="0" spc="300" dirty="0">
                <a:solidFill>
                  <a:srgbClr val="FFFFFF"/>
                </a:solidFill>
                <a:latin typeface="Segoe UI" pitchFamily="34" charset="0"/>
                <a:ea typeface="Segoe UI" pitchFamily="34" charset="-122"/>
                <a:cs typeface="Segoe UI" pitchFamily="34" charset="-120"/>
              </a:rPr>
              <a:t>OUTPUTS</a:t>
            </a:r>
            <a:endParaRPr lang="en-US" sz="1200" dirty="0"/>
          </a:p>
        </p:txBody>
      </p:sp>
      <p:sp>
        <p:nvSpPr>
          <p:cNvPr id="38" name="Shape 36"/>
          <p:cNvSpPr/>
          <p:nvPr/>
        </p:nvSpPr>
        <p:spPr>
          <a:xfrm>
            <a:off x="8336128" y="3154680"/>
            <a:ext cx="128016" cy="128016"/>
          </a:xfrm>
          <a:prstGeom prst="ellipse">
            <a:avLst/>
          </a:prstGeom>
          <a:solidFill>
            <a:srgbClr val="225B62"/>
          </a:solidFill>
          <a:ln w="12700">
            <a:solidFill>
              <a:srgbClr val="225B62"/>
            </a:solidFill>
            <a:prstDash val="solid"/>
          </a:ln>
        </p:spPr>
        <p:txBody>
          <a:bodyPr/>
          <a:lstStyle/>
          <a:p>
            <a:endParaRPr lang="en-ZA"/>
          </a:p>
        </p:txBody>
      </p:sp>
      <p:sp>
        <p:nvSpPr>
          <p:cNvPr id="39" name="Text 37"/>
          <p:cNvSpPr/>
          <p:nvPr/>
        </p:nvSpPr>
        <p:spPr>
          <a:xfrm>
            <a:off x="8564728" y="3063240"/>
            <a:ext cx="2971800" cy="4572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CoE charter (signed)</a:t>
            </a:r>
            <a:endParaRPr lang="en-US" sz="1100" dirty="0"/>
          </a:p>
        </p:txBody>
      </p:sp>
      <p:sp>
        <p:nvSpPr>
          <p:cNvPr id="40" name="Shape 38"/>
          <p:cNvSpPr/>
          <p:nvPr/>
        </p:nvSpPr>
        <p:spPr>
          <a:xfrm>
            <a:off x="8336128" y="3703320"/>
            <a:ext cx="128016" cy="128016"/>
          </a:xfrm>
          <a:prstGeom prst="ellipse">
            <a:avLst/>
          </a:prstGeom>
          <a:solidFill>
            <a:srgbClr val="225B62"/>
          </a:solidFill>
          <a:ln w="12700">
            <a:solidFill>
              <a:srgbClr val="225B62"/>
            </a:solidFill>
            <a:prstDash val="solid"/>
          </a:ln>
        </p:spPr>
        <p:txBody>
          <a:bodyPr/>
          <a:lstStyle/>
          <a:p>
            <a:endParaRPr lang="en-ZA"/>
          </a:p>
        </p:txBody>
      </p:sp>
      <p:sp>
        <p:nvSpPr>
          <p:cNvPr id="41" name="Text 39"/>
          <p:cNvSpPr/>
          <p:nvPr/>
        </p:nvSpPr>
        <p:spPr>
          <a:xfrm>
            <a:off x="8564728" y="3611880"/>
            <a:ext cx="2971800" cy="4572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Prioritised use-case backlog (top 5)</a:t>
            </a:r>
            <a:endParaRPr lang="en-US" sz="1100" dirty="0"/>
          </a:p>
        </p:txBody>
      </p:sp>
      <p:sp>
        <p:nvSpPr>
          <p:cNvPr id="42" name="Shape 40"/>
          <p:cNvSpPr/>
          <p:nvPr/>
        </p:nvSpPr>
        <p:spPr>
          <a:xfrm>
            <a:off x="8336128" y="4251960"/>
            <a:ext cx="128016" cy="128016"/>
          </a:xfrm>
          <a:prstGeom prst="ellipse">
            <a:avLst/>
          </a:prstGeom>
          <a:solidFill>
            <a:srgbClr val="225B62"/>
          </a:solidFill>
          <a:ln w="12700">
            <a:solidFill>
              <a:srgbClr val="225B62"/>
            </a:solidFill>
            <a:prstDash val="solid"/>
          </a:ln>
        </p:spPr>
        <p:txBody>
          <a:bodyPr/>
          <a:lstStyle/>
          <a:p>
            <a:endParaRPr lang="en-ZA"/>
          </a:p>
        </p:txBody>
      </p:sp>
      <p:sp>
        <p:nvSpPr>
          <p:cNvPr id="43" name="Text 41"/>
          <p:cNvSpPr/>
          <p:nvPr/>
        </p:nvSpPr>
        <p:spPr>
          <a:xfrm>
            <a:off x="8564728" y="4160520"/>
            <a:ext cx="2971800" cy="4572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Horizon baseline + 12-month target</a:t>
            </a:r>
            <a:endParaRPr lang="en-US" sz="1100" dirty="0"/>
          </a:p>
        </p:txBody>
      </p:sp>
      <p:sp>
        <p:nvSpPr>
          <p:cNvPr id="44" name="Shape 42"/>
          <p:cNvSpPr/>
          <p:nvPr/>
        </p:nvSpPr>
        <p:spPr>
          <a:xfrm>
            <a:off x="8336128" y="4800600"/>
            <a:ext cx="128016" cy="128016"/>
          </a:xfrm>
          <a:prstGeom prst="ellipse">
            <a:avLst/>
          </a:prstGeom>
          <a:solidFill>
            <a:srgbClr val="225B62"/>
          </a:solidFill>
          <a:ln w="12700">
            <a:solidFill>
              <a:srgbClr val="225B62"/>
            </a:solidFill>
            <a:prstDash val="solid"/>
          </a:ln>
        </p:spPr>
        <p:txBody>
          <a:bodyPr/>
          <a:lstStyle/>
          <a:p>
            <a:endParaRPr lang="en-ZA"/>
          </a:p>
        </p:txBody>
      </p:sp>
      <p:sp>
        <p:nvSpPr>
          <p:cNvPr id="45" name="Text 43"/>
          <p:cNvSpPr/>
          <p:nvPr/>
        </p:nvSpPr>
        <p:spPr>
          <a:xfrm>
            <a:off x="8564728" y="4709160"/>
            <a:ext cx="2971800" cy="4572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Tier 2 SOW + ATO C2 funding plan</a:t>
            </a:r>
            <a:endParaRPr lang="en-US" sz="1100" dirty="0"/>
          </a:p>
        </p:txBody>
      </p:sp>
      <p:sp>
        <p:nvSpPr>
          <p:cNvPr id="46" name="Shape 44"/>
          <p:cNvSpPr/>
          <p:nvPr/>
        </p:nvSpPr>
        <p:spPr>
          <a:xfrm>
            <a:off x="8336128" y="5349240"/>
            <a:ext cx="128016" cy="128016"/>
          </a:xfrm>
          <a:prstGeom prst="ellipse">
            <a:avLst/>
          </a:prstGeom>
          <a:solidFill>
            <a:srgbClr val="225B62"/>
          </a:solidFill>
          <a:ln w="12700">
            <a:solidFill>
              <a:srgbClr val="225B62"/>
            </a:solidFill>
            <a:prstDash val="solid"/>
          </a:ln>
        </p:spPr>
        <p:txBody>
          <a:bodyPr/>
          <a:lstStyle/>
          <a:p>
            <a:endParaRPr lang="en-ZA"/>
          </a:p>
        </p:txBody>
      </p:sp>
      <p:sp>
        <p:nvSpPr>
          <p:cNvPr id="47" name="Text 45"/>
          <p:cNvSpPr/>
          <p:nvPr/>
        </p:nvSpPr>
        <p:spPr>
          <a:xfrm>
            <a:off x="8564728" y="5257800"/>
            <a:ext cx="2971800" cy="4572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First Pilot named with business owner</a:t>
            </a:r>
            <a:endParaRPr lang="en-US" sz="1100" dirty="0"/>
          </a:p>
        </p:txBody>
      </p:sp>
      <p:sp>
        <p:nvSpPr>
          <p:cNvPr id="48" name="Text 46"/>
          <p:cNvSpPr/>
          <p:nvPr/>
        </p:nvSpPr>
        <p:spPr>
          <a:xfrm>
            <a:off x="548640" y="6263640"/>
            <a:ext cx="11155680" cy="274320"/>
          </a:xfrm>
          <a:prstGeom prst="rect">
            <a:avLst/>
          </a:prstGeom>
          <a:noFill/>
          <a:ln/>
        </p:spPr>
        <p:txBody>
          <a:bodyPr wrap="square" rtlCol="0" anchor="ctr"/>
          <a:lstStyle/>
          <a:p>
            <a:pPr marL="0" indent="0">
              <a:buNone/>
            </a:pPr>
            <a:r>
              <a:rPr lang="en-US" sz="1100" b="1" i="1" dirty="0">
                <a:solidFill>
                  <a:srgbClr val="0078D4"/>
                </a:solidFill>
                <a:latin typeface="Segoe UI" pitchFamily="34" charset="0"/>
                <a:ea typeface="Segoe UI" pitchFamily="34" charset="-122"/>
                <a:cs typeface="Segoe UI" pitchFamily="34" charset="-120"/>
              </a:rPr>
              <a:t>Do not skip the maturity assessment — it is the artefact you will return to in every QBR.</a:t>
            </a:r>
            <a:endParaRPr lang="en-US" sz="1100" dirty="0"/>
          </a:p>
        </p:txBody>
      </p:sp>
      <p:pic>
        <p:nvPicPr>
          <p:cNvPr id="49"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50" name="Text 47"/>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51" name="Text 48"/>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STEP 5 · TIER 2 / ATO C2</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000" b="1" dirty="0">
                <a:solidFill>
                  <a:srgbClr val="091F2C"/>
                </a:solidFill>
                <a:latin typeface="Segoe UI" pitchFamily="34" charset="0"/>
                <a:ea typeface="Segoe UI" pitchFamily="34" charset="-122"/>
                <a:cs typeface="Segoe UI" pitchFamily="34" charset="-120"/>
              </a:rPr>
              <a:t>Stand up the CoE</a:t>
            </a:r>
            <a:endParaRPr lang="en-US" sz="3000" dirty="0"/>
          </a:p>
        </p:txBody>
      </p:sp>
      <p:sp>
        <p:nvSpPr>
          <p:cNvPr id="5" name="Shape 3"/>
          <p:cNvSpPr/>
          <p:nvPr/>
        </p:nvSpPr>
        <p:spPr>
          <a:xfrm>
            <a:off x="548640" y="1828800"/>
            <a:ext cx="6766560" cy="4297680"/>
          </a:xfrm>
          <a:prstGeom prst="roundRect">
            <a:avLst>
              <a:gd name="adj" fmla="val 2553"/>
            </a:avLst>
          </a:prstGeom>
          <a:solidFill>
            <a:srgbClr val="FFF8F5"/>
          </a:solidFill>
          <a:ln w="12700">
            <a:solidFill>
              <a:srgbClr val="E1E6EF"/>
            </a:solidFill>
            <a:prstDash val="solid"/>
          </a:ln>
        </p:spPr>
        <p:txBody>
          <a:bodyPr/>
          <a:lstStyle/>
          <a:p>
            <a:endParaRPr lang="en-ZA"/>
          </a:p>
        </p:txBody>
      </p:sp>
      <p:sp>
        <p:nvSpPr>
          <p:cNvPr id="6" name="Text 4"/>
          <p:cNvSpPr/>
          <p:nvPr/>
        </p:nvSpPr>
        <p:spPr>
          <a:xfrm>
            <a:off x="777240" y="1965960"/>
            <a:ext cx="6400800" cy="274320"/>
          </a:xfrm>
          <a:prstGeom prst="rect">
            <a:avLst/>
          </a:prstGeom>
          <a:noFill/>
          <a:ln/>
        </p:spPr>
        <p:txBody>
          <a:bodyPr wrap="square" rtlCol="0" anchor="ctr"/>
          <a:lstStyle/>
          <a:p>
            <a:pPr marL="0" indent="0">
              <a:buNone/>
            </a:pPr>
            <a:r>
              <a:rPr lang="en-US" sz="1100" b="1" kern="0" spc="300" dirty="0">
                <a:solidFill>
                  <a:srgbClr val="0078D4"/>
                </a:solidFill>
                <a:latin typeface="Segoe UI" pitchFamily="34" charset="0"/>
                <a:ea typeface="Segoe UI" pitchFamily="34" charset="-122"/>
                <a:cs typeface="Segoe UI" pitchFamily="34" charset="-120"/>
              </a:rPr>
              <a:t>WHAT GETS BUILT (3–9 months)</a:t>
            </a:r>
            <a:endParaRPr lang="en-US" sz="1100" dirty="0"/>
          </a:p>
        </p:txBody>
      </p:sp>
      <p:sp>
        <p:nvSpPr>
          <p:cNvPr id="7" name="Shape 5"/>
          <p:cNvSpPr/>
          <p:nvPr/>
        </p:nvSpPr>
        <p:spPr>
          <a:xfrm>
            <a:off x="868680" y="2423160"/>
            <a:ext cx="457200" cy="457200"/>
          </a:xfrm>
          <a:prstGeom prst="ellipse">
            <a:avLst/>
          </a:prstGeom>
          <a:solidFill>
            <a:srgbClr val="0078D4"/>
          </a:solidFill>
          <a:ln w="12700">
            <a:solidFill>
              <a:srgbClr val="0078D4"/>
            </a:solidFill>
            <a:prstDash val="solid"/>
          </a:ln>
        </p:spPr>
        <p:txBody>
          <a:bodyPr/>
          <a:lstStyle/>
          <a:p>
            <a:endParaRPr lang="en-ZA"/>
          </a:p>
        </p:txBody>
      </p:sp>
      <p:sp>
        <p:nvSpPr>
          <p:cNvPr id="8" name="Text 6"/>
          <p:cNvSpPr/>
          <p:nvPr/>
        </p:nvSpPr>
        <p:spPr>
          <a:xfrm>
            <a:off x="868680" y="2423160"/>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9" name="Text 7"/>
          <p:cNvSpPr/>
          <p:nvPr/>
        </p:nvSpPr>
        <p:spPr>
          <a:xfrm>
            <a:off x="1463040" y="2377440"/>
            <a:ext cx="566928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Governance stand-up</a:t>
            </a:r>
            <a:endParaRPr lang="en-US" sz="1400" dirty="0"/>
          </a:p>
        </p:txBody>
      </p:sp>
      <p:sp>
        <p:nvSpPr>
          <p:cNvPr id="10" name="Text 8"/>
          <p:cNvSpPr/>
          <p:nvPr/>
        </p:nvSpPr>
        <p:spPr>
          <a:xfrm>
            <a:off x="1463040" y="2743200"/>
            <a:ext cx="5669280" cy="5486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CoE council formed · Responsible AI standard ratified · operating cadence locked</a:t>
            </a:r>
            <a:endParaRPr lang="en-US" sz="1100" dirty="0"/>
          </a:p>
        </p:txBody>
      </p:sp>
      <p:sp>
        <p:nvSpPr>
          <p:cNvPr id="11" name="Shape 9"/>
          <p:cNvSpPr/>
          <p:nvPr/>
        </p:nvSpPr>
        <p:spPr>
          <a:xfrm>
            <a:off x="868680" y="3337560"/>
            <a:ext cx="457200" cy="457200"/>
          </a:xfrm>
          <a:prstGeom prst="ellipse">
            <a:avLst/>
          </a:prstGeom>
          <a:solidFill>
            <a:srgbClr val="0078D4"/>
          </a:solidFill>
          <a:ln w="12700">
            <a:solidFill>
              <a:srgbClr val="0078D4"/>
            </a:solidFill>
            <a:prstDash val="solid"/>
          </a:ln>
        </p:spPr>
        <p:txBody>
          <a:bodyPr/>
          <a:lstStyle/>
          <a:p>
            <a:endParaRPr lang="en-ZA"/>
          </a:p>
        </p:txBody>
      </p:sp>
      <p:sp>
        <p:nvSpPr>
          <p:cNvPr id="12" name="Text 10"/>
          <p:cNvSpPr/>
          <p:nvPr/>
        </p:nvSpPr>
        <p:spPr>
          <a:xfrm>
            <a:off x="868680" y="3337560"/>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13" name="Text 11"/>
          <p:cNvSpPr/>
          <p:nvPr/>
        </p:nvSpPr>
        <p:spPr>
          <a:xfrm>
            <a:off x="1463040" y="3291840"/>
            <a:ext cx="566928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AI Landing Zone</a:t>
            </a:r>
            <a:endParaRPr lang="en-US" sz="1400" dirty="0"/>
          </a:p>
        </p:txBody>
      </p:sp>
      <p:sp>
        <p:nvSpPr>
          <p:cNvPr id="14" name="Text 12"/>
          <p:cNvSpPr/>
          <p:nvPr/>
        </p:nvSpPr>
        <p:spPr>
          <a:xfrm>
            <a:off x="1463040" y="3657600"/>
            <a:ext cx="5669280" cy="5486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Nominate Factory F2 (zero cost) · Foundry hub · Fabric/OneLake · Purview labels · cost guardrails</a:t>
            </a:r>
            <a:endParaRPr lang="en-US" sz="1100" dirty="0"/>
          </a:p>
        </p:txBody>
      </p:sp>
      <p:sp>
        <p:nvSpPr>
          <p:cNvPr id="15" name="Shape 13"/>
          <p:cNvSpPr/>
          <p:nvPr/>
        </p:nvSpPr>
        <p:spPr>
          <a:xfrm>
            <a:off x="868680" y="4251960"/>
            <a:ext cx="457200" cy="457200"/>
          </a:xfrm>
          <a:prstGeom prst="ellipse">
            <a:avLst/>
          </a:prstGeom>
          <a:solidFill>
            <a:srgbClr val="0078D4"/>
          </a:solidFill>
          <a:ln w="12700">
            <a:solidFill>
              <a:srgbClr val="0078D4"/>
            </a:solidFill>
            <a:prstDash val="solid"/>
          </a:ln>
        </p:spPr>
        <p:txBody>
          <a:bodyPr/>
          <a:lstStyle/>
          <a:p>
            <a:endParaRPr lang="en-ZA"/>
          </a:p>
        </p:txBody>
      </p:sp>
      <p:sp>
        <p:nvSpPr>
          <p:cNvPr id="16" name="Text 14"/>
          <p:cNvSpPr/>
          <p:nvPr/>
        </p:nvSpPr>
        <p:spPr>
          <a:xfrm>
            <a:off x="868680" y="4251960"/>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17" name="Text 15"/>
          <p:cNvSpPr/>
          <p:nvPr/>
        </p:nvSpPr>
        <p:spPr>
          <a:xfrm>
            <a:off x="1463040" y="4206240"/>
            <a:ext cx="566928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First pilot to production</a:t>
            </a:r>
            <a:endParaRPr lang="en-US" sz="1400" dirty="0"/>
          </a:p>
        </p:txBody>
      </p:sp>
      <p:sp>
        <p:nvSpPr>
          <p:cNvPr id="18" name="Text 16"/>
          <p:cNvSpPr/>
          <p:nvPr/>
        </p:nvSpPr>
        <p:spPr>
          <a:xfrm>
            <a:off x="1463040" y="4572000"/>
            <a:ext cx="5669280" cy="5486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End-to-end agent · GenAIOps pipeline · monitoring + telemetry · go-live runbook</a:t>
            </a:r>
            <a:endParaRPr lang="en-US" sz="1100" dirty="0"/>
          </a:p>
        </p:txBody>
      </p:sp>
      <p:sp>
        <p:nvSpPr>
          <p:cNvPr id="19" name="Shape 17"/>
          <p:cNvSpPr/>
          <p:nvPr/>
        </p:nvSpPr>
        <p:spPr>
          <a:xfrm>
            <a:off x="868680" y="5166360"/>
            <a:ext cx="457200" cy="457200"/>
          </a:xfrm>
          <a:prstGeom prst="ellipse">
            <a:avLst/>
          </a:prstGeom>
          <a:solidFill>
            <a:srgbClr val="0078D4"/>
          </a:solidFill>
          <a:ln w="12700">
            <a:solidFill>
              <a:srgbClr val="0078D4"/>
            </a:solidFill>
            <a:prstDash val="solid"/>
          </a:ln>
        </p:spPr>
        <p:txBody>
          <a:bodyPr/>
          <a:lstStyle/>
          <a:p>
            <a:endParaRPr lang="en-ZA"/>
          </a:p>
        </p:txBody>
      </p:sp>
      <p:sp>
        <p:nvSpPr>
          <p:cNvPr id="20" name="Text 18"/>
          <p:cNvSpPr/>
          <p:nvPr/>
        </p:nvSpPr>
        <p:spPr>
          <a:xfrm>
            <a:off x="868680" y="5166360"/>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21" name="Text 19"/>
          <p:cNvSpPr/>
          <p:nvPr/>
        </p:nvSpPr>
        <p:spPr>
          <a:xfrm>
            <a:off x="1463040" y="5120640"/>
            <a:ext cx="566928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Skilling wave 1</a:t>
            </a:r>
            <a:endParaRPr lang="en-US" sz="1400" dirty="0"/>
          </a:p>
        </p:txBody>
      </p:sp>
      <p:sp>
        <p:nvSpPr>
          <p:cNvPr id="22" name="Text 20"/>
          <p:cNvSpPr/>
          <p:nvPr/>
        </p:nvSpPr>
        <p:spPr>
          <a:xfrm>
            <a:off x="1463040" y="5486400"/>
            <a:ext cx="5669280" cy="5486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AI-102 + Copilot certifications · CoE practitioner cohort certified</a:t>
            </a:r>
            <a:endParaRPr lang="en-US" sz="1100" dirty="0"/>
          </a:p>
        </p:txBody>
      </p:sp>
      <p:sp>
        <p:nvSpPr>
          <p:cNvPr id="23" name="Shape 21"/>
          <p:cNvSpPr/>
          <p:nvPr/>
        </p:nvSpPr>
        <p:spPr>
          <a:xfrm>
            <a:off x="7452360" y="1828800"/>
            <a:ext cx="4206240" cy="4297680"/>
          </a:xfrm>
          <a:prstGeom prst="roundRect">
            <a:avLst>
              <a:gd name="adj" fmla="val 2609"/>
            </a:avLst>
          </a:prstGeom>
          <a:solidFill>
            <a:srgbClr val="091F2C"/>
          </a:solidFill>
          <a:ln w="12700">
            <a:solidFill>
              <a:srgbClr val="091F2C"/>
            </a:solidFill>
            <a:prstDash val="solid"/>
          </a:ln>
        </p:spPr>
        <p:txBody>
          <a:bodyPr/>
          <a:lstStyle/>
          <a:p>
            <a:endParaRPr lang="en-ZA"/>
          </a:p>
        </p:txBody>
      </p:sp>
      <p:sp>
        <p:nvSpPr>
          <p:cNvPr id="24" name="Text 22"/>
          <p:cNvSpPr/>
          <p:nvPr/>
        </p:nvSpPr>
        <p:spPr>
          <a:xfrm>
            <a:off x="7680960" y="1965960"/>
            <a:ext cx="3749040" cy="274320"/>
          </a:xfrm>
          <a:prstGeom prst="rect">
            <a:avLst/>
          </a:prstGeom>
          <a:noFill/>
          <a:ln/>
        </p:spPr>
        <p:txBody>
          <a:bodyPr wrap="square" rtlCol="0" anchor="ctr"/>
          <a:lstStyle/>
          <a:p>
            <a:pPr marL="0" indent="0">
              <a:buNone/>
            </a:pPr>
            <a:r>
              <a:rPr lang="en-US" sz="1100" b="1" kern="0" spc="300" dirty="0">
                <a:solidFill>
                  <a:srgbClr val="FFB900"/>
                </a:solidFill>
                <a:latin typeface="Segoe UI" pitchFamily="34" charset="0"/>
                <a:ea typeface="Segoe UI" pitchFamily="34" charset="-122"/>
                <a:cs typeface="Segoe UI" pitchFamily="34" charset="-120"/>
              </a:rPr>
              <a:t>GATE TO ADVANCE</a:t>
            </a:r>
            <a:endParaRPr lang="en-US" sz="1100" dirty="0"/>
          </a:p>
        </p:txBody>
      </p:sp>
      <p:sp>
        <p:nvSpPr>
          <p:cNvPr id="25" name="Text 23"/>
          <p:cNvSpPr/>
          <p:nvPr/>
        </p:nvSpPr>
        <p:spPr>
          <a:xfrm>
            <a:off x="7680960" y="2240280"/>
            <a:ext cx="3749040" cy="36576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To move to Step 6</a:t>
            </a:r>
            <a:endParaRPr lang="en-US" sz="1600" dirty="0"/>
          </a:p>
        </p:txBody>
      </p:sp>
      <p:sp>
        <p:nvSpPr>
          <p:cNvPr id="26" name="Text 24"/>
          <p:cNvSpPr/>
          <p:nvPr/>
        </p:nvSpPr>
        <p:spPr>
          <a:xfrm>
            <a:off x="7680960" y="2743200"/>
            <a:ext cx="274320" cy="365760"/>
          </a:xfrm>
          <a:prstGeom prst="rect">
            <a:avLst/>
          </a:prstGeom>
          <a:noFill/>
          <a:ln/>
        </p:spPr>
        <p:txBody>
          <a:bodyPr wrap="square" rtlCol="0" anchor="ctr"/>
          <a:lstStyle/>
          <a:p>
            <a:pPr marL="0" indent="0">
              <a:buNone/>
            </a:pPr>
            <a:r>
              <a:rPr lang="en-US" sz="1600" b="1" dirty="0">
                <a:solidFill>
                  <a:srgbClr val="C03BC4"/>
                </a:solidFill>
                <a:latin typeface="Segoe UI" pitchFamily="34" charset="0"/>
                <a:ea typeface="Segoe UI" pitchFamily="34" charset="-122"/>
                <a:cs typeface="Segoe UI" pitchFamily="34" charset="-120"/>
              </a:rPr>
              <a:t>✓</a:t>
            </a:r>
            <a:endParaRPr lang="en-US" sz="1600" dirty="0"/>
          </a:p>
        </p:txBody>
      </p:sp>
      <p:sp>
        <p:nvSpPr>
          <p:cNvPr id="27" name="Text 25"/>
          <p:cNvSpPr/>
          <p:nvPr/>
        </p:nvSpPr>
        <p:spPr>
          <a:xfrm>
            <a:off x="8001000" y="2788920"/>
            <a:ext cx="3520440" cy="50292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Responsible AI standard signed by CoE council</a:t>
            </a:r>
            <a:endParaRPr lang="en-US" sz="1100" dirty="0"/>
          </a:p>
        </p:txBody>
      </p:sp>
      <p:sp>
        <p:nvSpPr>
          <p:cNvPr id="28" name="Text 26"/>
          <p:cNvSpPr/>
          <p:nvPr/>
        </p:nvSpPr>
        <p:spPr>
          <a:xfrm>
            <a:off x="7680960" y="3310128"/>
            <a:ext cx="274320" cy="365760"/>
          </a:xfrm>
          <a:prstGeom prst="rect">
            <a:avLst/>
          </a:prstGeom>
          <a:noFill/>
          <a:ln/>
        </p:spPr>
        <p:txBody>
          <a:bodyPr wrap="square" rtlCol="0" anchor="ctr"/>
          <a:lstStyle/>
          <a:p>
            <a:pPr marL="0" indent="0">
              <a:buNone/>
            </a:pPr>
            <a:r>
              <a:rPr lang="en-US" sz="1600" b="1" dirty="0">
                <a:solidFill>
                  <a:srgbClr val="C03BC4"/>
                </a:solidFill>
                <a:latin typeface="Segoe UI" pitchFamily="34" charset="0"/>
                <a:ea typeface="Segoe UI" pitchFamily="34" charset="-122"/>
                <a:cs typeface="Segoe UI" pitchFamily="34" charset="-120"/>
              </a:rPr>
              <a:t>✓</a:t>
            </a:r>
            <a:endParaRPr lang="en-US" sz="1600" dirty="0"/>
          </a:p>
        </p:txBody>
      </p:sp>
      <p:sp>
        <p:nvSpPr>
          <p:cNvPr id="29" name="Text 27"/>
          <p:cNvSpPr/>
          <p:nvPr/>
        </p:nvSpPr>
        <p:spPr>
          <a:xfrm>
            <a:off x="8001000" y="3355848"/>
            <a:ext cx="3520440" cy="50292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AI landing zone deployed in production tenant</a:t>
            </a:r>
            <a:endParaRPr lang="en-US" sz="1100" dirty="0"/>
          </a:p>
        </p:txBody>
      </p:sp>
      <p:sp>
        <p:nvSpPr>
          <p:cNvPr id="30" name="Text 28"/>
          <p:cNvSpPr/>
          <p:nvPr/>
        </p:nvSpPr>
        <p:spPr>
          <a:xfrm>
            <a:off x="7680960" y="3877056"/>
            <a:ext cx="274320" cy="365760"/>
          </a:xfrm>
          <a:prstGeom prst="rect">
            <a:avLst/>
          </a:prstGeom>
          <a:noFill/>
          <a:ln/>
        </p:spPr>
        <p:txBody>
          <a:bodyPr wrap="square" rtlCol="0" anchor="ctr"/>
          <a:lstStyle/>
          <a:p>
            <a:pPr marL="0" indent="0">
              <a:buNone/>
            </a:pPr>
            <a:r>
              <a:rPr lang="en-US" sz="1600" b="1" dirty="0">
                <a:solidFill>
                  <a:srgbClr val="C03BC4"/>
                </a:solidFill>
                <a:latin typeface="Segoe UI" pitchFamily="34" charset="0"/>
                <a:ea typeface="Segoe UI" pitchFamily="34" charset="-122"/>
                <a:cs typeface="Segoe UI" pitchFamily="34" charset="-120"/>
              </a:rPr>
              <a:t>✓</a:t>
            </a:r>
            <a:endParaRPr lang="en-US" sz="1600" dirty="0"/>
          </a:p>
        </p:txBody>
      </p:sp>
      <p:sp>
        <p:nvSpPr>
          <p:cNvPr id="31" name="Text 29"/>
          <p:cNvSpPr/>
          <p:nvPr/>
        </p:nvSpPr>
        <p:spPr>
          <a:xfrm>
            <a:off x="8001000" y="3922776"/>
            <a:ext cx="3520440" cy="50292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1 pilot live with named business owner</a:t>
            </a:r>
            <a:endParaRPr lang="en-US" sz="1100" dirty="0"/>
          </a:p>
        </p:txBody>
      </p:sp>
      <p:sp>
        <p:nvSpPr>
          <p:cNvPr id="32" name="Text 30"/>
          <p:cNvSpPr/>
          <p:nvPr/>
        </p:nvSpPr>
        <p:spPr>
          <a:xfrm>
            <a:off x="7680960" y="4443984"/>
            <a:ext cx="274320" cy="365760"/>
          </a:xfrm>
          <a:prstGeom prst="rect">
            <a:avLst/>
          </a:prstGeom>
          <a:noFill/>
          <a:ln/>
        </p:spPr>
        <p:txBody>
          <a:bodyPr wrap="square" rtlCol="0" anchor="ctr"/>
          <a:lstStyle/>
          <a:p>
            <a:pPr marL="0" indent="0">
              <a:buNone/>
            </a:pPr>
            <a:r>
              <a:rPr lang="en-US" sz="1600" b="1" dirty="0">
                <a:solidFill>
                  <a:srgbClr val="C03BC4"/>
                </a:solidFill>
                <a:latin typeface="Segoe UI" pitchFamily="34" charset="0"/>
                <a:ea typeface="Segoe UI" pitchFamily="34" charset="-122"/>
                <a:cs typeface="Segoe UI" pitchFamily="34" charset="-120"/>
              </a:rPr>
              <a:t>✓</a:t>
            </a:r>
            <a:endParaRPr lang="en-US" sz="1600" dirty="0"/>
          </a:p>
        </p:txBody>
      </p:sp>
      <p:sp>
        <p:nvSpPr>
          <p:cNvPr id="33" name="Text 31"/>
          <p:cNvSpPr/>
          <p:nvPr/>
        </p:nvSpPr>
        <p:spPr>
          <a:xfrm>
            <a:off x="8001000" y="4489704"/>
            <a:ext cx="3520440" cy="50292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GenAIOps telemetry flowing to dashboard</a:t>
            </a:r>
            <a:endParaRPr lang="en-US" sz="1100" dirty="0"/>
          </a:p>
        </p:txBody>
      </p:sp>
      <p:sp>
        <p:nvSpPr>
          <p:cNvPr id="34" name="Text 32"/>
          <p:cNvSpPr/>
          <p:nvPr/>
        </p:nvSpPr>
        <p:spPr>
          <a:xfrm>
            <a:off x="7680960" y="5010912"/>
            <a:ext cx="274320" cy="365760"/>
          </a:xfrm>
          <a:prstGeom prst="rect">
            <a:avLst/>
          </a:prstGeom>
          <a:noFill/>
          <a:ln/>
        </p:spPr>
        <p:txBody>
          <a:bodyPr wrap="square" rtlCol="0" anchor="ctr"/>
          <a:lstStyle/>
          <a:p>
            <a:pPr marL="0" indent="0">
              <a:buNone/>
            </a:pPr>
            <a:r>
              <a:rPr lang="en-US" sz="1600" b="1" dirty="0">
                <a:solidFill>
                  <a:srgbClr val="C03BC4"/>
                </a:solidFill>
                <a:latin typeface="Segoe UI" pitchFamily="34" charset="0"/>
                <a:ea typeface="Segoe UI" pitchFamily="34" charset="-122"/>
                <a:cs typeface="Segoe UI" pitchFamily="34" charset="-120"/>
              </a:rPr>
              <a:t>✓</a:t>
            </a:r>
            <a:endParaRPr lang="en-US" sz="1600" dirty="0"/>
          </a:p>
        </p:txBody>
      </p:sp>
      <p:sp>
        <p:nvSpPr>
          <p:cNvPr id="35" name="Text 33"/>
          <p:cNvSpPr/>
          <p:nvPr/>
        </p:nvSpPr>
        <p:spPr>
          <a:xfrm>
            <a:off x="8001000" y="5056632"/>
            <a:ext cx="3520440" cy="50292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AI Foundry + Fabric (or Databases) attached</a:t>
            </a:r>
            <a:endParaRPr lang="en-US" sz="1100" dirty="0"/>
          </a:p>
        </p:txBody>
      </p:sp>
      <p:sp>
        <p:nvSpPr>
          <p:cNvPr id="36" name="Text 34"/>
          <p:cNvSpPr/>
          <p:nvPr/>
        </p:nvSpPr>
        <p:spPr>
          <a:xfrm>
            <a:off x="7680960" y="5760720"/>
            <a:ext cx="3749040" cy="320040"/>
          </a:xfrm>
          <a:prstGeom prst="rect">
            <a:avLst/>
          </a:prstGeom>
          <a:noFill/>
          <a:ln/>
        </p:spPr>
        <p:txBody>
          <a:bodyPr wrap="square" rtlCol="0" anchor="ctr"/>
          <a:lstStyle/>
          <a:p>
            <a:pPr marL="0" indent="0">
              <a:buNone/>
            </a:pPr>
            <a:r>
              <a:rPr lang="en-US" sz="1000" b="1" i="1" dirty="0">
                <a:solidFill>
                  <a:srgbClr val="FFB900"/>
                </a:solidFill>
                <a:latin typeface="Segoe UI" pitchFamily="34" charset="0"/>
                <a:ea typeface="Segoe UI" pitchFamily="34" charset="-122"/>
                <a:cs typeface="Segoe UI" pitchFamily="34" charset="-120"/>
              </a:rPr>
              <a:t>Gate unlocks the post-sales ECIF + ACO envelope.</a:t>
            </a:r>
            <a:endParaRPr lang="en-US" sz="1000" dirty="0"/>
          </a:p>
        </p:txBody>
      </p:sp>
      <p:pic>
        <p:nvPicPr>
          <p:cNvPr id="37"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8" name="Text 35"/>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39" name="Text 36"/>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STEP 6 · ATO C3</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000" b="1" dirty="0">
                <a:solidFill>
                  <a:srgbClr val="091F2C"/>
                </a:solidFill>
                <a:latin typeface="Segoe UI" pitchFamily="34" charset="0"/>
                <a:ea typeface="Segoe UI" pitchFamily="34" charset="-122"/>
                <a:cs typeface="Segoe UI" pitchFamily="34" charset="-120"/>
              </a:rPr>
              <a:t>Build &amp; scale — Agent Factory</a:t>
            </a:r>
            <a:endParaRPr lang="en-US" sz="3000" dirty="0"/>
          </a:p>
        </p:txBody>
      </p:sp>
      <p:sp>
        <p:nvSpPr>
          <p:cNvPr id="5" name="Shape 3"/>
          <p:cNvSpPr/>
          <p:nvPr/>
        </p:nvSpPr>
        <p:spPr>
          <a:xfrm>
            <a:off x="548640" y="1691640"/>
            <a:ext cx="11064240" cy="640080"/>
          </a:xfrm>
          <a:prstGeom prst="roundRect">
            <a:avLst>
              <a:gd name="adj" fmla="val 11429"/>
            </a:avLst>
          </a:prstGeom>
          <a:solidFill>
            <a:srgbClr val="091F2C"/>
          </a:solidFill>
          <a:ln w="12700">
            <a:solidFill>
              <a:srgbClr val="091F2C"/>
            </a:solidFill>
            <a:prstDash val="solid"/>
          </a:ln>
        </p:spPr>
        <p:txBody>
          <a:bodyPr/>
          <a:lstStyle/>
          <a:p>
            <a:endParaRPr lang="en-ZA"/>
          </a:p>
        </p:txBody>
      </p:sp>
      <p:sp>
        <p:nvSpPr>
          <p:cNvPr id="6" name="Text 4"/>
          <p:cNvSpPr/>
          <p:nvPr/>
        </p:nvSpPr>
        <p:spPr>
          <a:xfrm>
            <a:off x="777240" y="1737360"/>
            <a:ext cx="1371600" cy="548640"/>
          </a:xfrm>
          <a:prstGeom prst="rect">
            <a:avLst/>
          </a:prstGeom>
          <a:noFill/>
          <a:ln/>
        </p:spPr>
        <p:txBody>
          <a:bodyPr wrap="square" rtlCol="0" anchor="ctr"/>
          <a:lstStyle/>
          <a:p>
            <a:pPr marL="0" indent="0">
              <a:buNone/>
            </a:pPr>
            <a:r>
              <a:rPr lang="en-US" sz="1000" b="1" kern="0" spc="300" dirty="0">
                <a:solidFill>
                  <a:srgbClr val="C03BC4"/>
                </a:solidFill>
                <a:latin typeface="Segoe UI" pitchFamily="34" charset="0"/>
                <a:ea typeface="Segoe UI" pitchFamily="34" charset="-122"/>
                <a:cs typeface="Segoe UI" pitchFamily="34" charset="-120"/>
              </a:rPr>
              <a:t>FUNDING</a:t>
            </a:r>
            <a:endParaRPr lang="en-US" sz="1000" dirty="0"/>
          </a:p>
        </p:txBody>
      </p:sp>
      <p:sp>
        <p:nvSpPr>
          <p:cNvPr id="7" name="Text 5"/>
          <p:cNvSpPr/>
          <p:nvPr/>
        </p:nvSpPr>
        <p:spPr>
          <a:xfrm>
            <a:off x="2194560" y="1737360"/>
            <a:ext cx="5943600" cy="548640"/>
          </a:xfrm>
          <a:prstGeom prst="rect">
            <a:avLst/>
          </a:prstGeom>
          <a:noFill/>
          <a:ln/>
        </p:spPr>
        <p:txBody>
          <a:bodyPr wrap="square"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Up to $1M post-sales · $500k ECIF + $500k ACO · 1:2 each</a:t>
            </a:r>
            <a:endParaRPr lang="en-US" sz="1300" dirty="0"/>
          </a:p>
        </p:txBody>
      </p:sp>
      <p:sp>
        <p:nvSpPr>
          <p:cNvPr id="8" name="Text 6"/>
          <p:cNvSpPr/>
          <p:nvPr/>
        </p:nvSpPr>
        <p:spPr>
          <a:xfrm>
            <a:off x="8138160" y="1737360"/>
            <a:ext cx="3474720" cy="548640"/>
          </a:xfrm>
          <a:prstGeom prst="rect">
            <a:avLst/>
          </a:prstGeom>
          <a:noFill/>
          <a:ln/>
        </p:spPr>
        <p:txBody>
          <a:bodyPr wrap="square" rtlCol="0" anchor="ctr"/>
          <a:lstStyle/>
          <a:p>
            <a:pPr marL="0" indent="0">
              <a:buNone/>
            </a:pPr>
            <a:r>
              <a:rPr lang="en-US" sz="1200" i="1" dirty="0">
                <a:solidFill>
                  <a:srgbClr val="F5E6F0"/>
                </a:solidFill>
                <a:latin typeface="Segoe UI" pitchFamily="34" charset="0"/>
                <a:ea typeface="Segoe UI" pitchFamily="34" charset="-122"/>
                <a:cs typeface="Segoe UI" pitchFamily="34" charset="-120"/>
              </a:rPr>
              <a:t>7–9 weeks per agent · pattern repeats</a:t>
            </a:r>
            <a:endParaRPr lang="en-US" sz="1200" dirty="0"/>
          </a:p>
        </p:txBody>
      </p:sp>
      <p:sp>
        <p:nvSpPr>
          <p:cNvPr id="9" name="Shape 7"/>
          <p:cNvSpPr/>
          <p:nvPr/>
        </p:nvSpPr>
        <p:spPr>
          <a:xfrm>
            <a:off x="540868" y="2606040"/>
            <a:ext cx="2148840" cy="2194560"/>
          </a:xfrm>
          <a:prstGeom prst="roundRect">
            <a:avLst>
              <a:gd name="adj" fmla="val 3404"/>
            </a:avLst>
          </a:prstGeom>
          <a:solidFill>
            <a:srgbClr val="FFFFFF"/>
          </a:solidFill>
          <a:ln w="12700">
            <a:solidFill>
              <a:srgbClr val="E1E6EF"/>
            </a:solidFill>
            <a:prstDash val="solid"/>
          </a:ln>
        </p:spPr>
        <p:txBody>
          <a:bodyPr/>
          <a:lstStyle/>
          <a:p>
            <a:endParaRPr lang="en-ZA"/>
          </a:p>
        </p:txBody>
      </p:sp>
      <p:sp>
        <p:nvSpPr>
          <p:cNvPr id="10" name="Shape 8"/>
          <p:cNvSpPr/>
          <p:nvPr/>
        </p:nvSpPr>
        <p:spPr>
          <a:xfrm>
            <a:off x="1295248" y="2788920"/>
            <a:ext cx="640080" cy="640080"/>
          </a:xfrm>
          <a:prstGeom prst="ellipse">
            <a:avLst/>
          </a:prstGeom>
          <a:solidFill>
            <a:srgbClr val="FF5C39"/>
          </a:solidFill>
          <a:ln w="12700">
            <a:solidFill>
              <a:srgbClr val="FF5C39"/>
            </a:solidFill>
            <a:prstDash val="solid"/>
          </a:ln>
        </p:spPr>
        <p:txBody>
          <a:bodyPr/>
          <a:lstStyle/>
          <a:p>
            <a:endParaRPr lang="en-ZA"/>
          </a:p>
        </p:txBody>
      </p:sp>
      <p:sp>
        <p:nvSpPr>
          <p:cNvPr id="11" name="Text 9"/>
          <p:cNvSpPr/>
          <p:nvPr/>
        </p:nvSpPr>
        <p:spPr>
          <a:xfrm>
            <a:off x="1295248" y="2788920"/>
            <a:ext cx="64008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1</a:t>
            </a:r>
            <a:endParaRPr lang="en-US" sz="2200" dirty="0"/>
          </a:p>
        </p:txBody>
      </p:sp>
      <p:sp>
        <p:nvSpPr>
          <p:cNvPr id="12" name="Text 10"/>
          <p:cNvSpPr/>
          <p:nvPr/>
        </p:nvSpPr>
        <p:spPr>
          <a:xfrm>
            <a:off x="632308" y="3520440"/>
            <a:ext cx="1965960" cy="365760"/>
          </a:xfrm>
          <a:prstGeom prst="rect">
            <a:avLst/>
          </a:prstGeom>
          <a:noFill/>
          <a:ln/>
        </p:spPr>
        <p:txBody>
          <a:bodyPr wrap="square" rtlCol="0" anchor="ctr"/>
          <a:lstStyle/>
          <a:p>
            <a:pPr marL="0" indent="0" algn="ctr">
              <a:buNone/>
            </a:pPr>
            <a:r>
              <a:rPr lang="en-US" sz="1500" b="1" dirty="0">
                <a:solidFill>
                  <a:srgbClr val="091F2C"/>
                </a:solidFill>
                <a:latin typeface="Segoe UI" pitchFamily="34" charset="0"/>
                <a:ea typeface="Segoe UI" pitchFamily="34" charset="-122"/>
                <a:cs typeface="Segoe UI" pitchFamily="34" charset="-120"/>
              </a:rPr>
              <a:t>Identify</a:t>
            </a:r>
            <a:endParaRPr lang="en-US" sz="1500" dirty="0"/>
          </a:p>
        </p:txBody>
      </p:sp>
      <p:sp>
        <p:nvSpPr>
          <p:cNvPr id="13" name="Text 11"/>
          <p:cNvSpPr/>
          <p:nvPr/>
        </p:nvSpPr>
        <p:spPr>
          <a:xfrm>
            <a:off x="678028" y="3931920"/>
            <a:ext cx="1874520" cy="914400"/>
          </a:xfrm>
          <a:prstGeom prst="rect">
            <a:avLst/>
          </a:prstGeom>
          <a:noFill/>
          <a:ln/>
        </p:spPr>
        <p:txBody>
          <a:bodyPr wrap="square" rtlCol="0" anchor="ctr"/>
          <a:lstStyle/>
          <a:p>
            <a:pPr marL="0" indent="0" algn="ctr">
              <a:buNone/>
            </a:pPr>
            <a:r>
              <a:rPr lang="en-US" sz="1050" dirty="0">
                <a:solidFill>
                  <a:srgbClr val="4B5563"/>
                </a:solidFill>
                <a:latin typeface="Segoe UI" pitchFamily="34" charset="0"/>
                <a:ea typeface="Segoe UI" pitchFamily="34" charset="-122"/>
                <a:cs typeface="Segoe UI" pitchFamily="34" charset="-120"/>
              </a:rPr>
              <a:t>Pull from prioritised backlog — confirm ROI</a:t>
            </a:r>
            <a:endParaRPr lang="en-US" sz="1050" dirty="0"/>
          </a:p>
        </p:txBody>
      </p:sp>
      <p:sp>
        <p:nvSpPr>
          <p:cNvPr id="14" name="Shape 12"/>
          <p:cNvSpPr/>
          <p:nvPr/>
        </p:nvSpPr>
        <p:spPr>
          <a:xfrm>
            <a:off x="2781148" y="2606040"/>
            <a:ext cx="2148840" cy="2194560"/>
          </a:xfrm>
          <a:prstGeom prst="roundRect">
            <a:avLst>
              <a:gd name="adj" fmla="val 3404"/>
            </a:avLst>
          </a:prstGeom>
          <a:solidFill>
            <a:srgbClr val="FFFFFF"/>
          </a:solidFill>
          <a:ln w="12700">
            <a:solidFill>
              <a:srgbClr val="E1E6EF"/>
            </a:solidFill>
            <a:prstDash val="solid"/>
          </a:ln>
        </p:spPr>
        <p:txBody>
          <a:bodyPr/>
          <a:lstStyle/>
          <a:p>
            <a:endParaRPr lang="en-ZA"/>
          </a:p>
        </p:txBody>
      </p:sp>
      <p:sp>
        <p:nvSpPr>
          <p:cNvPr id="15" name="Shape 13"/>
          <p:cNvSpPr/>
          <p:nvPr/>
        </p:nvSpPr>
        <p:spPr>
          <a:xfrm>
            <a:off x="3535528" y="2788920"/>
            <a:ext cx="640080" cy="640080"/>
          </a:xfrm>
          <a:prstGeom prst="ellipse">
            <a:avLst/>
          </a:prstGeom>
          <a:solidFill>
            <a:srgbClr val="FF5C39"/>
          </a:solidFill>
          <a:ln w="12700">
            <a:solidFill>
              <a:srgbClr val="FF5C39"/>
            </a:solidFill>
            <a:prstDash val="solid"/>
          </a:ln>
        </p:spPr>
        <p:txBody>
          <a:bodyPr/>
          <a:lstStyle/>
          <a:p>
            <a:endParaRPr lang="en-ZA"/>
          </a:p>
        </p:txBody>
      </p:sp>
      <p:sp>
        <p:nvSpPr>
          <p:cNvPr id="16" name="Text 14"/>
          <p:cNvSpPr/>
          <p:nvPr/>
        </p:nvSpPr>
        <p:spPr>
          <a:xfrm>
            <a:off x="3535528" y="2788920"/>
            <a:ext cx="64008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2</a:t>
            </a:r>
            <a:endParaRPr lang="en-US" sz="2200" dirty="0"/>
          </a:p>
        </p:txBody>
      </p:sp>
      <p:sp>
        <p:nvSpPr>
          <p:cNvPr id="17" name="Text 15"/>
          <p:cNvSpPr/>
          <p:nvPr/>
        </p:nvSpPr>
        <p:spPr>
          <a:xfrm>
            <a:off x="2872588" y="3520440"/>
            <a:ext cx="1965960" cy="365760"/>
          </a:xfrm>
          <a:prstGeom prst="rect">
            <a:avLst/>
          </a:prstGeom>
          <a:noFill/>
          <a:ln/>
        </p:spPr>
        <p:txBody>
          <a:bodyPr wrap="square" rtlCol="0" anchor="ctr"/>
          <a:lstStyle/>
          <a:p>
            <a:pPr marL="0" indent="0" algn="ctr">
              <a:buNone/>
            </a:pPr>
            <a:r>
              <a:rPr lang="en-US" sz="1500" b="1" dirty="0">
                <a:solidFill>
                  <a:srgbClr val="091F2C"/>
                </a:solidFill>
                <a:latin typeface="Segoe UI" pitchFamily="34" charset="0"/>
                <a:ea typeface="Segoe UI" pitchFamily="34" charset="-122"/>
                <a:cs typeface="Segoe UI" pitchFamily="34" charset="-120"/>
              </a:rPr>
              <a:t>Co-build</a:t>
            </a:r>
            <a:endParaRPr lang="en-US" sz="1500" dirty="0"/>
          </a:p>
        </p:txBody>
      </p:sp>
      <p:sp>
        <p:nvSpPr>
          <p:cNvPr id="18" name="Text 16"/>
          <p:cNvSpPr/>
          <p:nvPr/>
        </p:nvSpPr>
        <p:spPr>
          <a:xfrm>
            <a:off x="2918308" y="3931920"/>
            <a:ext cx="1874520" cy="914400"/>
          </a:xfrm>
          <a:prstGeom prst="rect">
            <a:avLst/>
          </a:prstGeom>
          <a:noFill/>
          <a:ln/>
        </p:spPr>
        <p:txBody>
          <a:bodyPr wrap="square" rtlCol="0" anchor="ctr"/>
          <a:lstStyle/>
          <a:p>
            <a:pPr marL="0" indent="0" algn="ctr">
              <a:buNone/>
            </a:pPr>
            <a:r>
              <a:rPr lang="en-US" sz="1050" dirty="0">
                <a:solidFill>
                  <a:srgbClr val="4B5563"/>
                </a:solidFill>
                <a:latin typeface="Segoe UI" pitchFamily="34" charset="0"/>
                <a:ea typeface="Segoe UI" pitchFamily="34" charset="-122"/>
                <a:cs typeface="Segoe UI" pitchFamily="34" charset="-120"/>
              </a:rPr>
              <a:t>Anchor Partner builds with CSA in shadow</a:t>
            </a:r>
            <a:endParaRPr lang="en-US" sz="1050" dirty="0"/>
          </a:p>
        </p:txBody>
      </p:sp>
      <p:sp>
        <p:nvSpPr>
          <p:cNvPr id="19" name="Shape 17"/>
          <p:cNvSpPr/>
          <p:nvPr/>
        </p:nvSpPr>
        <p:spPr>
          <a:xfrm>
            <a:off x="5021428" y="2606040"/>
            <a:ext cx="2148840" cy="2194560"/>
          </a:xfrm>
          <a:prstGeom prst="roundRect">
            <a:avLst>
              <a:gd name="adj" fmla="val 3404"/>
            </a:avLst>
          </a:prstGeom>
          <a:solidFill>
            <a:srgbClr val="FFFFFF"/>
          </a:solidFill>
          <a:ln w="12700">
            <a:solidFill>
              <a:srgbClr val="E1E6EF"/>
            </a:solidFill>
            <a:prstDash val="solid"/>
          </a:ln>
        </p:spPr>
        <p:txBody>
          <a:bodyPr/>
          <a:lstStyle/>
          <a:p>
            <a:endParaRPr lang="en-ZA"/>
          </a:p>
        </p:txBody>
      </p:sp>
      <p:sp>
        <p:nvSpPr>
          <p:cNvPr id="20" name="Shape 18"/>
          <p:cNvSpPr/>
          <p:nvPr/>
        </p:nvSpPr>
        <p:spPr>
          <a:xfrm>
            <a:off x="5775808" y="2788920"/>
            <a:ext cx="640080" cy="640080"/>
          </a:xfrm>
          <a:prstGeom prst="ellipse">
            <a:avLst/>
          </a:prstGeom>
          <a:solidFill>
            <a:srgbClr val="FF5C39"/>
          </a:solidFill>
          <a:ln w="12700">
            <a:solidFill>
              <a:srgbClr val="FF5C39"/>
            </a:solidFill>
            <a:prstDash val="solid"/>
          </a:ln>
        </p:spPr>
        <p:txBody>
          <a:bodyPr/>
          <a:lstStyle/>
          <a:p>
            <a:endParaRPr lang="en-ZA"/>
          </a:p>
        </p:txBody>
      </p:sp>
      <p:sp>
        <p:nvSpPr>
          <p:cNvPr id="21" name="Text 19"/>
          <p:cNvSpPr/>
          <p:nvPr/>
        </p:nvSpPr>
        <p:spPr>
          <a:xfrm>
            <a:off x="5775808" y="2788920"/>
            <a:ext cx="64008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3</a:t>
            </a:r>
            <a:endParaRPr lang="en-US" sz="2200" dirty="0"/>
          </a:p>
        </p:txBody>
      </p:sp>
      <p:sp>
        <p:nvSpPr>
          <p:cNvPr id="22" name="Text 20"/>
          <p:cNvSpPr/>
          <p:nvPr/>
        </p:nvSpPr>
        <p:spPr>
          <a:xfrm>
            <a:off x="5112868" y="3520440"/>
            <a:ext cx="1965960" cy="365760"/>
          </a:xfrm>
          <a:prstGeom prst="rect">
            <a:avLst/>
          </a:prstGeom>
          <a:noFill/>
          <a:ln/>
        </p:spPr>
        <p:txBody>
          <a:bodyPr wrap="square" rtlCol="0" anchor="ctr"/>
          <a:lstStyle/>
          <a:p>
            <a:pPr marL="0" indent="0" algn="ctr">
              <a:buNone/>
            </a:pPr>
            <a:r>
              <a:rPr lang="en-US" sz="1500" b="1" dirty="0">
                <a:solidFill>
                  <a:srgbClr val="091F2C"/>
                </a:solidFill>
                <a:latin typeface="Segoe UI" pitchFamily="34" charset="0"/>
                <a:ea typeface="Segoe UI" pitchFamily="34" charset="-122"/>
                <a:cs typeface="Segoe UI" pitchFamily="34" charset="-120"/>
              </a:rPr>
              <a:t>Harden</a:t>
            </a:r>
            <a:endParaRPr lang="en-US" sz="1500" dirty="0"/>
          </a:p>
        </p:txBody>
      </p:sp>
      <p:sp>
        <p:nvSpPr>
          <p:cNvPr id="23" name="Text 21"/>
          <p:cNvSpPr/>
          <p:nvPr/>
        </p:nvSpPr>
        <p:spPr>
          <a:xfrm>
            <a:off x="5158588" y="3931920"/>
            <a:ext cx="1874520" cy="914400"/>
          </a:xfrm>
          <a:prstGeom prst="rect">
            <a:avLst/>
          </a:prstGeom>
          <a:noFill/>
          <a:ln/>
        </p:spPr>
        <p:txBody>
          <a:bodyPr wrap="square" rtlCol="0" anchor="ctr"/>
          <a:lstStyle/>
          <a:p>
            <a:pPr marL="0" indent="0" algn="ctr">
              <a:buNone/>
            </a:pPr>
            <a:r>
              <a:rPr lang="en-US" sz="1050" dirty="0">
                <a:solidFill>
                  <a:srgbClr val="4B5563"/>
                </a:solidFill>
                <a:latin typeface="Segoe UI" pitchFamily="34" charset="0"/>
                <a:ea typeface="Segoe UI" pitchFamily="34" charset="-122"/>
                <a:cs typeface="Segoe UI" pitchFamily="34" charset="-120"/>
              </a:rPr>
              <a:t>GenAIOps · evals · Responsible AI red-team</a:t>
            </a:r>
            <a:endParaRPr lang="en-US" sz="1050" dirty="0"/>
          </a:p>
        </p:txBody>
      </p:sp>
      <p:sp>
        <p:nvSpPr>
          <p:cNvPr id="24" name="Shape 22"/>
          <p:cNvSpPr/>
          <p:nvPr/>
        </p:nvSpPr>
        <p:spPr>
          <a:xfrm>
            <a:off x="7261708" y="2606040"/>
            <a:ext cx="2148840" cy="2194560"/>
          </a:xfrm>
          <a:prstGeom prst="roundRect">
            <a:avLst>
              <a:gd name="adj" fmla="val 3404"/>
            </a:avLst>
          </a:prstGeom>
          <a:solidFill>
            <a:srgbClr val="FFFFFF"/>
          </a:solidFill>
          <a:ln w="12700">
            <a:solidFill>
              <a:srgbClr val="E1E6EF"/>
            </a:solidFill>
            <a:prstDash val="solid"/>
          </a:ln>
        </p:spPr>
        <p:txBody>
          <a:bodyPr/>
          <a:lstStyle/>
          <a:p>
            <a:endParaRPr lang="en-ZA"/>
          </a:p>
        </p:txBody>
      </p:sp>
      <p:sp>
        <p:nvSpPr>
          <p:cNvPr id="25" name="Shape 23"/>
          <p:cNvSpPr/>
          <p:nvPr/>
        </p:nvSpPr>
        <p:spPr>
          <a:xfrm>
            <a:off x="8016088" y="2788920"/>
            <a:ext cx="640080" cy="640080"/>
          </a:xfrm>
          <a:prstGeom prst="ellipse">
            <a:avLst/>
          </a:prstGeom>
          <a:solidFill>
            <a:srgbClr val="FF5C39"/>
          </a:solidFill>
          <a:ln w="12700">
            <a:solidFill>
              <a:srgbClr val="FF5C39"/>
            </a:solidFill>
            <a:prstDash val="solid"/>
          </a:ln>
        </p:spPr>
        <p:txBody>
          <a:bodyPr/>
          <a:lstStyle/>
          <a:p>
            <a:endParaRPr lang="en-ZA"/>
          </a:p>
        </p:txBody>
      </p:sp>
      <p:sp>
        <p:nvSpPr>
          <p:cNvPr id="26" name="Text 24"/>
          <p:cNvSpPr/>
          <p:nvPr/>
        </p:nvSpPr>
        <p:spPr>
          <a:xfrm>
            <a:off x="8016088" y="2788920"/>
            <a:ext cx="64008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4</a:t>
            </a:r>
            <a:endParaRPr lang="en-US" sz="2200" dirty="0"/>
          </a:p>
        </p:txBody>
      </p:sp>
      <p:sp>
        <p:nvSpPr>
          <p:cNvPr id="27" name="Text 25"/>
          <p:cNvSpPr/>
          <p:nvPr/>
        </p:nvSpPr>
        <p:spPr>
          <a:xfrm>
            <a:off x="7353148" y="3520440"/>
            <a:ext cx="1965960" cy="365760"/>
          </a:xfrm>
          <a:prstGeom prst="rect">
            <a:avLst/>
          </a:prstGeom>
          <a:noFill/>
          <a:ln/>
        </p:spPr>
        <p:txBody>
          <a:bodyPr wrap="square" rtlCol="0" anchor="ctr"/>
          <a:lstStyle/>
          <a:p>
            <a:pPr marL="0" indent="0" algn="ctr">
              <a:buNone/>
            </a:pPr>
            <a:r>
              <a:rPr lang="en-US" sz="1500" b="1" dirty="0">
                <a:solidFill>
                  <a:srgbClr val="091F2C"/>
                </a:solidFill>
                <a:latin typeface="Segoe UI" pitchFamily="34" charset="0"/>
                <a:ea typeface="Segoe UI" pitchFamily="34" charset="-122"/>
                <a:cs typeface="Segoe UI" pitchFamily="34" charset="-120"/>
              </a:rPr>
              <a:t>Deploy</a:t>
            </a:r>
            <a:endParaRPr lang="en-US" sz="1500" dirty="0"/>
          </a:p>
        </p:txBody>
      </p:sp>
      <p:sp>
        <p:nvSpPr>
          <p:cNvPr id="28" name="Text 26"/>
          <p:cNvSpPr/>
          <p:nvPr/>
        </p:nvSpPr>
        <p:spPr>
          <a:xfrm>
            <a:off x="7398868" y="3931920"/>
            <a:ext cx="1874520" cy="914400"/>
          </a:xfrm>
          <a:prstGeom prst="rect">
            <a:avLst/>
          </a:prstGeom>
          <a:noFill/>
          <a:ln/>
        </p:spPr>
        <p:txBody>
          <a:bodyPr wrap="square" rtlCol="0" anchor="ctr"/>
          <a:lstStyle/>
          <a:p>
            <a:pPr marL="0" indent="0" algn="ctr">
              <a:buNone/>
            </a:pPr>
            <a:r>
              <a:rPr lang="en-US" sz="1050" dirty="0">
                <a:solidFill>
                  <a:srgbClr val="4B5563"/>
                </a:solidFill>
                <a:latin typeface="Segoe UI" pitchFamily="34" charset="0"/>
                <a:ea typeface="Segoe UI" pitchFamily="34" charset="-122"/>
                <a:cs typeface="Segoe UI" pitchFamily="34" charset="-120"/>
              </a:rPr>
              <a:t>Production · monitoring · runbook · handover</a:t>
            </a:r>
            <a:endParaRPr lang="en-US" sz="1050" dirty="0"/>
          </a:p>
        </p:txBody>
      </p:sp>
      <p:sp>
        <p:nvSpPr>
          <p:cNvPr id="29" name="Shape 27"/>
          <p:cNvSpPr/>
          <p:nvPr/>
        </p:nvSpPr>
        <p:spPr>
          <a:xfrm>
            <a:off x="9501988" y="2606040"/>
            <a:ext cx="2148840" cy="2194560"/>
          </a:xfrm>
          <a:prstGeom prst="roundRect">
            <a:avLst>
              <a:gd name="adj" fmla="val 3404"/>
            </a:avLst>
          </a:prstGeom>
          <a:solidFill>
            <a:srgbClr val="FFFFFF"/>
          </a:solidFill>
          <a:ln w="12700">
            <a:solidFill>
              <a:srgbClr val="E1E6EF"/>
            </a:solidFill>
            <a:prstDash val="solid"/>
          </a:ln>
        </p:spPr>
        <p:txBody>
          <a:bodyPr/>
          <a:lstStyle/>
          <a:p>
            <a:endParaRPr lang="en-ZA"/>
          </a:p>
        </p:txBody>
      </p:sp>
      <p:sp>
        <p:nvSpPr>
          <p:cNvPr id="30" name="Shape 28"/>
          <p:cNvSpPr/>
          <p:nvPr/>
        </p:nvSpPr>
        <p:spPr>
          <a:xfrm>
            <a:off x="10256368" y="2788920"/>
            <a:ext cx="640080" cy="640080"/>
          </a:xfrm>
          <a:prstGeom prst="ellipse">
            <a:avLst/>
          </a:prstGeom>
          <a:solidFill>
            <a:srgbClr val="FF5C39"/>
          </a:solidFill>
          <a:ln w="12700">
            <a:solidFill>
              <a:srgbClr val="FF5C39"/>
            </a:solidFill>
            <a:prstDash val="solid"/>
          </a:ln>
        </p:spPr>
        <p:txBody>
          <a:bodyPr/>
          <a:lstStyle/>
          <a:p>
            <a:endParaRPr lang="en-ZA"/>
          </a:p>
        </p:txBody>
      </p:sp>
      <p:sp>
        <p:nvSpPr>
          <p:cNvPr id="31" name="Text 29"/>
          <p:cNvSpPr/>
          <p:nvPr/>
        </p:nvSpPr>
        <p:spPr>
          <a:xfrm>
            <a:off x="10256368" y="2788920"/>
            <a:ext cx="64008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5</a:t>
            </a:r>
            <a:endParaRPr lang="en-US" sz="2200" dirty="0"/>
          </a:p>
        </p:txBody>
      </p:sp>
      <p:sp>
        <p:nvSpPr>
          <p:cNvPr id="32" name="Text 30"/>
          <p:cNvSpPr/>
          <p:nvPr/>
        </p:nvSpPr>
        <p:spPr>
          <a:xfrm>
            <a:off x="9593428" y="3520440"/>
            <a:ext cx="1965960" cy="365760"/>
          </a:xfrm>
          <a:prstGeom prst="rect">
            <a:avLst/>
          </a:prstGeom>
          <a:noFill/>
          <a:ln/>
        </p:spPr>
        <p:txBody>
          <a:bodyPr wrap="square" rtlCol="0" anchor="ctr"/>
          <a:lstStyle/>
          <a:p>
            <a:pPr marL="0" indent="0" algn="ctr">
              <a:buNone/>
            </a:pPr>
            <a:r>
              <a:rPr lang="en-US" sz="1500" b="1" dirty="0">
                <a:solidFill>
                  <a:srgbClr val="091F2C"/>
                </a:solidFill>
                <a:latin typeface="Segoe UI" pitchFamily="34" charset="0"/>
                <a:ea typeface="Segoe UI" pitchFamily="34" charset="-122"/>
                <a:cs typeface="Segoe UI" pitchFamily="34" charset="-120"/>
              </a:rPr>
              <a:t>Optimise</a:t>
            </a:r>
            <a:endParaRPr lang="en-US" sz="1500" dirty="0"/>
          </a:p>
        </p:txBody>
      </p:sp>
      <p:sp>
        <p:nvSpPr>
          <p:cNvPr id="33" name="Text 31"/>
          <p:cNvSpPr/>
          <p:nvPr/>
        </p:nvSpPr>
        <p:spPr>
          <a:xfrm>
            <a:off x="9639148" y="3931920"/>
            <a:ext cx="1874520" cy="914400"/>
          </a:xfrm>
          <a:prstGeom prst="rect">
            <a:avLst/>
          </a:prstGeom>
          <a:noFill/>
          <a:ln/>
        </p:spPr>
        <p:txBody>
          <a:bodyPr wrap="square" rtlCol="0" anchor="ctr"/>
          <a:lstStyle/>
          <a:p>
            <a:pPr marL="0" indent="0" algn="ctr">
              <a:buNone/>
            </a:pPr>
            <a:r>
              <a:rPr lang="en-US" sz="1050" dirty="0">
                <a:solidFill>
                  <a:srgbClr val="4B5563"/>
                </a:solidFill>
                <a:latin typeface="Segoe UI" pitchFamily="34" charset="0"/>
                <a:ea typeface="Segoe UI" pitchFamily="34" charset="-122"/>
                <a:cs typeface="Segoe UI" pitchFamily="34" charset="-120"/>
              </a:rPr>
              <a:t>Cost · latency · model swap · re-grounding</a:t>
            </a:r>
            <a:endParaRPr lang="en-US" sz="1050" dirty="0"/>
          </a:p>
        </p:txBody>
      </p:sp>
      <p:sp>
        <p:nvSpPr>
          <p:cNvPr id="34" name="Shape 32"/>
          <p:cNvSpPr/>
          <p:nvPr/>
        </p:nvSpPr>
        <p:spPr>
          <a:xfrm>
            <a:off x="548640" y="5074920"/>
            <a:ext cx="11064240" cy="1143000"/>
          </a:xfrm>
          <a:prstGeom prst="roundRect">
            <a:avLst>
              <a:gd name="adj" fmla="val 6400"/>
            </a:avLst>
          </a:prstGeom>
          <a:solidFill>
            <a:srgbClr val="FFF8E6"/>
          </a:solidFill>
          <a:ln w="12700">
            <a:solidFill>
              <a:srgbClr val="FFB900"/>
            </a:solidFill>
            <a:prstDash val="solid"/>
          </a:ln>
        </p:spPr>
        <p:txBody>
          <a:bodyPr/>
          <a:lstStyle/>
          <a:p>
            <a:endParaRPr lang="en-ZA"/>
          </a:p>
        </p:txBody>
      </p:sp>
      <p:sp>
        <p:nvSpPr>
          <p:cNvPr id="35" name="Text 33"/>
          <p:cNvSpPr/>
          <p:nvPr/>
        </p:nvSpPr>
        <p:spPr>
          <a:xfrm>
            <a:off x="777240" y="5166360"/>
            <a:ext cx="2743200" cy="228600"/>
          </a:xfrm>
          <a:prstGeom prst="rect">
            <a:avLst/>
          </a:prstGeom>
          <a:noFill/>
          <a:ln/>
        </p:spPr>
        <p:txBody>
          <a:bodyPr wrap="square" rtlCol="0" anchor="ctr"/>
          <a:lstStyle/>
          <a:p>
            <a:pPr marL="0" indent="0">
              <a:buNone/>
            </a:pPr>
            <a:r>
              <a:rPr lang="en-US" sz="1000" b="1" kern="0" spc="300" dirty="0">
                <a:solidFill>
                  <a:srgbClr val="8A6500"/>
                </a:solidFill>
                <a:latin typeface="Segoe UI" pitchFamily="34" charset="0"/>
                <a:ea typeface="Segoe UI" pitchFamily="34" charset="-122"/>
                <a:cs typeface="Segoe UI" pitchFamily="34" charset="-120"/>
              </a:rPr>
              <a:t>REALITY CHECK</a:t>
            </a:r>
            <a:endParaRPr lang="en-US" sz="1000" dirty="0"/>
          </a:p>
        </p:txBody>
      </p:sp>
      <p:sp>
        <p:nvSpPr>
          <p:cNvPr id="36" name="Text 34"/>
          <p:cNvSpPr/>
          <p:nvPr/>
        </p:nvSpPr>
        <p:spPr>
          <a:xfrm>
            <a:off x="777240" y="5440680"/>
            <a:ext cx="10789920" cy="777240"/>
          </a:xfrm>
          <a:prstGeom prst="rect">
            <a:avLst/>
          </a:prstGeom>
          <a:noFill/>
          <a:ln/>
        </p:spPr>
        <p:txBody>
          <a:bodyPr wrap="square" rtlCol="0" anchor="ctr"/>
          <a:lstStyle/>
          <a:p>
            <a:pPr marL="0" indent="0">
              <a:buNone/>
            </a:pPr>
            <a:r>
              <a:rPr lang="en-US" sz="1300" dirty="0">
                <a:solidFill>
                  <a:srgbClr val="091F2C"/>
                </a:solidFill>
                <a:latin typeface="Segoe UI" pitchFamily="34" charset="0"/>
                <a:ea typeface="Segoe UI" pitchFamily="34" charset="-122"/>
                <a:cs typeface="Segoe UI" pitchFamily="34" charset="-120"/>
              </a:rPr>
              <a:t>If the customer cannot name three more use-cases — you don't have a factory, you have one pilot. Pause and re-prioritise the backlog before continuing C3 spend.</a:t>
            </a:r>
            <a:endParaRPr lang="en-US" sz="1300" dirty="0"/>
          </a:p>
        </p:txBody>
      </p:sp>
      <p:pic>
        <p:nvPicPr>
          <p:cNvPr id="37"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8" name="Text 35"/>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39" name="Text 36"/>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STEP 7 · MCEM STAGE 4</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000" b="1" dirty="0">
                <a:solidFill>
                  <a:srgbClr val="091F2C"/>
                </a:solidFill>
                <a:latin typeface="Segoe UI" pitchFamily="34" charset="0"/>
                <a:ea typeface="Segoe UI" pitchFamily="34" charset="-122"/>
                <a:cs typeface="Segoe UI" pitchFamily="34" charset="-120"/>
              </a:rPr>
              <a:t>Realise value — where ACR compounds</a:t>
            </a:r>
            <a:endParaRPr lang="en-US" sz="3000" dirty="0"/>
          </a:p>
        </p:txBody>
      </p:sp>
      <p:sp>
        <p:nvSpPr>
          <p:cNvPr id="5" name="Shape 3"/>
          <p:cNvSpPr/>
          <p:nvPr/>
        </p:nvSpPr>
        <p:spPr>
          <a:xfrm>
            <a:off x="548640" y="1828800"/>
            <a:ext cx="5486400" cy="4297680"/>
          </a:xfrm>
          <a:prstGeom prst="roundRect">
            <a:avLst>
              <a:gd name="adj" fmla="val 2553"/>
            </a:avLst>
          </a:prstGeom>
          <a:solidFill>
            <a:srgbClr val="FFF8F5"/>
          </a:solidFill>
          <a:ln w="12700">
            <a:solidFill>
              <a:srgbClr val="E1E6EF"/>
            </a:solidFill>
            <a:prstDash val="solid"/>
          </a:ln>
        </p:spPr>
        <p:txBody>
          <a:bodyPr/>
          <a:lstStyle/>
          <a:p>
            <a:endParaRPr lang="en-ZA"/>
          </a:p>
        </p:txBody>
      </p:sp>
      <p:sp>
        <p:nvSpPr>
          <p:cNvPr id="6" name="Text 4"/>
          <p:cNvSpPr/>
          <p:nvPr/>
        </p:nvSpPr>
        <p:spPr>
          <a:xfrm>
            <a:off x="777240" y="1965960"/>
            <a:ext cx="5029200" cy="274320"/>
          </a:xfrm>
          <a:prstGeom prst="rect">
            <a:avLst/>
          </a:prstGeom>
          <a:noFill/>
          <a:ln/>
        </p:spPr>
        <p:txBody>
          <a:bodyPr wrap="square" rtlCol="0" anchor="ctr"/>
          <a:lstStyle/>
          <a:p>
            <a:pPr marL="0" indent="0">
              <a:buNone/>
            </a:pPr>
            <a:r>
              <a:rPr lang="en-US" sz="1100" b="1" kern="0" spc="300" dirty="0">
                <a:solidFill>
                  <a:srgbClr val="0078D4"/>
                </a:solidFill>
                <a:latin typeface="Segoe UI" pitchFamily="34" charset="0"/>
                <a:ea typeface="Segoe UI" pitchFamily="34" charset="-122"/>
                <a:cs typeface="Segoe UI" pitchFamily="34" charset="-120"/>
              </a:rPr>
              <a:t>YOUR JOB AS CSA</a:t>
            </a:r>
            <a:endParaRPr lang="en-US" sz="1100" dirty="0"/>
          </a:p>
        </p:txBody>
      </p:sp>
      <p:sp>
        <p:nvSpPr>
          <p:cNvPr id="7" name="Shape 5"/>
          <p:cNvSpPr/>
          <p:nvPr/>
        </p:nvSpPr>
        <p:spPr>
          <a:xfrm>
            <a:off x="868680" y="2377440"/>
            <a:ext cx="365760" cy="365760"/>
          </a:xfrm>
          <a:prstGeom prst="ellipse">
            <a:avLst/>
          </a:prstGeom>
          <a:solidFill>
            <a:srgbClr val="225B62"/>
          </a:solidFill>
          <a:ln w="12700">
            <a:solidFill>
              <a:srgbClr val="225B62"/>
            </a:solidFill>
            <a:prstDash val="solid"/>
          </a:ln>
        </p:spPr>
        <p:txBody>
          <a:bodyPr/>
          <a:lstStyle/>
          <a:p>
            <a:endParaRPr lang="en-ZA"/>
          </a:p>
        </p:txBody>
      </p:sp>
      <p:sp>
        <p:nvSpPr>
          <p:cNvPr id="8" name="Text 6"/>
          <p:cNvSpPr/>
          <p:nvPr/>
        </p:nvSpPr>
        <p:spPr>
          <a:xfrm>
            <a:off x="868680" y="2377440"/>
            <a:ext cx="365760" cy="3657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9" name="Text 7"/>
          <p:cNvSpPr/>
          <p:nvPr/>
        </p:nvSpPr>
        <p:spPr>
          <a:xfrm>
            <a:off x="1371600" y="2331720"/>
            <a:ext cx="4572000" cy="32004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Refresh the dashboard monthly</a:t>
            </a:r>
            <a:endParaRPr lang="en-US" sz="1300" dirty="0"/>
          </a:p>
        </p:txBody>
      </p:sp>
      <p:sp>
        <p:nvSpPr>
          <p:cNvPr id="10" name="Text 8"/>
          <p:cNvSpPr/>
          <p:nvPr/>
        </p:nvSpPr>
        <p:spPr>
          <a:xfrm>
            <a:off x="1371600" y="2651760"/>
            <a:ext cx="4572000" cy="4114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Power BI · refreshed before steerco · linked to MSX</a:t>
            </a:r>
            <a:endParaRPr lang="en-US" sz="1100" dirty="0"/>
          </a:p>
        </p:txBody>
      </p:sp>
      <p:sp>
        <p:nvSpPr>
          <p:cNvPr id="11" name="Shape 9"/>
          <p:cNvSpPr/>
          <p:nvPr/>
        </p:nvSpPr>
        <p:spPr>
          <a:xfrm>
            <a:off x="868680" y="3136392"/>
            <a:ext cx="365760" cy="365760"/>
          </a:xfrm>
          <a:prstGeom prst="ellipse">
            <a:avLst/>
          </a:prstGeom>
          <a:solidFill>
            <a:srgbClr val="225B62"/>
          </a:solidFill>
          <a:ln w="12700">
            <a:solidFill>
              <a:srgbClr val="225B62"/>
            </a:solidFill>
            <a:prstDash val="solid"/>
          </a:ln>
        </p:spPr>
        <p:txBody>
          <a:bodyPr/>
          <a:lstStyle/>
          <a:p>
            <a:endParaRPr lang="en-ZA"/>
          </a:p>
        </p:txBody>
      </p:sp>
      <p:sp>
        <p:nvSpPr>
          <p:cNvPr id="12" name="Text 10"/>
          <p:cNvSpPr/>
          <p:nvPr/>
        </p:nvSpPr>
        <p:spPr>
          <a:xfrm>
            <a:off x="868680" y="3136392"/>
            <a:ext cx="365760" cy="3657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3" name="Text 11"/>
          <p:cNvSpPr/>
          <p:nvPr/>
        </p:nvSpPr>
        <p:spPr>
          <a:xfrm>
            <a:off x="1371600" y="3090672"/>
            <a:ext cx="4572000" cy="32004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Run the value steerco</a:t>
            </a:r>
            <a:endParaRPr lang="en-US" sz="1300" dirty="0"/>
          </a:p>
        </p:txBody>
      </p:sp>
      <p:sp>
        <p:nvSpPr>
          <p:cNvPr id="14" name="Text 12"/>
          <p:cNvSpPr/>
          <p:nvPr/>
        </p:nvSpPr>
        <p:spPr>
          <a:xfrm>
            <a:off x="1371600" y="3410712"/>
            <a:ext cx="4572000" cy="4114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Quarterly · CIO + LoB sponsor + Anchor Partner · 60 min</a:t>
            </a:r>
            <a:endParaRPr lang="en-US" sz="1100" dirty="0"/>
          </a:p>
        </p:txBody>
      </p:sp>
      <p:sp>
        <p:nvSpPr>
          <p:cNvPr id="15" name="Shape 13"/>
          <p:cNvSpPr/>
          <p:nvPr/>
        </p:nvSpPr>
        <p:spPr>
          <a:xfrm>
            <a:off x="868680" y="3895344"/>
            <a:ext cx="365760" cy="365760"/>
          </a:xfrm>
          <a:prstGeom prst="ellipse">
            <a:avLst/>
          </a:prstGeom>
          <a:solidFill>
            <a:srgbClr val="225B62"/>
          </a:solidFill>
          <a:ln w="12700">
            <a:solidFill>
              <a:srgbClr val="225B62"/>
            </a:solidFill>
            <a:prstDash val="solid"/>
          </a:ln>
        </p:spPr>
        <p:txBody>
          <a:bodyPr/>
          <a:lstStyle/>
          <a:p>
            <a:endParaRPr lang="en-ZA"/>
          </a:p>
        </p:txBody>
      </p:sp>
      <p:sp>
        <p:nvSpPr>
          <p:cNvPr id="16" name="Text 14"/>
          <p:cNvSpPr/>
          <p:nvPr/>
        </p:nvSpPr>
        <p:spPr>
          <a:xfrm>
            <a:off x="868680" y="3895344"/>
            <a:ext cx="365760" cy="3657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17" name="Text 15"/>
          <p:cNvSpPr/>
          <p:nvPr/>
        </p:nvSpPr>
        <p:spPr>
          <a:xfrm>
            <a:off x="1371600" y="3849624"/>
            <a:ext cx="4572000" cy="32004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Translate ACR to outcomes</a:t>
            </a:r>
            <a:endParaRPr lang="en-US" sz="1300" dirty="0"/>
          </a:p>
        </p:txBody>
      </p:sp>
      <p:sp>
        <p:nvSpPr>
          <p:cNvPr id="18" name="Text 16"/>
          <p:cNvSpPr/>
          <p:nvPr/>
        </p:nvSpPr>
        <p:spPr>
          <a:xfrm>
            <a:off x="1371600" y="4169664"/>
            <a:ext cx="4572000" cy="4114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Don't show ACR — show productivity, NPS, hours saved</a:t>
            </a:r>
            <a:endParaRPr lang="en-US" sz="1100" dirty="0"/>
          </a:p>
        </p:txBody>
      </p:sp>
      <p:sp>
        <p:nvSpPr>
          <p:cNvPr id="19" name="Shape 17"/>
          <p:cNvSpPr/>
          <p:nvPr/>
        </p:nvSpPr>
        <p:spPr>
          <a:xfrm>
            <a:off x="868680" y="4654296"/>
            <a:ext cx="365760" cy="365760"/>
          </a:xfrm>
          <a:prstGeom prst="ellipse">
            <a:avLst/>
          </a:prstGeom>
          <a:solidFill>
            <a:srgbClr val="225B62"/>
          </a:solidFill>
          <a:ln w="12700">
            <a:solidFill>
              <a:srgbClr val="225B62"/>
            </a:solidFill>
            <a:prstDash val="solid"/>
          </a:ln>
        </p:spPr>
        <p:txBody>
          <a:bodyPr/>
          <a:lstStyle/>
          <a:p>
            <a:endParaRPr lang="en-ZA"/>
          </a:p>
        </p:txBody>
      </p:sp>
      <p:sp>
        <p:nvSpPr>
          <p:cNvPr id="20" name="Text 18"/>
          <p:cNvSpPr/>
          <p:nvPr/>
        </p:nvSpPr>
        <p:spPr>
          <a:xfrm>
            <a:off x="868680" y="4654296"/>
            <a:ext cx="365760" cy="3657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21" name="Text 19"/>
          <p:cNvSpPr/>
          <p:nvPr/>
        </p:nvSpPr>
        <p:spPr>
          <a:xfrm>
            <a:off x="1371600" y="4608576"/>
            <a:ext cx="4572000" cy="32004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Spot expansion triggers</a:t>
            </a:r>
            <a:endParaRPr lang="en-US" sz="1300" dirty="0"/>
          </a:p>
        </p:txBody>
      </p:sp>
      <p:sp>
        <p:nvSpPr>
          <p:cNvPr id="22" name="Text 20"/>
          <p:cNvSpPr/>
          <p:nvPr/>
        </p:nvSpPr>
        <p:spPr>
          <a:xfrm>
            <a:off x="1371600" y="4928616"/>
            <a:ext cx="4572000" cy="4114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Use-case maturity → new LoB · new geography · E7 step-up</a:t>
            </a:r>
            <a:endParaRPr lang="en-US" sz="1100" dirty="0"/>
          </a:p>
        </p:txBody>
      </p:sp>
      <p:sp>
        <p:nvSpPr>
          <p:cNvPr id="23" name="Shape 21"/>
          <p:cNvSpPr/>
          <p:nvPr/>
        </p:nvSpPr>
        <p:spPr>
          <a:xfrm>
            <a:off x="868680" y="5413248"/>
            <a:ext cx="365760" cy="365760"/>
          </a:xfrm>
          <a:prstGeom prst="ellipse">
            <a:avLst/>
          </a:prstGeom>
          <a:solidFill>
            <a:srgbClr val="225B62"/>
          </a:solidFill>
          <a:ln w="12700">
            <a:solidFill>
              <a:srgbClr val="225B62"/>
            </a:solidFill>
            <a:prstDash val="solid"/>
          </a:ln>
        </p:spPr>
        <p:txBody>
          <a:bodyPr/>
          <a:lstStyle/>
          <a:p>
            <a:endParaRPr lang="en-ZA"/>
          </a:p>
        </p:txBody>
      </p:sp>
      <p:sp>
        <p:nvSpPr>
          <p:cNvPr id="24" name="Text 22"/>
          <p:cNvSpPr/>
          <p:nvPr/>
        </p:nvSpPr>
        <p:spPr>
          <a:xfrm>
            <a:off x="868680" y="5413248"/>
            <a:ext cx="365760" cy="3657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5</a:t>
            </a:r>
            <a:endParaRPr lang="en-US" sz="1400" dirty="0"/>
          </a:p>
        </p:txBody>
      </p:sp>
      <p:sp>
        <p:nvSpPr>
          <p:cNvPr id="25" name="Text 23"/>
          <p:cNvSpPr/>
          <p:nvPr/>
        </p:nvSpPr>
        <p:spPr>
          <a:xfrm>
            <a:off x="1371600" y="5367528"/>
            <a:ext cx="4572000" cy="32004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Renew with evidence</a:t>
            </a:r>
            <a:endParaRPr lang="en-US" sz="1300" dirty="0"/>
          </a:p>
        </p:txBody>
      </p:sp>
      <p:sp>
        <p:nvSpPr>
          <p:cNvPr id="26" name="Text 24"/>
          <p:cNvSpPr/>
          <p:nvPr/>
        </p:nvSpPr>
        <p:spPr>
          <a:xfrm>
            <a:off x="1371600" y="5687568"/>
            <a:ext cx="4572000" cy="4114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Bring 12 months of dashboards to the renewal conversation</a:t>
            </a:r>
            <a:endParaRPr lang="en-US" sz="1100" dirty="0"/>
          </a:p>
        </p:txBody>
      </p:sp>
      <p:sp>
        <p:nvSpPr>
          <p:cNvPr id="27" name="Shape 25"/>
          <p:cNvSpPr/>
          <p:nvPr/>
        </p:nvSpPr>
        <p:spPr>
          <a:xfrm>
            <a:off x="6172200" y="1828800"/>
            <a:ext cx="5486400" cy="4297680"/>
          </a:xfrm>
          <a:prstGeom prst="roundRect">
            <a:avLst>
              <a:gd name="adj" fmla="val 2553"/>
            </a:avLst>
          </a:prstGeom>
          <a:solidFill>
            <a:srgbClr val="091F2C"/>
          </a:solidFill>
          <a:ln w="12700">
            <a:solidFill>
              <a:srgbClr val="091F2C"/>
            </a:solidFill>
            <a:prstDash val="solid"/>
          </a:ln>
        </p:spPr>
        <p:txBody>
          <a:bodyPr/>
          <a:lstStyle/>
          <a:p>
            <a:endParaRPr lang="en-ZA"/>
          </a:p>
        </p:txBody>
      </p:sp>
      <p:sp>
        <p:nvSpPr>
          <p:cNvPr id="28" name="Text 26"/>
          <p:cNvSpPr/>
          <p:nvPr/>
        </p:nvSpPr>
        <p:spPr>
          <a:xfrm>
            <a:off x="6400800" y="1965960"/>
            <a:ext cx="5029200" cy="274320"/>
          </a:xfrm>
          <a:prstGeom prst="rect">
            <a:avLst/>
          </a:prstGeom>
          <a:noFill/>
          <a:ln/>
        </p:spPr>
        <p:txBody>
          <a:bodyPr wrap="square" rtlCol="0" anchor="ctr"/>
          <a:lstStyle/>
          <a:p>
            <a:pPr marL="0" indent="0">
              <a:buNone/>
            </a:pPr>
            <a:r>
              <a:rPr lang="en-US" sz="1100" b="1" kern="0" spc="300" dirty="0">
                <a:solidFill>
                  <a:srgbClr val="FFB900"/>
                </a:solidFill>
                <a:latin typeface="Segoe UI" pitchFamily="34" charset="0"/>
                <a:ea typeface="Segoe UI" pitchFamily="34" charset="-122"/>
                <a:cs typeface="Segoe UI" pitchFamily="34" charset="-120"/>
              </a:rPr>
              <a:t>METRICS THAT MATTER</a:t>
            </a:r>
            <a:endParaRPr lang="en-US" sz="1100" dirty="0"/>
          </a:p>
        </p:txBody>
      </p:sp>
      <p:sp>
        <p:nvSpPr>
          <p:cNvPr id="29" name="Shape 27"/>
          <p:cNvSpPr/>
          <p:nvPr/>
        </p:nvSpPr>
        <p:spPr>
          <a:xfrm>
            <a:off x="6400800" y="2468880"/>
            <a:ext cx="2468880" cy="1005840"/>
          </a:xfrm>
          <a:prstGeom prst="rect">
            <a:avLst/>
          </a:prstGeom>
          <a:solidFill>
            <a:srgbClr val="0057B8"/>
          </a:solidFill>
          <a:ln w="12700">
            <a:solidFill>
              <a:srgbClr val="0057B8"/>
            </a:solidFill>
            <a:prstDash val="solid"/>
          </a:ln>
        </p:spPr>
        <p:txBody>
          <a:bodyPr/>
          <a:lstStyle/>
          <a:p>
            <a:endParaRPr lang="en-ZA"/>
          </a:p>
        </p:txBody>
      </p:sp>
      <p:sp>
        <p:nvSpPr>
          <p:cNvPr id="30" name="Text 28"/>
          <p:cNvSpPr/>
          <p:nvPr/>
        </p:nvSpPr>
        <p:spPr>
          <a:xfrm>
            <a:off x="6537960" y="2560320"/>
            <a:ext cx="2286000" cy="365760"/>
          </a:xfrm>
          <a:prstGeom prst="rect">
            <a:avLst/>
          </a:prstGeom>
          <a:noFill/>
          <a:ln/>
        </p:spPr>
        <p:txBody>
          <a:bodyPr wrap="square" rtlCol="0" anchor="ctr"/>
          <a:lstStyle/>
          <a:p>
            <a:pPr marL="0" indent="0">
              <a:buNone/>
            </a:pPr>
            <a:r>
              <a:rPr lang="en-US" sz="1200" b="1" dirty="0">
                <a:solidFill>
                  <a:srgbClr val="C03BC4"/>
                </a:solidFill>
                <a:latin typeface="Segoe UI" pitchFamily="34" charset="0"/>
                <a:ea typeface="Segoe UI" pitchFamily="34" charset="-122"/>
                <a:cs typeface="Segoe UI" pitchFamily="34" charset="-120"/>
              </a:rPr>
              <a:t>ACR growth</a:t>
            </a:r>
            <a:endParaRPr lang="en-US" sz="1200" dirty="0"/>
          </a:p>
        </p:txBody>
      </p:sp>
      <p:sp>
        <p:nvSpPr>
          <p:cNvPr id="31" name="Text 29"/>
          <p:cNvSpPr/>
          <p:nvPr/>
        </p:nvSpPr>
        <p:spPr>
          <a:xfrm>
            <a:off x="6537960" y="2926080"/>
            <a:ext cx="2286000" cy="50292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QoQ on AI services</a:t>
            </a:r>
            <a:endParaRPr lang="en-US" sz="1100" dirty="0"/>
          </a:p>
        </p:txBody>
      </p:sp>
      <p:sp>
        <p:nvSpPr>
          <p:cNvPr id="32" name="Shape 30"/>
          <p:cNvSpPr/>
          <p:nvPr/>
        </p:nvSpPr>
        <p:spPr>
          <a:xfrm>
            <a:off x="9006840" y="2468880"/>
            <a:ext cx="2468880" cy="1005840"/>
          </a:xfrm>
          <a:prstGeom prst="rect">
            <a:avLst/>
          </a:prstGeom>
          <a:solidFill>
            <a:srgbClr val="0057B8"/>
          </a:solidFill>
          <a:ln w="12700">
            <a:solidFill>
              <a:srgbClr val="0057B8"/>
            </a:solidFill>
            <a:prstDash val="solid"/>
          </a:ln>
        </p:spPr>
        <p:txBody>
          <a:bodyPr/>
          <a:lstStyle/>
          <a:p>
            <a:endParaRPr lang="en-ZA"/>
          </a:p>
        </p:txBody>
      </p:sp>
      <p:sp>
        <p:nvSpPr>
          <p:cNvPr id="33" name="Text 31"/>
          <p:cNvSpPr/>
          <p:nvPr/>
        </p:nvSpPr>
        <p:spPr>
          <a:xfrm>
            <a:off x="9144000" y="2560320"/>
            <a:ext cx="2286000" cy="365760"/>
          </a:xfrm>
          <a:prstGeom prst="rect">
            <a:avLst/>
          </a:prstGeom>
          <a:noFill/>
          <a:ln/>
        </p:spPr>
        <p:txBody>
          <a:bodyPr wrap="square" rtlCol="0" anchor="ctr"/>
          <a:lstStyle/>
          <a:p>
            <a:pPr marL="0" indent="0">
              <a:buNone/>
            </a:pPr>
            <a:r>
              <a:rPr lang="en-US" sz="1200" b="1" dirty="0">
                <a:solidFill>
                  <a:srgbClr val="C03BC4"/>
                </a:solidFill>
                <a:latin typeface="Segoe UI" pitchFamily="34" charset="0"/>
                <a:ea typeface="Segoe UI" pitchFamily="34" charset="-122"/>
                <a:cs typeface="Segoe UI" pitchFamily="34" charset="-120"/>
              </a:rPr>
              <a:t>Production agents</a:t>
            </a:r>
            <a:endParaRPr lang="en-US" sz="1200" dirty="0"/>
          </a:p>
        </p:txBody>
      </p:sp>
      <p:sp>
        <p:nvSpPr>
          <p:cNvPr id="34" name="Text 32"/>
          <p:cNvSpPr/>
          <p:nvPr/>
        </p:nvSpPr>
        <p:spPr>
          <a:xfrm>
            <a:off x="9144000" y="2926080"/>
            <a:ext cx="2286000" cy="50292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 live · per LoB</a:t>
            </a:r>
            <a:endParaRPr lang="en-US" sz="1100" dirty="0"/>
          </a:p>
        </p:txBody>
      </p:sp>
      <p:sp>
        <p:nvSpPr>
          <p:cNvPr id="35" name="Shape 33"/>
          <p:cNvSpPr/>
          <p:nvPr/>
        </p:nvSpPr>
        <p:spPr>
          <a:xfrm>
            <a:off x="6400800" y="3611880"/>
            <a:ext cx="2468880" cy="1005840"/>
          </a:xfrm>
          <a:prstGeom prst="rect">
            <a:avLst/>
          </a:prstGeom>
          <a:solidFill>
            <a:srgbClr val="0057B8"/>
          </a:solidFill>
          <a:ln w="12700">
            <a:solidFill>
              <a:srgbClr val="0057B8"/>
            </a:solidFill>
            <a:prstDash val="solid"/>
          </a:ln>
        </p:spPr>
        <p:txBody>
          <a:bodyPr/>
          <a:lstStyle/>
          <a:p>
            <a:endParaRPr lang="en-ZA"/>
          </a:p>
        </p:txBody>
      </p:sp>
      <p:sp>
        <p:nvSpPr>
          <p:cNvPr id="36" name="Text 34"/>
          <p:cNvSpPr/>
          <p:nvPr/>
        </p:nvSpPr>
        <p:spPr>
          <a:xfrm>
            <a:off x="6537960" y="3703320"/>
            <a:ext cx="2286000" cy="365760"/>
          </a:xfrm>
          <a:prstGeom prst="rect">
            <a:avLst/>
          </a:prstGeom>
          <a:noFill/>
          <a:ln/>
        </p:spPr>
        <p:txBody>
          <a:bodyPr wrap="square" rtlCol="0" anchor="ctr"/>
          <a:lstStyle/>
          <a:p>
            <a:pPr marL="0" indent="0">
              <a:buNone/>
            </a:pPr>
            <a:r>
              <a:rPr lang="en-US" sz="1200" b="1" dirty="0">
                <a:solidFill>
                  <a:srgbClr val="C03BC4"/>
                </a:solidFill>
                <a:latin typeface="Segoe UI" pitchFamily="34" charset="0"/>
                <a:ea typeface="Segoe UI" pitchFamily="34" charset="-122"/>
                <a:cs typeface="Segoe UI" pitchFamily="34" charset="-120"/>
              </a:rPr>
              <a:t>MAU on agents</a:t>
            </a:r>
            <a:endParaRPr lang="en-US" sz="1200" dirty="0"/>
          </a:p>
        </p:txBody>
      </p:sp>
      <p:sp>
        <p:nvSpPr>
          <p:cNvPr id="37" name="Text 35"/>
          <p:cNvSpPr/>
          <p:nvPr/>
        </p:nvSpPr>
        <p:spPr>
          <a:xfrm>
            <a:off x="6537960" y="4069080"/>
            <a:ext cx="2286000" cy="50292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Adoption signal</a:t>
            </a:r>
            <a:endParaRPr lang="en-US" sz="1100" dirty="0"/>
          </a:p>
        </p:txBody>
      </p:sp>
      <p:sp>
        <p:nvSpPr>
          <p:cNvPr id="38" name="Shape 36"/>
          <p:cNvSpPr/>
          <p:nvPr/>
        </p:nvSpPr>
        <p:spPr>
          <a:xfrm>
            <a:off x="9006840" y="3611880"/>
            <a:ext cx="2468880" cy="1005840"/>
          </a:xfrm>
          <a:prstGeom prst="rect">
            <a:avLst/>
          </a:prstGeom>
          <a:solidFill>
            <a:srgbClr val="0057B8"/>
          </a:solidFill>
          <a:ln w="12700">
            <a:solidFill>
              <a:srgbClr val="0057B8"/>
            </a:solidFill>
            <a:prstDash val="solid"/>
          </a:ln>
        </p:spPr>
        <p:txBody>
          <a:bodyPr/>
          <a:lstStyle/>
          <a:p>
            <a:endParaRPr lang="en-ZA"/>
          </a:p>
        </p:txBody>
      </p:sp>
      <p:sp>
        <p:nvSpPr>
          <p:cNvPr id="39" name="Text 37"/>
          <p:cNvSpPr/>
          <p:nvPr/>
        </p:nvSpPr>
        <p:spPr>
          <a:xfrm>
            <a:off x="9144000" y="3703320"/>
            <a:ext cx="2286000" cy="365760"/>
          </a:xfrm>
          <a:prstGeom prst="rect">
            <a:avLst/>
          </a:prstGeom>
          <a:noFill/>
          <a:ln/>
        </p:spPr>
        <p:txBody>
          <a:bodyPr wrap="square" rtlCol="0" anchor="ctr"/>
          <a:lstStyle/>
          <a:p>
            <a:pPr marL="0" indent="0">
              <a:buNone/>
            </a:pPr>
            <a:r>
              <a:rPr lang="en-US" sz="1200" b="1" dirty="0">
                <a:solidFill>
                  <a:srgbClr val="C03BC4"/>
                </a:solidFill>
                <a:latin typeface="Segoe UI" pitchFamily="34" charset="0"/>
                <a:ea typeface="Segoe UI" pitchFamily="34" charset="-122"/>
                <a:cs typeface="Segoe UI" pitchFamily="34" charset="-120"/>
              </a:rPr>
              <a:t>Copilot adoption</a:t>
            </a:r>
            <a:endParaRPr lang="en-US" sz="1200" dirty="0"/>
          </a:p>
        </p:txBody>
      </p:sp>
      <p:sp>
        <p:nvSpPr>
          <p:cNvPr id="40" name="Text 38"/>
          <p:cNvSpPr/>
          <p:nvPr/>
        </p:nvSpPr>
        <p:spPr>
          <a:xfrm>
            <a:off x="9144000" y="4069080"/>
            <a:ext cx="2286000" cy="50292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Apps/User · MAU &gt; 75% target</a:t>
            </a:r>
            <a:endParaRPr lang="en-US" sz="1100" dirty="0"/>
          </a:p>
        </p:txBody>
      </p:sp>
      <p:sp>
        <p:nvSpPr>
          <p:cNvPr id="41" name="Shape 39"/>
          <p:cNvSpPr/>
          <p:nvPr/>
        </p:nvSpPr>
        <p:spPr>
          <a:xfrm>
            <a:off x="6400800" y="4754880"/>
            <a:ext cx="2468880" cy="1005840"/>
          </a:xfrm>
          <a:prstGeom prst="rect">
            <a:avLst/>
          </a:prstGeom>
          <a:solidFill>
            <a:srgbClr val="0057B8"/>
          </a:solidFill>
          <a:ln w="12700">
            <a:solidFill>
              <a:srgbClr val="0057B8"/>
            </a:solidFill>
            <a:prstDash val="solid"/>
          </a:ln>
        </p:spPr>
        <p:txBody>
          <a:bodyPr/>
          <a:lstStyle/>
          <a:p>
            <a:endParaRPr lang="en-ZA"/>
          </a:p>
        </p:txBody>
      </p:sp>
      <p:sp>
        <p:nvSpPr>
          <p:cNvPr id="42" name="Text 40"/>
          <p:cNvSpPr/>
          <p:nvPr/>
        </p:nvSpPr>
        <p:spPr>
          <a:xfrm>
            <a:off x="6537960" y="4846320"/>
            <a:ext cx="2286000" cy="365760"/>
          </a:xfrm>
          <a:prstGeom prst="rect">
            <a:avLst/>
          </a:prstGeom>
          <a:noFill/>
          <a:ln/>
        </p:spPr>
        <p:txBody>
          <a:bodyPr wrap="square" rtlCol="0" anchor="ctr"/>
          <a:lstStyle/>
          <a:p>
            <a:pPr marL="0" indent="0">
              <a:buNone/>
            </a:pPr>
            <a:r>
              <a:rPr lang="en-US" sz="1200" b="1" dirty="0">
                <a:solidFill>
                  <a:srgbClr val="C03BC4"/>
                </a:solidFill>
                <a:latin typeface="Segoe UI" pitchFamily="34" charset="0"/>
                <a:ea typeface="Segoe UI" pitchFamily="34" charset="-122"/>
                <a:cs typeface="Segoe UI" pitchFamily="34" charset="-120"/>
              </a:rPr>
              <a:t>MACC attainment</a:t>
            </a:r>
            <a:endParaRPr lang="en-US" sz="1200" dirty="0"/>
          </a:p>
        </p:txBody>
      </p:sp>
      <p:sp>
        <p:nvSpPr>
          <p:cNvPr id="43" name="Text 41"/>
          <p:cNvSpPr/>
          <p:nvPr/>
        </p:nvSpPr>
        <p:spPr>
          <a:xfrm>
            <a:off x="6537960" y="5212080"/>
            <a:ext cx="2286000" cy="50292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Toward renewal step-up</a:t>
            </a:r>
            <a:endParaRPr lang="en-US" sz="1100" dirty="0"/>
          </a:p>
        </p:txBody>
      </p:sp>
      <p:sp>
        <p:nvSpPr>
          <p:cNvPr id="44" name="Shape 42"/>
          <p:cNvSpPr/>
          <p:nvPr/>
        </p:nvSpPr>
        <p:spPr>
          <a:xfrm>
            <a:off x="9006840" y="4754880"/>
            <a:ext cx="2468880" cy="1005840"/>
          </a:xfrm>
          <a:prstGeom prst="rect">
            <a:avLst/>
          </a:prstGeom>
          <a:solidFill>
            <a:srgbClr val="0057B8"/>
          </a:solidFill>
          <a:ln w="12700">
            <a:solidFill>
              <a:srgbClr val="0057B8"/>
            </a:solidFill>
            <a:prstDash val="solid"/>
          </a:ln>
        </p:spPr>
        <p:txBody>
          <a:bodyPr/>
          <a:lstStyle/>
          <a:p>
            <a:endParaRPr lang="en-ZA"/>
          </a:p>
        </p:txBody>
      </p:sp>
      <p:sp>
        <p:nvSpPr>
          <p:cNvPr id="45" name="Text 43"/>
          <p:cNvSpPr/>
          <p:nvPr/>
        </p:nvSpPr>
        <p:spPr>
          <a:xfrm>
            <a:off x="9144000" y="4846320"/>
            <a:ext cx="2286000" cy="365760"/>
          </a:xfrm>
          <a:prstGeom prst="rect">
            <a:avLst/>
          </a:prstGeom>
          <a:noFill/>
          <a:ln/>
        </p:spPr>
        <p:txBody>
          <a:bodyPr wrap="square" rtlCol="0" anchor="ctr"/>
          <a:lstStyle/>
          <a:p>
            <a:pPr marL="0" indent="0">
              <a:buNone/>
            </a:pPr>
            <a:r>
              <a:rPr lang="en-US" sz="1200" b="1" dirty="0">
                <a:solidFill>
                  <a:srgbClr val="C03BC4"/>
                </a:solidFill>
                <a:latin typeface="Segoe UI" pitchFamily="34" charset="0"/>
                <a:ea typeface="Segoe UI" pitchFamily="34" charset="-122"/>
                <a:cs typeface="Segoe UI" pitchFamily="34" charset="-120"/>
              </a:rPr>
              <a:t>NSAT</a:t>
            </a:r>
            <a:endParaRPr lang="en-US" sz="1200" dirty="0"/>
          </a:p>
        </p:txBody>
      </p:sp>
      <p:sp>
        <p:nvSpPr>
          <p:cNvPr id="46" name="Text 44"/>
          <p:cNvSpPr/>
          <p:nvPr/>
        </p:nvSpPr>
        <p:spPr>
          <a:xfrm>
            <a:off x="9144000" y="5212080"/>
            <a:ext cx="2286000" cy="50292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Quarterly · CoE council</a:t>
            </a:r>
            <a:endParaRPr lang="en-US" sz="1100" dirty="0"/>
          </a:p>
        </p:txBody>
      </p:sp>
      <p:pic>
        <p:nvPicPr>
          <p:cNvPr id="47"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48" name="Text 45"/>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49" name="Text 46"/>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STEP 8 · MCEM STAGE 5</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000" b="1" dirty="0">
                <a:solidFill>
                  <a:srgbClr val="091F2C"/>
                </a:solidFill>
                <a:latin typeface="Segoe UI" pitchFamily="34" charset="0"/>
                <a:ea typeface="Segoe UI" pitchFamily="34" charset="-122"/>
                <a:cs typeface="Segoe UI" pitchFamily="34" charset="-120"/>
              </a:rPr>
              <a:t>Federate &amp; expand</a:t>
            </a:r>
            <a:endParaRPr lang="en-US" sz="3000" dirty="0"/>
          </a:p>
        </p:txBody>
      </p:sp>
      <p:sp>
        <p:nvSpPr>
          <p:cNvPr id="5" name="Shape 3"/>
          <p:cNvSpPr/>
          <p:nvPr/>
        </p:nvSpPr>
        <p:spPr>
          <a:xfrm>
            <a:off x="548640" y="1828800"/>
            <a:ext cx="5486400" cy="4297680"/>
          </a:xfrm>
          <a:prstGeom prst="roundRect">
            <a:avLst>
              <a:gd name="adj" fmla="val 2553"/>
            </a:avLst>
          </a:prstGeom>
          <a:solidFill>
            <a:srgbClr val="FFFFFF"/>
          </a:solidFill>
          <a:ln w="12700">
            <a:solidFill>
              <a:srgbClr val="E1E6EF"/>
            </a:solidFill>
            <a:prstDash val="solid"/>
          </a:ln>
        </p:spPr>
        <p:txBody>
          <a:bodyPr/>
          <a:lstStyle/>
          <a:p>
            <a:endParaRPr lang="en-ZA"/>
          </a:p>
        </p:txBody>
      </p:sp>
      <p:sp>
        <p:nvSpPr>
          <p:cNvPr id="6" name="Text 4"/>
          <p:cNvSpPr/>
          <p:nvPr/>
        </p:nvSpPr>
        <p:spPr>
          <a:xfrm>
            <a:off x="777240" y="1965960"/>
            <a:ext cx="5029200" cy="274320"/>
          </a:xfrm>
          <a:prstGeom prst="rect">
            <a:avLst/>
          </a:prstGeom>
          <a:noFill/>
          <a:ln/>
        </p:spPr>
        <p:txBody>
          <a:bodyPr wrap="square" rtlCol="0" anchor="ctr"/>
          <a:lstStyle/>
          <a:p>
            <a:pPr marL="0" indent="0">
              <a:buNone/>
            </a:pPr>
            <a:r>
              <a:rPr lang="en-US" sz="1100" b="1" kern="0" spc="300" dirty="0">
                <a:solidFill>
                  <a:srgbClr val="0078D4"/>
                </a:solidFill>
                <a:latin typeface="Segoe UI" pitchFamily="34" charset="0"/>
                <a:ea typeface="Segoe UI" pitchFamily="34" charset="-122"/>
                <a:cs typeface="Segoe UI" pitchFamily="34" charset="-120"/>
              </a:rPr>
              <a:t>FROM CENTRAL → FEDERATED</a:t>
            </a:r>
            <a:endParaRPr lang="en-US" sz="1100" dirty="0"/>
          </a:p>
        </p:txBody>
      </p:sp>
      <p:sp>
        <p:nvSpPr>
          <p:cNvPr id="7" name="Shape 5"/>
          <p:cNvSpPr/>
          <p:nvPr/>
        </p:nvSpPr>
        <p:spPr>
          <a:xfrm>
            <a:off x="3291840" y="3931920"/>
            <a:ext cx="0" cy="594360"/>
          </a:xfrm>
          <a:prstGeom prst="line">
            <a:avLst/>
          </a:prstGeom>
          <a:noFill/>
          <a:ln w="19050">
            <a:solidFill>
              <a:srgbClr val="F5E6F0"/>
            </a:solidFill>
            <a:prstDash val="solid"/>
          </a:ln>
        </p:spPr>
        <p:txBody>
          <a:bodyPr/>
          <a:lstStyle/>
          <a:p>
            <a:endParaRPr lang="en-ZA"/>
          </a:p>
        </p:txBody>
      </p:sp>
      <p:sp>
        <p:nvSpPr>
          <p:cNvPr id="8" name="Shape 6"/>
          <p:cNvSpPr/>
          <p:nvPr/>
        </p:nvSpPr>
        <p:spPr>
          <a:xfrm>
            <a:off x="3291840" y="3931920"/>
            <a:ext cx="0" cy="1234440"/>
          </a:xfrm>
          <a:prstGeom prst="line">
            <a:avLst/>
          </a:prstGeom>
          <a:noFill/>
          <a:ln w="19050">
            <a:solidFill>
              <a:srgbClr val="F5E6F0"/>
            </a:solidFill>
            <a:prstDash val="solid"/>
          </a:ln>
        </p:spPr>
        <p:txBody>
          <a:bodyPr/>
          <a:lstStyle/>
          <a:p>
            <a:endParaRPr lang="en-ZA"/>
          </a:p>
        </p:txBody>
      </p:sp>
      <p:sp>
        <p:nvSpPr>
          <p:cNvPr id="9" name="Shape 7"/>
          <p:cNvSpPr/>
          <p:nvPr/>
        </p:nvSpPr>
        <p:spPr>
          <a:xfrm>
            <a:off x="3291840" y="3931920"/>
            <a:ext cx="1143000" cy="1234440"/>
          </a:xfrm>
          <a:prstGeom prst="line">
            <a:avLst/>
          </a:prstGeom>
          <a:noFill/>
          <a:ln w="19050">
            <a:solidFill>
              <a:srgbClr val="F5E6F0"/>
            </a:solidFill>
            <a:prstDash val="solid"/>
          </a:ln>
        </p:spPr>
        <p:txBody>
          <a:bodyPr/>
          <a:lstStyle/>
          <a:p>
            <a:endParaRPr lang="en-ZA"/>
          </a:p>
        </p:txBody>
      </p:sp>
      <p:sp>
        <p:nvSpPr>
          <p:cNvPr id="10" name="Shape 8"/>
          <p:cNvSpPr/>
          <p:nvPr/>
        </p:nvSpPr>
        <p:spPr>
          <a:xfrm>
            <a:off x="3291840" y="3931920"/>
            <a:ext cx="2194560" cy="594360"/>
          </a:xfrm>
          <a:prstGeom prst="line">
            <a:avLst/>
          </a:prstGeom>
          <a:noFill/>
          <a:ln w="19050">
            <a:solidFill>
              <a:srgbClr val="F5E6F0"/>
            </a:solidFill>
            <a:prstDash val="solid"/>
          </a:ln>
        </p:spPr>
        <p:txBody>
          <a:bodyPr/>
          <a:lstStyle/>
          <a:p>
            <a:endParaRPr lang="en-ZA"/>
          </a:p>
        </p:txBody>
      </p:sp>
      <p:sp>
        <p:nvSpPr>
          <p:cNvPr id="11" name="Shape 9"/>
          <p:cNvSpPr/>
          <p:nvPr/>
        </p:nvSpPr>
        <p:spPr>
          <a:xfrm>
            <a:off x="2697480" y="2743200"/>
            <a:ext cx="1188720" cy="1188720"/>
          </a:xfrm>
          <a:prstGeom prst="ellipse">
            <a:avLst/>
          </a:prstGeom>
          <a:solidFill>
            <a:srgbClr val="091F2C"/>
          </a:solidFill>
          <a:ln w="12700">
            <a:solidFill>
              <a:srgbClr val="091F2C"/>
            </a:solidFill>
            <a:prstDash val="solid"/>
          </a:ln>
        </p:spPr>
        <p:txBody>
          <a:bodyPr/>
          <a:lstStyle/>
          <a:p>
            <a:endParaRPr lang="en-ZA"/>
          </a:p>
        </p:txBody>
      </p:sp>
      <p:sp>
        <p:nvSpPr>
          <p:cNvPr id="12" name="Text 10"/>
          <p:cNvSpPr/>
          <p:nvPr/>
        </p:nvSpPr>
        <p:spPr>
          <a:xfrm>
            <a:off x="2697480" y="2743200"/>
            <a:ext cx="1188720" cy="118872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Central</a:t>
            </a:r>
            <a:endParaRPr lang="en-US" sz="1200" dirty="0"/>
          </a:p>
          <a:p>
            <a:pPr marL="0" indent="0" algn="ctr">
              <a:buNone/>
            </a:pPr>
            <a:r>
              <a:rPr lang="en-US" sz="1200" b="1" dirty="0">
                <a:solidFill>
                  <a:srgbClr val="FFFFFF"/>
                </a:solidFill>
                <a:latin typeface="Segoe UI" pitchFamily="34" charset="0"/>
                <a:ea typeface="Segoe UI" pitchFamily="34" charset="-122"/>
                <a:cs typeface="Segoe UI" pitchFamily="34" charset="-120"/>
              </a:rPr>
              <a:t>CoE</a:t>
            </a:r>
            <a:endParaRPr lang="en-US" sz="1200" dirty="0"/>
          </a:p>
        </p:txBody>
      </p:sp>
      <p:sp>
        <p:nvSpPr>
          <p:cNvPr id="13" name="Shape 11"/>
          <p:cNvSpPr/>
          <p:nvPr/>
        </p:nvSpPr>
        <p:spPr>
          <a:xfrm>
            <a:off x="777240" y="4526280"/>
            <a:ext cx="1005840" cy="548640"/>
          </a:xfrm>
          <a:prstGeom prst="ellipse">
            <a:avLst/>
          </a:prstGeom>
          <a:solidFill>
            <a:srgbClr val="0078D4"/>
          </a:solidFill>
          <a:ln w="12700">
            <a:solidFill>
              <a:srgbClr val="0078D4"/>
            </a:solidFill>
            <a:prstDash val="solid"/>
          </a:ln>
        </p:spPr>
        <p:txBody>
          <a:bodyPr/>
          <a:lstStyle/>
          <a:p>
            <a:endParaRPr lang="en-ZA"/>
          </a:p>
        </p:txBody>
      </p:sp>
      <p:sp>
        <p:nvSpPr>
          <p:cNvPr id="14" name="Text 12"/>
          <p:cNvSpPr/>
          <p:nvPr/>
        </p:nvSpPr>
        <p:spPr>
          <a:xfrm>
            <a:off x="777240" y="4526280"/>
            <a:ext cx="1005840" cy="548640"/>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Finance</a:t>
            </a:r>
            <a:endParaRPr lang="en-US" sz="1100" dirty="0"/>
          </a:p>
        </p:txBody>
      </p:sp>
      <p:sp>
        <p:nvSpPr>
          <p:cNvPr id="15" name="Shape 13"/>
          <p:cNvSpPr/>
          <p:nvPr/>
        </p:nvSpPr>
        <p:spPr>
          <a:xfrm>
            <a:off x="2194560" y="5166360"/>
            <a:ext cx="1005840" cy="548640"/>
          </a:xfrm>
          <a:prstGeom prst="ellipse">
            <a:avLst/>
          </a:prstGeom>
          <a:solidFill>
            <a:srgbClr val="0078D4"/>
          </a:solidFill>
          <a:ln w="12700">
            <a:solidFill>
              <a:srgbClr val="0078D4"/>
            </a:solidFill>
            <a:prstDash val="solid"/>
          </a:ln>
        </p:spPr>
        <p:txBody>
          <a:bodyPr/>
          <a:lstStyle/>
          <a:p>
            <a:endParaRPr lang="en-ZA"/>
          </a:p>
        </p:txBody>
      </p:sp>
      <p:sp>
        <p:nvSpPr>
          <p:cNvPr id="16" name="Text 14"/>
          <p:cNvSpPr/>
          <p:nvPr/>
        </p:nvSpPr>
        <p:spPr>
          <a:xfrm>
            <a:off x="2194560" y="5166360"/>
            <a:ext cx="1005840" cy="548640"/>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Ops</a:t>
            </a:r>
            <a:endParaRPr lang="en-US" sz="1100" dirty="0"/>
          </a:p>
        </p:txBody>
      </p:sp>
      <p:sp>
        <p:nvSpPr>
          <p:cNvPr id="17" name="Shape 15"/>
          <p:cNvSpPr/>
          <p:nvPr/>
        </p:nvSpPr>
        <p:spPr>
          <a:xfrm>
            <a:off x="3931920" y="5166360"/>
            <a:ext cx="1005840" cy="548640"/>
          </a:xfrm>
          <a:prstGeom prst="ellipse">
            <a:avLst/>
          </a:prstGeom>
          <a:solidFill>
            <a:srgbClr val="0078D4"/>
          </a:solidFill>
          <a:ln w="12700">
            <a:solidFill>
              <a:srgbClr val="0078D4"/>
            </a:solidFill>
            <a:prstDash val="solid"/>
          </a:ln>
        </p:spPr>
        <p:txBody>
          <a:bodyPr/>
          <a:lstStyle/>
          <a:p>
            <a:endParaRPr lang="en-ZA"/>
          </a:p>
        </p:txBody>
      </p:sp>
      <p:sp>
        <p:nvSpPr>
          <p:cNvPr id="18" name="Text 16"/>
          <p:cNvSpPr/>
          <p:nvPr/>
        </p:nvSpPr>
        <p:spPr>
          <a:xfrm>
            <a:off x="3931920" y="5166360"/>
            <a:ext cx="1005840" cy="548640"/>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CX</a:t>
            </a:r>
            <a:endParaRPr lang="en-US" sz="1100" dirty="0"/>
          </a:p>
        </p:txBody>
      </p:sp>
      <p:sp>
        <p:nvSpPr>
          <p:cNvPr id="19" name="Shape 17"/>
          <p:cNvSpPr/>
          <p:nvPr/>
        </p:nvSpPr>
        <p:spPr>
          <a:xfrm>
            <a:off x="4983480" y="4526280"/>
            <a:ext cx="1005840" cy="548640"/>
          </a:xfrm>
          <a:prstGeom prst="ellipse">
            <a:avLst/>
          </a:prstGeom>
          <a:solidFill>
            <a:srgbClr val="0078D4"/>
          </a:solidFill>
          <a:ln w="12700">
            <a:solidFill>
              <a:srgbClr val="0078D4"/>
            </a:solidFill>
            <a:prstDash val="solid"/>
          </a:ln>
        </p:spPr>
        <p:txBody>
          <a:bodyPr/>
          <a:lstStyle/>
          <a:p>
            <a:endParaRPr lang="en-ZA"/>
          </a:p>
        </p:txBody>
      </p:sp>
      <p:sp>
        <p:nvSpPr>
          <p:cNvPr id="20" name="Text 18"/>
          <p:cNvSpPr/>
          <p:nvPr/>
        </p:nvSpPr>
        <p:spPr>
          <a:xfrm>
            <a:off x="4983480" y="4526280"/>
            <a:ext cx="1005840" cy="548640"/>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HR</a:t>
            </a:r>
            <a:endParaRPr lang="en-US" sz="1100" dirty="0"/>
          </a:p>
        </p:txBody>
      </p:sp>
      <p:sp>
        <p:nvSpPr>
          <p:cNvPr id="21" name="Text 19"/>
          <p:cNvSpPr/>
          <p:nvPr/>
        </p:nvSpPr>
        <p:spPr>
          <a:xfrm>
            <a:off x="777240" y="5760720"/>
            <a:ext cx="5029200" cy="274320"/>
          </a:xfrm>
          <a:prstGeom prst="rect">
            <a:avLst/>
          </a:prstGeom>
          <a:noFill/>
          <a:ln/>
        </p:spPr>
        <p:txBody>
          <a:bodyPr wrap="square" rtlCol="0" anchor="ctr"/>
          <a:lstStyle/>
          <a:p>
            <a:pPr marL="0" indent="0" algn="ctr">
              <a:buNone/>
            </a:pPr>
            <a:r>
              <a:rPr lang="en-US" sz="1000" i="1" dirty="0">
                <a:solidFill>
                  <a:srgbClr val="8A94A6"/>
                </a:solidFill>
                <a:latin typeface="Segoe UI" pitchFamily="34" charset="0"/>
                <a:ea typeface="Segoe UI" pitchFamily="34" charset="-122"/>
                <a:cs typeface="Segoe UI" pitchFamily="34" charset="-120"/>
              </a:rPr>
              <a:t>Domain CoEs inherit standards from the central hub</a:t>
            </a:r>
            <a:endParaRPr lang="en-US" sz="1000" dirty="0"/>
          </a:p>
        </p:txBody>
      </p:sp>
      <p:sp>
        <p:nvSpPr>
          <p:cNvPr id="22" name="Shape 20"/>
          <p:cNvSpPr/>
          <p:nvPr/>
        </p:nvSpPr>
        <p:spPr>
          <a:xfrm>
            <a:off x="6172200" y="1828800"/>
            <a:ext cx="5486400" cy="4297680"/>
          </a:xfrm>
          <a:prstGeom prst="roundRect">
            <a:avLst>
              <a:gd name="adj" fmla="val 2553"/>
            </a:avLst>
          </a:prstGeom>
          <a:solidFill>
            <a:srgbClr val="091F2C"/>
          </a:solidFill>
          <a:ln w="12700">
            <a:solidFill>
              <a:srgbClr val="091F2C"/>
            </a:solidFill>
            <a:prstDash val="solid"/>
          </a:ln>
        </p:spPr>
        <p:txBody>
          <a:bodyPr/>
          <a:lstStyle/>
          <a:p>
            <a:endParaRPr lang="en-ZA"/>
          </a:p>
        </p:txBody>
      </p:sp>
      <p:sp>
        <p:nvSpPr>
          <p:cNvPr id="23" name="Text 21"/>
          <p:cNvSpPr/>
          <p:nvPr/>
        </p:nvSpPr>
        <p:spPr>
          <a:xfrm>
            <a:off x="6400800" y="1965960"/>
            <a:ext cx="5029200" cy="274320"/>
          </a:xfrm>
          <a:prstGeom prst="rect">
            <a:avLst/>
          </a:prstGeom>
          <a:noFill/>
          <a:ln/>
        </p:spPr>
        <p:txBody>
          <a:bodyPr wrap="square" rtlCol="0" anchor="ctr"/>
          <a:lstStyle/>
          <a:p>
            <a:pPr marL="0" indent="0">
              <a:buNone/>
            </a:pPr>
            <a:r>
              <a:rPr lang="en-US" sz="1100" b="1" kern="0" spc="300" dirty="0">
                <a:solidFill>
                  <a:srgbClr val="C03BC4"/>
                </a:solidFill>
                <a:latin typeface="Segoe UI" pitchFamily="34" charset="0"/>
                <a:ea typeface="Segoe UI" pitchFamily="34" charset="-122"/>
                <a:cs typeface="Segoe UI" pitchFamily="34" charset="-120"/>
              </a:rPr>
              <a:t>WHAT FEDERATION UNLOCKS</a:t>
            </a:r>
            <a:endParaRPr lang="en-US" sz="1100" dirty="0"/>
          </a:p>
        </p:txBody>
      </p:sp>
      <p:sp>
        <p:nvSpPr>
          <p:cNvPr id="24" name="Shape 22"/>
          <p:cNvSpPr/>
          <p:nvPr/>
        </p:nvSpPr>
        <p:spPr>
          <a:xfrm>
            <a:off x="6492240" y="2514600"/>
            <a:ext cx="54864" cy="457200"/>
          </a:xfrm>
          <a:prstGeom prst="rect">
            <a:avLst/>
          </a:prstGeom>
          <a:solidFill>
            <a:srgbClr val="FFB900"/>
          </a:solidFill>
          <a:ln w="12700">
            <a:solidFill>
              <a:srgbClr val="FFB900"/>
            </a:solidFill>
            <a:prstDash val="solid"/>
          </a:ln>
        </p:spPr>
        <p:txBody>
          <a:bodyPr/>
          <a:lstStyle/>
          <a:p>
            <a:endParaRPr lang="en-ZA"/>
          </a:p>
        </p:txBody>
      </p:sp>
      <p:sp>
        <p:nvSpPr>
          <p:cNvPr id="25" name="Text 23"/>
          <p:cNvSpPr/>
          <p:nvPr/>
        </p:nvSpPr>
        <p:spPr>
          <a:xfrm>
            <a:off x="6720840" y="2423160"/>
            <a:ext cx="4800600" cy="320040"/>
          </a:xfrm>
          <a:prstGeom prst="rect">
            <a:avLst/>
          </a:prstGeom>
          <a:noFill/>
          <a:ln/>
        </p:spPr>
        <p:txBody>
          <a:bodyPr wrap="square"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Renewal step-up</a:t>
            </a:r>
            <a:endParaRPr lang="en-US" sz="1300" dirty="0"/>
          </a:p>
        </p:txBody>
      </p:sp>
      <p:sp>
        <p:nvSpPr>
          <p:cNvPr id="26" name="Text 24"/>
          <p:cNvSpPr/>
          <p:nvPr/>
        </p:nvSpPr>
        <p:spPr>
          <a:xfrm>
            <a:off x="6720840" y="2743200"/>
            <a:ext cx="4800600" cy="411480"/>
          </a:xfrm>
          <a:prstGeom prst="rect">
            <a:avLst/>
          </a:prstGeom>
          <a:noFill/>
          <a:ln/>
        </p:spPr>
        <p:txBody>
          <a:bodyPr wrap="square" rtlCol="0" anchor="ctr"/>
          <a:lstStyle/>
          <a:p>
            <a:pPr marL="0" indent="0">
              <a:buNone/>
            </a:pPr>
            <a:r>
              <a:rPr lang="en-US" sz="1100" dirty="0">
                <a:solidFill>
                  <a:srgbClr val="F5E6F0"/>
                </a:solidFill>
                <a:latin typeface="Segoe UI" pitchFamily="34" charset="0"/>
                <a:ea typeface="Segoe UI" pitchFamily="34" charset="-122"/>
                <a:cs typeface="Segoe UI" pitchFamily="34" charset="-120"/>
              </a:rPr>
              <a:t>Frontier Firm E7 bundle conversation</a:t>
            </a:r>
            <a:endParaRPr lang="en-US" sz="1100" dirty="0"/>
          </a:p>
        </p:txBody>
      </p:sp>
      <p:sp>
        <p:nvSpPr>
          <p:cNvPr id="27" name="Shape 25"/>
          <p:cNvSpPr/>
          <p:nvPr/>
        </p:nvSpPr>
        <p:spPr>
          <a:xfrm>
            <a:off x="6492240" y="3227832"/>
            <a:ext cx="54864" cy="457200"/>
          </a:xfrm>
          <a:prstGeom prst="rect">
            <a:avLst/>
          </a:prstGeom>
          <a:solidFill>
            <a:srgbClr val="FFB900"/>
          </a:solidFill>
          <a:ln w="12700">
            <a:solidFill>
              <a:srgbClr val="FFB900"/>
            </a:solidFill>
            <a:prstDash val="solid"/>
          </a:ln>
        </p:spPr>
        <p:txBody>
          <a:bodyPr/>
          <a:lstStyle/>
          <a:p>
            <a:endParaRPr lang="en-ZA"/>
          </a:p>
        </p:txBody>
      </p:sp>
      <p:sp>
        <p:nvSpPr>
          <p:cNvPr id="28" name="Text 26"/>
          <p:cNvSpPr/>
          <p:nvPr/>
        </p:nvSpPr>
        <p:spPr>
          <a:xfrm>
            <a:off x="6720840" y="3136392"/>
            <a:ext cx="4800600" cy="320040"/>
          </a:xfrm>
          <a:prstGeom prst="rect">
            <a:avLst/>
          </a:prstGeom>
          <a:noFill/>
          <a:ln/>
        </p:spPr>
        <p:txBody>
          <a:bodyPr wrap="square"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Multi-year ACR</a:t>
            </a:r>
            <a:endParaRPr lang="en-US" sz="1300" dirty="0"/>
          </a:p>
        </p:txBody>
      </p:sp>
      <p:sp>
        <p:nvSpPr>
          <p:cNvPr id="29" name="Text 27"/>
          <p:cNvSpPr/>
          <p:nvPr/>
        </p:nvSpPr>
        <p:spPr>
          <a:xfrm>
            <a:off x="6720840" y="3456432"/>
            <a:ext cx="4800600" cy="411480"/>
          </a:xfrm>
          <a:prstGeom prst="rect">
            <a:avLst/>
          </a:prstGeom>
          <a:noFill/>
          <a:ln/>
        </p:spPr>
        <p:txBody>
          <a:bodyPr wrap="square" rtlCol="0" anchor="ctr"/>
          <a:lstStyle/>
          <a:p>
            <a:pPr marL="0" indent="0">
              <a:buNone/>
            </a:pPr>
            <a:r>
              <a:rPr lang="en-US" sz="1100" dirty="0">
                <a:solidFill>
                  <a:srgbClr val="F5E6F0"/>
                </a:solidFill>
                <a:latin typeface="Segoe UI" pitchFamily="34" charset="0"/>
                <a:ea typeface="Segoe UI" pitchFamily="34" charset="-122"/>
                <a:cs typeface="Segoe UI" pitchFamily="34" charset="-120"/>
              </a:rPr>
              <a:t>MACC commit + consumption growth path</a:t>
            </a:r>
            <a:endParaRPr lang="en-US" sz="1100" dirty="0"/>
          </a:p>
        </p:txBody>
      </p:sp>
      <p:sp>
        <p:nvSpPr>
          <p:cNvPr id="30" name="Shape 28"/>
          <p:cNvSpPr/>
          <p:nvPr/>
        </p:nvSpPr>
        <p:spPr>
          <a:xfrm>
            <a:off x="6492240" y="3941064"/>
            <a:ext cx="54864" cy="457200"/>
          </a:xfrm>
          <a:prstGeom prst="rect">
            <a:avLst/>
          </a:prstGeom>
          <a:solidFill>
            <a:srgbClr val="FFB900"/>
          </a:solidFill>
          <a:ln w="12700">
            <a:solidFill>
              <a:srgbClr val="FFB900"/>
            </a:solidFill>
            <a:prstDash val="solid"/>
          </a:ln>
        </p:spPr>
        <p:txBody>
          <a:bodyPr/>
          <a:lstStyle/>
          <a:p>
            <a:endParaRPr lang="en-ZA"/>
          </a:p>
        </p:txBody>
      </p:sp>
      <p:sp>
        <p:nvSpPr>
          <p:cNvPr id="31" name="Text 29"/>
          <p:cNvSpPr/>
          <p:nvPr/>
        </p:nvSpPr>
        <p:spPr>
          <a:xfrm>
            <a:off x="6720840" y="3849624"/>
            <a:ext cx="4800600" cy="320040"/>
          </a:xfrm>
          <a:prstGeom prst="rect">
            <a:avLst/>
          </a:prstGeom>
          <a:noFill/>
          <a:ln/>
        </p:spPr>
        <p:txBody>
          <a:bodyPr wrap="square"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Tier 3 Managed Run</a:t>
            </a:r>
            <a:endParaRPr lang="en-US" sz="1300" dirty="0"/>
          </a:p>
        </p:txBody>
      </p:sp>
      <p:sp>
        <p:nvSpPr>
          <p:cNvPr id="32" name="Text 30"/>
          <p:cNvSpPr/>
          <p:nvPr/>
        </p:nvSpPr>
        <p:spPr>
          <a:xfrm>
            <a:off x="6720840" y="4169664"/>
            <a:ext cx="4800600" cy="411480"/>
          </a:xfrm>
          <a:prstGeom prst="rect">
            <a:avLst/>
          </a:prstGeom>
          <a:noFill/>
          <a:ln/>
        </p:spPr>
        <p:txBody>
          <a:bodyPr wrap="square" rtlCol="0" anchor="ctr"/>
          <a:lstStyle/>
          <a:p>
            <a:pPr marL="0" indent="0">
              <a:buNone/>
            </a:pPr>
            <a:r>
              <a:rPr lang="en-US" sz="1100" dirty="0">
                <a:solidFill>
                  <a:srgbClr val="F5E6F0"/>
                </a:solidFill>
                <a:latin typeface="Segoe UI" pitchFamily="34" charset="0"/>
                <a:ea typeface="Segoe UI" pitchFamily="34" charset="-122"/>
                <a:cs typeface="Segoe UI" pitchFamily="34" charset="-120"/>
              </a:rPr>
              <a:t>Anchor Partner moves to recurring MSP fee</a:t>
            </a:r>
            <a:endParaRPr lang="en-US" sz="1100" dirty="0"/>
          </a:p>
        </p:txBody>
      </p:sp>
      <p:sp>
        <p:nvSpPr>
          <p:cNvPr id="33" name="Shape 31"/>
          <p:cNvSpPr/>
          <p:nvPr/>
        </p:nvSpPr>
        <p:spPr>
          <a:xfrm>
            <a:off x="6492240" y="4654296"/>
            <a:ext cx="54864" cy="457200"/>
          </a:xfrm>
          <a:prstGeom prst="rect">
            <a:avLst/>
          </a:prstGeom>
          <a:solidFill>
            <a:srgbClr val="FFB900"/>
          </a:solidFill>
          <a:ln w="12700">
            <a:solidFill>
              <a:srgbClr val="FFB900"/>
            </a:solidFill>
            <a:prstDash val="solid"/>
          </a:ln>
        </p:spPr>
        <p:txBody>
          <a:bodyPr/>
          <a:lstStyle/>
          <a:p>
            <a:endParaRPr lang="en-ZA"/>
          </a:p>
        </p:txBody>
      </p:sp>
      <p:sp>
        <p:nvSpPr>
          <p:cNvPr id="34" name="Text 32"/>
          <p:cNvSpPr/>
          <p:nvPr/>
        </p:nvSpPr>
        <p:spPr>
          <a:xfrm>
            <a:off x="6720840" y="4562856"/>
            <a:ext cx="4800600" cy="320040"/>
          </a:xfrm>
          <a:prstGeom prst="rect">
            <a:avLst/>
          </a:prstGeom>
          <a:noFill/>
          <a:ln/>
        </p:spPr>
        <p:txBody>
          <a:bodyPr wrap="square"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Reference customer</a:t>
            </a:r>
            <a:endParaRPr lang="en-US" sz="1300" dirty="0"/>
          </a:p>
        </p:txBody>
      </p:sp>
      <p:sp>
        <p:nvSpPr>
          <p:cNvPr id="35" name="Text 33"/>
          <p:cNvSpPr/>
          <p:nvPr/>
        </p:nvSpPr>
        <p:spPr>
          <a:xfrm>
            <a:off x="6720840" y="4882896"/>
            <a:ext cx="4800600" cy="411480"/>
          </a:xfrm>
          <a:prstGeom prst="rect">
            <a:avLst/>
          </a:prstGeom>
          <a:noFill/>
          <a:ln/>
        </p:spPr>
        <p:txBody>
          <a:bodyPr wrap="square" rtlCol="0" anchor="ctr"/>
          <a:lstStyle/>
          <a:p>
            <a:pPr marL="0" indent="0">
              <a:buNone/>
            </a:pPr>
            <a:r>
              <a:rPr lang="en-US" sz="1100" dirty="0">
                <a:solidFill>
                  <a:srgbClr val="F5E6F0"/>
                </a:solidFill>
                <a:latin typeface="Segoe UI" pitchFamily="34" charset="0"/>
                <a:ea typeface="Segoe UI" pitchFamily="34" charset="-122"/>
                <a:cs typeface="Segoe UI" pitchFamily="34" charset="-120"/>
              </a:rPr>
              <a:t>Published story · peer reference call</a:t>
            </a:r>
            <a:endParaRPr lang="en-US" sz="1100" dirty="0"/>
          </a:p>
        </p:txBody>
      </p:sp>
      <p:sp>
        <p:nvSpPr>
          <p:cNvPr id="36" name="Shape 34"/>
          <p:cNvSpPr/>
          <p:nvPr/>
        </p:nvSpPr>
        <p:spPr>
          <a:xfrm>
            <a:off x="6492240" y="5367528"/>
            <a:ext cx="54864" cy="457200"/>
          </a:xfrm>
          <a:prstGeom prst="rect">
            <a:avLst/>
          </a:prstGeom>
          <a:solidFill>
            <a:srgbClr val="FFB900"/>
          </a:solidFill>
          <a:ln w="12700">
            <a:solidFill>
              <a:srgbClr val="FFB900"/>
            </a:solidFill>
            <a:prstDash val="solid"/>
          </a:ln>
        </p:spPr>
        <p:txBody>
          <a:bodyPr/>
          <a:lstStyle/>
          <a:p>
            <a:endParaRPr lang="en-ZA"/>
          </a:p>
        </p:txBody>
      </p:sp>
      <p:sp>
        <p:nvSpPr>
          <p:cNvPr id="37" name="Text 35"/>
          <p:cNvSpPr/>
          <p:nvPr/>
        </p:nvSpPr>
        <p:spPr>
          <a:xfrm>
            <a:off x="6720840" y="5276088"/>
            <a:ext cx="4800600" cy="320040"/>
          </a:xfrm>
          <a:prstGeom prst="rect">
            <a:avLst/>
          </a:prstGeom>
          <a:noFill/>
          <a:ln/>
        </p:spPr>
        <p:txBody>
          <a:bodyPr wrap="square"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Cross-sell surfaces</a:t>
            </a:r>
            <a:endParaRPr lang="en-US" sz="1300" dirty="0"/>
          </a:p>
        </p:txBody>
      </p:sp>
      <p:sp>
        <p:nvSpPr>
          <p:cNvPr id="38" name="Text 36"/>
          <p:cNvSpPr/>
          <p:nvPr/>
        </p:nvSpPr>
        <p:spPr>
          <a:xfrm>
            <a:off x="6720840" y="5596128"/>
            <a:ext cx="4800600" cy="411480"/>
          </a:xfrm>
          <a:prstGeom prst="rect">
            <a:avLst/>
          </a:prstGeom>
          <a:noFill/>
          <a:ln/>
        </p:spPr>
        <p:txBody>
          <a:bodyPr wrap="square" rtlCol="0" anchor="ctr"/>
          <a:lstStyle/>
          <a:p>
            <a:pPr marL="0" indent="0">
              <a:buNone/>
            </a:pPr>
            <a:r>
              <a:rPr lang="en-US" sz="1100" dirty="0">
                <a:solidFill>
                  <a:srgbClr val="F5E6F0"/>
                </a:solidFill>
                <a:latin typeface="Segoe UI" pitchFamily="34" charset="0"/>
                <a:ea typeface="Segoe UI" pitchFamily="34" charset="-122"/>
                <a:cs typeface="Segoe UI" pitchFamily="34" charset="-120"/>
              </a:rPr>
              <a:t>If A only — now sell B and C</a:t>
            </a:r>
            <a:endParaRPr lang="en-US" sz="1100" dirty="0"/>
          </a:p>
        </p:txBody>
      </p:sp>
      <p:sp>
        <p:nvSpPr>
          <p:cNvPr id="39" name="Text 37"/>
          <p:cNvSpPr/>
          <p:nvPr/>
        </p:nvSpPr>
        <p:spPr>
          <a:xfrm>
            <a:off x="548640" y="6263640"/>
            <a:ext cx="11155680" cy="274320"/>
          </a:xfrm>
          <a:prstGeom prst="rect">
            <a:avLst/>
          </a:prstGeom>
          <a:noFill/>
          <a:ln/>
        </p:spPr>
        <p:txBody>
          <a:bodyPr wrap="square" rtlCol="0" anchor="ctr"/>
          <a:lstStyle/>
          <a:p>
            <a:pPr marL="0" indent="0">
              <a:buNone/>
            </a:pPr>
            <a:r>
              <a:rPr lang="en-US" sz="1100" b="1" i="1" dirty="0">
                <a:solidFill>
                  <a:srgbClr val="FF5C39"/>
                </a:solidFill>
                <a:latin typeface="Segoe UI" pitchFamily="34" charset="0"/>
                <a:ea typeface="Segoe UI" pitchFamily="34" charset="-122"/>
                <a:cs typeface="Segoe UI" pitchFamily="34" charset="-120"/>
              </a:rPr>
              <a:t>Do not start federating before three production agents — premature federation creates governance vacuums.</a:t>
            </a:r>
            <a:endParaRPr lang="en-US" sz="1100" dirty="0"/>
          </a:p>
        </p:txBody>
      </p:sp>
      <p:pic>
        <p:nvPicPr>
          <p:cNvPr id="40"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41" name="Text 38"/>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42" name="Text 39"/>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ROLES</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000" b="1" dirty="0">
                <a:solidFill>
                  <a:srgbClr val="091F2C"/>
                </a:solidFill>
                <a:latin typeface="Segoe UI" pitchFamily="34" charset="0"/>
                <a:ea typeface="Segoe UI" pitchFamily="34" charset="-122"/>
                <a:cs typeface="Segoe UI" pitchFamily="34" charset="-120"/>
              </a:rPr>
              <a:t>Who does what — field shorthand</a:t>
            </a:r>
            <a:endParaRPr lang="en-US" sz="3000" dirty="0"/>
          </a:p>
        </p:txBody>
      </p:sp>
      <p:sp>
        <p:nvSpPr>
          <p:cNvPr id="5" name="Shape 3"/>
          <p:cNvSpPr/>
          <p:nvPr/>
        </p:nvSpPr>
        <p:spPr>
          <a:xfrm>
            <a:off x="548640" y="1828800"/>
            <a:ext cx="3611880" cy="1691640"/>
          </a:xfrm>
          <a:prstGeom prst="roundRect">
            <a:avLst>
              <a:gd name="adj" fmla="val 5405"/>
            </a:avLst>
          </a:prstGeom>
          <a:solidFill>
            <a:srgbClr val="FFF8F5"/>
          </a:solidFill>
          <a:ln w="12700">
            <a:solidFill>
              <a:srgbClr val="E1E6EF"/>
            </a:solidFill>
            <a:prstDash val="solid"/>
          </a:ln>
        </p:spPr>
        <p:txBody>
          <a:bodyPr/>
          <a:lstStyle/>
          <a:p>
            <a:endParaRPr lang="en-ZA"/>
          </a:p>
        </p:txBody>
      </p:sp>
      <p:sp>
        <p:nvSpPr>
          <p:cNvPr id="6" name="Shape 4"/>
          <p:cNvSpPr/>
          <p:nvPr/>
        </p:nvSpPr>
        <p:spPr>
          <a:xfrm>
            <a:off x="548640" y="1828800"/>
            <a:ext cx="1005840" cy="1691640"/>
          </a:xfrm>
          <a:prstGeom prst="rect">
            <a:avLst/>
          </a:prstGeom>
          <a:solidFill>
            <a:srgbClr val="0078D4"/>
          </a:solidFill>
          <a:ln w="12700">
            <a:solidFill>
              <a:srgbClr val="0078D4"/>
            </a:solidFill>
            <a:prstDash val="solid"/>
          </a:ln>
        </p:spPr>
        <p:txBody>
          <a:bodyPr/>
          <a:lstStyle/>
          <a:p>
            <a:endParaRPr lang="en-ZA"/>
          </a:p>
        </p:txBody>
      </p:sp>
      <p:sp>
        <p:nvSpPr>
          <p:cNvPr id="7" name="Text 5"/>
          <p:cNvSpPr/>
          <p:nvPr/>
        </p:nvSpPr>
        <p:spPr>
          <a:xfrm>
            <a:off x="548640" y="2194560"/>
            <a:ext cx="100584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ATU</a:t>
            </a:r>
            <a:endParaRPr lang="en-US" sz="2200" dirty="0"/>
          </a:p>
        </p:txBody>
      </p:sp>
      <p:sp>
        <p:nvSpPr>
          <p:cNvPr id="8" name="Text 6"/>
          <p:cNvSpPr/>
          <p:nvPr/>
        </p:nvSpPr>
        <p:spPr>
          <a:xfrm>
            <a:off x="1691640" y="2011680"/>
            <a:ext cx="2331720" cy="41148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Account Team Unit</a:t>
            </a:r>
            <a:endParaRPr lang="en-US" sz="1300" dirty="0"/>
          </a:p>
        </p:txBody>
      </p:sp>
      <p:sp>
        <p:nvSpPr>
          <p:cNvPr id="9" name="Text 7"/>
          <p:cNvSpPr/>
          <p:nvPr/>
        </p:nvSpPr>
        <p:spPr>
          <a:xfrm>
            <a:off x="1691640" y="2423160"/>
            <a:ext cx="2331720" cy="96012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Qualifies. Holds the budget. Signs the SOW.</a:t>
            </a:r>
            <a:endParaRPr lang="en-US" sz="1100" dirty="0"/>
          </a:p>
        </p:txBody>
      </p:sp>
      <p:sp>
        <p:nvSpPr>
          <p:cNvPr id="10" name="Shape 8"/>
          <p:cNvSpPr/>
          <p:nvPr/>
        </p:nvSpPr>
        <p:spPr>
          <a:xfrm>
            <a:off x="4297680" y="1828800"/>
            <a:ext cx="3611880" cy="1691640"/>
          </a:xfrm>
          <a:prstGeom prst="roundRect">
            <a:avLst>
              <a:gd name="adj" fmla="val 5405"/>
            </a:avLst>
          </a:prstGeom>
          <a:solidFill>
            <a:srgbClr val="FFF8F5"/>
          </a:solidFill>
          <a:ln w="12700">
            <a:solidFill>
              <a:srgbClr val="E1E6EF"/>
            </a:solidFill>
            <a:prstDash val="solid"/>
          </a:ln>
        </p:spPr>
        <p:txBody>
          <a:bodyPr/>
          <a:lstStyle/>
          <a:p>
            <a:endParaRPr lang="en-ZA"/>
          </a:p>
        </p:txBody>
      </p:sp>
      <p:sp>
        <p:nvSpPr>
          <p:cNvPr id="11" name="Shape 9"/>
          <p:cNvSpPr/>
          <p:nvPr/>
        </p:nvSpPr>
        <p:spPr>
          <a:xfrm>
            <a:off x="4297680" y="1828800"/>
            <a:ext cx="1005840" cy="1691640"/>
          </a:xfrm>
          <a:prstGeom prst="rect">
            <a:avLst/>
          </a:prstGeom>
          <a:solidFill>
            <a:srgbClr val="0057B8"/>
          </a:solidFill>
          <a:ln w="12700">
            <a:solidFill>
              <a:srgbClr val="0057B8"/>
            </a:solidFill>
            <a:prstDash val="solid"/>
          </a:ln>
        </p:spPr>
        <p:txBody>
          <a:bodyPr/>
          <a:lstStyle/>
          <a:p>
            <a:endParaRPr lang="en-ZA"/>
          </a:p>
        </p:txBody>
      </p:sp>
      <p:sp>
        <p:nvSpPr>
          <p:cNvPr id="12" name="Text 10"/>
          <p:cNvSpPr/>
          <p:nvPr/>
        </p:nvSpPr>
        <p:spPr>
          <a:xfrm>
            <a:off x="4297680" y="2194560"/>
            <a:ext cx="100584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STU</a:t>
            </a:r>
            <a:endParaRPr lang="en-US" sz="2200" dirty="0"/>
          </a:p>
        </p:txBody>
      </p:sp>
      <p:sp>
        <p:nvSpPr>
          <p:cNvPr id="13" name="Text 11"/>
          <p:cNvSpPr/>
          <p:nvPr/>
        </p:nvSpPr>
        <p:spPr>
          <a:xfrm>
            <a:off x="5440680" y="2011680"/>
            <a:ext cx="2331720" cy="41148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Specialist Team Unit</a:t>
            </a:r>
            <a:endParaRPr lang="en-US" sz="1300" dirty="0"/>
          </a:p>
        </p:txBody>
      </p:sp>
      <p:sp>
        <p:nvSpPr>
          <p:cNvPr id="14" name="Text 12"/>
          <p:cNvSpPr/>
          <p:nvPr/>
        </p:nvSpPr>
        <p:spPr>
          <a:xfrm>
            <a:off x="5440680" y="2423160"/>
            <a:ext cx="2331720" cy="96012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Co-designs the blueprint. Owns the technical pursuit.</a:t>
            </a:r>
            <a:endParaRPr lang="en-US" sz="1100" dirty="0"/>
          </a:p>
        </p:txBody>
      </p:sp>
      <p:sp>
        <p:nvSpPr>
          <p:cNvPr id="15" name="Shape 13"/>
          <p:cNvSpPr/>
          <p:nvPr/>
        </p:nvSpPr>
        <p:spPr>
          <a:xfrm>
            <a:off x="8046720" y="1828800"/>
            <a:ext cx="3611880" cy="1691640"/>
          </a:xfrm>
          <a:prstGeom prst="roundRect">
            <a:avLst>
              <a:gd name="adj" fmla="val 5405"/>
            </a:avLst>
          </a:prstGeom>
          <a:solidFill>
            <a:srgbClr val="FFF8F5"/>
          </a:solidFill>
          <a:ln w="12700">
            <a:solidFill>
              <a:srgbClr val="E1E6EF"/>
            </a:solidFill>
            <a:prstDash val="solid"/>
          </a:ln>
        </p:spPr>
        <p:txBody>
          <a:bodyPr/>
          <a:lstStyle/>
          <a:p>
            <a:endParaRPr lang="en-ZA"/>
          </a:p>
        </p:txBody>
      </p:sp>
      <p:sp>
        <p:nvSpPr>
          <p:cNvPr id="16" name="Shape 14"/>
          <p:cNvSpPr/>
          <p:nvPr/>
        </p:nvSpPr>
        <p:spPr>
          <a:xfrm>
            <a:off x="8046720" y="1828800"/>
            <a:ext cx="1005840" cy="1691640"/>
          </a:xfrm>
          <a:prstGeom prst="rect">
            <a:avLst/>
          </a:prstGeom>
          <a:solidFill>
            <a:srgbClr val="225B62"/>
          </a:solidFill>
          <a:ln w="12700">
            <a:solidFill>
              <a:srgbClr val="225B62"/>
            </a:solidFill>
            <a:prstDash val="solid"/>
          </a:ln>
        </p:spPr>
        <p:txBody>
          <a:bodyPr/>
          <a:lstStyle/>
          <a:p>
            <a:endParaRPr lang="en-ZA"/>
          </a:p>
        </p:txBody>
      </p:sp>
      <p:sp>
        <p:nvSpPr>
          <p:cNvPr id="17" name="Text 15"/>
          <p:cNvSpPr/>
          <p:nvPr/>
        </p:nvSpPr>
        <p:spPr>
          <a:xfrm>
            <a:off x="8046720" y="2194560"/>
            <a:ext cx="100584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CSU</a:t>
            </a:r>
            <a:endParaRPr lang="en-US" sz="2200" dirty="0"/>
          </a:p>
        </p:txBody>
      </p:sp>
      <p:sp>
        <p:nvSpPr>
          <p:cNvPr id="18" name="Text 16"/>
          <p:cNvSpPr/>
          <p:nvPr/>
        </p:nvSpPr>
        <p:spPr>
          <a:xfrm>
            <a:off x="9189720" y="2011680"/>
            <a:ext cx="2331720" cy="41148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Customer Success Unit</a:t>
            </a:r>
            <a:endParaRPr lang="en-US" sz="1300" dirty="0"/>
          </a:p>
        </p:txBody>
      </p:sp>
      <p:sp>
        <p:nvSpPr>
          <p:cNvPr id="19" name="Text 17"/>
          <p:cNvSpPr/>
          <p:nvPr/>
        </p:nvSpPr>
        <p:spPr>
          <a:xfrm>
            <a:off x="9189720" y="2423160"/>
            <a:ext cx="2331720" cy="96012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CSA owns Stage 4 — Realize Value. The home of the offering.</a:t>
            </a:r>
            <a:endParaRPr lang="en-US" sz="1100" dirty="0"/>
          </a:p>
        </p:txBody>
      </p:sp>
      <p:sp>
        <p:nvSpPr>
          <p:cNvPr id="20" name="Shape 18"/>
          <p:cNvSpPr/>
          <p:nvPr/>
        </p:nvSpPr>
        <p:spPr>
          <a:xfrm>
            <a:off x="548640" y="3703320"/>
            <a:ext cx="3611880" cy="1691640"/>
          </a:xfrm>
          <a:prstGeom prst="roundRect">
            <a:avLst>
              <a:gd name="adj" fmla="val 5405"/>
            </a:avLst>
          </a:prstGeom>
          <a:solidFill>
            <a:srgbClr val="FFF8F5"/>
          </a:solidFill>
          <a:ln w="12700">
            <a:solidFill>
              <a:srgbClr val="E1E6EF"/>
            </a:solidFill>
            <a:prstDash val="solid"/>
          </a:ln>
        </p:spPr>
        <p:txBody>
          <a:bodyPr/>
          <a:lstStyle/>
          <a:p>
            <a:endParaRPr lang="en-ZA"/>
          </a:p>
        </p:txBody>
      </p:sp>
      <p:sp>
        <p:nvSpPr>
          <p:cNvPr id="21" name="Shape 19"/>
          <p:cNvSpPr/>
          <p:nvPr/>
        </p:nvSpPr>
        <p:spPr>
          <a:xfrm>
            <a:off x="548640" y="3703320"/>
            <a:ext cx="1005840" cy="1691640"/>
          </a:xfrm>
          <a:prstGeom prst="rect">
            <a:avLst/>
          </a:prstGeom>
          <a:solidFill>
            <a:srgbClr val="FFB900"/>
          </a:solidFill>
          <a:ln w="12700">
            <a:solidFill>
              <a:srgbClr val="FFB900"/>
            </a:solidFill>
            <a:prstDash val="solid"/>
          </a:ln>
        </p:spPr>
        <p:txBody>
          <a:bodyPr/>
          <a:lstStyle/>
          <a:p>
            <a:endParaRPr lang="en-ZA"/>
          </a:p>
        </p:txBody>
      </p:sp>
      <p:sp>
        <p:nvSpPr>
          <p:cNvPr id="22" name="Text 20"/>
          <p:cNvSpPr/>
          <p:nvPr/>
        </p:nvSpPr>
        <p:spPr>
          <a:xfrm>
            <a:off x="548640" y="4069080"/>
            <a:ext cx="100584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EPS</a:t>
            </a:r>
            <a:endParaRPr lang="en-US" sz="2200" dirty="0"/>
          </a:p>
        </p:txBody>
      </p:sp>
      <p:sp>
        <p:nvSpPr>
          <p:cNvPr id="23" name="Text 21"/>
          <p:cNvSpPr/>
          <p:nvPr/>
        </p:nvSpPr>
        <p:spPr>
          <a:xfrm>
            <a:off x="1691640" y="3886200"/>
            <a:ext cx="2331720" cy="41148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Enterprise Partner Sales</a:t>
            </a:r>
            <a:endParaRPr lang="en-US" sz="1300" dirty="0"/>
          </a:p>
        </p:txBody>
      </p:sp>
      <p:sp>
        <p:nvSpPr>
          <p:cNvPr id="24" name="Text 22"/>
          <p:cNvSpPr/>
          <p:nvPr/>
        </p:nvSpPr>
        <p:spPr>
          <a:xfrm>
            <a:off x="1691640" y="4297680"/>
            <a:ext cx="2331720" cy="96012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PDM primes Anchor Partner lifecycle — not the CSA.</a:t>
            </a:r>
            <a:endParaRPr lang="en-US" sz="1100" dirty="0"/>
          </a:p>
        </p:txBody>
      </p:sp>
      <p:sp>
        <p:nvSpPr>
          <p:cNvPr id="25" name="Shape 23"/>
          <p:cNvSpPr/>
          <p:nvPr/>
        </p:nvSpPr>
        <p:spPr>
          <a:xfrm>
            <a:off x="4297680" y="3703320"/>
            <a:ext cx="3611880" cy="1691640"/>
          </a:xfrm>
          <a:prstGeom prst="roundRect">
            <a:avLst>
              <a:gd name="adj" fmla="val 5405"/>
            </a:avLst>
          </a:prstGeom>
          <a:solidFill>
            <a:srgbClr val="FFF8F5"/>
          </a:solidFill>
          <a:ln w="12700">
            <a:solidFill>
              <a:srgbClr val="E1E6EF"/>
            </a:solidFill>
            <a:prstDash val="solid"/>
          </a:ln>
        </p:spPr>
        <p:txBody>
          <a:bodyPr/>
          <a:lstStyle/>
          <a:p>
            <a:endParaRPr lang="en-ZA"/>
          </a:p>
        </p:txBody>
      </p:sp>
      <p:sp>
        <p:nvSpPr>
          <p:cNvPr id="26" name="Shape 24"/>
          <p:cNvSpPr/>
          <p:nvPr/>
        </p:nvSpPr>
        <p:spPr>
          <a:xfrm>
            <a:off x="4297680" y="3703320"/>
            <a:ext cx="1005840" cy="1691640"/>
          </a:xfrm>
          <a:prstGeom prst="rect">
            <a:avLst/>
          </a:prstGeom>
          <a:solidFill>
            <a:srgbClr val="FF5C39"/>
          </a:solidFill>
          <a:ln w="12700">
            <a:solidFill>
              <a:srgbClr val="FF5C39"/>
            </a:solidFill>
            <a:prstDash val="solid"/>
          </a:ln>
        </p:spPr>
        <p:txBody>
          <a:bodyPr/>
          <a:lstStyle/>
          <a:p>
            <a:endParaRPr lang="en-ZA"/>
          </a:p>
        </p:txBody>
      </p:sp>
      <p:sp>
        <p:nvSpPr>
          <p:cNvPr id="27" name="Text 25"/>
          <p:cNvSpPr/>
          <p:nvPr/>
        </p:nvSpPr>
        <p:spPr>
          <a:xfrm>
            <a:off x="4297680" y="4069080"/>
            <a:ext cx="100584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ISD</a:t>
            </a:r>
            <a:endParaRPr lang="en-US" sz="2200" dirty="0"/>
          </a:p>
        </p:txBody>
      </p:sp>
      <p:sp>
        <p:nvSpPr>
          <p:cNvPr id="28" name="Text 26"/>
          <p:cNvSpPr/>
          <p:nvPr/>
        </p:nvSpPr>
        <p:spPr>
          <a:xfrm>
            <a:off x="5440680" y="3886200"/>
            <a:ext cx="2331720" cy="41148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Industry Solutions Delivery</a:t>
            </a:r>
            <a:endParaRPr lang="en-US" sz="1300" dirty="0"/>
          </a:p>
        </p:txBody>
      </p:sp>
      <p:sp>
        <p:nvSpPr>
          <p:cNvPr id="29" name="Text 27"/>
          <p:cNvSpPr/>
          <p:nvPr/>
        </p:nvSpPr>
        <p:spPr>
          <a:xfrm>
            <a:off x="5440680" y="4297680"/>
            <a:ext cx="2331720" cy="96012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Engaged only when Model A / B / C applies.</a:t>
            </a:r>
            <a:endParaRPr lang="en-US" sz="1100" dirty="0"/>
          </a:p>
        </p:txBody>
      </p:sp>
      <p:sp>
        <p:nvSpPr>
          <p:cNvPr id="30" name="Shape 28"/>
          <p:cNvSpPr/>
          <p:nvPr/>
        </p:nvSpPr>
        <p:spPr>
          <a:xfrm>
            <a:off x="8046720" y="3703320"/>
            <a:ext cx="3611880" cy="1691640"/>
          </a:xfrm>
          <a:prstGeom prst="roundRect">
            <a:avLst>
              <a:gd name="adj" fmla="val 5405"/>
            </a:avLst>
          </a:prstGeom>
          <a:solidFill>
            <a:srgbClr val="FFF8F5"/>
          </a:solidFill>
          <a:ln w="12700">
            <a:solidFill>
              <a:srgbClr val="E1E6EF"/>
            </a:solidFill>
            <a:prstDash val="solid"/>
          </a:ln>
        </p:spPr>
        <p:txBody>
          <a:bodyPr/>
          <a:lstStyle/>
          <a:p>
            <a:endParaRPr lang="en-ZA"/>
          </a:p>
        </p:txBody>
      </p:sp>
      <p:sp>
        <p:nvSpPr>
          <p:cNvPr id="31" name="Shape 29"/>
          <p:cNvSpPr/>
          <p:nvPr/>
        </p:nvSpPr>
        <p:spPr>
          <a:xfrm>
            <a:off x="8046720" y="3703320"/>
            <a:ext cx="1005840" cy="1691640"/>
          </a:xfrm>
          <a:prstGeom prst="rect">
            <a:avLst/>
          </a:prstGeom>
          <a:solidFill>
            <a:srgbClr val="C03BC4"/>
          </a:solidFill>
          <a:ln w="12700">
            <a:solidFill>
              <a:srgbClr val="C03BC4"/>
            </a:solidFill>
            <a:prstDash val="solid"/>
          </a:ln>
        </p:spPr>
        <p:txBody>
          <a:bodyPr/>
          <a:lstStyle/>
          <a:p>
            <a:endParaRPr lang="en-ZA"/>
          </a:p>
        </p:txBody>
      </p:sp>
      <p:sp>
        <p:nvSpPr>
          <p:cNvPr id="32" name="Text 30"/>
          <p:cNvSpPr/>
          <p:nvPr/>
        </p:nvSpPr>
        <p:spPr>
          <a:xfrm>
            <a:off x="8046720" y="4069080"/>
            <a:ext cx="100584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Ptn</a:t>
            </a:r>
            <a:endParaRPr lang="en-US" sz="2200" dirty="0"/>
          </a:p>
        </p:txBody>
      </p:sp>
      <p:sp>
        <p:nvSpPr>
          <p:cNvPr id="33" name="Text 31"/>
          <p:cNvSpPr/>
          <p:nvPr/>
        </p:nvSpPr>
        <p:spPr>
          <a:xfrm>
            <a:off x="9189720" y="3886200"/>
            <a:ext cx="2331720" cy="41148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Anchor Partner</a:t>
            </a:r>
            <a:endParaRPr lang="en-US" sz="1300" dirty="0"/>
          </a:p>
        </p:txBody>
      </p:sp>
      <p:sp>
        <p:nvSpPr>
          <p:cNvPr id="34" name="Text 32"/>
          <p:cNvSpPr/>
          <p:nvPr/>
        </p:nvSpPr>
        <p:spPr>
          <a:xfrm>
            <a:off x="9189720" y="4297680"/>
            <a:ext cx="2331720" cy="96012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Builds Tier 2. Runs Tier 3. Inside the customer CoE.</a:t>
            </a:r>
            <a:endParaRPr lang="en-US" sz="1100" dirty="0"/>
          </a:p>
        </p:txBody>
      </p:sp>
      <p:sp>
        <p:nvSpPr>
          <p:cNvPr id="35" name="Text 33"/>
          <p:cNvSpPr/>
          <p:nvPr/>
        </p:nvSpPr>
        <p:spPr>
          <a:xfrm>
            <a:off x="548640" y="6126480"/>
            <a:ext cx="11155680" cy="320040"/>
          </a:xfrm>
          <a:prstGeom prst="rect">
            <a:avLst/>
          </a:prstGeom>
          <a:noFill/>
          <a:ln/>
        </p:spPr>
        <p:txBody>
          <a:bodyPr wrap="square" rtlCol="0" anchor="ctr"/>
          <a:lstStyle/>
          <a:p>
            <a:pPr marL="0" indent="0">
              <a:buNone/>
            </a:pPr>
            <a:r>
              <a:rPr lang="en-US" sz="1200" i="1" dirty="0">
                <a:solidFill>
                  <a:srgbClr val="0078D4"/>
                </a:solidFill>
                <a:latin typeface="Segoe UI" pitchFamily="34" charset="0"/>
                <a:ea typeface="Segoe UI" pitchFamily="34" charset="-122"/>
                <a:cs typeface="Segoe UI" pitchFamily="34" charset="-120"/>
              </a:rPr>
              <a:t>Full RACI lives in the playbook. This slide is the shorthand — when in doubt, route through the role that owns the stage.</a:t>
            </a:r>
            <a:endParaRPr lang="en-US" sz="1200" dirty="0"/>
          </a:p>
        </p:txBody>
      </p:sp>
      <p:pic>
        <p:nvPicPr>
          <p:cNvPr id="36"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7" name="Text 34"/>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38" name="Text 35"/>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FUNDING</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000" b="1" dirty="0">
                <a:solidFill>
                  <a:srgbClr val="091F2C"/>
                </a:solidFill>
                <a:latin typeface="Segoe UI" pitchFamily="34" charset="0"/>
                <a:ea typeface="Segoe UI" pitchFamily="34" charset="-122"/>
                <a:cs typeface="Segoe UI" pitchFamily="34" charset="-120"/>
              </a:rPr>
              <a:t>Match the instrument to the stage</a:t>
            </a:r>
            <a:endParaRPr lang="en-US" sz="3000" dirty="0"/>
          </a:p>
        </p:txBody>
      </p:sp>
      <p:sp>
        <p:nvSpPr>
          <p:cNvPr id="5" name="Shape 3"/>
          <p:cNvSpPr/>
          <p:nvPr/>
        </p:nvSpPr>
        <p:spPr>
          <a:xfrm>
            <a:off x="548640" y="1920240"/>
            <a:ext cx="3108960" cy="502920"/>
          </a:xfrm>
          <a:prstGeom prst="rect">
            <a:avLst/>
          </a:prstGeom>
          <a:solidFill>
            <a:srgbClr val="091F2C"/>
          </a:solidFill>
          <a:ln w="12700">
            <a:solidFill>
              <a:srgbClr val="091F2C"/>
            </a:solidFill>
            <a:prstDash val="solid"/>
          </a:ln>
        </p:spPr>
        <p:txBody>
          <a:bodyPr/>
          <a:lstStyle/>
          <a:p>
            <a:endParaRPr lang="en-ZA"/>
          </a:p>
        </p:txBody>
      </p:sp>
      <p:sp>
        <p:nvSpPr>
          <p:cNvPr id="6" name="Text 4"/>
          <p:cNvSpPr/>
          <p:nvPr/>
        </p:nvSpPr>
        <p:spPr>
          <a:xfrm>
            <a:off x="548640" y="1920240"/>
            <a:ext cx="3108960" cy="502920"/>
          </a:xfrm>
          <a:prstGeom prst="rect">
            <a:avLst/>
          </a:prstGeom>
          <a:noFill/>
          <a:ln/>
        </p:spPr>
        <p:txBody>
          <a:bodyPr wrap="square" lIns="101600" tIns="101600" rIns="101600" bIns="101600" rtlCol="0" anchor="ctr"/>
          <a:lstStyle/>
          <a:p>
            <a:pPr marL="0" indent="0" algn="l">
              <a:buNone/>
            </a:pPr>
            <a:r>
              <a:rPr lang="en-US" sz="1200" b="1" dirty="0">
                <a:solidFill>
                  <a:srgbClr val="FFFFFF"/>
                </a:solidFill>
                <a:latin typeface="Segoe UI" pitchFamily="34" charset="0"/>
                <a:ea typeface="Segoe UI" pitchFamily="34" charset="-122"/>
                <a:cs typeface="Segoe UI" pitchFamily="34" charset="-120"/>
              </a:rPr>
              <a:t>Instrument</a:t>
            </a:r>
            <a:endParaRPr lang="en-US" sz="1200" dirty="0"/>
          </a:p>
        </p:txBody>
      </p:sp>
      <p:sp>
        <p:nvSpPr>
          <p:cNvPr id="7" name="Shape 5"/>
          <p:cNvSpPr/>
          <p:nvPr/>
        </p:nvSpPr>
        <p:spPr>
          <a:xfrm>
            <a:off x="3657600" y="1920240"/>
            <a:ext cx="3200400" cy="502920"/>
          </a:xfrm>
          <a:prstGeom prst="rect">
            <a:avLst/>
          </a:prstGeom>
          <a:solidFill>
            <a:srgbClr val="091F2C"/>
          </a:solidFill>
          <a:ln w="12700">
            <a:solidFill>
              <a:srgbClr val="091F2C"/>
            </a:solidFill>
            <a:prstDash val="solid"/>
          </a:ln>
        </p:spPr>
        <p:txBody>
          <a:bodyPr/>
          <a:lstStyle/>
          <a:p>
            <a:endParaRPr lang="en-ZA"/>
          </a:p>
        </p:txBody>
      </p:sp>
      <p:sp>
        <p:nvSpPr>
          <p:cNvPr id="8" name="Text 6"/>
          <p:cNvSpPr/>
          <p:nvPr/>
        </p:nvSpPr>
        <p:spPr>
          <a:xfrm>
            <a:off x="3657600" y="1920240"/>
            <a:ext cx="3200400" cy="502920"/>
          </a:xfrm>
          <a:prstGeom prst="rect">
            <a:avLst/>
          </a:prstGeom>
          <a:noFill/>
          <a:ln/>
        </p:spPr>
        <p:txBody>
          <a:bodyPr wrap="square" lIns="101600" tIns="101600" rIns="101600" bIns="101600" rtlCol="0" anchor="ctr"/>
          <a:lstStyle/>
          <a:p>
            <a:pPr marL="0" indent="0" algn="l">
              <a:buNone/>
            </a:pPr>
            <a:r>
              <a:rPr lang="en-US" sz="1200" b="1" dirty="0">
                <a:solidFill>
                  <a:srgbClr val="FFFFFF"/>
                </a:solidFill>
                <a:latin typeface="Segoe UI" pitchFamily="34" charset="0"/>
                <a:ea typeface="Segoe UI" pitchFamily="34" charset="-122"/>
                <a:cs typeface="Segoe UI" pitchFamily="34" charset="-120"/>
              </a:rPr>
              <a:t>When to use</a:t>
            </a:r>
            <a:endParaRPr lang="en-US" sz="1200" dirty="0"/>
          </a:p>
        </p:txBody>
      </p:sp>
      <p:sp>
        <p:nvSpPr>
          <p:cNvPr id="9" name="Shape 7"/>
          <p:cNvSpPr/>
          <p:nvPr/>
        </p:nvSpPr>
        <p:spPr>
          <a:xfrm>
            <a:off x="6858000" y="1920240"/>
            <a:ext cx="2834640" cy="502920"/>
          </a:xfrm>
          <a:prstGeom prst="rect">
            <a:avLst/>
          </a:prstGeom>
          <a:solidFill>
            <a:srgbClr val="091F2C"/>
          </a:solidFill>
          <a:ln w="12700">
            <a:solidFill>
              <a:srgbClr val="091F2C"/>
            </a:solidFill>
            <a:prstDash val="solid"/>
          </a:ln>
        </p:spPr>
        <p:txBody>
          <a:bodyPr/>
          <a:lstStyle/>
          <a:p>
            <a:endParaRPr lang="en-ZA"/>
          </a:p>
        </p:txBody>
      </p:sp>
      <p:sp>
        <p:nvSpPr>
          <p:cNvPr id="10" name="Text 8"/>
          <p:cNvSpPr/>
          <p:nvPr/>
        </p:nvSpPr>
        <p:spPr>
          <a:xfrm>
            <a:off x="6858000" y="1920240"/>
            <a:ext cx="2834640" cy="502920"/>
          </a:xfrm>
          <a:prstGeom prst="rect">
            <a:avLst/>
          </a:prstGeom>
          <a:noFill/>
          <a:ln/>
        </p:spPr>
        <p:txBody>
          <a:bodyPr wrap="square" lIns="101600" tIns="101600" rIns="101600" bIns="101600" rtlCol="0" anchor="ctr"/>
          <a:lstStyle/>
          <a:p>
            <a:pPr marL="0" indent="0" algn="l">
              <a:buNone/>
            </a:pPr>
            <a:r>
              <a:rPr lang="en-US" sz="1200" b="1" dirty="0">
                <a:solidFill>
                  <a:srgbClr val="FFFFFF"/>
                </a:solidFill>
                <a:latin typeface="Segoe UI" pitchFamily="34" charset="0"/>
                <a:ea typeface="Segoe UI" pitchFamily="34" charset="-122"/>
                <a:cs typeface="Segoe UI" pitchFamily="34" charset="-120"/>
              </a:rPr>
              <a:t>Envelope</a:t>
            </a:r>
            <a:endParaRPr lang="en-US" sz="1200" dirty="0"/>
          </a:p>
        </p:txBody>
      </p:sp>
      <p:sp>
        <p:nvSpPr>
          <p:cNvPr id="11" name="Shape 9"/>
          <p:cNvSpPr/>
          <p:nvPr/>
        </p:nvSpPr>
        <p:spPr>
          <a:xfrm>
            <a:off x="9692640" y="1920240"/>
            <a:ext cx="1920240" cy="502920"/>
          </a:xfrm>
          <a:prstGeom prst="rect">
            <a:avLst/>
          </a:prstGeom>
          <a:solidFill>
            <a:srgbClr val="091F2C"/>
          </a:solidFill>
          <a:ln w="12700">
            <a:solidFill>
              <a:srgbClr val="091F2C"/>
            </a:solidFill>
            <a:prstDash val="solid"/>
          </a:ln>
        </p:spPr>
        <p:txBody>
          <a:bodyPr/>
          <a:lstStyle/>
          <a:p>
            <a:endParaRPr lang="en-ZA"/>
          </a:p>
        </p:txBody>
      </p:sp>
      <p:sp>
        <p:nvSpPr>
          <p:cNvPr id="12" name="Text 10"/>
          <p:cNvSpPr/>
          <p:nvPr/>
        </p:nvSpPr>
        <p:spPr>
          <a:xfrm>
            <a:off x="9692640" y="1920240"/>
            <a:ext cx="1920240" cy="502920"/>
          </a:xfrm>
          <a:prstGeom prst="rect">
            <a:avLst/>
          </a:prstGeom>
          <a:noFill/>
          <a:ln/>
        </p:spPr>
        <p:txBody>
          <a:bodyPr wrap="square" lIns="101600" tIns="101600" rIns="101600" bIns="101600" rtlCol="0" anchor="ctr"/>
          <a:lstStyle/>
          <a:p>
            <a:pPr marL="0" indent="0" algn="l">
              <a:buNone/>
            </a:pPr>
            <a:r>
              <a:rPr lang="en-US" sz="1200" b="1" dirty="0">
                <a:solidFill>
                  <a:srgbClr val="FFFFFF"/>
                </a:solidFill>
                <a:latin typeface="Segoe UI" pitchFamily="34" charset="0"/>
                <a:ea typeface="Segoe UI" pitchFamily="34" charset="-122"/>
                <a:cs typeface="Segoe UI" pitchFamily="34" charset="-120"/>
              </a:rPr>
              <a:t>Owner</a:t>
            </a:r>
            <a:endParaRPr lang="en-US" sz="1200" dirty="0"/>
          </a:p>
        </p:txBody>
      </p:sp>
      <p:sp>
        <p:nvSpPr>
          <p:cNvPr id="13" name="Shape 11"/>
          <p:cNvSpPr/>
          <p:nvPr/>
        </p:nvSpPr>
        <p:spPr>
          <a:xfrm>
            <a:off x="548640" y="2423160"/>
            <a:ext cx="3108960" cy="502920"/>
          </a:xfrm>
          <a:prstGeom prst="rect">
            <a:avLst/>
          </a:prstGeom>
          <a:solidFill>
            <a:srgbClr val="FFFFFF"/>
          </a:solidFill>
          <a:ln w="6350">
            <a:solidFill>
              <a:srgbClr val="E1E6EF"/>
            </a:solidFill>
            <a:prstDash val="solid"/>
          </a:ln>
        </p:spPr>
        <p:txBody>
          <a:bodyPr/>
          <a:lstStyle/>
          <a:p>
            <a:endParaRPr lang="en-ZA"/>
          </a:p>
        </p:txBody>
      </p:sp>
      <p:sp>
        <p:nvSpPr>
          <p:cNvPr id="14" name="Text 12"/>
          <p:cNvSpPr/>
          <p:nvPr/>
        </p:nvSpPr>
        <p:spPr>
          <a:xfrm>
            <a:off x="548640" y="2423160"/>
            <a:ext cx="3108960" cy="502920"/>
          </a:xfrm>
          <a:prstGeom prst="rect">
            <a:avLst/>
          </a:prstGeom>
          <a:noFill/>
          <a:ln/>
        </p:spPr>
        <p:txBody>
          <a:bodyPr wrap="square" lIns="101600" tIns="101600" rIns="101600" bIns="1016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ECIF — pre-sales</a:t>
            </a:r>
            <a:endParaRPr lang="en-US" sz="1100" dirty="0"/>
          </a:p>
        </p:txBody>
      </p:sp>
      <p:sp>
        <p:nvSpPr>
          <p:cNvPr id="15" name="Shape 13"/>
          <p:cNvSpPr/>
          <p:nvPr/>
        </p:nvSpPr>
        <p:spPr>
          <a:xfrm>
            <a:off x="3657600" y="2423160"/>
            <a:ext cx="3200400" cy="502920"/>
          </a:xfrm>
          <a:prstGeom prst="rect">
            <a:avLst/>
          </a:prstGeom>
          <a:solidFill>
            <a:srgbClr val="FFFFFF"/>
          </a:solidFill>
          <a:ln w="6350">
            <a:solidFill>
              <a:srgbClr val="E1E6EF"/>
            </a:solidFill>
            <a:prstDash val="solid"/>
          </a:ln>
        </p:spPr>
        <p:txBody>
          <a:bodyPr/>
          <a:lstStyle/>
          <a:p>
            <a:endParaRPr lang="en-ZA"/>
          </a:p>
        </p:txBody>
      </p:sp>
      <p:sp>
        <p:nvSpPr>
          <p:cNvPr id="16" name="Text 14"/>
          <p:cNvSpPr/>
          <p:nvPr/>
        </p:nvSpPr>
        <p:spPr>
          <a:xfrm>
            <a:off x="3657600" y="2423160"/>
            <a:ext cx="320040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Stage 1–2 · Envisioning</a:t>
            </a:r>
            <a:endParaRPr lang="en-US" sz="1100" dirty="0"/>
          </a:p>
        </p:txBody>
      </p:sp>
      <p:sp>
        <p:nvSpPr>
          <p:cNvPr id="17" name="Shape 15"/>
          <p:cNvSpPr/>
          <p:nvPr/>
        </p:nvSpPr>
        <p:spPr>
          <a:xfrm>
            <a:off x="6858000" y="2423160"/>
            <a:ext cx="2834640" cy="502920"/>
          </a:xfrm>
          <a:prstGeom prst="rect">
            <a:avLst/>
          </a:prstGeom>
          <a:solidFill>
            <a:srgbClr val="FFFFFF"/>
          </a:solidFill>
          <a:ln w="6350">
            <a:solidFill>
              <a:srgbClr val="E1E6EF"/>
            </a:solidFill>
            <a:prstDash val="solid"/>
          </a:ln>
        </p:spPr>
        <p:txBody>
          <a:bodyPr/>
          <a:lstStyle/>
          <a:p>
            <a:endParaRPr lang="en-ZA"/>
          </a:p>
        </p:txBody>
      </p:sp>
      <p:sp>
        <p:nvSpPr>
          <p:cNvPr id="18" name="Text 16"/>
          <p:cNvSpPr/>
          <p:nvPr/>
        </p:nvSpPr>
        <p:spPr>
          <a:xfrm>
            <a:off x="6858000" y="2423160"/>
            <a:ext cx="283464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Up to $50k · 1:5 ROI</a:t>
            </a:r>
            <a:endParaRPr lang="en-US" sz="1100" dirty="0"/>
          </a:p>
        </p:txBody>
      </p:sp>
      <p:sp>
        <p:nvSpPr>
          <p:cNvPr id="19" name="Shape 17"/>
          <p:cNvSpPr/>
          <p:nvPr/>
        </p:nvSpPr>
        <p:spPr>
          <a:xfrm>
            <a:off x="9692640" y="2423160"/>
            <a:ext cx="1920240" cy="502920"/>
          </a:xfrm>
          <a:prstGeom prst="rect">
            <a:avLst/>
          </a:prstGeom>
          <a:solidFill>
            <a:srgbClr val="FFFFFF"/>
          </a:solidFill>
          <a:ln w="6350">
            <a:solidFill>
              <a:srgbClr val="E1E6EF"/>
            </a:solidFill>
            <a:prstDash val="solid"/>
          </a:ln>
        </p:spPr>
        <p:txBody>
          <a:bodyPr/>
          <a:lstStyle/>
          <a:p>
            <a:endParaRPr lang="en-ZA"/>
          </a:p>
        </p:txBody>
      </p:sp>
      <p:sp>
        <p:nvSpPr>
          <p:cNvPr id="20" name="Text 18"/>
          <p:cNvSpPr/>
          <p:nvPr/>
        </p:nvSpPr>
        <p:spPr>
          <a:xfrm>
            <a:off x="9692640" y="2423160"/>
            <a:ext cx="192024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ATU + ATS</a:t>
            </a:r>
            <a:endParaRPr lang="en-US" sz="1100" dirty="0"/>
          </a:p>
        </p:txBody>
      </p:sp>
      <p:sp>
        <p:nvSpPr>
          <p:cNvPr id="21" name="Shape 19"/>
          <p:cNvSpPr/>
          <p:nvPr/>
        </p:nvSpPr>
        <p:spPr>
          <a:xfrm>
            <a:off x="548640" y="2926080"/>
            <a:ext cx="3108960" cy="502920"/>
          </a:xfrm>
          <a:prstGeom prst="rect">
            <a:avLst/>
          </a:prstGeom>
          <a:solidFill>
            <a:srgbClr val="FFF8F5"/>
          </a:solidFill>
          <a:ln w="6350">
            <a:solidFill>
              <a:srgbClr val="E1E6EF"/>
            </a:solidFill>
            <a:prstDash val="solid"/>
          </a:ln>
        </p:spPr>
        <p:txBody>
          <a:bodyPr/>
          <a:lstStyle/>
          <a:p>
            <a:endParaRPr lang="en-ZA"/>
          </a:p>
        </p:txBody>
      </p:sp>
      <p:sp>
        <p:nvSpPr>
          <p:cNvPr id="22" name="Text 20"/>
          <p:cNvSpPr/>
          <p:nvPr/>
        </p:nvSpPr>
        <p:spPr>
          <a:xfrm>
            <a:off x="548640" y="2926080"/>
            <a:ext cx="3108960" cy="502920"/>
          </a:xfrm>
          <a:prstGeom prst="rect">
            <a:avLst/>
          </a:prstGeom>
          <a:noFill/>
          <a:ln/>
        </p:spPr>
        <p:txBody>
          <a:bodyPr wrap="square" lIns="101600" tIns="101600" rIns="101600" bIns="1016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ECIF — post-sales</a:t>
            </a:r>
            <a:endParaRPr lang="en-US" sz="1100" dirty="0"/>
          </a:p>
        </p:txBody>
      </p:sp>
      <p:sp>
        <p:nvSpPr>
          <p:cNvPr id="23" name="Shape 21"/>
          <p:cNvSpPr/>
          <p:nvPr/>
        </p:nvSpPr>
        <p:spPr>
          <a:xfrm>
            <a:off x="3657600" y="2926080"/>
            <a:ext cx="3200400" cy="502920"/>
          </a:xfrm>
          <a:prstGeom prst="rect">
            <a:avLst/>
          </a:prstGeom>
          <a:solidFill>
            <a:srgbClr val="FFF8F5"/>
          </a:solidFill>
          <a:ln w="6350">
            <a:solidFill>
              <a:srgbClr val="E1E6EF"/>
            </a:solidFill>
            <a:prstDash val="solid"/>
          </a:ln>
        </p:spPr>
        <p:txBody>
          <a:bodyPr/>
          <a:lstStyle/>
          <a:p>
            <a:endParaRPr lang="en-ZA"/>
          </a:p>
        </p:txBody>
      </p:sp>
      <p:sp>
        <p:nvSpPr>
          <p:cNvPr id="24" name="Text 22"/>
          <p:cNvSpPr/>
          <p:nvPr/>
        </p:nvSpPr>
        <p:spPr>
          <a:xfrm>
            <a:off x="3657600" y="2926080"/>
            <a:ext cx="320040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Stage 2–4 · Foundation + Agent Factory</a:t>
            </a:r>
            <a:endParaRPr lang="en-US" sz="1100" dirty="0"/>
          </a:p>
        </p:txBody>
      </p:sp>
      <p:sp>
        <p:nvSpPr>
          <p:cNvPr id="25" name="Shape 23"/>
          <p:cNvSpPr/>
          <p:nvPr/>
        </p:nvSpPr>
        <p:spPr>
          <a:xfrm>
            <a:off x="6858000" y="2926080"/>
            <a:ext cx="2834640" cy="502920"/>
          </a:xfrm>
          <a:prstGeom prst="rect">
            <a:avLst/>
          </a:prstGeom>
          <a:solidFill>
            <a:srgbClr val="FFF8F5"/>
          </a:solidFill>
          <a:ln w="6350">
            <a:solidFill>
              <a:srgbClr val="E1E6EF"/>
            </a:solidFill>
            <a:prstDash val="solid"/>
          </a:ln>
        </p:spPr>
        <p:txBody>
          <a:bodyPr/>
          <a:lstStyle/>
          <a:p>
            <a:endParaRPr lang="en-ZA"/>
          </a:p>
        </p:txBody>
      </p:sp>
      <p:sp>
        <p:nvSpPr>
          <p:cNvPr id="26" name="Text 24"/>
          <p:cNvSpPr/>
          <p:nvPr/>
        </p:nvSpPr>
        <p:spPr>
          <a:xfrm>
            <a:off x="6858000" y="2926080"/>
            <a:ext cx="283464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Up to $500k · 1:2 ROI</a:t>
            </a:r>
            <a:endParaRPr lang="en-US" sz="1100" dirty="0"/>
          </a:p>
        </p:txBody>
      </p:sp>
      <p:sp>
        <p:nvSpPr>
          <p:cNvPr id="27" name="Shape 25"/>
          <p:cNvSpPr/>
          <p:nvPr/>
        </p:nvSpPr>
        <p:spPr>
          <a:xfrm>
            <a:off x="9692640" y="2926080"/>
            <a:ext cx="1920240" cy="502920"/>
          </a:xfrm>
          <a:prstGeom prst="rect">
            <a:avLst/>
          </a:prstGeom>
          <a:solidFill>
            <a:srgbClr val="FFF8F5"/>
          </a:solidFill>
          <a:ln w="6350">
            <a:solidFill>
              <a:srgbClr val="E1E6EF"/>
            </a:solidFill>
            <a:prstDash val="solid"/>
          </a:ln>
        </p:spPr>
        <p:txBody>
          <a:bodyPr/>
          <a:lstStyle/>
          <a:p>
            <a:endParaRPr lang="en-ZA"/>
          </a:p>
        </p:txBody>
      </p:sp>
      <p:sp>
        <p:nvSpPr>
          <p:cNvPr id="28" name="Text 26"/>
          <p:cNvSpPr/>
          <p:nvPr/>
        </p:nvSpPr>
        <p:spPr>
          <a:xfrm>
            <a:off x="9692640" y="2926080"/>
            <a:ext cx="192024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ATU + CSU</a:t>
            </a:r>
            <a:endParaRPr lang="en-US" sz="1100" dirty="0"/>
          </a:p>
        </p:txBody>
      </p:sp>
      <p:sp>
        <p:nvSpPr>
          <p:cNvPr id="29" name="Shape 27"/>
          <p:cNvSpPr/>
          <p:nvPr/>
        </p:nvSpPr>
        <p:spPr>
          <a:xfrm>
            <a:off x="548640" y="3429000"/>
            <a:ext cx="3108960" cy="502920"/>
          </a:xfrm>
          <a:prstGeom prst="rect">
            <a:avLst/>
          </a:prstGeom>
          <a:solidFill>
            <a:srgbClr val="FFFFFF"/>
          </a:solidFill>
          <a:ln w="6350">
            <a:solidFill>
              <a:srgbClr val="E1E6EF"/>
            </a:solidFill>
            <a:prstDash val="solid"/>
          </a:ln>
        </p:spPr>
        <p:txBody>
          <a:bodyPr/>
          <a:lstStyle/>
          <a:p>
            <a:endParaRPr lang="en-ZA"/>
          </a:p>
        </p:txBody>
      </p:sp>
      <p:sp>
        <p:nvSpPr>
          <p:cNvPr id="30" name="Text 28"/>
          <p:cNvSpPr/>
          <p:nvPr/>
        </p:nvSpPr>
        <p:spPr>
          <a:xfrm>
            <a:off x="548640" y="3429000"/>
            <a:ext cx="3108960" cy="502920"/>
          </a:xfrm>
          <a:prstGeom prst="rect">
            <a:avLst/>
          </a:prstGeom>
          <a:noFill/>
          <a:ln/>
        </p:spPr>
        <p:txBody>
          <a:bodyPr wrap="square" lIns="101600" tIns="101600" rIns="101600" bIns="1016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ACO — Azure Consumption</a:t>
            </a:r>
            <a:endParaRPr lang="en-US" sz="1100" dirty="0"/>
          </a:p>
        </p:txBody>
      </p:sp>
      <p:sp>
        <p:nvSpPr>
          <p:cNvPr id="31" name="Shape 29"/>
          <p:cNvSpPr/>
          <p:nvPr/>
        </p:nvSpPr>
        <p:spPr>
          <a:xfrm>
            <a:off x="3657600" y="3429000"/>
            <a:ext cx="3200400" cy="502920"/>
          </a:xfrm>
          <a:prstGeom prst="rect">
            <a:avLst/>
          </a:prstGeom>
          <a:solidFill>
            <a:srgbClr val="FFFFFF"/>
          </a:solidFill>
          <a:ln w="6350">
            <a:solidFill>
              <a:srgbClr val="E1E6EF"/>
            </a:solidFill>
            <a:prstDash val="solid"/>
          </a:ln>
        </p:spPr>
        <p:txBody>
          <a:bodyPr/>
          <a:lstStyle/>
          <a:p>
            <a:endParaRPr lang="en-ZA"/>
          </a:p>
        </p:txBody>
      </p:sp>
      <p:sp>
        <p:nvSpPr>
          <p:cNvPr id="32" name="Text 30"/>
          <p:cNvSpPr/>
          <p:nvPr/>
        </p:nvSpPr>
        <p:spPr>
          <a:xfrm>
            <a:off x="3657600" y="3429000"/>
            <a:ext cx="320040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Stage 3–4 · production scale</a:t>
            </a:r>
            <a:endParaRPr lang="en-US" sz="1100" dirty="0"/>
          </a:p>
        </p:txBody>
      </p:sp>
      <p:sp>
        <p:nvSpPr>
          <p:cNvPr id="33" name="Shape 31"/>
          <p:cNvSpPr/>
          <p:nvPr/>
        </p:nvSpPr>
        <p:spPr>
          <a:xfrm>
            <a:off x="6858000" y="3429000"/>
            <a:ext cx="2834640" cy="502920"/>
          </a:xfrm>
          <a:prstGeom prst="rect">
            <a:avLst/>
          </a:prstGeom>
          <a:solidFill>
            <a:srgbClr val="FFFFFF"/>
          </a:solidFill>
          <a:ln w="6350">
            <a:solidFill>
              <a:srgbClr val="E1E6EF"/>
            </a:solidFill>
            <a:prstDash val="solid"/>
          </a:ln>
        </p:spPr>
        <p:txBody>
          <a:bodyPr/>
          <a:lstStyle/>
          <a:p>
            <a:endParaRPr lang="en-ZA"/>
          </a:p>
        </p:txBody>
      </p:sp>
      <p:sp>
        <p:nvSpPr>
          <p:cNvPr id="34" name="Text 32"/>
          <p:cNvSpPr/>
          <p:nvPr/>
        </p:nvSpPr>
        <p:spPr>
          <a:xfrm>
            <a:off x="6858000" y="3429000"/>
            <a:ext cx="283464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Up to $500k · 1:2 ROI</a:t>
            </a:r>
            <a:endParaRPr lang="en-US" sz="1100" dirty="0"/>
          </a:p>
        </p:txBody>
      </p:sp>
      <p:sp>
        <p:nvSpPr>
          <p:cNvPr id="35" name="Shape 33"/>
          <p:cNvSpPr/>
          <p:nvPr/>
        </p:nvSpPr>
        <p:spPr>
          <a:xfrm>
            <a:off x="9692640" y="3429000"/>
            <a:ext cx="1920240" cy="502920"/>
          </a:xfrm>
          <a:prstGeom prst="rect">
            <a:avLst/>
          </a:prstGeom>
          <a:solidFill>
            <a:srgbClr val="FFFFFF"/>
          </a:solidFill>
          <a:ln w="6350">
            <a:solidFill>
              <a:srgbClr val="E1E6EF"/>
            </a:solidFill>
            <a:prstDash val="solid"/>
          </a:ln>
        </p:spPr>
        <p:txBody>
          <a:bodyPr/>
          <a:lstStyle/>
          <a:p>
            <a:endParaRPr lang="en-ZA"/>
          </a:p>
        </p:txBody>
      </p:sp>
      <p:sp>
        <p:nvSpPr>
          <p:cNvPr id="36" name="Text 34"/>
          <p:cNvSpPr/>
          <p:nvPr/>
        </p:nvSpPr>
        <p:spPr>
          <a:xfrm>
            <a:off x="9692640" y="3429000"/>
            <a:ext cx="192024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CSU lead</a:t>
            </a:r>
            <a:endParaRPr lang="en-US" sz="1100" dirty="0"/>
          </a:p>
        </p:txBody>
      </p:sp>
      <p:sp>
        <p:nvSpPr>
          <p:cNvPr id="37" name="Shape 35"/>
          <p:cNvSpPr/>
          <p:nvPr/>
        </p:nvSpPr>
        <p:spPr>
          <a:xfrm>
            <a:off x="548640" y="3931920"/>
            <a:ext cx="3108960" cy="502920"/>
          </a:xfrm>
          <a:prstGeom prst="rect">
            <a:avLst/>
          </a:prstGeom>
          <a:solidFill>
            <a:srgbClr val="FFF8F5"/>
          </a:solidFill>
          <a:ln w="6350">
            <a:solidFill>
              <a:srgbClr val="E1E6EF"/>
            </a:solidFill>
            <a:prstDash val="solid"/>
          </a:ln>
        </p:spPr>
        <p:txBody>
          <a:bodyPr/>
          <a:lstStyle/>
          <a:p>
            <a:endParaRPr lang="en-ZA"/>
          </a:p>
        </p:txBody>
      </p:sp>
      <p:sp>
        <p:nvSpPr>
          <p:cNvPr id="38" name="Text 36"/>
          <p:cNvSpPr/>
          <p:nvPr/>
        </p:nvSpPr>
        <p:spPr>
          <a:xfrm>
            <a:off x="548640" y="3931920"/>
            <a:ext cx="3108960" cy="502920"/>
          </a:xfrm>
          <a:prstGeom prst="rect">
            <a:avLst/>
          </a:prstGeom>
          <a:noFill/>
          <a:ln/>
        </p:spPr>
        <p:txBody>
          <a:bodyPr wrap="square" lIns="101600" tIns="101600" rIns="101600" bIns="1016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AMM</a:t>
            </a:r>
            <a:endParaRPr lang="en-US" sz="1100" dirty="0"/>
          </a:p>
        </p:txBody>
      </p:sp>
      <p:sp>
        <p:nvSpPr>
          <p:cNvPr id="39" name="Shape 37"/>
          <p:cNvSpPr/>
          <p:nvPr/>
        </p:nvSpPr>
        <p:spPr>
          <a:xfrm>
            <a:off x="3657600" y="3931920"/>
            <a:ext cx="3200400" cy="502920"/>
          </a:xfrm>
          <a:prstGeom prst="rect">
            <a:avLst/>
          </a:prstGeom>
          <a:solidFill>
            <a:srgbClr val="FFF8F5"/>
          </a:solidFill>
          <a:ln w="6350">
            <a:solidFill>
              <a:srgbClr val="E1E6EF"/>
            </a:solidFill>
            <a:prstDash val="solid"/>
          </a:ln>
        </p:spPr>
        <p:txBody>
          <a:bodyPr/>
          <a:lstStyle/>
          <a:p>
            <a:endParaRPr lang="en-ZA"/>
          </a:p>
        </p:txBody>
      </p:sp>
      <p:sp>
        <p:nvSpPr>
          <p:cNvPr id="40" name="Text 38"/>
          <p:cNvSpPr/>
          <p:nvPr/>
        </p:nvSpPr>
        <p:spPr>
          <a:xfrm>
            <a:off x="3657600" y="3931920"/>
            <a:ext cx="320040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Stage 3 · migration workloads</a:t>
            </a:r>
            <a:endParaRPr lang="en-US" sz="1100" dirty="0"/>
          </a:p>
        </p:txBody>
      </p:sp>
      <p:sp>
        <p:nvSpPr>
          <p:cNvPr id="41" name="Shape 39"/>
          <p:cNvSpPr/>
          <p:nvPr/>
        </p:nvSpPr>
        <p:spPr>
          <a:xfrm>
            <a:off x="6858000" y="3931920"/>
            <a:ext cx="2834640" cy="502920"/>
          </a:xfrm>
          <a:prstGeom prst="rect">
            <a:avLst/>
          </a:prstGeom>
          <a:solidFill>
            <a:srgbClr val="FFF8F5"/>
          </a:solidFill>
          <a:ln w="6350">
            <a:solidFill>
              <a:srgbClr val="E1E6EF"/>
            </a:solidFill>
            <a:prstDash val="solid"/>
          </a:ln>
        </p:spPr>
        <p:txBody>
          <a:bodyPr/>
          <a:lstStyle/>
          <a:p>
            <a:endParaRPr lang="en-ZA"/>
          </a:p>
        </p:txBody>
      </p:sp>
      <p:sp>
        <p:nvSpPr>
          <p:cNvPr id="42" name="Text 40"/>
          <p:cNvSpPr/>
          <p:nvPr/>
        </p:nvSpPr>
        <p:spPr>
          <a:xfrm>
            <a:off x="6858000" y="3931920"/>
            <a:ext cx="283464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Tiered · workload-specific</a:t>
            </a:r>
            <a:endParaRPr lang="en-US" sz="1100" dirty="0"/>
          </a:p>
        </p:txBody>
      </p:sp>
      <p:sp>
        <p:nvSpPr>
          <p:cNvPr id="43" name="Shape 41"/>
          <p:cNvSpPr/>
          <p:nvPr/>
        </p:nvSpPr>
        <p:spPr>
          <a:xfrm>
            <a:off x="9692640" y="3931920"/>
            <a:ext cx="1920240" cy="502920"/>
          </a:xfrm>
          <a:prstGeom prst="rect">
            <a:avLst/>
          </a:prstGeom>
          <a:solidFill>
            <a:srgbClr val="FFF8F5"/>
          </a:solidFill>
          <a:ln w="6350">
            <a:solidFill>
              <a:srgbClr val="E1E6EF"/>
            </a:solidFill>
            <a:prstDash val="solid"/>
          </a:ln>
        </p:spPr>
        <p:txBody>
          <a:bodyPr/>
          <a:lstStyle/>
          <a:p>
            <a:endParaRPr lang="en-ZA"/>
          </a:p>
        </p:txBody>
      </p:sp>
      <p:sp>
        <p:nvSpPr>
          <p:cNvPr id="44" name="Text 42"/>
          <p:cNvSpPr/>
          <p:nvPr/>
        </p:nvSpPr>
        <p:spPr>
          <a:xfrm>
            <a:off x="9692640" y="3931920"/>
            <a:ext cx="192024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Specialist</a:t>
            </a:r>
            <a:endParaRPr lang="en-US" sz="1100" dirty="0"/>
          </a:p>
        </p:txBody>
      </p:sp>
      <p:sp>
        <p:nvSpPr>
          <p:cNvPr id="45" name="Shape 43"/>
          <p:cNvSpPr/>
          <p:nvPr/>
        </p:nvSpPr>
        <p:spPr>
          <a:xfrm>
            <a:off x="548640" y="4434840"/>
            <a:ext cx="3108960" cy="502920"/>
          </a:xfrm>
          <a:prstGeom prst="rect">
            <a:avLst/>
          </a:prstGeom>
          <a:solidFill>
            <a:srgbClr val="FFFFFF"/>
          </a:solidFill>
          <a:ln w="6350">
            <a:solidFill>
              <a:srgbClr val="E1E6EF"/>
            </a:solidFill>
            <a:prstDash val="solid"/>
          </a:ln>
        </p:spPr>
        <p:txBody>
          <a:bodyPr/>
          <a:lstStyle/>
          <a:p>
            <a:endParaRPr lang="en-ZA"/>
          </a:p>
        </p:txBody>
      </p:sp>
      <p:sp>
        <p:nvSpPr>
          <p:cNvPr id="46" name="Text 44"/>
          <p:cNvSpPr/>
          <p:nvPr/>
        </p:nvSpPr>
        <p:spPr>
          <a:xfrm>
            <a:off x="548640" y="4434840"/>
            <a:ext cx="3108960" cy="502920"/>
          </a:xfrm>
          <a:prstGeom prst="rect">
            <a:avLst/>
          </a:prstGeom>
          <a:noFill/>
          <a:ln/>
        </p:spPr>
        <p:txBody>
          <a:bodyPr wrap="square" lIns="101600" tIns="101600" rIns="101600" bIns="1016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Cloud Accelerate Factory</a:t>
            </a:r>
            <a:endParaRPr lang="en-US" sz="1100" dirty="0"/>
          </a:p>
        </p:txBody>
      </p:sp>
      <p:sp>
        <p:nvSpPr>
          <p:cNvPr id="47" name="Shape 45"/>
          <p:cNvSpPr/>
          <p:nvPr/>
        </p:nvSpPr>
        <p:spPr>
          <a:xfrm>
            <a:off x="3657600" y="4434840"/>
            <a:ext cx="3200400" cy="502920"/>
          </a:xfrm>
          <a:prstGeom prst="rect">
            <a:avLst/>
          </a:prstGeom>
          <a:solidFill>
            <a:srgbClr val="FFFFFF"/>
          </a:solidFill>
          <a:ln w="6350">
            <a:solidFill>
              <a:srgbClr val="E1E6EF"/>
            </a:solidFill>
            <a:prstDash val="solid"/>
          </a:ln>
        </p:spPr>
        <p:txBody>
          <a:bodyPr/>
          <a:lstStyle/>
          <a:p>
            <a:endParaRPr lang="en-ZA"/>
          </a:p>
        </p:txBody>
      </p:sp>
      <p:sp>
        <p:nvSpPr>
          <p:cNvPr id="48" name="Text 46"/>
          <p:cNvSpPr/>
          <p:nvPr/>
        </p:nvSpPr>
        <p:spPr>
          <a:xfrm>
            <a:off x="3657600" y="4434840"/>
            <a:ext cx="320040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Stage 2–3 · F1/F2 foundation</a:t>
            </a:r>
            <a:endParaRPr lang="en-US" sz="1100" dirty="0"/>
          </a:p>
        </p:txBody>
      </p:sp>
      <p:sp>
        <p:nvSpPr>
          <p:cNvPr id="49" name="Shape 47"/>
          <p:cNvSpPr/>
          <p:nvPr/>
        </p:nvSpPr>
        <p:spPr>
          <a:xfrm>
            <a:off x="6858000" y="4434840"/>
            <a:ext cx="2834640" cy="502920"/>
          </a:xfrm>
          <a:prstGeom prst="rect">
            <a:avLst/>
          </a:prstGeom>
          <a:solidFill>
            <a:srgbClr val="FFFFFF"/>
          </a:solidFill>
          <a:ln w="6350">
            <a:solidFill>
              <a:srgbClr val="E1E6EF"/>
            </a:solidFill>
            <a:prstDash val="solid"/>
          </a:ln>
        </p:spPr>
        <p:txBody>
          <a:bodyPr/>
          <a:lstStyle/>
          <a:p>
            <a:endParaRPr lang="en-ZA"/>
          </a:p>
        </p:txBody>
      </p:sp>
      <p:sp>
        <p:nvSpPr>
          <p:cNvPr id="50" name="Text 48"/>
          <p:cNvSpPr/>
          <p:nvPr/>
        </p:nvSpPr>
        <p:spPr>
          <a:xfrm>
            <a:off x="6858000" y="4434840"/>
            <a:ext cx="283464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Zero cost · funded by AMM/Innovate</a:t>
            </a:r>
            <a:endParaRPr lang="en-US" sz="1100" dirty="0"/>
          </a:p>
        </p:txBody>
      </p:sp>
      <p:sp>
        <p:nvSpPr>
          <p:cNvPr id="51" name="Shape 49"/>
          <p:cNvSpPr/>
          <p:nvPr/>
        </p:nvSpPr>
        <p:spPr>
          <a:xfrm>
            <a:off x="9692640" y="4434840"/>
            <a:ext cx="1920240" cy="502920"/>
          </a:xfrm>
          <a:prstGeom prst="rect">
            <a:avLst/>
          </a:prstGeom>
          <a:solidFill>
            <a:srgbClr val="FFFFFF"/>
          </a:solidFill>
          <a:ln w="6350">
            <a:solidFill>
              <a:srgbClr val="E1E6EF"/>
            </a:solidFill>
            <a:prstDash val="solid"/>
          </a:ln>
        </p:spPr>
        <p:txBody>
          <a:bodyPr/>
          <a:lstStyle/>
          <a:p>
            <a:endParaRPr lang="en-ZA"/>
          </a:p>
        </p:txBody>
      </p:sp>
      <p:sp>
        <p:nvSpPr>
          <p:cNvPr id="52" name="Text 50"/>
          <p:cNvSpPr/>
          <p:nvPr/>
        </p:nvSpPr>
        <p:spPr>
          <a:xfrm>
            <a:off x="9692640" y="4434840"/>
            <a:ext cx="192024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CSU + Factory PM</a:t>
            </a:r>
            <a:endParaRPr lang="en-US" sz="1100" dirty="0"/>
          </a:p>
        </p:txBody>
      </p:sp>
      <p:sp>
        <p:nvSpPr>
          <p:cNvPr id="53" name="Shape 51"/>
          <p:cNvSpPr/>
          <p:nvPr/>
        </p:nvSpPr>
        <p:spPr>
          <a:xfrm>
            <a:off x="548640" y="4937760"/>
            <a:ext cx="3108960" cy="502920"/>
          </a:xfrm>
          <a:prstGeom prst="rect">
            <a:avLst/>
          </a:prstGeom>
          <a:solidFill>
            <a:srgbClr val="FFF8F5"/>
          </a:solidFill>
          <a:ln w="6350">
            <a:solidFill>
              <a:srgbClr val="E1E6EF"/>
            </a:solidFill>
            <a:prstDash val="solid"/>
          </a:ln>
        </p:spPr>
        <p:txBody>
          <a:bodyPr/>
          <a:lstStyle/>
          <a:p>
            <a:endParaRPr lang="en-ZA"/>
          </a:p>
        </p:txBody>
      </p:sp>
      <p:sp>
        <p:nvSpPr>
          <p:cNvPr id="54" name="Text 52"/>
          <p:cNvSpPr/>
          <p:nvPr/>
        </p:nvSpPr>
        <p:spPr>
          <a:xfrm>
            <a:off x="548640" y="4937760"/>
            <a:ext cx="3108960" cy="502920"/>
          </a:xfrm>
          <a:prstGeom prst="rect">
            <a:avLst/>
          </a:prstGeom>
          <a:noFill/>
          <a:ln/>
        </p:spPr>
        <p:txBody>
          <a:bodyPr wrap="square" lIns="101600" tIns="101600" rIns="101600" bIns="1016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Solution Assessment</a:t>
            </a:r>
            <a:endParaRPr lang="en-US" sz="1100" dirty="0"/>
          </a:p>
        </p:txBody>
      </p:sp>
      <p:sp>
        <p:nvSpPr>
          <p:cNvPr id="55" name="Shape 53"/>
          <p:cNvSpPr/>
          <p:nvPr/>
        </p:nvSpPr>
        <p:spPr>
          <a:xfrm>
            <a:off x="3657600" y="4937760"/>
            <a:ext cx="3200400" cy="502920"/>
          </a:xfrm>
          <a:prstGeom prst="rect">
            <a:avLst/>
          </a:prstGeom>
          <a:solidFill>
            <a:srgbClr val="FFF8F5"/>
          </a:solidFill>
          <a:ln w="6350">
            <a:solidFill>
              <a:srgbClr val="E1E6EF"/>
            </a:solidFill>
            <a:prstDash val="solid"/>
          </a:ln>
        </p:spPr>
        <p:txBody>
          <a:bodyPr/>
          <a:lstStyle/>
          <a:p>
            <a:endParaRPr lang="en-ZA"/>
          </a:p>
        </p:txBody>
      </p:sp>
      <p:sp>
        <p:nvSpPr>
          <p:cNvPr id="56" name="Text 54"/>
          <p:cNvSpPr/>
          <p:nvPr/>
        </p:nvSpPr>
        <p:spPr>
          <a:xfrm>
            <a:off x="3657600" y="4937760"/>
            <a:ext cx="320040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Stage 1 · pre-Envisioning if not ready</a:t>
            </a:r>
            <a:endParaRPr lang="en-US" sz="1100" dirty="0"/>
          </a:p>
        </p:txBody>
      </p:sp>
      <p:sp>
        <p:nvSpPr>
          <p:cNvPr id="57" name="Shape 55"/>
          <p:cNvSpPr/>
          <p:nvPr/>
        </p:nvSpPr>
        <p:spPr>
          <a:xfrm>
            <a:off x="6858000" y="4937760"/>
            <a:ext cx="2834640" cy="502920"/>
          </a:xfrm>
          <a:prstGeom prst="rect">
            <a:avLst/>
          </a:prstGeom>
          <a:solidFill>
            <a:srgbClr val="FFF8F5"/>
          </a:solidFill>
          <a:ln w="6350">
            <a:solidFill>
              <a:srgbClr val="E1E6EF"/>
            </a:solidFill>
            <a:prstDash val="solid"/>
          </a:ln>
        </p:spPr>
        <p:txBody>
          <a:bodyPr/>
          <a:lstStyle/>
          <a:p>
            <a:endParaRPr lang="en-ZA"/>
          </a:p>
        </p:txBody>
      </p:sp>
      <p:sp>
        <p:nvSpPr>
          <p:cNvPr id="58" name="Text 56"/>
          <p:cNvSpPr/>
          <p:nvPr/>
        </p:nvSpPr>
        <p:spPr>
          <a:xfrm>
            <a:off x="6858000" y="4937760"/>
            <a:ext cx="283464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Per the SA programme</a:t>
            </a:r>
            <a:endParaRPr lang="en-US" sz="1100" dirty="0"/>
          </a:p>
        </p:txBody>
      </p:sp>
      <p:sp>
        <p:nvSpPr>
          <p:cNvPr id="59" name="Shape 57"/>
          <p:cNvSpPr/>
          <p:nvPr/>
        </p:nvSpPr>
        <p:spPr>
          <a:xfrm>
            <a:off x="9692640" y="4937760"/>
            <a:ext cx="1920240" cy="502920"/>
          </a:xfrm>
          <a:prstGeom prst="rect">
            <a:avLst/>
          </a:prstGeom>
          <a:solidFill>
            <a:srgbClr val="FFF8F5"/>
          </a:solidFill>
          <a:ln w="6350">
            <a:solidFill>
              <a:srgbClr val="E1E6EF"/>
            </a:solidFill>
            <a:prstDash val="solid"/>
          </a:ln>
        </p:spPr>
        <p:txBody>
          <a:bodyPr/>
          <a:lstStyle/>
          <a:p>
            <a:endParaRPr lang="en-ZA"/>
          </a:p>
        </p:txBody>
      </p:sp>
      <p:sp>
        <p:nvSpPr>
          <p:cNvPr id="60" name="Text 58"/>
          <p:cNvSpPr/>
          <p:nvPr/>
        </p:nvSpPr>
        <p:spPr>
          <a:xfrm>
            <a:off x="9692640" y="4937760"/>
            <a:ext cx="192024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ATU</a:t>
            </a:r>
            <a:endParaRPr lang="en-US" sz="1100" dirty="0"/>
          </a:p>
        </p:txBody>
      </p:sp>
      <p:sp>
        <p:nvSpPr>
          <p:cNvPr id="61" name="Shape 59"/>
          <p:cNvSpPr/>
          <p:nvPr/>
        </p:nvSpPr>
        <p:spPr>
          <a:xfrm>
            <a:off x="548640" y="5440680"/>
            <a:ext cx="3108960" cy="502920"/>
          </a:xfrm>
          <a:prstGeom prst="rect">
            <a:avLst/>
          </a:prstGeom>
          <a:solidFill>
            <a:srgbClr val="FFFFFF"/>
          </a:solidFill>
          <a:ln w="6350">
            <a:solidFill>
              <a:srgbClr val="E1E6EF"/>
            </a:solidFill>
            <a:prstDash val="solid"/>
          </a:ln>
        </p:spPr>
        <p:txBody>
          <a:bodyPr/>
          <a:lstStyle/>
          <a:p>
            <a:endParaRPr lang="en-ZA"/>
          </a:p>
        </p:txBody>
      </p:sp>
      <p:sp>
        <p:nvSpPr>
          <p:cNvPr id="62" name="Text 60"/>
          <p:cNvSpPr/>
          <p:nvPr/>
        </p:nvSpPr>
        <p:spPr>
          <a:xfrm>
            <a:off x="548640" y="5440680"/>
            <a:ext cx="3108960" cy="502920"/>
          </a:xfrm>
          <a:prstGeom prst="rect">
            <a:avLst/>
          </a:prstGeom>
          <a:noFill/>
          <a:ln/>
        </p:spPr>
        <p:txBody>
          <a:bodyPr wrap="square" lIns="101600" tIns="101600" rIns="101600" bIns="1016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MAICPP</a:t>
            </a:r>
            <a:endParaRPr lang="en-US" sz="1100" dirty="0"/>
          </a:p>
        </p:txBody>
      </p:sp>
      <p:sp>
        <p:nvSpPr>
          <p:cNvPr id="63" name="Shape 61"/>
          <p:cNvSpPr/>
          <p:nvPr/>
        </p:nvSpPr>
        <p:spPr>
          <a:xfrm>
            <a:off x="3657600" y="5440680"/>
            <a:ext cx="3200400" cy="502920"/>
          </a:xfrm>
          <a:prstGeom prst="rect">
            <a:avLst/>
          </a:prstGeom>
          <a:solidFill>
            <a:srgbClr val="FFFFFF"/>
          </a:solidFill>
          <a:ln w="6350">
            <a:solidFill>
              <a:srgbClr val="E1E6EF"/>
            </a:solidFill>
            <a:prstDash val="solid"/>
          </a:ln>
        </p:spPr>
        <p:txBody>
          <a:bodyPr/>
          <a:lstStyle/>
          <a:p>
            <a:endParaRPr lang="en-ZA"/>
          </a:p>
        </p:txBody>
      </p:sp>
      <p:sp>
        <p:nvSpPr>
          <p:cNvPr id="64" name="Text 62"/>
          <p:cNvSpPr/>
          <p:nvPr/>
        </p:nvSpPr>
        <p:spPr>
          <a:xfrm>
            <a:off x="3657600" y="5440680"/>
            <a:ext cx="320040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Across · Anchor Partner co-investment</a:t>
            </a:r>
            <a:endParaRPr lang="en-US" sz="1100" dirty="0"/>
          </a:p>
        </p:txBody>
      </p:sp>
      <p:sp>
        <p:nvSpPr>
          <p:cNvPr id="65" name="Shape 63"/>
          <p:cNvSpPr/>
          <p:nvPr/>
        </p:nvSpPr>
        <p:spPr>
          <a:xfrm>
            <a:off x="6858000" y="5440680"/>
            <a:ext cx="2834640" cy="502920"/>
          </a:xfrm>
          <a:prstGeom prst="rect">
            <a:avLst/>
          </a:prstGeom>
          <a:solidFill>
            <a:srgbClr val="FFFFFF"/>
          </a:solidFill>
          <a:ln w="6350">
            <a:solidFill>
              <a:srgbClr val="E1E6EF"/>
            </a:solidFill>
            <a:prstDash val="solid"/>
          </a:ln>
        </p:spPr>
        <p:txBody>
          <a:bodyPr/>
          <a:lstStyle/>
          <a:p>
            <a:endParaRPr lang="en-ZA"/>
          </a:p>
        </p:txBody>
      </p:sp>
      <p:sp>
        <p:nvSpPr>
          <p:cNvPr id="66" name="Text 64"/>
          <p:cNvSpPr/>
          <p:nvPr/>
        </p:nvSpPr>
        <p:spPr>
          <a:xfrm>
            <a:off x="6858000" y="5440680"/>
            <a:ext cx="283464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Partner-claimed</a:t>
            </a:r>
            <a:endParaRPr lang="en-US" sz="1100" dirty="0"/>
          </a:p>
        </p:txBody>
      </p:sp>
      <p:sp>
        <p:nvSpPr>
          <p:cNvPr id="67" name="Shape 65"/>
          <p:cNvSpPr/>
          <p:nvPr/>
        </p:nvSpPr>
        <p:spPr>
          <a:xfrm>
            <a:off x="9692640" y="5440680"/>
            <a:ext cx="1920240" cy="502920"/>
          </a:xfrm>
          <a:prstGeom prst="rect">
            <a:avLst/>
          </a:prstGeom>
          <a:solidFill>
            <a:srgbClr val="FFFFFF"/>
          </a:solidFill>
          <a:ln w="6350">
            <a:solidFill>
              <a:srgbClr val="E1E6EF"/>
            </a:solidFill>
            <a:prstDash val="solid"/>
          </a:ln>
        </p:spPr>
        <p:txBody>
          <a:bodyPr/>
          <a:lstStyle/>
          <a:p>
            <a:endParaRPr lang="en-ZA"/>
          </a:p>
        </p:txBody>
      </p:sp>
      <p:sp>
        <p:nvSpPr>
          <p:cNvPr id="68" name="Text 66"/>
          <p:cNvSpPr/>
          <p:nvPr/>
        </p:nvSpPr>
        <p:spPr>
          <a:xfrm>
            <a:off x="9692640" y="5440680"/>
            <a:ext cx="1920240" cy="502920"/>
          </a:xfrm>
          <a:prstGeom prst="rect">
            <a:avLst/>
          </a:prstGeom>
          <a:noFill/>
          <a:ln/>
        </p:spPr>
        <p:txBody>
          <a:bodyPr wrap="square" lIns="101600" tIns="101600" rIns="101600" bIns="1016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EPS PDM</a:t>
            </a:r>
            <a:endParaRPr lang="en-US" sz="1100" dirty="0"/>
          </a:p>
        </p:txBody>
      </p:sp>
      <p:sp>
        <p:nvSpPr>
          <p:cNvPr id="69" name="Text 67"/>
          <p:cNvSpPr/>
          <p:nvPr/>
        </p:nvSpPr>
        <p:spPr>
          <a:xfrm>
            <a:off x="548640" y="6263640"/>
            <a:ext cx="11155680" cy="274320"/>
          </a:xfrm>
          <a:prstGeom prst="rect">
            <a:avLst/>
          </a:prstGeom>
          <a:noFill/>
          <a:ln/>
        </p:spPr>
        <p:txBody>
          <a:bodyPr wrap="square" rtlCol="0" anchor="ctr"/>
          <a:lstStyle/>
          <a:p>
            <a:pPr marL="0" indent="0">
              <a:buNone/>
            </a:pPr>
            <a:r>
              <a:rPr lang="en-US" sz="1100" b="1" i="1" dirty="0">
                <a:solidFill>
                  <a:srgbClr val="FF5C39"/>
                </a:solidFill>
                <a:latin typeface="Segoe UI" pitchFamily="34" charset="0"/>
                <a:ea typeface="Segoe UI" pitchFamily="34" charset="-122"/>
                <a:cs typeface="Segoe UI" pitchFamily="34" charset="-120"/>
              </a:rPr>
              <a:t>Stack instruments only when each gate is named. Compliance reviews catch un-gated stacking.</a:t>
            </a:r>
            <a:endParaRPr lang="en-US" sz="1100" dirty="0"/>
          </a:p>
        </p:txBody>
      </p:sp>
      <p:pic>
        <p:nvPicPr>
          <p:cNvPr id="70"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71" name="Text 68"/>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72" name="Text 69"/>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FIELD DISCIPLINE</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000" b="1" dirty="0">
                <a:solidFill>
                  <a:srgbClr val="091F2C"/>
                </a:solidFill>
                <a:latin typeface="Segoe UI" pitchFamily="34" charset="0"/>
                <a:ea typeface="Segoe UI" pitchFamily="34" charset="-122"/>
                <a:cs typeface="Segoe UI" pitchFamily="34" charset="-120"/>
              </a:rPr>
              <a:t>Do's and Don'ts</a:t>
            </a:r>
            <a:endParaRPr lang="en-US" sz="3000" dirty="0"/>
          </a:p>
        </p:txBody>
      </p:sp>
      <p:sp>
        <p:nvSpPr>
          <p:cNvPr id="5" name="Shape 3"/>
          <p:cNvSpPr/>
          <p:nvPr/>
        </p:nvSpPr>
        <p:spPr>
          <a:xfrm>
            <a:off x="548640" y="1828800"/>
            <a:ext cx="5486400" cy="4297680"/>
          </a:xfrm>
          <a:prstGeom prst="roundRect">
            <a:avLst>
              <a:gd name="adj" fmla="val 2553"/>
            </a:avLst>
          </a:prstGeom>
          <a:solidFill>
            <a:srgbClr val="F1F8F1"/>
          </a:solidFill>
          <a:ln w="12700">
            <a:solidFill>
              <a:srgbClr val="225B62"/>
            </a:solidFill>
            <a:prstDash val="solid"/>
          </a:ln>
        </p:spPr>
        <p:txBody>
          <a:bodyPr/>
          <a:lstStyle/>
          <a:p>
            <a:endParaRPr lang="en-ZA"/>
          </a:p>
        </p:txBody>
      </p:sp>
      <p:sp>
        <p:nvSpPr>
          <p:cNvPr id="6" name="Text 4"/>
          <p:cNvSpPr/>
          <p:nvPr/>
        </p:nvSpPr>
        <p:spPr>
          <a:xfrm>
            <a:off x="777240" y="1965960"/>
            <a:ext cx="5029200" cy="365760"/>
          </a:xfrm>
          <a:prstGeom prst="rect">
            <a:avLst/>
          </a:prstGeom>
          <a:noFill/>
          <a:ln/>
        </p:spPr>
        <p:txBody>
          <a:bodyPr wrap="square" rtlCol="0" anchor="ctr"/>
          <a:lstStyle/>
          <a:p>
            <a:pPr marL="0" indent="0">
              <a:buNone/>
            </a:pPr>
            <a:r>
              <a:rPr lang="en-US" sz="1600" b="1" kern="0" spc="300" dirty="0">
                <a:solidFill>
                  <a:srgbClr val="225B62"/>
                </a:solidFill>
                <a:latin typeface="Segoe UI" pitchFamily="34" charset="0"/>
                <a:ea typeface="Segoe UI" pitchFamily="34" charset="-122"/>
                <a:cs typeface="Segoe UI" pitchFamily="34" charset="-120"/>
              </a:rPr>
              <a:t>DO</a:t>
            </a:r>
            <a:endParaRPr lang="en-US" sz="1600" dirty="0"/>
          </a:p>
        </p:txBody>
      </p:sp>
      <p:sp>
        <p:nvSpPr>
          <p:cNvPr id="7" name="Text 5"/>
          <p:cNvSpPr/>
          <p:nvPr/>
        </p:nvSpPr>
        <p:spPr>
          <a:xfrm>
            <a:off x="868680" y="2468880"/>
            <a:ext cx="274320" cy="365760"/>
          </a:xfrm>
          <a:prstGeom prst="rect">
            <a:avLst/>
          </a:prstGeom>
          <a:noFill/>
          <a:ln/>
        </p:spPr>
        <p:txBody>
          <a:bodyPr wrap="square" rtlCol="0" anchor="ctr"/>
          <a:lstStyle/>
          <a:p>
            <a:pPr marL="0" indent="0">
              <a:buNone/>
            </a:pPr>
            <a:r>
              <a:rPr lang="en-US" sz="1800" b="1" dirty="0">
                <a:solidFill>
                  <a:srgbClr val="225B62"/>
                </a:solidFill>
                <a:latin typeface="Segoe UI" pitchFamily="34" charset="0"/>
                <a:ea typeface="Segoe UI" pitchFamily="34" charset="-122"/>
                <a:cs typeface="Segoe UI" pitchFamily="34" charset="-120"/>
              </a:rPr>
              <a:t>✓</a:t>
            </a:r>
            <a:endParaRPr lang="en-US" sz="1800" dirty="0"/>
          </a:p>
        </p:txBody>
      </p:sp>
      <p:sp>
        <p:nvSpPr>
          <p:cNvPr id="8" name="Text 6"/>
          <p:cNvSpPr/>
          <p:nvPr/>
        </p:nvSpPr>
        <p:spPr>
          <a:xfrm>
            <a:off x="1188720" y="2514600"/>
            <a:ext cx="4754880" cy="50292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Sign the Readiness Scorecard before kickoff — every time</a:t>
            </a:r>
            <a:endParaRPr lang="en-US" sz="1250" dirty="0"/>
          </a:p>
        </p:txBody>
      </p:sp>
      <p:sp>
        <p:nvSpPr>
          <p:cNvPr id="9" name="Text 7"/>
          <p:cNvSpPr/>
          <p:nvPr/>
        </p:nvSpPr>
        <p:spPr>
          <a:xfrm>
            <a:off x="868680" y="3063240"/>
            <a:ext cx="274320" cy="365760"/>
          </a:xfrm>
          <a:prstGeom prst="rect">
            <a:avLst/>
          </a:prstGeom>
          <a:noFill/>
          <a:ln/>
        </p:spPr>
        <p:txBody>
          <a:bodyPr wrap="square" rtlCol="0" anchor="ctr"/>
          <a:lstStyle/>
          <a:p>
            <a:pPr marL="0" indent="0">
              <a:buNone/>
            </a:pPr>
            <a:r>
              <a:rPr lang="en-US" sz="1800" b="1" dirty="0">
                <a:solidFill>
                  <a:srgbClr val="225B62"/>
                </a:solidFill>
                <a:latin typeface="Segoe UI" pitchFamily="34" charset="0"/>
                <a:ea typeface="Segoe UI" pitchFamily="34" charset="-122"/>
                <a:cs typeface="Segoe UI" pitchFamily="34" charset="-120"/>
              </a:rPr>
              <a:t>✓</a:t>
            </a:r>
            <a:endParaRPr lang="en-US" sz="1800" dirty="0"/>
          </a:p>
        </p:txBody>
      </p:sp>
      <p:sp>
        <p:nvSpPr>
          <p:cNvPr id="10" name="Text 8"/>
          <p:cNvSpPr/>
          <p:nvPr/>
        </p:nvSpPr>
        <p:spPr>
          <a:xfrm>
            <a:off x="1188720" y="3108960"/>
            <a:ext cx="4754880" cy="50292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Lead with the customer's problem, not our SKU</a:t>
            </a:r>
            <a:endParaRPr lang="en-US" sz="1250" dirty="0"/>
          </a:p>
        </p:txBody>
      </p:sp>
      <p:sp>
        <p:nvSpPr>
          <p:cNvPr id="11" name="Text 9"/>
          <p:cNvSpPr/>
          <p:nvPr/>
        </p:nvSpPr>
        <p:spPr>
          <a:xfrm>
            <a:off x="868680" y="3657600"/>
            <a:ext cx="274320" cy="365760"/>
          </a:xfrm>
          <a:prstGeom prst="rect">
            <a:avLst/>
          </a:prstGeom>
          <a:noFill/>
          <a:ln/>
        </p:spPr>
        <p:txBody>
          <a:bodyPr wrap="square" rtlCol="0" anchor="ctr"/>
          <a:lstStyle/>
          <a:p>
            <a:pPr marL="0" indent="0">
              <a:buNone/>
            </a:pPr>
            <a:r>
              <a:rPr lang="en-US" sz="1800" b="1" dirty="0">
                <a:solidFill>
                  <a:srgbClr val="225B62"/>
                </a:solidFill>
                <a:latin typeface="Segoe UI" pitchFamily="34" charset="0"/>
                <a:ea typeface="Segoe UI" pitchFamily="34" charset="-122"/>
                <a:cs typeface="Segoe UI" pitchFamily="34" charset="-120"/>
              </a:rPr>
              <a:t>✓</a:t>
            </a:r>
            <a:endParaRPr lang="en-US" sz="1800" dirty="0"/>
          </a:p>
        </p:txBody>
      </p:sp>
      <p:sp>
        <p:nvSpPr>
          <p:cNvPr id="12" name="Text 10"/>
          <p:cNvSpPr/>
          <p:nvPr/>
        </p:nvSpPr>
        <p:spPr>
          <a:xfrm>
            <a:off x="1188720" y="3703320"/>
            <a:ext cx="4754880" cy="50292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Name Tier · ATO Component · Delivery (Partner / Factory / ISD) in the account plan</a:t>
            </a:r>
            <a:endParaRPr lang="en-US" sz="1250" dirty="0"/>
          </a:p>
        </p:txBody>
      </p:sp>
      <p:sp>
        <p:nvSpPr>
          <p:cNvPr id="13" name="Text 11"/>
          <p:cNvSpPr/>
          <p:nvPr/>
        </p:nvSpPr>
        <p:spPr>
          <a:xfrm>
            <a:off x="868680" y="4251960"/>
            <a:ext cx="274320" cy="365760"/>
          </a:xfrm>
          <a:prstGeom prst="rect">
            <a:avLst/>
          </a:prstGeom>
          <a:noFill/>
          <a:ln/>
        </p:spPr>
        <p:txBody>
          <a:bodyPr wrap="square" rtlCol="0" anchor="ctr"/>
          <a:lstStyle/>
          <a:p>
            <a:pPr marL="0" indent="0">
              <a:buNone/>
            </a:pPr>
            <a:r>
              <a:rPr lang="en-US" sz="1800" b="1" dirty="0">
                <a:solidFill>
                  <a:srgbClr val="225B62"/>
                </a:solidFill>
                <a:latin typeface="Segoe UI" pitchFamily="34" charset="0"/>
                <a:ea typeface="Segoe UI" pitchFamily="34" charset="-122"/>
                <a:cs typeface="Segoe UI" pitchFamily="34" charset="-120"/>
              </a:rPr>
              <a:t>✓</a:t>
            </a:r>
            <a:endParaRPr lang="en-US" sz="1800" dirty="0"/>
          </a:p>
        </p:txBody>
      </p:sp>
      <p:sp>
        <p:nvSpPr>
          <p:cNvPr id="14" name="Text 12"/>
          <p:cNvSpPr/>
          <p:nvPr/>
        </p:nvSpPr>
        <p:spPr>
          <a:xfrm>
            <a:off x="1188720" y="4297680"/>
            <a:ext cx="4754880" cy="50292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Refresh the value dashboard before every steerco</a:t>
            </a:r>
            <a:endParaRPr lang="en-US" sz="1250" dirty="0"/>
          </a:p>
        </p:txBody>
      </p:sp>
      <p:sp>
        <p:nvSpPr>
          <p:cNvPr id="15" name="Text 13"/>
          <p:cNvSpPr/>
          <p:nvPr/>
        </p:nvSpPr>
        <p:spPr>
          <a:xfrm>
            <a:off x="868680" y="4846320"/>
            <a:ext cx="274320" cy="365760"/>
          </a:xfrm>
          <a:prstGeom prst="rect">
            <a:avLst/>
          </a:prstGeom>
          <a:noFill/>
          <a:ln/>
        </p:spPr>
        <p:txBody>
          <a:bodyPr wrap="square" rtlCol="0" anchor="ctr"/>
          <a:lstStyle/>
          <a:p>
            <a:pPr marL="0" indent="0">
              <a:buNone/>
            </a:pPr>
            <a:r>
              <a:rPr lang="en-US" sz="1800" b="1" dirty="0">
                <a:solidFill>
                  <a:srgbClr val="225B62"/>
                </a:solidFill>
                <a:latin typeface="Segoe UI" pitchFamily="34" charset="0"/>
                <a:ea typeface="Segoe UI" pitchFamily="34" charset="-122"/>
                <a:cs typeface="Segoe UI" pitchFamily="34" charset="-120"/>
              </a:rPr>
              <a:t>✓</a:t>
            </a:r>
            <a:endParaRPr lang="en-US" sz="1800" dirty="0"/>
          </a:p>
        </p:txBody>
      </p:sp>
      <p:sp>
        <p:nvSpPr>
          <p:cNvPr id="16" name="Text 14"/>
          <p:cNvSpPr/>
          <p:nvPr/>
        </p:nvSpPr>
        <p:spPr>
          <a:xfrm>
            <a:off x="1188720" y="4892040"/>
            <a:ext cx="4754880" cy="50292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Escalate same-day if a partner pushes past their lane</a:t>
            </a:r>
            <a:endParaRPr lang="en-US" sz="1250" dirty="0"/>
          </a:p>
        </p:txBody>
      </p:sp>
      <p:sp>
        <p:nvSpPr>
          <p:cNvPr id="17" name="Text 15"/>
          <p:cNvSpPr/>
          <p:nvPr/>
        </p:nvSpPr>
        <p:spPr>
          <a:xfrm>
            <a:off x="868680" y="5440680"/>
            <a:ext cx="274320" cy="365760"/>
          </a:xfrm>
          <a:prstGeom prst="rect">
            <a:avLst/>
          </a:prstGeom>
          <a:noFill/>
          <a:ln/>
        </p:spPr>
        <p:txBody>
          <a:bodyPr wrap="square" rtlCol="0" anchor="ctr"/>
          <a:lstStyle/>
          <a:p>
            <a:pPr marL="0" indent="0">
              <a:buNone/>
            </a:pPr>
            <a:r>
              <a:rPr lang="en-US" sz="1800" b="1" dirty="0">
                <a:solidFill>
                  <a:srgbClr val="225B62"/>
                </a:solidFill>
                <a:latin typeface="Segoe UI" pitchFamily="34" charset="0"/>
                <a:ea typeface="Segoe UI" pitchFamily="34" charset="-122"/>
                <a:cs typeface="Segoe UI" pitchFamily="34" charset="-120"/>
              </a:rPr>
              <a:t>✓</a:t>
            </a:r>
            <a:endParaRPr lang="en-US" sz="1800" dirty="0"/>
          </a:p>
        </p:txBody>
      </p:sp>
      <p:sp>
        <p:nvSpPr>
          <p:cNvPr id="18" name="Text 16"/>
          <p:cNvSpPr/>
          <p:nvPr/>
        </p:nvSpPr>
        <p:spPr>
          <a:xfrm>
            <a:off x="1188720" y="5486400"/>
            <a:ext cx="4754880" cy="50292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Keep the maturity baseline visible at every QBR</a:t>
            </a:r>
            <a:endParaRPr lang="en-US" sz="1250" dirty="0"/>
          </a:p>
        </p:txBody>
      </p:sp>
      <p:sp>
        <p:nvSpPr>
          <p:cNvPr id="19" name="Shape 17"/>
          <p:cNvSpPr/>
          <p:nvPr/>
        </p:nvSpPr>
        <p:spPr>
          <a:xfrm>
            <a:off x="6172200" y="1828800"/>
            <a:ext cx="5486400" cy="4297680"/>
          </a:xfrm>
          <a:prstGeom prst="roundRect">
            <a:avLst>
              <a:gd name="adj" fmla="val 2553"/>
            </a:avLst>
          </a:prstGeom>
          <a:solidFill>
            <a:srgbClr val="FDF3F2"/>
          </a:solidFill>
          <a:ln w="12700">
            <a:solidFill>
              <a:srgbClr val="FF5C39"/>
            </a:solidFill>
            <a:prstDash val="solid"/>
          </a:ln>
        </p:spPr>
        <p:txBody>
          <a:bodyPr/>
          <a:lstStyle/>
          <a:p>
            <a:endParaRPr lang="en-ZA"/>
          </a:p>
        </p:txBody>
      </p:sp>
      <p:sp>
        <p:nvSpPr>
          <p:cNvPr id="20" name="Text 18"/>
          <p:cNvSpPr/>
          <p:nvPr/>
        </p:nvSpPr>
        <p:spPr>
          <a:xfrm>
            <a:off x="6400800" y="1965960"/>
            <a:ext cx="5029200" cy="365760"/>
          </a:xfrm>
          <a:prstGeom prst="rect">
            <a:avLst/>
          </a:prstGeom>
          <a:noFill/>
          <a:ln/>
        </p:spPr>
        <p:txBody>
          <a:bodyPr wrap="square" rtlCol="0" anchor="ctr"/>
          <a:lstStyle/>
          <a:p>
            <a:pPr marL="0" indent="0">
              <a:buNone/>
            </a:pPr>
            <a:r>
              <a:rPr lang="en-US" sz="1600" b="1" kern="0" spc="300" dirty="0">
                <a:solidFill>
                  <a:srgbClr val="FF5C39"/>
                </a:solidFill>
                <a:latin typeface="Segoe UI" pitchFamily="34" charset="0"/>
                <a:ea typeface="Segoe UI" pitchFamily="34" charset="-122"/>
                <a:cs typeface="Segoe UI" pitchFamily="34" charset="-120"/>
              </a:rPr>
              <a:t>DON'T</a:t>
            </a:r>
            <a:endParaRPr lang="en-US" sz="1600" dirty="0"/>
          </a:p>
        </p:txBody>
      </p:sp>
      <p:sp>
        <p:nvSpPr>
          <p:cNvPr id="21" name="Text 19"/>
          <p:cNvSpPr/>
          <p:nvPr/>
        </p:nvSpPr>
        <p:spPr>
          <a:xfrm>
            <a:off x="6492240" y="2468880"/>
            <a:ext cx="274320" cy="365760"/>
          </a:xfrm>
          <a:prstGeom prst="rect">
            <a:avLst/>
          </a:prstGeom>
          <a:noFill/>
          <a:ln/>
        </p:spPr>
        <p:txBody>
          <a:bodyPr wrap="square" rtlCol="0" anchor="ctr"/>
          <a:lstStyle/>
          <a:p>
            <a:pPr marL="0" indent="0">
              <a:buNone/>
            </a:pPr>
            <a:r>
              <a:rPr lang="en-US" sz="1800" b="1" dirty="0">
                <a:solidFill>
                  <a:srgbClr val="FF5C39"/>
                </a:solidFill>
                <a:latin typeface="Segoe UI" pitchFamily="34" charset="0"/>
                <a:ea typeface="Segoe UI" pitchFamily="34" charset="-122"/>
                <a:cs typeface="Segoe UI" pitchFamily="34" charset="-120"/>
              </a:rPr>
              <a:t>✕</a:t>
            </a:r>
            <a:endParaRPr lang="en-US" sz="1800" dirty="0"/>
          </a:p>
        </p:txBody>
      </p:sp>
      <p:sp>
        <p:nvSpPr>
          <p:cNvPr id="22" name="Text 20"/>
          <p:cNvSpPr/>
          <p:nvPr/>
        </p:nvSpPr>
        <p:spPr>
          <a:xfrm>
            <a:off x="6812280" y="2514600"/>
            <a:ext cx="4754880" cy="50292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Don't skip the maturity assessment — it's the QBR anchor</a:t>
            </a:r>
            <a:endParaRPr lang="en-US" sz="1250" dirty="0"/>
          </a:p>
        </p:txBody>
      </p:sp>
      <p:sp>
        <p:nvSpPr>
          <p:cNvPr id="23" name="Text 21"/>
          <p:cNvSpPr/>
          <p:nvPr/>
        </p:nvSpPr>
        <p:spPr>
          <a:xfrm>
            <a:off x="6492240" y="3063240"/>
            <a:ext cx="274320" cy="365760"/>
          </a:xfrm>
          <a:prstGeom prst="rect">
            <a:avLst/>
          </a:prstGeom>
          <a:noFill/>
          <a:ln/>
        </p:spPr>
        <p:txBody>
          <a:bodyPr wrap="square" rtlCol="0" anchor="ctr"/>
          <a:lstStyle/>
          <a:p>
            <a:pPr marL="0" indent="0">
              <a:buNone/>
            </a:pPr>
            <a:r>
              <a:rPr lang="en-US" sz="1800" b="1" dirty="0">
                <a:solidFill>
                  <a:srgbClr val="FF5C39"/>
                </a:solidFill>
                <a:latin typeface="Segoe UI" pitchFamily="34" charset="0"/>
                <a:ea typeface="Segoe UI" pitchFamily="34" charset="-122"/>
                <a:cs typeface="Segoe UI" pitchFamily="34" charset="-120"/>
              </a:rPr>
              <a:t>✕</a:t>
            </a:r>
            <a:endParaRPr lang="en-US" sz="1800" dirty="0"/>
          </a:p>
        </p:txBody>
      </p:sp>
      <p:sp>
        <p:nvSpPr>
          <p:cNvPr id="24" name="Text 22"/>
          <p:cNvSpPr/>
          <p:nvPr/>
        </p:nvSpPr>
        <p:spPr>
          <a:xfrm>
            <a:off x="6812280" y="3108960"/>
            <a:ext cx="4754880" cy="50292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Don't let the partner own envisioning — that's CSA + STU</a:t>
            </a:r>
            <a:endParaRPr lang="en-US" sz="1250" dirty="0"/>
          </a:p>
        </p:txBody>
      </p:sp>
      <p:sp>
        <p:nvSpPr>
          <p:cNvPr id="25" name="Text 23"/>
          <p:cNvSpPr/>
          <p:nvPr/>
        </p:nvSpPr>
        <p:spPr>
          <a:xfrm>
            <a:off x="6492240" y="3657600"/>
            <a:ext cx="274320" cy="365760"/>
          </a:xfrm>
          <a:prstGeom prst="rect">
            <a:avLst/>
          </a:prstGeom>
          <a:noFill/>
          <a:ln/>
        </p:spPr>
        <p:txBody>
          <a:bodyPr wrap="square" rtlCol="0" anchor="ctr"/>
          <a:lstStyle/>
          <a:p>
            <a:pPr marL="0" indent="0">
              <a:buNone/>
            </a:pPr>
            <a:r>
              <a:rPr lang="en-US" sz="1800" b="1" dirty="0">
                <a:solidFill>
                  <a:srgbClr val="FF5C39"/>
                </a:solidFill>
                <a:latin typeface="Segoe UI" pitchFamily="34" charset="0"/>
                <a:ea typeface="Segoe UI" pitchFamily="34" charset="-122"/>
                <a:cs typeface="Segoe UI" pitchFamily="34" charset="-120"/>
              </a:rPr>
              <a:t>✕</a:t>
            </a:r>
            <a:endParaRPr lang="en-US" sz="1800" dirty="0"/>
          </a:p>
        </p:txBody>
      </p:sp>
      <p:sp>
        <p:nvSpPr>
          <p:cNvPr id="26" name="Text 24"/>
          <p:cNvSpPr/>
          <p:nvPr/>
        </p:nvSpPr>
        <p:spPr>
          <a:xfrm>
            <a:off x="6812280" y="3703320"/>
            <a:ext cx="4754880" cy="50292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Don't stack ECIF + ACO without naming the gate that unlocks each</a:t>
            </a:r>
            <a:endParaRPr lang="en-US" sz="1250" dirty="0"/>
          </a:p>
        </p:txBody>
      </p:sp>
      <p:sp>
        <p:nvSpPr>
          <p:cNvPr id="27" name="Text 25"/>
          <p:cNvSpPr/>
          <p:nvPr/>
        </p:nvSpPr>
        <p:spPr>
          <a:xfrm>
            <a:off x="6492240" y="4251960"/>
            <a:ext cx="274320" cy="365760"/>
          </a:xfrm>
          <a:prstGeom prst="rect">
            <a:avLst/>
          </a:prstGeom>
          <a:noFill/>
          <a:ln/>
        </p:spPr>
        <p:txBody>
          <a:bodyPr wrap="square" rtlCol="0" anchor="ctr"/>
          <a:lstStyle/>
          <a:p>
            <a:pPr marL="0" indent="0">
              <a:buNone/>
            </a:pPr>
            <a:r>
              <a:rPr lang="en-US" sz="1800" b="1" dirty="0">
                <a:solidFill>
                  <a:srgbClr val="FF5C39"/>
                </a:solidFill>
                <a:latin typeface="Segoe UI" pitchFamily="34" charset="0"/>
                <a:ea typeface="Segoe UI" pitchFamily="34" charset="-122"/>
                <a:cs typeface="Segoe UI" pitchFamily="34" charset="-120"/>
              </a:rPr>
              <a:t>✕</a:t>
            </a:r>
            <a:endParaRPr lang="en-US" sz="1800" dirty="0"/>
          </a:p>
        </p:txBody>
      </p:sp>
      <p:sp>
        <p:nvSpPr>
          <p:cNvPr id="28" name="Text 26"/>
          <p:cNvSpPr/>
          <p:nvPr/>
        </p:nvSpPr>
        <p:spPr>
          <a:xfrm>
            <a:off x="6812280" y="4297680"/>
            <a:ext cx="4754880" cy="50292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Don't federate before three production agents are live</a:t>
            </a:r>
            <a:endParaRPr lang="en-US" sz="1250" dirty="0"/>
          </a:p>
        </p:txBody>
      </p:sp>
      <p:sp>
        <p:nvSpPr>
          <p:cNvPr id="29" name="Text 27"/>
          <p:cNvSpPr/>
          <p:nvPr/>
        </p:nvSpPr>
        <p:spPr>
          <a:xfrm>
            <a:off x="6492240" y="4846320"/>
            <a:ext cx="274320" cy="365760"/>
          </a:xfrm>
          <a:prstGeom prst="rect">
            <a:avLst/>
          </a:prstGeom>
          <a:noFill/>
          <a:ln/>
        </p:spPr>
        <p:txBody>
          <a:bodyPr wrap="square" rtlCol="0" anchor="ctr"/>
          <a:lstStyle/>
          <a:p>
            <a:pPr marL="0" indent="0">
              <a:buNone/>
            </a:pPr>
            <a:r>
              <a:rPr lang="en-US" sz="1800" b="1" dirty="0">
                <a:solidFill>
                  <a:srgbClr val="FF5C39"/>
                </a:solidFill>
                <a:latin typeface="Segoe UI" pitchFamily="34" charset="0"/>
                <a:ea typeface="Segoe UI" pitchFamily="34" charset="-122"/>
                <a:cs typeface="Segoe UI" pitchFamily="34" charset="-120"/>
              </a:rPr>
              <a:t>✕</a:t>
            </a:r>
            <a:endParaRPr lang="en-US" sz="1800" dirty="0"/>
          </a:p>
        </p:txBody>
      </p:sp>
      <p:sp>
        <p:nvSpPr>
          <p:cNvPr id="30" name="Text 28"/>
          <p:cNvSpPr/>
          <p:nvPr/>
        </p:nvSpPr>
        <p:spPr>
          <a:xfrm>
            <a:off x="6812280" y="4892040"/>
            <a:ext cx="4754880" cy="50292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Don't improvise to ISD mid-delivery — name it in Stage 1</a:t>
            </a:r>
            <a:endParaRPr lang="en-US" sz="1250" dirty="0"/>
          </a:p>
        </p:txBody>
      </p:sp>
      <p:sp>
        <p:nvSpPr>
          <p:cNvPr id="31" name="Text 29"/>
          <p:cNvSpPr/>
          <p:nvPr/>
        </p:nvSpPr>
        <p:spPr>
          <a:xfrm>
            <a:off x="6492240" y="5440680"/>
            <a:ext cx="274320" cy="365760"/>
          </a:xfrm>
          <a:prstGeom prst="rect">
            <a:avLst/>
          </a:prstGeom>
          <a:noFill/>
          <a:ln/>
        </p:spPr>
        <p:txBody>
          <a:bodyPr wrap="square" rtlCol="0" anchor="ctr"/>
          <a:lstStyle/>
          <a:p>
            <a:pPr marL="0" indent="0">
              <a:buNone/>
            </a:pPr>
            <a:r>
              <a:rPr lang="en-US" sz="1800" b="1" dirty="0">
                <a:solidFill>
                  <a:srgbClr val="FF5C39"/>
                </a:solidFill>
                <a:latin typeface="Segoe UI" pitchFamily="34" charset="0"/>
                <a:ea typeface="Segoe UI" pitchFamily="34" charset="-122"/>
                <a:cs typeface="Segoe UI" pitchFamily="34" charset="-120"/>
              </a:rPr>
              <a:t>✕</a:t>
            </a:r>
            <a:endParaRPr lang="en-US" sz="1800" dirty="0"/>
          </a:p>
        </p:txBody>
      </p:sp>
      <p:sp>
        <p:nvSpPr>
          <p:cNvPr id="32" name="Text 30"/>
          <p:cNvSpPr/>
          <p:nvPr/>
        </p:nvSpPr>
        <p:spPr>
          <a:xfrm>
            <a:off x="6812280" y="5486400"/>
            <a:ext cx="4754880" cy="502920"/>
          </a:xfrm>
          <a:prstGeom prst="rect">
            <a:avLst/>
          </a:prstGeom>
          <a:noFill/>
          <a:ln/>
        </p:spPr>
        <p:txBody>
          <a:bodyPr wrap="square" rtlCol="0" anchor="ctr"/>
          <a:lstStyle/>
          <a:p>
            <a:pPr marL="0" indent="0">
              <a:buNone/>
            </a:pPr>
            <a:r>
              <a:rPr lang="en-US" sz="1250" dirty="0">
                <a:solidFill>
                  <a:srgbClr val="091F2C"/>
                </a:solidFill>
                <a:latin typeface="Segoe UI" pitchFamily="34" charset="0"/>
                <a:ea typeface="Segoe UI" pitchFamily="34" charset="-122"/>
                <a:cs typeface="Segoe UI" pitchFamily="34" charset="-120"/>
              </a:rPr>
              <a:t>Don't show ACR to the CIO — show outcomes (hours, NPS, NSAT)</a:t>
            </a:r>
            <a:endParaRPr lang="en-US" sz="1250" dirty="0"/>
          </a:p>
        </p:txBody>
      </p:sp>
      <p:pic>
        <p:nvPicPr>
          <p:cNvPr id="33"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4" name="Text 31"/>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35" name="Text 32"/>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THE PACK</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000" b="1" dirty="0">
                <a:solidFill>
                  <a:srgbClr val="091F2C"/>
                </a:solidFill>
                <a:latin typeface="Segoe UI" pitchFamily="34" charset="0"/>
                <a:ea typeface="Segoe UI" pitchFamily="34" charset="-122"/>
                <a:cs typeface="Segoe UI" pitchFamily="34" charset="-120"/>
              </a:rPr>
              <a:t>Where to find each artefact</a:t>
            </a:r>
            <a:endParaRPr lang="en-US" sz="3000" dirty="0"/>
          </a:p>
        </p:txBody>
      </p:sp>
      <p:sp>
        <p:nvSpPr>
          <p:cNvPr id="5" name="Shape 3"/>
          <p:cNvSpPr/>
          <p:nvPr/>
        </p:nvSpPr>
        <p:spPr>
          <a:xfrm>
            <a:off x="548640" y="1828800"/>
            <a:ext cx="3611880" cy="1783080"/>
          </a:xfrm>
          <a:prstGeom prst="roundRect">
            <a:avLst>
              <a:gd name="adj" fmla="val 5128"/>
            </a:avLst>
          </a:prstGeom>
          <a:solidFill>
            <a:srgbClr val="FFFFFF"/>
          </a:solidFill>
          <a:ln w="12700">
            <a:solidFill>
              <a:srgbClr val="E1E6EF"/>
            </a:solidFill>
            <a:prstDash val="solid"/>
          </a:ln>
        </p:spPr>
        <p:txBody>
          <a:bodyPr/>
          <a:lstStyle/>
          <a:p>
            <a:endParaRPr lang="en-ZA"/>
          </a:p>
        </p:txBody>
      </p:sp>
      <p:sp>
        <p:nvSpPr>
          <p:cNvPr id="6" name="Shape 4"/>
          <p:cNvSpPr/>
          <p:nvPr/>
        </p:nvSpPr>
        <p:spPr>
          <a:xfrm>
            <a:off x="548640" y="1828800"/>
            <a:ext cx="3611880" cy="73152"/>
          </a:xfrm>
          <a:prstGeom prst="rect">
            <a:avLst/>
          </a:prstGeom>
          <a:solidFill>
            <a:srgbClr val="0078D4"/>
          </a:solidFill>
          <a:ln/>
        </p:spPr>
        <p:txBody>
          <a:bodyPr/>
          <a:lstStyle/>
          <a:p>
            <a:endParaRPr lang="en-ZA"/>
          </a:p>
        </p:txBody>
      </p:sp>
      <p:sp>
        <p:nvSpPr>
          <p:cNvPr id="7" name="Text 5"/>
          <p:cNvSpPr/>
          <p:nvPr/>
        </p:nvSpPr>
        <p:spPr>
          <a:xfrm>
            <a:off x="777240" y="2011680"/>
            <a:ext cx="320040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Operating Playbook</a:t>
            </a:r>
            <a:endParaRPr lang="en-US" sz="1500" dirty="0"/>
          </a:p>
        </p:txBody>
      </p:sp>
      <p:sp>
        <p:nvSpPr>
          <p:cNvPr id="8" name="Text 6"/>
          <p:cNvSpPr/>
          <p:nvPr/>
        </p:nvSpPr>
        <p:spPr>
          <a:xfrm>
            <a:off x="777240" y="2423160"/>
            <a:ext cx="3200400" cy="365760"/>
          </a:xfrm>
          <a:prstGeom prst="rect">
            <a:avLst/>
          </a:prstGeom>
          <a:noFill/>
          <a:ln/>
        </p:spPr>
        <p:txBody>
          <a:bodyPr wrap="square" rtlCol="0" anchor="ctr"/>
          <a:lstStyle/>
          <a:p>
            <a:pPr marL="0" indent="0">
              <a:buNone/>
            </a:pPr>
            <a:r>
              <a:rPr lang="en-US" sz="1100" i="1" dirty="0">
                <a:solidFill>
                  <a:srgbClr val="0078D4"/>
                </a:solidFill>
                <a:latin typeface="Segoe UI" pitchFamily="34" charset="0"/>
                <a:ea typeface="Segoe UI" pitchFamily="34" charset="-122"/>
                <a:cs typeface="Segoe UI" pitchFamily="34" charset="-120"/>
              </a:rPr>
              <a:t>End-to-end delivery manual</a:t>
            </a:r>
            <a:endParaRPr lang="en-US" sz="1100" dirty="0"/>
          </a:p>
        </p:txBody>
      </p:sp>
      <p:sp>
        <p:nvSpPr>
          <p:cNvPr id="9" name="Text 7"/>
          <p:cNvSpPr/>
          <p:nvPr/>
        </p:nvSpPr>
        <p:spPr>
          <a:xfrm>
            <a:off x="777240" y="2788920"/>
            <a:ext cx="3200400" cy="7772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Source of truth — read sections as you hit each step</a:t>
            </a:r>
            <a:endParaRPr lang="en-US" sz="1100" dirty="0"/>
          </a:p>
        </p:txBody>
      </p:sp>
      <p:sp>
        <p:nvSpPr>
          <p:cNvPr id="10" name="Shape 8"/>
          <p:cNvSpPr/>
          <p:nvPr/>
        </p:nvSpPr>
        <p:spPr>
          <a:xfrm>
            <a:off x="4297680" y="1828800"/>
            <a:ext cx="3611880" cy="1783080"/>
          </a:xfrm>
          <a:prstGeom prst="roundRect">
            <a:avLst>
              <a:gd name="adj" fmla="val 5128"/>
            </a:avLst>
          </a:prstGeom>
          <a:solidFill>
            <a:srgbClr val="FFFFFF"/>
          </a:solidFill>
          <a:ln w="12700">
            <a:solidFill>
              <a:srgbClr val="E1E6EF"/>
            </a:solidFill>
            <a:prstDash val="solid"/>
          </a:ln>
        </p:spPr>
        <p:txBody>
          <a:bodyPr/>
          <a:lstStyle/>
          <a:p>
            <a:endParaRPr lang="en-ZA"/>
          </a:p>
        </p:txBody>
      </p:sp>
      <p:sp>
        <p:nvSpPr>
          <p:cNvPr id="11" name="Shape 9"/>
          <p:cNvSpPr/>
          <p:nvPr/>
        </p:nvSpPr>
        <p:spPr>
          <a:xfrm>
            <a:off x="4297680" y="1828800"/>
            <a:ext cx="3611880" cy="73152"/>
          </a:xfrm>
          <a:prstGeom prst="rect">
            <a:avLst/>
          </a:prstGeom>
          <a:solidFill>
            <a:srgbClr val="0057B8"/>
          </a:solidFill>
          <a:ln/>
        </p:spPr>
        <p:txBody>
          <a:bodyPr/>
          <a:lstStyle/>
          <a:p>
            <a:endParaRPr lang="en-ZA"/>
          </a:p>
        </p:txBody>
      </p:sp>
      <p:sp>
        <p:nvSpPr>
          <p:cNvPr id="12" name="Text 10"/>
          <p:cNvSpPr/>
          <p:nvPr/>
        </p:nvSpPr>
        <p:spPr>
          <a:xfrm>
            <a:off x="4526280" y="2011680"/>
            <a:ext cx="320040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Pitch Deck</a:t>
            </a:r>
            <a:endParaRPr lang="en-US" sz="1500" dirty="0"/>
          </a:p>
        </p:txBody>
      </p:sp>
      <p:sp>
        <p:nvSpPr>
          <p:cNvPr id="13" name="Text 11"/>
          <p:cNvSpPr/>
          <p:nvPr/>
        </p:nvSpPr>
        <p:spPr>
          <a:xfrm>
            <a:off x="4526280" y="2423160"/>
            <a:ext cx="3200400" cy="365760"/>
          </a:xfrm>
          <a:prstGeom prst="rect">
            <a:avLst/>
          </a:prstGeom>
          <a:noFill/>
          <a:ln/>
        </p:spPr>
        <p:txBody>
          <a:bodyPr wrap="square" rtlCol="0" anchor="ctr"/>
          <a:lstStyle/>
          <a:p>
            <a:pPr marL="0" indent="0">
              <a:buNone/>
            </a:pPr>
            <a:r>
              <a:rPr lang="en-US" sz="1100" i="1" dirty="0">
                <a:solidFill>
                  <a:srgbClr val="0078D4"/>
                </a:solidFill>
                <a:latin typeface="Segoe UI" pitchFamily="34" charset="0"/>
                <a:ea typeface="Segoe UI" pitchFamily="34" charset="-122"/>
                <a:cs typeface="Segoe UI" pitchFamily="34" charset="-120"/>
              </a:rPr>
              <a:t>External narrative · 19 slides</a:t>
            </a:r>
            <a:endParaRPr lang="en-US" sz="1100" dirty="0"/>
          </a:p>
        </p:txBody>
      </p:sp>
      <p:sp>
        <p:nvSpPr>
          <p:cNvPr id="14" name="Text 12"/>
          <p:cNvSpPr/>
          <p:nvPr/>
        </p:nvSpPr>
        <p:spPr>
          <a:xfrm>
            <a:off x="4526280" y="2788920"/>
            <a:ext cx="3200400" cy="7772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Customer C-suite · MCAPS leadership endorsement</a:t>
            </a:r>
            <a:endParaRPr lang="en-US" sz="1100" dirty="0"/>
          </a:p>
        </p:txBody>
      </p:sp>
      <p:sp>
        <p:nvSpPr>
          <p:cNvPr id="15" name="Shape 13"/>
          <p:cNvSpPr/>
          <p:nvPr/>
        </p:nvSpPr>
        <p:spPr>
          <a:xfrm>
            <a:off x="8046720" y="1828800"/>
            <a:ext cx="3611880" cy="1783080"/>
          </a:xfrm>
          <a:prstGeom prst="roundRect">
            <a:avLst>
              <a:gd name="adj" fmla="val 5128"/>
            </a:avLst>
          </a:prstGeom>
          <a:solidFill>
            <a:srgbClr val="FFFFFF"/>
          </a:solidFill>
          <a:ln w="12700">
            <a:solidFill>
              <a:srgbClr val="E1E6EF"/>
            </a:solidFill>
            <a:prstDash val="solid"/>
          </a:ln>
        </p:spPr>
        <p:txBody>
          <a:bodyPr/>
          <a:lstStyle/>
          <a:p>
            <a:endParaRPr lang="en-ZA"/>
          </a:p>
        </p:txBody>
      </p:sp>
      <p:sp>
        <p:nvSpPr>
          <p:cNvPr id="16" name="Shape 14"/>
          <p:cNvSpPr/>
          <p:nvPr/>
        </p:nvSpPr>
        <p:spPr>
          <a:xfrm>
            <a:off x="8046720" y="1828800"/>
            <a:ext cx="3611880" cy="73152"/>
          </a:xfrm>
          <a:prstGeom prst="rect">
            <a:avLst/>
          </a:prstGeom>
          <a:solidFill>
            <a:srgbClr val="225B62"/>
          </a:solidFill>
          <a:ln/>
        </p:spPr>
        <p:txBody>
          <a:bodyPr/>
          <a:lstStyle/>
          <a:p>
            <a:endParaRPr lang="en-ZA"/>
          </a:p>
        </p:txBody>
      </p:sp>
      <p:sp>
        <p:nvSpPr>
          <p:cNvPr id="17" name="Text 15"/>
          <p:cNvSpPr/>
          <p:nvPr/>
        </p:nvSpPr>
        <p:spPr>
          <a:xfrm>
            <a:off x="8275320" y="2011680"/>
            <a:ext cx="320040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Executive One-Pager</a:t>
            </a:r>
            <a:endParaRPr lang="en-US" sz="1500" dirty="0"/>
          </a:p>
        </p:txBody>
      </p:sp>
      <p:sp>
        <p:nvSpPr>
          <p:cNvPr id="18" name="Text 16"/>
          <p:cNvSpPr/>
          <p:nvPr/>
        </p:nvSpPr>
        <p:spPr>
          <a:xfrm>
            <a:off x="8275320" y="2423160"/>
            <a:ext cx="3200400" cy="365760"/>
          </a:xfrm>
          <a:prstGeom prst="rect">
            <a:avLst/>
          </a:prstGeom>
          <a:noFill/>
          <a:ln/>
        </p:spPr>
        <p:txBody>
          <a:bodyPr wrap="square" rtlCol="0" anchor="ctr"/>
          <a:lstStyle/>
          <a:p>
            <a:pPr marL="0" indent="0">
              <a:buNone/>
            </a:pPr>
            <a:r>
              <a:rPr lang="en-US" sz="1100" i="1" dirty="0">
                <a:solidFill>
                  <a:srgbClr val="0078D4"/>
                </a:solidFill>
                <a:latin typeface="Segoe UI" pitchFamily="34" charset="0"/>
                <a:ea typeface="Segoe UI" pitchFamily="34" charset="-122"/>
                <a:cs typeface="Segoe UI" pitchFamily="34" charset="-120"/>
              </a:rPr>
              <a:t>Single-page summary</a:t>
            </a:r>
            <a:endParaRPr lang="en-US" sz="1100" dirty="0"/>
          </a:p>
        </p:txBody>
      </p:sp>
      <p:sp>
        <p:nvSpPr>
          <p:cNvPr id="19" name="Text 17"/>
          <p:cNvSpPr/>
          <p:nvPr/>
        </p:nvSpPr>
        <p:spPr>
          <a:xfrm>
            <a:off x="8275320" y="2788920"/>
            <a:ext cx="3200400" cy="7772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CIO inbox · steerco pre-read · email attachment</a:t>
            </a:r>
            <a:endParaRPr lang="en-US" sz="1100" dirty="0"/>
          </a:p>
        </p:txBody>
      </p:sp>
      <p:sp>
        <p:nvSpPr>
          <p:cNvPr id="20" name="Shape 18"/>
          <p:cNvSpPr/>
          <p:nvPr/>
        </p:nvSpPr>
        <p:spPr>
          <a:xfrm>
            <a:off x="548640" y="3794760"/>
            <a:ext cx="3611880" cy="1783080"/>
          </a:xfrm>
          <a:prstGeom prst="roundRect">
            <a:avLst>
              <a:gd name="adj" fmla="val 5128"/>
            </a:avLst>
          </a:prstGeom>
          <a:solidFill>
            <a:srgbClr val="FFFFFF"/>
          </a:solidFill>
          <a:ln w="12700">
            <a:solidFill>
              <a:srgbClr val="E1E6EF"/>
            </a:solidFill>
            <a:prstDash val="solid"/>
          </a:ln>
        </p:spPr>
        <p:txBody>
          <a:bodyPr/>
          <a:lstStyle/>
          <a:p>
            <a:endParaRPr lang="en-ZA"/>
          </a:p>
        </p:txBody>
      </p:sp>
      <p:sp>
        <p:nvSpPr>
          <p:cNvPr id="21" name="Shape 19"/>
          <p:cNvSpPr/>
          <p:nvPr/>
        </p:nvSpPr>
        <p:spPr>
          <a:xfrm>
            <a:off x="548640" y="3794760"/>
            <a:ext cx="3611880" cy="73152"/>
          </a:xfrm>
          <a:prstGeom prst="rect">
            <a:avLst/>
          </a:prstGeom>
          <a:solidFill>
            <a:srgbClr val="FF5C39"/>
          </a:solidFill>
          <a:ln/>
        </p:spPr>
        <p:txBody>
          <a:bodyPr/>
          <a:lstStyle/>
          <a:p>
            <a:endParaRPr lang="en-ZA"/>
          </a:p>
        </p:txBody>
      </p:sp>
      <p:sp>
        <p:nvSpPr>
          <p:cNvPr id="22" name="Text 20"/>
          <p:cNvSpPr/>
          <p:nvPr/>
        </p:nvSpPr>
        <p:spPr>
          <a:xfrm>
            <a:off x="777240" y="3977640"/>
            <a:ext cx="320040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Partner Recruitment Kit</a:t>
            </a:r>
            <a:endParaRPr lang="en-US" sz="1500" dirty="0"/>
          </a:p>
        </p:txBody>
      </p:sp>
      <p:sp>
        <p:nvSpPr>
          <p:cNvPr id="23" name="Text 21"/>
          <p:cNvSpPr/>
          <p:nvPr/>
        </p:nvSpPr>
        <p:spPr>
          <a:xfrm>
            <a:off x="777240" y="4389120"/>
            <a:ext cx="3200400" cy="365760"/>
          </a:xfrm>
          <a:prstGeom prst="rect">
            <a:avLst/>
          </a:prstGeom>
          <a:noFill/>
          <a:ln/>
        </p:spPr>
        <p:txBody>
          <a:bodyPr wrap="square" rtlCol="0" anchor="ctr"/>
          <a:lstStyle/>
          <a:p>
            <a:pPr marL="0" indent="0">
              <a:buNone/>
            </a:pPr>
            <a:r>
              <a:rPr lang="en-US" sz="1100" i="1" dirty="0">
                <a:solidFill>
                  <a:srgbClr val="0078D4"/>
                </a:solidFill>
                <a:latin typeface="Segoe UI" pitchFamily="34" charset="0"/>
                <a:ea typeface="Segoe UI" pitchFamily="34" charset="-122"/>
                <a:cs typeface="Segoe UI" pitchFamily="34" charset="-120"/>
              </a:rPr>
              <a:t>Anchor onboarding deck</a:t>
            </a:r>
            <a:endParaRPr lang="en-US" sz="1100" dirty="0"/>
          </a:p>
        </p:txBody>
      </p:sp>
      <p:sp>
        <p:nvSpPr>
          <p:cNvPr id="24" name="Text 22"/>
          <p:cNvSpPr/>
          <p:nvPr/>
        </p:nvSpPr>
        <p:spPr>
          <a:xfrm>
            <a:off x="777240" y="4754880"/>
            <a:ext cx="3200400" cy="7772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Partner summit · Anchor qualification call</a:t>
            </a:r>
            <a:endParaRPr lang="en-US" sz="1100" dirty="0"/>
          </a:p>
        </p:txBody>
      </p:sp>
      <p:sp>
        <p:nvSpPr>
          <p:cNvPr id="25" name="Shape 23"/>
          <p:cNvSpPr/>
          <p:nvPr/>
        </p:nvSpPr>
        <p:spPr>
          <a:xfrm>
            <a:off x="4297680" y="3794760"/>
            <a:ext cx="3611880" cy="1783080"/>
          </a:xfrm>
          <a:prstGeom prst="roundRect">
            <a:avLst>
              <a:gd name="adj" fmla="val 5128"/>
            </a:avLst>
          </a:prstGeom>
          <a:solidFill>
            <a:srgbClr val="FFFFFF"/>
          </a:solidFill>
          <a:ln w="12700">
            <a:solidFill>
              <a:srgbClr val="E1E6EF"/>
            </a:solidFill>
            <a:prstDash val="solid"/>
          </a:ln>
        </p:spPr>
        <p:txBody>
          <a:bodyPr/>
          <a:lstStyle/>
          <a:p>
            <a:endParaRPr lang="en-ZA"/>
          </a:p>
        </p:txBody>
      </p:sp>
      <p:sp>
        <p:nvSpPr>
          <p:cNvPr id="26" name="Shape 24"/>
          <p:cNvSpPr/>
          <p:nvPr/>
        </p:nvSpPr>
        <p:spPr>
          <a:xfrm>
            <a:off x="4297680" y="3794760"/>
            <a:ext cx="3611880" cy="73152"/>
          </a:xfrm>
          <a:prstGeom prst="rect">
            <a:avLst/>
          </a:prstGeom>
          <a:solidFill>
            <a:srgbClr val="FFB900"/>
          </a:solidFill>
          <a:ln/>
        </p:spPr>
        <p:txBody>
          <a:bodyPr/>
          <a:lstStyle/>
          <a:p>
            <a:endParaRPr lang="en-ZA"/>
          </a:p>
        </p:txBody>
      </p:sp>
      <p:sp>
        <p:nvSpPr>
          <p:cNvPr id="27" name="Text 25"/>
          <p:cNvSpPr/>
          <p:nvPr/>
        </p:nvSpPr>
        <p:spPr>
          <a:xfrm>
            <a:off x="4526280" y="3977640"/>
            <a:ext cx="320040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Partner Scorecard</a:t>
            </a:r>
            <a:endParaRPr lang="en-US" sz="1500" dirty="0"/>
          </a:p>
        </p:txBody>
      </p:sp>
      <p:sp>
        <p:nvSpPr>
          <p:cNvPr id="28" name="Text 26"/>
          <p:cNvSpPr/>
          <p:nvPr/>
        </p:nvSpPr>
        <p:spPr>
          <a:xfrm>
            <a:off x="4526280" y="4389120"/>
            <a:ext cx="3200400" cy="365760"/>
          </a:xfrm>
          <a:prstGeom prst="rect">
            <a:avLst/>
          </a:prstGeom>
          <a:noFill/>
          <a:ln/>
        </p:spPr>
        <p:txBody>
          <a:bodyPr wrap="square" rtlCol="0" anchor="ctr"/>
          <a:lstStyle/>
          <a:p>
            <a:pPr marL="0" indent="0">
              <a:buNone/>
            </a:pPr>
            <a:r>
              <a:rPr lang="en-US" sz="1100" i="1" dirty="0">
                <a:solidFill>
                  <a:srgbClr val="0078D4"/>
                </a:solidFill>
                <a:latin typeface="Segoe UI" pitchFamily="34" charset="0"/>
                <a:ea typeface="Segoe UI" pitchFamily="34" charset="-122"/>
                <a:cs typeface="Segoe UI" pitchFamily="34" charset="-120"/>
              </a:rPr>
              <a:t>Excel · qualification grid</a:t>
            </a:r>
            <a:endParaRPr lang="en-US" sz="1100" dirty="0"/>
          </a:p>
        </p:txBody>
      </p:sp>
      <p:sp>
        <p:nvSpPr>
          <p:cNvPr id="29" name="Text 27"/>
          <p:cNvSpPr/>
          <p:nvPr/>
        </p:nvSpPr>
        <p:spPr>
          <a:xfrm>
            <a:off x="4526280" y="4754880"/>
            <a:ext cx="3200400" cy="7772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Score the candidate Anchor list before MoU</a:t>
            </a:r>
            <a:endParaRPr lang="en-US" sz="1100" dirty="0"/>
          </a:p>
        </p:txBody>
      </p:sp>
      <p:sp>
        <p:nvSpPr>
          <p:cNvPr id="30" name="Shape 28"/>
          <p:cNvSpPr/>
          <p:nvPr/>
        </p:nvSpPr>
        <p:spPr>
          <a:xfrm>
            <a:off x="8046720" y="3794760"/>
            <a:ext cx="3611880" cy="1783080"/>
          </a:xfrm>
          <a:prstGeom prst="roundRect">
            <a:avLst>
              <a:gd name="adj" fmla="val 5128"/>
            </a:avLst>
          </a:prstGeom>
          <a:solidFill>
            <a:srgbClr val="FFFFFF"/>
          </a:solidFill>
          <a:ln w="12700">
            <a:solidFill>
              <a:srgbClr val="E1E6EF"/>
            </a:solidFill>
            <a:prstDash val="solid"/>
          </a:ln>
        </p:spPr>
        <p:txBody>
          <a:bodyPr/>
          <a:lstStyle/>
          <a:p>
            <a:endParaRPr lang="en-ZA"/>
          </a:p>
        </p:txBody>
      </p:sp>
      <p:sp>
        <p:nvSpPr>
          <p:cNvPr id="31" name="Shape 29"/>
          <p:cNvSpPr/>
          <p:nvPr/>
        </p:nvSpPr>
        <p:spPr>
          <a:xfrm>
            <a:off x="8046720" y="3794760"/>
            <a:ext cx="3611880" cy="73152"/>
          </a:xfrm>
          <a:prstGeom prst="rect">
            <a:avLst/>
          </a:prstGeom>
          <a:solidFill>
            <a:srgbClr val="C03BC4"/>
          </a:solidFill>
          <a:ln/>
        </p:spPr>
        <p:txBody>
          <a:bodyPr/>
          <a:lstStyle/>
          <a:p>
            <a:endParaRPr lang="en-ZA"/>
          </a:p>
        </p:txBody>
      </p:sp>
      <p:sp>
        <p:nvSpPr>
          <p:cNvPr id="32" name="Text 30"/>
          <p:cNvSpPr/>
          <p:nvPr/>
        </p:nvSpPr>
        <p:spPr>
          <a:xfrm>
            <a:off x="8275320" y="3977640"/>
            <a:ext cx="320040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FY27 Launch Plan</a:t>
            </a:r>
            <a:endParaRPr lang="en-US" sz="1500" dirty="0"/>
          </a:p>
        </p:txBody>
      </p:sp>
      <p:sp>
        <p:nvSpPr>
          <p:cNvPr id="33" name="Text 31"/>
          <p:cNvSpPr/>
          <p:nvPr/>
        </p:nvSpPr>
        <p:spPr>
          <a:xfrm>
            <a:off x="8275320" y="4389120"/>
            <a:ext cx="3200400" cy="365760"/>
          </a:xfrm>
          <a:prstGeom prst="rect">
            <a:avLst/>
          </a:prstGeom>
          <a:noFill/>
          <a:ln/>
        </p:spPr>
        <p:txBody>
          <a:bodyPr wrap="square" rtlCol="0" anchor="ctr"/>
          <a:lstStyle/>
          <a:p>
            <a:pPr marL="0" indent="0">
              <a:buNone/>
            </a:pPr>
            <a:r>
              <a:rPr lang="en-US" sz="1100" i="1" dirty="0">
                <a:solidFill>
                  <a:srgbClr val="0078D4"/>
                </a:solidFill>
                <a:latin typeface="Segoe UI" pitchFamily="34" charset="0"/>
                <a:ea typeface="Segoe UI" pitchFamily="34" charset="-122"/>
                <a:cs typeface="Segoe UI" pitchFamily="34" charset="-120"/>
              </a:rPr>
              <a:t>Internal area motion plan</a:t>
            </a:r>
            <a:endParaRPr lang="en-US" sz="1100" dirty="0"/>
          </a:p>
        </p:txBody>
      </p:sp>
      <p:sp>
        <p:nvSpPr>
          <p:cNvPr id="34" name="Text 32"/>
          <p:cNvSpPr/>
          <p:nvPr/>
        </p:nvSpPr>
        <p:spPr>
          <a:xfrm>
            <a:off x="8275320" y="4754880"/>
            <a:ext cx="3200400" cy="7772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Area leadership · MCAPS RSA endorsement</a:t>
            </a:r>
            <a:endParaRPr lang="en-US" sz="1100" dirty="0"/>
          </a:p>
        </p:txBody>
      </p:sp>
      <p:sp>
        <p:nvSpPr>
          <p:cNvPr id="35" name="Text 33"/>
          <p:cNvSpPr/>
          <p:nvPr/>
        </p:nvSpPr>
        <p:spPr>
          <a:xfrm>
            <a:off x="548640" y="6126480"/>
            <a:ext cx="11155680" cy="320040"/>
          </a:xfrm>
          <a:prstGeom prst="rect">
            <a:avLst/>
          </a:prstGeom>
          <a:noFill/>
          <a:ln/>
        </p:spPr>
        <p:txBody>
          <a:bodyPr wrap="square" rtlCol="0" anchor="ctr"/>
          <a:lstStyle/>
          <a:p>
            <a:pPr marL="0" indent="0">
              <a:buNone/>
            </a:pPr>
            <a:r>
              <a:rPr lang="en-US" sz="1200" i="1" dirty="0">
                <a:solidFill>
                  <a:srgbClr val="0078D4"/>
                </a:solidFill>
                <a:latin typeface="Segoe UI" pitchFamily="34" charset="0"/>
                <a:ea typeface="Segoe UI" pitchFamily="34" charset="-122"/>
                <a:cs typeface="Segoe UI" pitchFamily="34" charset="-120"/>
              </a:rPr>
              <a:t>Plus the Frontier AI CoE deck pack (5 decks · one per pillar) — used as customer-facing reference content during Stage 2 envisioning.</a:t>
            </a:r>
            <a:endParaRPr lang="en-US" sz="1200" dirty="0"/>
          </a:p>
        </p:txBody>
      </p:sp>
      <p:pic>
        <p:nvPicPr>
          <p:cNvPr id="36"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7" name="Text 34"/>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38" name="Text 35"/>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QUICK REFERENCE</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000" b="1" dirty="0">
                <a:solidFill>
                  <a:srgbClr val="091F2C"/>
                </a:solidFill>
                <a:latin typeface="Segoe UI" pitchFamily="34" charset="0"/>
                <a:ea typeface="Segoe UI" pitchFamily="34" charset="-122"/>
                <a:cs typeface="Segoe UI" pitchFamily="34" charset="-120"/>
              </a:rPr>
              <a:t>What do I do next? — Decision tree</a:t>
            </a:r>
            <a:endParaRPr lang="en-US" sz="3000" dirty="0"/>
          </a:p>
        </p:txBody>
      </p:sp>
      <p:sp>
        <p:nvSpPr>
          <p:cNvPr id="5" name="Shape 3"/>
          <p:cNvSpPr/>
          <p:nvPr/>
        </p:nvSpPr>
        <p:spPr>
          <a:xfrm>
            <a:off x="472288" y="1828800"/>
            <a:ext cx="3657600" cy="4114800"/>
          </a:xfrm>
          <a:prstGeom prst="roundRect">
            <a:avLst>
              <a:gd name="adj" fmla="val 2500"/>
            </a:avLst>
          </a:prstGeom>
          <a:solidFill>
            <a:srgbClr val="FFF8F5"/>
          </a:solidFill>
          <a:ln w="12700">
            <a:solidFill>
              <a:srgbClr val="E1E6EF"/>
            </a:solidFill>
            <a:prstDash val="solid"/>
          </a:ln>
        </p:spPr>
        <p:txBody>
          <a:bodyPr/>
          <a:lstStyle/>
          <a:p>
            <a:endParaRPr lang="en-ZA"/>
          </a:p>
        </p:txBody>
      </p:sp>
      <p:sp>
        <p:nvSpPr>
          <p:cNvPr id="6" name="Shape 4"/>
          <p:cNvSpPr/>
          <p:nvPr/>
        </p:nvSpPr>
        <p:spPr>
          <a:xfrm>
            <a:off x="472288" y="1828800"/>
            <a:ext cx="3657600" cy="1005840"/>
          </a:xfrm>
          <a:prstGeom prst="rect">
            <a:avLst/>
          </a:prstGeom>
          <a:solidFill>
            <a:srgbClr val="091F2C"/>
          </a:solidFill>
          <a:ln w="12700">
            <a:solidFill>
              <a:srgbClr val="091F2C"/>
            </a:solidFill>
            <a:prstDash val="solid"/>
          </a:ln>
        </p:spPr>
        <p:txBody>
          <a:bodyPr/>
          <a:lstStyle/>
          <a:p>
            <a:endParaRPr lang="en-ZA"/>
          </a:p>
        </p:txBody>
      </p:sp>
      <p:sp>
        <p:nvSpPr>
          <p:cNvPr id="7" name="Text 5"/>
          <p:cNvSpPr/>
          <p:nvPr/>
        </p:nvSpPr>
        <p:spPr>
          <a:xfrm>
            <a:off x="746608" y="1965960"/>
            <a:ext cx="3200400" cy="274320"/>
          </a:xfrm>
          <a:prstGeom prst="rect">
            <a:avLst/>
          </a:prstGeom>
          <a:noFill/>
          <a:ln/>
        </p:spPr>
        <p:txBody>
          <a:bodyPr wrap="square" rtlCol="0" anchor="ctr"/>
          <a:lstStyle/>
          <a:p>
            <a:pPr marL="0" indent="0">
              <a:buNone/>
            </a:pPr>
            <a:r>
              <a:rPr lang="en-US" sz="1100" b="1" kern="0" spc="300" dirty="0">
                <a:solidFill>
                  <a:srgbClr val="C03BC4"/>
                </a:solidFill>
                <a:latin typeface="Segoe UI" pitchFamily="34" charset="0"/>
                <a:ea typeface="Segoe UI" pitchFamily="34" charset="-122"/>
                <a:cs typeface="Segoe UI" pitchFamily="34" charset="-120"/>
              </a:rPr>
              <a:t>Q1</a:t>
            </a:r>
            <a:endParaRPr lang="en-US" sz="1100" dirty="0"/>
          </a:p>
        </p:txBody>
      </p:sp>
      <p:sp>
        <p:nvSpPr>
          <p:cNvPr id="8" name="Text 6"/>
          <p:cNvSpPr/>
          <p:nvPr/>
        </p:nvSpPr>
        <p:spPr>
          <a:xfrm>
            <a:off x="746608" y="2240280"/>
            <a:ext cx="3200400" cy="54864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Is the customer qualified?</a:t>
            </a:r>
            <a:endParaRPr lang="en-US" sz="1600" dirty="0"/>
          </a:p>
        </p:txBody>
      </p:sp>
      <p:sp>
        <p:nvSpPr>
          <p:cNvPr id="9" name="Shape 7"/>
          <p:cNvSpPr/>
          <p:nvPr/>
        </p:nvSpPr>
        <p:spPr>
          <a:xfrm>
            <a:off x="700888" y="3017520"/>
            <a:ext cx="3200400" cy="1325880"/>
          </a:xfrm>
          <a:prstGeom prst="roundRect">
            <a:avLst>
              <a:gd name="adj" fmla="val 4138"/>
            </a:avLst>
          </a:prstGeom>
          <a:solidFill>
            <a:srgbClr val="F1F8F1"/>
          </a:solidFill>
          <a:ln w="12700">
            <a:solidFill>
              <a:srgbClr val="225B62"/>
            </a:solidFill>
            <a:prstDash val="solid"/>
          </a:ln>
        </p:spPr>
        <p:txBody>
          <a:bodyPr/>
          <a:lstStyle/>
          <a:p>
            <a:endParaRPr lang="en-ZA"/>
          </a:p>
        </p:txBody>
      </p:sp>
      <p:sp>
        <p:nvSpPr>
          <p:cNvPr id="10" name="Text 8"/>
          <p:cNvSpPr/>
          <p:nvPr/>
        </p:nvSpPr>
        <p:spPr>
          <a:xfrm>
            <a:off x="838048" y="3108960"/>
            <a:ext cx="2926080" cy="274320"/>
          </a:xfrm>
          <a:prstGeom prst="rect">
            <a:avLst/>
          </a:prstGeom>
          <a:noFill/>
          <a:ln/>
        </p:spPr>
        <p:txBody>
          <a:bodyPr wrap="square" rtlCol="0" anchor="ctr"/>
          <a:lstStyle/>
          <a:p>
            <a:pPr marL="0" indent="0">
              <a:buNone/>
            </a:pPr>
            <a:r>
              <a:rPr lang="en-US" sz="1100" b="1" kern="0" spc="300" dirty="0">
                <a:solidFill>
                  <a:srgbClr val="225B62"/>
                </a:solidFill>
                <a:latin typeface="Segoe UI" pitchFamily="34" charset="0"/>
                <a:ea typeface="Segoe UI" pitchFamily="34" charset="-122"/>
                <a:cs typeface="Segoe UI" pitchFamily="34" charset="-120"/>
              </a:rPr>
              <a:t>YES</a:t>
            </a:r>
            <a:endParaRPr lang="en-US" sz="1100" dirty="0"/>
          </a:p>
        </p:txBody>
      </p:sp>
      <p:sp>
        <p:nvSpPr>
          <p:cNvPr id="11" name="Text 9"/>
          <p:cNvSpPr/>
          <p:nvPr/>
        </p:nvSpPr>
        <p:spPr>
          <a:xfrm>
            <a:off x="838048" y="3383280"/>
            <a:ext cx="2926080" cy="91440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 Step 2 · Pick entry point</a:t>
            </a:r>
            <a:endParaRPr lang="en-US" sz="1300" dirty="0"/>
          </a:p>
        </p:txBody>
      </p:sp>
      <p:sp>
        <p:nvSpPr>
          <p:cNvPr id="12" name="Shape 10"/>
          <p:cNvSpPr/>
          <p:nvPr/>
        </p:nvSpPr>
        <p:spPr>
          <a:xfrm>
            <a:off x="700888" y="4526280"/>
            <a:ext cx="3200400" cy="1325880"/>
          </a:xfrm>
          <a:prstGeom prst="roundRect">
            <a:avLst>
              <a:gd name="adj" fmla="val 4138"/>
            </a:avLst>
          </a:prstGeom>
          <a:solidFill>
            <a:srgbClr val="FDF3F2"/>
          </a:solidFill>
          <a:ln w="12700">
            <a:solidFill>
              <a:srgbClr val="FF5C39"/>
            </a:solidFill>
            <a:prstDash val="solid"/>
          </a:ln>
        </p:spPr>
        <p:txBody>
          <a:bodyPr/>
          <a:lstStyle/>
          <a:p>
            <a:endParaRPr lang="en-ZA"/>
          </a:p>
        </p:txBody>
      </p:sp>
      <p:sp>
        <p:nvSpPr>
          <p:cNvPr id="13" name="Text 11"/>
          <p:cNvSpPr/>
          <p:nvPr/>
        </p:nvSpPr>
        <p:spPr>
          <a:xfrm>
            <a:off x="838048" y="4617720"/>
            <a:ext cx="2926080" cy="274320"/>
          </a:xfrm>
          <a:prstGeom prst="rect">
            <a:avLst/>
          </a:prstGeom>
          <a:noFill/>
          <a:ln/>
        </p:spPr>
        <p:txBody>
          <a:bodyPr wrap="square" rtlCol="0" anchor="ctr"/>
          <a:lstStyle/>
          <a:p>
            <a:pPr marL="0" indent="0">
              <a:buNone/>
            </a:pPr>
            <a:r>
              <a:rPr lang="en-US" sz="1100" b="1" kern="0" spc="300" dirty="0">
                <a:solidFill>
                  <a:srgbClr val="FF5C39"/>
                </a:solidFill>
                <a:latin typeface="Segoe UI" pitchFamily="34" charset="0"/>
                <a:ea typeface="Segoe UI" pitchFamily="34" charset="-122"/>
                <a:cs typeface="Segoe UI" pitchFamily="34" charset="-120"/>
              </a:rPr>
              <a:t>NO</a:t>
            </a:r>
            <a:endParaRPr lang="en-US" sz="1100" dirty="0"/>
          </a:p>
        </p:txBody>
      </p:sp>
      <p:sp>
        <p:nvSpPr>
          <p:cNvPr id="14" name="Text 12"/>
          <p:cNvSpPr/>
          <p:nvPr/>
        </p:nvSpPr>
        <p:spPr>
          <a:xfrm>
            <a:off x="838048" y="4892040"/>
            <a:ext cx="2926080" cy="91440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 Run Solution Assessment first (Stage 1)</a:t>
            </a:r>
            <a:endParaRPr lang="en-US" sz="1300" dirty="0"/>
          </a:p>
        </p:txBody>
      </p:sp>
      <p:sp>
        <p:nvSpPr>
          <p:cNvPr id="15" name="Shape 13"/>
          <p:cNvSpPr/>
          <p:nvPr/>
        </p:nvSpPr>
        <p:spPr>
          <a:xfrm>
            <a:off x="4267048" y="1828800"/>
            <a:ext cx="3657600" cy="4114800"/>
          </a:xfrm>
          <a:prstGeom prst="roundRect">
            <a:avLst>
              <a:gd name="adj" fmla="val 2500"/>
            </a:avLst>
          </a:prstGeom>
          <a:solidFill>
            <a:srgbClr val="FFF8F5"/>
          </a:solidFill>
          <a:ln w="12700">
            <a:solidFill>
              <a:srgbClr val="E1E6EF"/>
            </a:solidFill>
            <a:prstDash val="solid"/>
          </a:ln>
        </p:spPr>
        <p:txBody>
          <a:bodyPr/>
          <a:lstStyle/>
          <a:p>
            <a:endParaRPr lang="en-ZA"/>
          </a:p>
        </p:txBody>
      </p:sp>
      <p:sp>
        <p:nvSpPr>
          <p:cNvPr id="16" name="Shape 14"/>
          <p:cNvSpPr/>
          <p:nvPr/>
        </p:nvSpPr>
        <p:spPr>
          <a:xfrm>
            <a:off x="4267048" y="1828800"/>
            <a:ext cx="3657600" cy="1005840"/>
          </a:xfrm>
          <a:prstGeom prst="rect">
            <a:avLst/>
          </a:prstGeom>
          <a:solidFill>
            <a:srgbClr val="091F2C"/>
          </a:solidFill>
          <a:ln w="12700">
            <a:solidFill>
              <a:srgbClr val="091F2C"/>
            </a:solidFill>
            <a:prstDash val="solid"/>
          </a:ln>
        </p:spPr>
        <p:txBody>
          <a:bodyPr/>
          <a:lstStyle/>
          <a:p>
            <a:endParaRPr lang="en-ZA"/>
          </a:p>
        </p:txBody>
      </p:sp>
      <p:sp>
        <p:nvSpPr>
          <p:cNvPr id="17" name="Text 15"/>
          <p:cNvSpPr/>
          <p:nvPr/>
        </p:nvSpPr>
        <p:spPr>
          <a:xfrm>
            <a:off x="4541368" y="1965960"/>
            <a:ext cx="3200400" cy="274320"/>
          </a:xfrm>
          <a:prstGeom prst="rect">
            <a:avLst/>
          </a:prstGeom>
          <a:noFill/>
          <a:ln/>
        </p:spPr>
        <p:txBody>
          <a:bodyPr wrap="square" rtlCol="0" anchor="ctr"/>
          <a:lstStyle/>
          <a:p>
            <a:pPr marL="0" indent="0">
              <a:buNone/>
            </a:pPr>
            <a:r>
              <a:rPr lang="en-US" sz="1100" b="1" kern="0" spc="300" dirty="0">
                <a:solidFill>
                  <a:srgbClr val="C03BC4"/>
                </a:solidFill>
                <a:latin typeface="Segoe UI" pitchFamily="34" charset="0"/>
                <a:ea typeface="Segoe UI" pitchFamily="34" charset="-122"/>
                <a:cs typeface="Segoe UI" pitchFamily="34" charset="-120"/>
              </a:rPr>
              <a:t>Q2</a:t>
            </a:r>
            <a:endParaRPr lang="en-US" sz="1100" dirty="0"/>
          </a:p>
        </p:txBody>
      </p:sp>
      <p:sp>
        <p:nvSpPr>
          <p:cNvPr id="18" name="Text 16"/>
          <p:cNvSpPr/>
          <p:nvPr/>
        </p:nvSpPr>
        <p:spPr>
          <a:xfrm>
            <a:off x="4541368" y="2240280"/>
            <a:ext cx="3200400" cy="54864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Is the gate met for ATO C2?</a:t>
            </a:r>
            <a:endParaRPr lang="en-US" sz="1600" dirty="0"/>
          </a:p>
        </p:txBody>
      </p:sp>
      <p:sp>
        <p:nvSpPr>
          <p:cNvPr id="19" name="Shape 17"/>
          <p:cNvSpPr/>
          <p:nvPr/>
        </p:nvSpPr>
        <p:spPr>
          <a:xfrm>
            <a:off x="4495648" y="3017520"/>
            <a:ext cx="3200400" cy="1325880"/>
          </a:xfrm>
          <a:prstGeom prst="roundRect">
            <a:avLst>
              <a:gd name="adj" fmla="val 4138"/>
            </a:avLst>
          </a:prstGeom>
          <a:solidFill>
            <a:srgbClr val="F1F8F1"/>
          </a:solidFill>
          <a:ln w="12700">
            <a:solidFill>
              <a:srgbClr val="225B62"/>
            </a:solidFill>
            <a:prstDash val="solid"/>
          </a:ln>
        </p:spPr>
        <p:txBody>
          <a:bodyPr/>
          <a:lstStyle/>
          <a:p>
            <a:endParaRPr lang="en-ZA"/>
          </a:p>
        </p:txBody>
      </p:sp>
      <p:sp>
        <p:nvSpPr>
          <p:cNvPr id="20" name="Text 18"/>
          <p:cNvSpPr/>
          <p:nvPr/>
        </p:nvSpPr>
        <p:spPr>
          <a:xfrm>
            <a:off x="4632808" y="3108960"/>
            <a:ext cx="2926080" cy="274320"/>
          </a:xfrm>
          <a:prstGeom prst="rect">
            <a:avLst/>
          </a:prstGeom>
          <a:noFill/>
          <a:ln/>
        </p:spPr>
        <p:txBody>
          <a:bodyPr wrap="square" rtlCol="0" anchor="ctr"/>
          <a:lstStyle/>
          <a:p>
            <a:pPr marL="0" indent="0">
              <a:buNone/>
            </a:pPr>
            <a:r>
              <a:rPr lang="en-US" sz="1100" b="1" kern="0" spc="300" dirty="0">
                <a:solidFill>
                  <a:srgbClr val="225B62"/>
                </a:solidFill>
                <a:latin typeface="Segoe UI" pitchFamily="34" charset="0"/>
                <a:ea typeface="Segoe UI" pitchFamily="34" charset="-122"/>
                <a:cs typeface="Segoe UI" pitchFamily="34" charset="-120"/>
              </a:rPr>
              <a:t>YES</a:t>
            </a:r>
            <a:endParaRPr lang="en-US" sz="1100" dirty="0"/>
          </a:p>
        </p:txBody>
      </p:sp>
      <p:sp>
        <p:nvSpPr>
          <p:cNvPr id="21" name="Text 19"/>
          <p:cNvSpPr/>
          <p:nvPr/>
        </p:nvSpPr>
        <p:spPr>
          <a:xfrm>
            <a:off x="4632808" y="3383280"/>
            <a:ext cx="2926080" cy="91440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 Unlock $1M envelope · proceed to Step 6</a:t>
            </a:r>
            <a:endParaRPr lang="en-US" sz="1300" dirty="0"/>
          </a:p>
        </p:txBody>
      </p:sp>
      <p:sp>
        <p:nvSpPr>
          <p:cNvPr id="22" name="Shape 20"/>
          <p:cNvSpPr/>
          <p:nvPr/>
        </p:nvSpPr>
        <p:spPr>
          <a:xfrm>
            <a:off x="4495648" y="4526280"/>
            <a:ext cx="3200400" cy="1325880"/>
          </a:xfrm>
          <a:prstGeom prst="roundRect">
            <a:avLst>
              <a:gd name="adj" fmla="val 4138"/>
            </a:avLst>
          </a:prstGeom>
          <a:solidFill>
            <a:srgbClr val="FDF3F2"/>
          </a:solidFill>
          <a:ln w="12700">
            <a:solidFill>
              <a:srgbClr val="FF5C39"/>
            </a:solidFill>
            <a:prstDash val="solid"/>
          </a:ln>
        </p:spPr>
        <p:txBody>
          <a:bodyPr/>
          <a:lstStyle/>
          <a:p>
            <a:endParaRPr lang="en-ZA"/>
          </a:p>
        </p:txBody>
      </p:sp>
      <p:sp>
        <p:nvSpPr>
          <p:cNvPr id="23" name="Text 21"/>
          <p:cNvSpPr/>
          <p:nvPr/>
        </p:nvSpPr>
        <p:spPr>
          <a:xfrm>
            <a:off x="4632808" y="4617720"/>
            <a:ext cx="2926080" cy="274320"/>
          </a:xfrm>
          <a:prstGeom prst="rect">
            <a:avLst/>
          </a:prstGeom>
          <a:noFill/>
          <a:ln/>
        </p:spPr>
        <p:txBody>
          <a:bodyPr wrap="square" rtlCol="0" anchor="ctr"/>
          <a:lstStyle/>
          <a:p>
            <a:pPr marL="0" indent="0">
              <a:buNone/>
            </a:pPr>
            <a:r>
              <a:rPr lang="en-US" sz="1100" b="1" kern="0" spc="300" dirty="0">
                <a:solidFill>
                  <a:srgbClr val="FF5C39"/>
                </a:solidFill>
                <a:latin typeface="Segoe UI" pitchFamily="34" charset="0"/>
                <a:ea typeface="Segoe UI" pitchFamily="34" charset="-122"/>
                <a:cs typeface="Segoe UI" pitchFamily="34" charset="-120"/>
              </a:rPr>
              <a:t>NO</a:t>
            </a:r>
            <a:endParaRPr lang="en-US" sz="1100" dirty="0"/>
          </a:p>
        </p:txBody>
      </p:sp>
      <p:sp>
        <p:nvSpPr>
          <p:cNvPr id="24" name="Text 22"/>
          <p:cNvSpPr/>
          <p:nvPr/>
        </p:nvSpPr>
        <p:spPr>
          <a:xfrm>
            <a:off x="4632808" y="4892040"/>
            <a:ext cx="2926080" cy="91440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 Stay in C2 build · close the gate gap</a:t>
            </a:r>
            <a:endParaRPr lang="en-US" sz="1300" dirty="0"/>
          </a:p>
        </p:txBody>
      </p:sp>
      <p:sp>
        <p:nvSpPr>
          <p:cNvPr id="25" name="Shape 23"/>
          <p:cNvSpPr/>
          <p:nvPr/>
        </p:nvSpPr>
        <p:spPr>
          <a:xfrm>
            <a:off x="8061808" y="1828800"/>
            <a:ext cx="3657600" cy="4114800"/>
          </a:xfrm>
          <a:prstGeom prst="roundRect">
            <a:avLst>
              <a:gd name="adj" fmla="val 2500"/>
            </a:avLst>
          </a:prstGeom>
          <a:solidFill>
            <a:srgbClr val="FFF8F5"/>
          </a:solidFill>
          <a:ln w="12700">
            <a:solidFill>
              <a:srgbClr val="E1E6EF"/>
            </a:solidFill>
            <a:prstDash val="solid"/>
          </a:ln>
        </p:spPr>
        <p:txBody>
          <a:bodyPr/>
          <a:lstStyle/>
          <a:p>
            <a:endParaRPr lang="en-ZA"/>
          </a:p>
        </p:txBody>
      </p:sp>
      <p:sp>
        <p:nvSpPr>
          <p:cNvPr id="26" name="Shape 24"/>
          <p:cNvSpPr/>
          <p:nvPr/>
        </p:nvSpPr>
        <p:spPr>
          <a:xfrm>
            <a:off x="8061808" y="1828800"/>
            <a:ext cx="3657600" cy="1005840"/>
          </a:xfrm>
          <a:prstGeom prst="rect">
            <a:avLst/>
          </a:prstGeom>
          <a:solidFill>
            <a:srgbClr val="091F2C"/>
          </a:solidFill>
          <a:ln w="12700">
            <a:solidFill>
              <a:srgbClr val="091F2C"/>
            </a:solidFill>
            <a:prstDash val="solid"/>
          </a:ln>
        </p:spPr>
        <p:txBody>
          <a:bodyPr/>
          <a:lstStyle/>
          <a:p>
            <a:endParaRPr lang="en-ZA"/>
          </a:p>
        </p:txBody>
      </p:sp>
      <p:sp>
        <p:nvSpPr>
          <p:cNvPr id="27" name="Text 25"/>
          <p:cNvSpPr/>
          <p:nvPr/>
        </p:nvSpPr>
        <p:spPr>
          <a:xfrm>
            <a:off x="8336128" y="1965960"/>
            <a:ext cx="3200400" cy="274320"/>
          </a:xfrm>
          <a:prstGeom prst="rect">
            <a:avLst/>
          </a:prstGeom>
          <a:noFill/>
          <a:ln/>
        </p:spPr>
        <p:txBody>
          <a:bodyPr wrap="square" rtlCol="0" anchor="ctr"/>
          <a:lstStyle/>
          <a:p>
            <a:pPr marL="0" indent="0">
              <a:buNone/>
            </a:pPr>
            <a:r>
              <a:rPr lang="en-US" sz="1100" b="1" kern="0" spc="300" dirty="0">
                <a:solidFill>
                  <a:srgbClr val="C03BC4"/>
                </a:solidFill>
                <a:latin typeface="Segoe UI" pitchFamily="34" charset="0"/>
                <a:ea typeface="Segoe UI" pitchFamily="34" charset="-122"/>
                <a:cs typeface="Segoe UI" pitchFamily="34" charset="-120"/>
              </a:rPr>
              <a:t>Q3</a:t>
            </a:r>
            <a:endParaRPr lang="en-US" sz="1100" dirty="0"/>
          </a:p>
        </p:txBody>
      </p:sp>
      <p:sp>
        <p:nvSpPr>
          <p:cNvPr id="28" name="Text 26"/>
          <p:cNvSpPr/>
          <p:nvPr/>
        </p:nvSpPr>
        <p:spPr>
          <a:xfrm>
            <a:off x="8336128" y="2240280"/>
            <a:ext cx="3200400" cy="54864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Are 3+ agents in production?</a:t>
            </a:r>
            <a:endParaRPr lang="en-US" sz="1600" dirty="0"/>
          </a:p>
        </p:txBody>
      </p:sp>
      <p:sp>
        <p:nvSpPr>
          <p:cNvPr id="29" name="Shape 27"/>
          <p:cNvSpPr/>
          <p:nvPr/>
        </p:nvSpPr>
        <p:spPr>
          <a:xfrm>
            <a:off x="8290408" y="3017520"/>
            <a:ext cx="3200400" cy="1325880"/>
          </a:xfrm>
          <a:prstGeom prst="roundRect">
            <a:avLst>
              <a:gd name="adj" fmla="val 4138"/>
            </a:avLst>
          </a:prstGeom>
          <a:solidFill>
            <a:srgbClr val="F1F8F1"/>
          </a:solidFill>
          <a:ln w="12700">
            <a:solidFill>
              <a:srgbClr val="225B62"/>
            </a:solidFill>
            <a:prstDash val="solid"/>
          </a:ln>
        </p:spPr>
        <p:txBody>
          <a:bodyPr/>
          <a:lstStyle/>
          <a:p>
            <a:endParaRPr lang="en-ZA"/>
          </a:p>
        </p:txBody>
      </p:sp>
      <p:sp>
        <p:nvSpPr>
          <p:cNvPr id="30" name="Text 28"/>
          <p:cNvSpPr/>
          <p:nvPr/>
        </p:nvSpPr>
        <p:spPr>
          <a:xfrm>
            <a:off x="8427568" y="3108960"/>
            <a:ext cx="2926080" cy="274320"/>
          </a:xfrm>
          <a:prstGeom prst="rect">
            <a:avLst/>
          </a:prstGeom>
          <a:noFill/>
          <a:ln/>
        </p:spPr>
        <p:txBody>
          <a:bodyPr wrap="square" rtlCol="0" anchor="ctr"/>
          <a:lstStyle/>
          <a:p>
            <a:pPr marL="0" indent="0">
              <a:buNone/>
            </a:pPr>
            <a:r>
              <a:rPr lang="en-US" sz="1100" b="1" kern="0" spc="300" dirty="0">
                <a:solidFill>
                  <a:srgbClr val="225B62"/>
                </a:solidFill>
                <a:latin typeface="Segoe UI" pitchFamily="34" charset="0"/>
                <a:ea typeface="Segoe UI" pitchFamily="34" charset="-122"/>
                <a:cs typeface="Segoe UI" pitchFamily="34" charset="-120"/>
              </a:rPr>
              <a:t>YES</a:t>
            </a:r>
            <a:endParaRPr lang="en-US" sz="1100" dirty="0"/>
          </a:p>
        </p:txBody>
      </p:sp>
      <p:sp>
        <p:nvSpPr>
          <p:cNvPr id="31" name="Text 29"/>
          <p:cNvSpPr/>
          <p:nvPr/>
        </p:nvSpPr>
        <p:spPr>
          <a:xfrm>
            <a:off x="8427568" y="3383280"/>
            <a:ext cx="2926080" cy="91440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 Federate · open renewal step-up</a:t>
            </a:r>
            <a:endParaRPr lang="en-US" sz="1300" dirty="0"/>
          </a:p>
        </p:txBody>
      </p:sp>
      <p:sp>
        <p:nvSpPr>
          <p:cNvPr id="32" name="Shape 30"/>
          <p:cNvSpPr/>
          <p:nvPr/>
        </p:nvSpPr>
        <p:spPr>
          <a:xfrm>
            <a:off x="8290408" y="4526280"/>
            <a:ext cx="3200400" cy="1325880"/>
          </a:xfrm>
          <a:prstGeom prst="roundRect">
            <a:avLst>
              <a:gd name="adj" fmla="val 4138"/>
            </a:avLst>
          </a:prstGeom>
          <a:solidFill>
            <a:srgbClr val="FDF3F2"/>
          </a:solidFill>
          <a:ln w="12700">
            <a:solidFill>
              <a:srgbClr val="FF5C39"/>
            </a:solidFill>
            <a:prstDash val="solid"/>
          </a:ln>
        </p:spPr>
        <p:txBody>
          <a:bodyPr/>
          <a:lstStyle/>
          <a:p>
            <a:endParaRPr lang="en-ZA"/>
          </a:p>
        </p:txBody>
      </p:sp>
      <p:sp>
        <p:nvSpPr>
          <p:cNvPr id="33" name="Text 31"/>
          <p:cNvSpPr/>
          <p:nvPr/>
        </p:nvSpPr>
        <p:spPr>
          <a:xfrm>
            <a:off x="8427568" y="4617720"/>
            <a:ext cx="2926080" cy="274320"/>
          </a:xfrm>
          <a:prstGeom prst="rect">
            <a:avLst/>
          </a:prstGeom>
          <a:noFill/>
          <a:ln/>
        </p:spPr>
        <p:txBody>
          <a:bodyPr wrap="square" rtlCol="0" anchor="ctr"/>
          <a:lstStyle/>
          <a:p>
            <a:pPr marL="0" indent="0">
              <a:buNone/>
            </a:pPr>
            <a:r>
              <a:rPr lang="en-US" sz="1100" b="1" kern="0" spc="300" dirty="0">
                <a:solidFill>
                  <a:srgbClr val="FF5C39"/>
                </a:solidFill>
                <a:latin typeface="Segoe UI" pitchFamily="34" charset="0"/>
                <a:ea typeface="Segoe UI" pitchFamily="34" charset="-122"/>
                <a:cs typeface="Segoe UI" pitchFamily="34" charset="-120"/>
              </a:rPr>
              <a:t>NO</a:t>
            </a:r>
            <a:endParaRPr lang="en-US" sz="1100" dirty="0"/>
          </a:p>
        </p:txBody>
      </p:sp>
      <p:sp>
        <p:nvSpPr>
          <p:cNvPr id="34" name="Text 32"/>
          <p:cNvSpPr/>
          <p:nvPr/>
        </p:nvSpPr>
        <p:spPr>
          <a:xfrm>
            <a:off x="8427568" y="4892040"/>
            <a:ext cx="2926080" cy="91440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 Stay central · run the Agent Factory</a:t>
            </a:r>
            <a:endParaRPr lang="en-US" sz="1300" dirty="0"/>
          </a:p>
        </p:txBody>
      </p:sp>
      <p:sp>
        <p:nvSpPr>
          <p:cNvPr id="35" name="Text 33"/>
          <p:cNvSpPr/>
          <p:nvPr/>
        </p:nvSpPr>
        <p:spPr>
          <a:xfrm>
            <a:off x="548640" y="6126480"/>
            <a:ext cx="11155680" cy="320040"/>
          </a:xfrm>
          <a:prstGeom prst="rect">
            <a:avLst/>
          </a:prstGeom>
          <a:noFill/>
          <a:ln/>
        </p:spPr>
        <p:txBody>
          <a:bodyPr wrap="square" rtlCol="0" anchor="ctr"/>
          <a:lstStyle/>
          <a:p>
            <a:pPr marL="0" indent="0">
              <a:buNone/>
            </a:pPr>
            <a:r>
              <a:rPr lang="en-US" sz="1200" i="1" dirty="0">
                <a:solidFill>
                  <a:srgbClr val="0078D4"/>
                </a:solidFill>
                <a:latin typeface="Segoe UI" pitchFamily="34" charset="0"/>
                <a:ea typeface="Segoe UI" pitchFamily="34" charset="-122"/>
                <a:cs typeface="Segoe UI" pitchFamily="34" charset="-120"/>
              </a:rPr>
              <a:t>Print this slide. Pin it above your desk. Three questions answer 80% of next-step situations.</a:t>
            </a:r>
            <a:endParaRPr lang="en-US" sz="1200" dirty="0"/>
          </a:p>
        </p:txBody>
      </p:sp>
      <p:pic>
        <p:nvPicPr>
          <p:cNvPr id="36"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7" name="Text 34"/>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38" name="Text 35"/>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GET STARTED</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000" b="1" dirty="0">
                <a:solidFill>
                  <a:srgbClr val="091F2C"/>
                </a:solidFill>
                <a:latin typeface="Segoe UI" pitchFamily="34" charset="0"/>
                <a:ea typeface="Segoe UI" pitchFamily="34" charset="-122"/>
                <a:cs typeface="Segoe UI" pitchFamily="34" charset="-120"/>
              </a:rPr>
              <a:t>Your first 30 days on a CoE account</a:t>
            </a:r>
            <a:endParaRPr lang="en-US" sz="3000" dirty="0"/>
          </a:p>
        </p:txBody>
      </p:sp>
      <p:sp>
        <p:nvSpPr>
          <p:cNvPr id="5" name="Shape 3"/>
          <p:cNvSpPr/>
          <p:nvPr/>
        </p:nvSpPr>
        <p:spPr>
          <a:xfrm>
            <a:off x="403708" y="1828800"/>
            <a:ext cx="2743200" cy="4114800"/>
          </a:xfrm>
          <a:prstGeom prst="roundRect">
            <a:avLst>
              <a:gd name="adj" fmla="val 2667"/>
            </a:avLst>
          </a:prstGeom>
          <a:solidFill>
            <a:srgbClr val="FFFFFF"/>
          </a:solidFill>
          <a:ln w="12700">
            <a:solidFill>
              <a:srgbClr val="E1E6EF"/>
            </a:solidFill>
            <a:prstDash val="solid"/>
          </a:ln>
        </p:spPr>
        <p:txBody>
          <a:bodyPr/>
          <a:lstStyle/>
          <a:p>
            <a:endParaRPr lang="en-ZA"/>
          </a:p>
        </p:txBody>
      </p:sp>
      <p:sp>
        <p:nvSpPr>
          <p:cNvPr id="6" name="Shape 4"/>
          <p:cNvSpPr/>
          <p:nvPr/>
        </p:nvSpPr>
        <p:spPr>
          <a:xfrm>
            <a:off x="403708" y="1828800"/>
            <a:ext cx="2743200" cy="640080"/>
          </a:xfrm>
          <a:prstGeom prst="rect">
            <a:avLst/>
          </a:prstGeom>
          <a:solidFill>
            <a:srgbClr val="0078D4"/>
          </a:solidFill>
          <a:ln w="12700">
            <a:solidFill>
              <a:srgbClr val="0078D4"/>
            </a:solidFill>
            <a:prstDash val="solid"/>
          </a:ln>
        </p:spPr>
        <p:txBody>
          <a:bodyPr/>
          <a:lstStyle/>
          <a:p>
            <a:endParaRPr lang="en-ZA"/>
          </a:p>
        </p:txBody>
      </p:sp>
      <p:sp>
        <p:nvSpPr>
          <p:cNvPr id="7" name="Text 5"/>
          <p:cNvSpPr/>
          <p:nvPr/>
        </p:nvSpPr>
        <p:spPr>
          <a:xfrm>
            <a:off x="586588" y="1874520"/>
            <a:ext cx="2377440" cy="274320"/>
          </a:xfrm>
          <a:prstGeom prst="rect">
            <a:avLst/>
          </a:prstGeom>
          <a:noFill/>
          <a:ln/>
        </p:spPr>
        <p:txBody>
          <a:bodyPr wrap="square" rtlCol="0" anchor="ctr"/>
          <a:lstStyle/>
          <a:p>
            <a:pPr marL="0" indent="0">
              <a:buNone/>
            </a:pPr>
            <a:r>
              <a:rPr lang="en-US" sz="1100" b="1" kern="0" spc="300" dirty="0">
                <a:solidFill>
                  <a:srgbClr val="FFFFFF"/>
                </a:solidFill>
                <a:latin typeface="Segoe UI" pitchFamily="34" charset="0"/>
                <a:ea typeface="Segoe UI" pitchFamily="34" charset="-122"/>
                <a:cs typeface="Segoe UI" pitchFamily="34" charset="-120"/>
              </a:rPr>
              <a:t>WEEK 1</a:t>
            </a:r>
            <a:endParaRPr lang="en-US" sz="1100" dirty="0"/>
          </a:p>
        </p:txBody>
      </p:sp>
      <p:sp>
        <p:nvSpPr>
          <p:cNvPr id="8" name="Text 6"/>
          <p:cNvSpPr/>
          <p:nvPr/>
        </p:nvSpPr>
        <p:spPr>
          <a:xfrm>
            <a:off x="586588" y="2148840"/>
            <a:ext cx="2377440" cy="27432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Read &amp; meet</a:t>
            </a:r>
            <a:endParaRPr lang="en-US" sz="1400" dirty="0"/>
          </a:p>
        </p:txBody>
      </p:sp>
      <p:sp>
        <p:nvSpPr>
          <p:cNvPr id="9" name="Shape 7"/>
          <p:cNvSpPr/>
          <p:nvPr/>
        </p:nvSpPr>
        <p:spPr>
          <a:xfrm>
            <a:off x="632308" y="2788920"/>
            <a:ext cx="164592" cy="164592"/>
          </a:xfrm>
          <a:prstGeom prst="ellipse">
            <a:avLst/>
          </a:prstGeom>
          <a:solidFill>
            <a:srgbClr val="0078D4"/>
          </a:solidFill>
          <a:ln w="12700">
            <a:solidFill>
              <a:srgbClr val="0078D4"/>
            </a:solidFill>
            <a:prstDash val="solid"/>
          </a:ln>
        </p:spPr>
        <p:txBody>
          <a:bodyPr/>
          <a:lstStyle/>
          <a:p>
            <a:endParaRPr lang="en-ZA"/>
          </a:p>
        </p:txBody>
      </p:sp>
      <p:sp>
        <p:nvSpPr>
          <p:cNvPr id="10" name="Text 8"/>
          <p:cNvSpPr/>
          <p:nvPr/>
        </p:nvSpPr>
        <p:spPr>
          <a:xfrm>
            <a:off x="860908" y="2697480"/>
            <a:ext cx="2103120" cy="6858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Read playbook Sections 1–4</a:t>
            </a:r>
            <a:endParaRPr lang="en-US" sz="1100" dirty="0"/>
          </a:p>
        </p:txBody>
      </p:sp>
      <p:sp>
        <p:nvSpPr>
          <p:cNvPr id="11" name="Shape 9"/>
          <p:cNvSpPr/>
          <p:nvPr/>
        </p:nvSpPr>
        <p:spPr>
          <a:xfrm>
            <a:off x="632308" y="3566160"/>
            <a:ext cx="164592" cy="164592"/>
          </a:xfrm>
          <a:prstGeom prst="ellipse">
            <a:avLst/>
          </a:prstGeom>
          <a:solidFill>
            <a:srgbClr val="0078D4"/>
          </a:solidFill>
          <a:ln w="12700">
            <a:solidFill>
              <a:srgbClr val="0078D4"/>
            </a:solidFill>
            <a:prstDash val="solid"/>
          </a:ln>
        </p:spPr>
        <p:txBody>
          <a:bodyPr/>
          <a:lstStyle/>
          <a:p>
            <a:endParaRPr lang="en-ZA"/>
          </a:p>
        </p:txBody>
      </p:sp>
      <p:sp>
        <p:nvSpPr>
          <p:cNvPr id="12" name="Text 10"/>
          <p:cNvSpPr/>
          <p:nvPr/>
        </p:nvSpPr>
        <p:spPr>
          <a:xfrm>
            <a:off x="860908" y="3474720"/>
            <a:ext cx="2103120" cy="6858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Meet ATU AE + ATS</a:t>
            </a:r>
            <a:endParaRPr lang="en-US" sz="1100" dirty="0"/>
          </a:p>
        </p:txBody>
      </p:sp>
      <p:sp>
        <p:nvSpPr>
          <p:cNvPr id="13" name="Shape 11"/>
          <p:cNvSpPr/>
          <p:nvPr/>
        </p:nvSpPr>
        <p:spPr>
          <a:xfrm>
            <a:off x="632308" y="4343400"/>
            <a:ext cx="164592" cy="164592"/>
          </a:xfrm>
          <a:prstGeom prst="ellipse">
            <a:avLst/>
          </a:prstGeom>
          <a:solidFill>
            <a:srgbClr val="0078D4"/>
          </a:solidFill>
          <a:ln w="12700">
            <a:solidFill>
              <a:srgbClr val="0078D4"/>
            </a:solidFill>
            <a:prstDash val="solid"/>
          </a:ln>
        </p:spPr>
        <p:txBody>
          <a:bodyPr/>
          <a:lstStyle/>
          <a:p>
            <a:endParaRPr lang="en-ZA"/>
          </a:p>
        </p:txBody>
      </p:sp>
      <p:sp>
        <p:nvSpPr>
          <p:cNvPr id="14" name="Text 12"/>
          <p:cNvSpPr/>
          <p:nvPr/>
        </p:nvSpPr>
        <p:spPr>
          <a:xfrm>
            <a:off x="860908" y="4251960"/>
            <a:ext cx="2103120" cy="6858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Meet STU lead + EPS PDM</a:t>
            </a:r>
            <a:endParaRPr lang="en-US" sz="1100" dirty="0"/>
          </a:p>
        </p:txBody>
      </p:sp>
      <p:sp>
        <p:nvSpPr>
          <p:cNvPr id="15" name="Shape 13"/>
          <p:cNvSpPr/>
          <p:nvPr/>
        </p:nvSpPr>
        <p:spPr>
          <a:xfrm>
            <a:off x="632308" y="5120640"/>
            <a:ext cx="164592" cy="164592"/>
          </a:xfrm>
          <a:prstGeom prst="ellipse">
            <a:avLst/>
          </a:prstGeom>
          <a:solidFill>
            <a:srgbClr val="0078D4"/>
          </a:solidFill>
          <a:ln w="12700">
            <a:solidFill>
              <a:srgbClr val="0078D4"/>
            </a:solidFill>
            <a:prstDash val="solid"/>
          </a:ln>
        </p:spPr>
        <p:txBody>
          <a:bodyPr/>
          <a:lstStyle/>
          <a:p>
            <a:endParaRPr lang="en-ZA"/>
          </a:p>
        </p:txBody>
      </p:sp>
      <p:sp>
        <p:nvSpPr>
          <p:cNvPr id="16" name="Text 14"/>
          <p:cNvSpPr/>
          <p:nvPr/>
        </p:nvSpPr>
        <p:spPr>
          <a:xfrm>
            <a:off x="860908" y="5029200"/>
            <a:ext cx="2103120" cy="6858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Read existing account plan</a:t>
            </a:r>
            <a:endParaRPr lang="en-US" sz="1100" dirty="0"/>
          </a:p>
        </p:txBody>
      </p:sp>
      <p:sp>
        <p:nvSpPr>
          <p:cNvPr id="17" name="Shape 15"/>
          <p:cNvSpPr/>
          <p:nvPr/>
        </p:nvSpPr>
        <p:spPr>
          <a:xfrm>
            <a:off x="3284068" y="1828800"/>
            <a:ext cx="2743200" cy="4114800"/>
          </a:xfrm>
          <a:prstGeom prst="roundRect">
            <a:avLst>
              <a:gd name="adj" fmla="val 2667"/>
            </a:avLst>
          </a:prstGeom>
          <a:solidFill>
            <a:srgbClr val="FFFFFF"/>
          </a:solidFill>
          <a:ln w="12700">
            <a:solidFill>
              <a:srgbClr val="E1E6EF"/>
            </a:solidFill>
            <a:prstDash val="solid"/>
          </a:ln>
        </p:spPr>
        <p:txBody>
          <a:bodyPr/>
          <a:lstStyle/>
          <a:p>
            <a:endParaRPr lang="en-ZA"/>
          </a:p>
        </p:txBody>
      </p:sp>
      <p:sp>
        <p:nvSpPr>
          <p:cNvPr id="18" name="Shape 16"/>
          <p:cNvSpPr/>
          <p:nvPr/>
        </p:nvSpPr>
        <p:spPr>
          <a:xfrm>
            <a:off x="3284068" y="1828800"/>
            <a:ext cx="2743200" cy="640080"/>
          </a:xfrm>
          <a:prstGeom prst="rect">
            <a:avLst/>
          </a:prstGeom>
          <a:solidFill>
            <a:srgbClr val="0057B8"/>
          </a:solidFill>
          <a:ln w="12700">
            <a:solidFill>
              <a:srgbClr val="0057B8"/>
            </a:solidFill>
            <a:prstDash val="solid"/>
          </a:ln>
        </p:spPr>
        <p:txBody>
          <a:bodyPr/>
          <a:lstStyle/>
          <a:p>
            <a:endParaRPr lang="en-ZA"/>
          </a:p>
        </p:txBody>
      </p:sp>
      <p:sp>
        <p:nvSpPr>
          <p:cNvPr id="19" name="Text 17"/>
          <p:cNvSpPr/>
          <p:nvPr/>
        </p:nvSpPr>
        <p:spPr>
          <a:xfrm>
            <a:off x="3466948" y="1874520"/>
            <a:ext cx="2377440" cy="274320"/>
          </a:xfrm>
          <a:prstGeom prst="rect">
            <a:avLst/>
          </a:prstGeom>
          <a:noFill/>
          <a:ln/>
        </p:spPr>
        <p:txBody>
          <a:bodyPr wrap="square" rtlCol="0" anchor="ctr"/>
          <a:lstStyle/>
          <a:p>
            <a:pPr marL="0" indent="0">
              <a:buNone/>
            </a:pPr>
            <a:r>
              <a:rPr lang="en-US" sz="1100" b="1" kern="0" spc="300" dirty="0">
                <a:solidFill>
                  <a:srgbClr val="FFFFFF"/>
                </a:solidFill>
                <a:latin typeface="Segoe UI" pitchFamily="34" charset="0"/>
                <a:ea typeface="Segoe UI" pitchFamily="34" charset="-122"/>
                <a:cs typeface="Segoe UI" pitchFamily="34" charset="-120"/>
              </a:rPr>
              <a:t>WEEK 2</a:t>
            </a:r>
            <a:endParaRPr lang="en-US" sz="1100" dirty="0"/>
          </a:p>
        </p:txBody>
      </p:sp>
      <p:sp>
        <p:nvSpPr>
          <p:cNvPr id="20" name="Text 18"/>
          <p:cNvSpPr/>
          <p:nvPr/>
        </p:nvSpPr>
        <p:spPr>
          <a:xfrm>
            <a:off x="3466948" y="2148840"/>
            <a:ext cx="2377440" cy="27432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Score the readiness</a:t>
            </a:r>
            <a:endParaRPr lang="en-US" sz="1400" dirty="0"/>
          </a:p>
        </p:txBody>
      </p:sp>
      <p:sp>
        <p:nvSpPr>
          <p:cNvPr id="21" name="Shape 19"/>
          <p:cNvSpPr/>
          <p:nvPr/>
        </p:nvSpPr>
        <p:spPr>
          <a:xfrm>
            <a:off x="3512668" y="2788920"/>
            <a:ext cx="164592" cy="164592"/>
          </a:xfrm>
          <a:prstGeom prst="ellipse">
            <a:avLst/>
          </a:prstGeom>
          <a:solidFill>
            <a:srgbClr val="0057B8"/>
          </a:solidFill>
          <a:ln w="12700">
            <a:solidFill>
              <a:srgbClr val="0057B8"/>
            </a:solidFill>
            <a:prstDash val="solid"/>
          </a:ln>
        </p:spPr>
        <p:txBody>
          <a:bodyPr/>
          <a:lstStyle/>
          <a:p>
            <a:endParaRPr lang="en-ZA"/>
          </a:p>
        </p:txBody>
      </p:sp>
      <p:sp>
        <p:nvSpPr>
          <p:cNvPr id="22" name="Text 20"/>
          <p:cNvSpPr/>
          <p:nvPr/>
        </p:nvSpPr>
        <p:spPr>
          <a:xfrm>
            <a:off x="3741268" y="2697480"/>
            <a:ext cx="2103120" cy="6858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Run Readiness Scorecard with ATU</a:t>
            </a:r>
            <a:endParaRPr lang="en-US" sz="1100" dirty="0"/>
          </a:p>
        </p:txBody>
      </p:sp>
      <p:sp>
        <p:nvSpPr>
          <p:cNvPr id="23" name="Shape 21"/>
          <p:cNvSpPr/>
          <p:nvPr/>
        </p:nvSpPr>
        <p:spPr>
          <a:xfrm>
            <a:off x="3512668" y="3566160"/>
            <a:ext cx="164592" cy="164592"/>
          </a:xfrm>
          <a:prstGeom prst="ellipse">
            <a:avLst/>
          </a:prstGeom>
          <a:solidFill>
            <a:srgbClr val="0057B8"/>
          </a:solidFill>
          <a:ln w="12700">
            <a:solidFill>
              <a:srgbClr val="0057B8"/>
            </a:solidFill>
            <a:prstDash val="solid"/>
          </a:ln>
        </p:spPr>
        <p:txBody>
          <a:bodyPr/>
          <a:lstStyle/>
          <a:p>
            <a:endParaRPr lang="en-ZA"/>
          </a:p>
        </p:txBody>
      </p:sp>
      <p:sp>
        <p:nvSpPr>
          <p:cNvPr id="24" name="Text 22"/>
          <p:cNvSpPr/>
          <p:nvPr/>
        </p:nvSpPr>
        <p:spPr>
          <a:xfrm>
            <a:off x="3741268" y="3474720"/>
            <a:ext cx="2103120" cy="6858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Validate exec sponsor</a:t>
            </a:r>
            <a:endParaRPr lang="en-US" sz="1100" dirty="0"/>
          </a:p>
        </p:txBody>
      </p:sp>
      <p:sp>
        <p:nvSpPr>
          <p:cNvPr id="25" name="Shape 23"/>
          <p:cNvSpPr/>
          <p:nvPr/>
        </p:nvSpPr>
        <p:spPr>
          <a:xfrm>
            <a:off x="3512668" y="4343400"/>
            <a:ext cx="164592" cy="164592"/>
          </a:xfrm>
          <a:prstGeom prst="ellipse">
            <a:avLst/>
          </a:prstGeom>
          <a:solidFill>
            <a:srgbClr val="0057B8"/>
          </a:solidFill>
          <a:ln w="12700">
            <a:solidFill>
              <a:srgbClr val="0057B8"/>
            </a:solidFill>
            <a:prstDash val="solid"/>
          </a:ln>
        </p:spPr>
        <p:txBody>
          <a:bodyPr/>
          <a:lstStyle/>
          <a:p>
            <a:endParaRPr lang="en-ZA"/>
          </a:p>
        </p:txBody>
      </p:sp>
      <p:sp>
        <p:nvSpPr>
          <p:cNvPr id="26" name="Text 24"/>
          <p:cNvSpPr/>
          <p:nvPr/>
        </p:nvSpPr>
        <p:spPr>
          <a:xfrm>
            <a:off x="3741268" y="4251960"/>
            <a:ext cx="2103120" cy="6858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Map data estate</a:t>
            </a:r>
            <a:endParaRPr lang="en-US" sz="1100" dirty="0"/>
          </a:p>
        </p:txBody>
      </p:sp>
      <p:sp>
        <p:nvSpPr>
          <p:cNvPr id="27" name="Shape 25"/>
          <p:cNvSpPr/>
          <p:nvPr/>
        </p:nvSpPr>
        <p:spPr>
          <a:xfrm>
            <a:off x="3512668" y="5120640"/>
            <a:ext cx="164592" cy="164592"/>
          </a:xfrm>
          <a:prstGeom prst="ellipse">
            <a:avLst/>
          </a:prstGeom>
          <a:solidFill>
            <a:srgbClr val="0057B8"/>
          </a:solidFill>
          <a:ln w="12700">
            <a:solidFill>
              <a:srgbClr val="0057B8"/>
            </a:solidFill>
            <a:prstDash val="solid"/>
          </a:ln>
        </p:spPr>
        <p:txBody>
          <a:bodyPr/>
          <a:lstStyle/>
          <a:p>
            <a:endParaRPr lang="en-ZA"/>
          </a:p>
        </p:txBody>
      </p:sp>
      <p:sp>
        <p:nvSpPr>
          <p:cNvPr id="28" name="Text 26"/>
          <p:cNvSpPr/>
          <p:nvPr/>
        </p:nvSpPr>
        <p:spPr>
          <a:xfrm>
            <a:off x="3741268" y="5029200"/>
            <a:ext cx="2103120" cy="6858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Surface use-case backlog</a:t>
            </a:r>
            <a:endParaRPr lang="en-US" sz="1100" dirty="0"/>
          </a:p>
        </p:txBody>
      </p:sp>
      <p:sp>
        <p:nvSpPr>
          <p:cNvPr id="29" name="Shape 27"/>
          <p:cNvSpPr/>
          <p:nvPr/>
        </p:nvSpPr>
        <p:spPr>
          <a:xfrm>
            <a:off x="6164428" y="1828800"/>
            <a:ext cx="2743200" cy="4114800"/>
          </a:xfrm>
          <a:prstGeom prst="roundRect">
            <a:avLst>
              <a:gd name="adj" fmla="val 2667"/>
            </a:avLst>
          </a:prstGeom>
          <a:solidFill>
            <a:srgbClr val="FFFFFF"/>
          </a:solidFill>
          <a:ln w="12700">
            <a:solidFill>
              <a:srgbClr val="E1E6EF"/>
            </a:solidFill>
            <a:prstDash val="solid"/>
          </a:ln>
        </p:spPr>
        <p:txBody>
          <a:bodyPr/>
          <a:lstStyle/>
          <a:p>
            <a:endParaRPr lang="en-ZA"/>
          </a:p>
        </p:txBody>
      </p:sp>
      <p:sp>
        <p:nvSpPr>
          <p:cNvPr id="30" name="Shape 28"/>
          <p:cNvSpPr/>
          <p:nvPr/>
        </p:nvSpPr>
        <p:spPr>
          <a:xfrm>
            <a:off x="6164428" y="1828800"/>
            <a:ext cx="2743200" cy="640080"/>
          </a:xfrm>
          <a:prstGeom prst="rect">
            <a:avLst/>
          </a:prstGeom>
          <a:solidFill>
            <a:srgbClr val="225B62"/>
          </a:solidFill>
          <a:ln w="12700">
            <a:solidFill>
              <a:srgbClr val="225B62"/>
            </a:solidFill>
            <a:prstDash val="solid"/>
          </a:ln>
        </p:spPr>
        <p:txBody>
          <a:bodyPr/>
          <a:lstStyle/>
          <a:p>
            <a:endParaRPr lang="en-ZA"/>
          </a:p>
        </p:txBody>
      </p:sp>
      <p:sp>
        <p:nvSpPr>
          <p:cNvPr id="31" name="Text 29"/>
          <p:cNvSpPr/>
          <p:nvPr/>
        </p:nvSpPr>
        <p:spPr>
          <a:xfrm>
            <a:off x="6347308" y="1874520"/>
            <a:ext cx="2377440" cy="274320"/>
          </a:xfrm>
          <a:prstGeom prst="rect">
            <a:avLst/>
          </a:prstGeom>
          <a:noFill/>
          <a:ln/>
        </p:spPr>
        <p:txBody>
          <a:bodyPr wrap="square" rtlCol="0" anchor="ctr"/>
          <a:lstStyle/>
          <a:p>
            <a:pPr marL="0" indent="0">
              <a:buNone/>
            </a:pPr>
            <a:r>
              <a:rPr lang="en-US" sz="1100" b="1" kern="0" spc="300" dirty="0">
                <a:solidFill>
                  <a:srgbClr val="FFFFFF"/>
                </a:solidFill>
                <a:latin typeface="Segoe UI" pitchFamily="34" charset="0"/>
                <a:ea typeface="Segoe UI" pitchFamily="34" charset="-122"/>
                <a:cs typeface="Segoe UI" pitchFamily="34" charset="-120"/>
              </a:rPr>
              <a:t>WEEK 3</a:t>
            </a:r>
            <a:endParaRPr lang="en-US" sz="1100" dirty="0"/>
          </a:p>
        </p:txBody>
      </p:sp>
      <p:sp>
        <p:nvSpPr>
          <p:cNvPr id="32" name="Text 30"/>
          <p:cNvSpPr/>
          <p:nvPr/>
        </p:nvSpPr>
        <p:spPr>
          <a:xfrm>
            <a:off x="6347308" y="2148840"/>
            <a:ext cx="2377440" cy="27432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Choose the shape</a:t>
            </a:r>
            <a:endParaRPr lang="en-US" sz="1400" dirty="0"/>
          </a:p>
        </p:txBody>
      </p:sp>
      <p:sp>
        <p:nvSpPr>
          <p:cNvPr id="33" name="Shape 31"/>
          <p:cNvSpPr/>
          <p:nvPr/>
        </p:nvSpPr>
        <p:spPr>
          <a:xfrm>
            <a:off x="6393028" y="2788920"/>
            <a:ext cx="164592" cy="164592"/>
          </a:xfrm>
          <a:prstGeom prst="ellipse">
            <a:avLst/>
          </a:prstGeom>
          <a:solidFill>
            <a:srgbClr val="225B62"/>
          </a:solidFill>
          <a:ln w="12700">
            <a:solidFill>
              <a:srgbClr val="225B62"/>
            </a:solidFill>
            <a:prstDash val="solid"/>
          </a:ln>
        </p:spPr>
        <p:txBody>
          <a:bodyPr/>
          <a:lstStyle/>
          <a:p>
            <a:endParaRPr lang="en-ZA"/>
          </a:p>
        </p:txBody>
      </p:sp>
      <p:sp>
        <p:nvSpPr>
          <p:cNvPr id="34" name="Text 32"/>
          <p:cNvSpPr/>
          <p:nvPr/>
        </p:nvSpPr>
        <p:spPr>
          <a:xfrm>
            <a:off x="6621628" y="2697480"/>
            <a:ext cx="2103120" cy="6858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Pick entry surface (A/B/C)</a:t>
            </a:r>
            <a:endParaRPr lang="en-US" sz="1100" dirty="0"/>
          </a:p>
        </p:txBody>
      </p:sp>
      <p:sp>
        <p:nvSpPr>
          <p:cNvPr id="35" name="Shape 33"/>
          <p:cNvSpPr/>
          <p:nvPr/>
        </p:nvSpPr>
        <p:spPr>
          <a:xfrm>
            <a:off x="6393028" y="3566160"/>
            <a:ext cx="164592" cy="164592"/>
          </a:xfrm>
          <a:prstGeom prst="ellipse">
            <a:avLst/>
          </a:prstGeom>
          <a:solidFill>
            <a:srgbClr val="225B62"/>
          </a:solidFill>
          <a:ln w="12700">
            <a:solidFill>
              <a:srgbClr val="225B62"/>
            </a:solidFill>
            <a:prstDash val="solid"/>
          </a:ln>
        </p:spPr>
        <p:txBody>
          <a:bodyPr/>
          <a:lstStyle/>
          <a:p>
            <a:endParaRPr lang="en-ZA"/>
          </a:p>
        </p:txBody>
      </p:sp>
      <p:sp>
        <p:nvSpPr>
          <p:cNvPr id="36" name="Text 34"/>
          <p:cNvSpPr/>
          <p:nvPr/>
        </p:nvSpPr>
        <p:spPr>
          <a:xfrm>
            <a:off x="6621628" y="3474720"/>
            <a:ext cx="2103120" cy="6858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Pick Tier (1/2/3)</a:t>
            </a:r>
            <a:endParaRPr lang="en-US" sz="1100" dirty="0"/>
          </a:p>
        </p:txBody>
      </p:sp>
      <p:sp>
        <p:nvSpPr>
          <p:cNvPr id="37" name="Shape 35"/>
          <p:cNvSpPr/>
          <p:nvPr/>
        </p:nvSpPr>
        <p:spPr>
          <a:xfrm>
            <a:off x="6393028" y="4343400"/>
            <a:ext cx="164592" cy="164592"/>
          </a:xfrm>
          <a:prstGeom prst="ellipse">
            <a:avLst/>
          </a:prstGeom>
          <a:solidFill>
            <a:srgbClr val="225B62"/>
          </a:solidFill>
          <a:ln w="12700">
            <a:solidFill>
              <a:srgbClr val="225B62"/>
            </a:solidFill>
            <a:prstDash val="solid"/>
          </a:ln>
        </p:spPr>
        <p:txBody>
          <a:bodyPr/>
          <a:lstStyle/>
          <a:p>
            <a:endParaRPr lang="en-ZA"/>
          </a:p>
        </p:txBody>
      </p:sp>
      <p:sp>
        <p:nvSpPr>
          <p:cNvPr id="38" name="Text 36"/>
          <p:cNvSpPr/>
          <p:nvPr/>
        </p:nvSpPr>
        <p:spPr>
          <a:xfrm>
            <a:off x="6621628" y="4251960"/>
            <a:ext cx="2103120" cy="6858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Pick ATO Component (C1/C2/C3)</a:t>
            </a:r>
            <a:endParaRPr lang="en-US" sz="1100" dirty="0"/>
          </a:p>
        </p:txBody>
      </p:sp>
      <p:sp>
        <p:nvSpPr>
          <p:cNvPr id="39" name="Shape 37"/>
          <p:cNvSpPr/>
          <p:nvPr/>
        </p:nvSpPr>
        <p:spPr>
          <a:xfrm>
            <a:off x="6393028" y="5120640"/>
            <a:ext cx="164592" cy="164592"/>
          </a:xfrm>
          <a:prstGeom prst="ellipse">
            <a:avLst/>
          </a:prstGeom>
          <a:solidFill>
            <a:srgbClr val="225B62"/>
          </a:solidFill>
          <a:ln w="12700">
            <a:solidFill>
              <a:srgbClr val="225B62"/>
            </a:solidFill>
            <a:prstDash val="solid"/>
          </a:ln>
        </p:spPr>
        <p:txBody>
          <a:bodyPr/>
          <a:lstStyle/>
          <a:p>
            <a:endParaRPr lang="en-ZA"/>
          </a:p>
        </p:txBody>
      </p:sp>
      <p:sp>
        <p:nvSpPr>
          <p:cNvPr id="40" name="Text 38"/>
          <p:cNvSpPr/>
          <p:nvPr/>
        </p:nvSpPr>
        <p:spPr>
          <a:xfrm>
            <a:off x="6621628" y="5029200"/>
            <a:ext cx="2103120" cy="6858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Decide Partner-led or ISD</a:t>
            </a:r>
            <a:endParaRPr lang="en-US" sz="1100" dirty="0"/>
          </a:p>
        </p:txBody>
      </p:sp>
      <p:sp>
        <p:nvSpPr>
          <p:cNvPr id="41" name="Shape 39"/>
          <p:cNvSpPr/>
          <p:nvPr/>
        </p:nvSpPr>
        <p:spPr>
          <a:xfrm>
            <a:off x="9044788" y="1828800"/>
            <a:ext cx="2743200" cy="4114800"/>
          </a:xfrm>
          <a:prstGeom prst="roundRect">
            <a:avLst>
              <a:gd name="adj" fmla="val 2667"/>
            </a:avLst>
          </a:prstGeom>
          <a:solidFill>
            <a:srgbClr val="FFFFFF"/>
          </a:solidFill>
          <a:ln w="12700">
            <a:solidFill>
              <a:srgbClr val="E1E6EF"/>
            </a:solidFill>
            <a:prstDash val="solid"/>
          </a:ln>
        </p:spPr>
        <p:txBody>
          <a:bodyPr/>
          <a:lstStyle/>
          <a:p>
            <a:endParaRPr lang="en-ZA"/>
          </a:p>
        </p:txBody>
      </p:sp>
      <p:sp>
        <p:nvSpPr>
          <p:cNvPr id="42" name="Shape 40"/>
          <p:cNvSpPr/>
          <p:nvPr/>
        </p:nvSpPr>
        <p:spPr>
          <a:xfrm>
            <a:off x="9044788" y="1828800"/>
            <a:ext cx="2743200" cy="640080"/>
          </a:xfrm>
          <a:prstGeom prst="rect">
            <a:avLst/>
          </a:prstGeom>
          <a:solidFill>
            <a:srgbClr val="FF5C39"/>
          </a:solidFill>
          <a:ln w="12700">
            <a:solidFill>
              <a:srgbClr val="FF5C39"/>
            </a:solidFill>
            <a:prstDash val="solid"/>
          </a:ln>
        </p:spPr>
        <p:txBody>
          <a:bodyPr/>
          <a:lstStyle/>
          <a:p>
            <a:endParaRPr lang="en-ZA"/>
          </a:p>
        </p:txBody>
      </p:sp>
      <p:sp>
        <p:nvSpPr>
          <p:cNvPr id="43" name="Text 41"/>
          <p:cNvSpPr/>
          <p:nvPr/>
        </p:nvSpPr>
        <p:spPr>
          <a:xfrm>
            <a:off x="9227668" y="1874520"/>
            <a:ext cx="2377440" cy="274320"/>
          </a:xfrm>
          <a:prstGeom prst="rect">
            <a:avLst/>
          </a:prstGeom>
          <a:noFill/>
          <a:ln/>
        </p:spPr>
        <p:txBody>
          <a:bodyPr wrap="square" rtlCol="0" anchor="ctr"/>
          <a:lstStyle/>
          <a:p>
            <a:pPr marL="0" indent="0">
              <a:buNone/>
            </a:pPr>
            <a:r>
              <a:rPr lang="en-US" sz="1100" b="1" kern="0" spc="300" dirty="0">
                <a:solidFill>
                  <a:srgbClr val="FFFFFF"/>
                </a:solidFill>
                <a:latin typeface="Segoe UI" pitchFamily="34" charset="0"/>
                <a:ea typeface="Segoe UI" pitchFamily="34" charset="-122"/>
                <a:cs typeface="Segoe UI" pitchFamily="34" charset="-120"/>
              </a:rPr>
              <a:t>WEEK 4</a:t>
            </a:r>
            <a:endParaRPr lang="en-US" sz="1100" dirty="0"/>
          </a:p>
        </p:txBody>
      </p:sp>
      <p:sp>
        <p:nvSpPr>
          <p:cNvPr id="44" name="Text 42"/>
          <p:cNvSpPr/>
          <p:nvPr/>
        </p:nvSpPr>
        <p:spPr>
          <a:xfrm>
            <a:off x="9227668" y="2148840"/>
            <a:ext cx="2377440" cy="27432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Plan &amp; kick off</a:t>
            </a:r>
            <a:endParaRPr lang="en-US" sz="1400" dirty="0"/>
          </a:p>
        </p:txBody>
      </p:sp>
      <p:sp>
        <p:nvSpPr>
          <p:cNvPr id="45" name="Shape 43"/>
          <p:cNvSpPr/>
          <p:nvPr/>
        </p:nvSpPr>
        <p:spPr>
          <a:xfrm>
            <a:off x="9273388" y="2788920"/>
            <a:ext cx="164592" cy="164592"/>
          </a:xfrm>
          <a:prstGeom prst="ellipse">
            <a:avLst/>
          </a:prstGeom>
          <a:solidFill>
            <a:srgbClr val="FF5C39"/>
          </a:solidFill>
          <a:ln w="12700">
            <a:solidFill>
              <a:srgbClr val="FF5C39"/>
            </a:solidFill>
            <a:prstDash val="solid"/>
          </a:ln>
        </p:spPr>
        <p:txBody>
          <a:bodyPr/>
          <a:lstStyle/>
          <a:p>
            <a:endParaRPr lang="en-ZA"/>
          </a:p>
        </p:txBody>
      </p:sp>
      <p:sp>
        <p:nvSpPr>
          <p:cNvPr id="46" name="Text 44"/>
          <p:cNvSpPr/>
          <p:nvPr/>
        </p:nvSpPr>
        <p:spPr>
          <a:xfrm>
            <a:off x="9501988" y="2697480"/>
            <a:ext cx="2103120" cy="6858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Draft Tier 1 SOW</a:t>
            </a:r>
            <a:endParaRPr lang="en-US" sz="1100" dirty="0"/>
          </a:p>
        </p:txBody>
      </p:sp>
      <p:sp>
        <p:nvSpPr>
          <p:cNvPr id="47" name="Shape 45"/>
          <p:cNvSpPr/>
          <p:nvPr/>
        </p:nvSpPr>
        <p:spPr>
          <a:xfrm>
            <a:off x="9273388" y="3566160"/>
            <a:ext cx="164592" cy="164592"/>
          </a:xfrm>
          <a:prstGeom prst="ellipse">
            <a:avLst/>
          </a:prstGeom>
          <a:solidFill>
            <a:srgbClr val="FF5C39"/>
          </a:solidFill>
          <a:ln w="12700">
            <a:solidFill>
              <a:srgbClr val="FF5C39"/>
            </a:solidFill>
            <a:prstDash val="solid"/>
          </a:ln>
        </p:spPr>
        <p:txBody>
          <a:bodyPr/>
          <a:lstStyle/>
          <a:p>
            <a:endParaRPr lang="en-ZA"/>
          </a:p>
        </p:txBody>
      </p:sp>
      <p:sp>
        <p:nvSpPr>
          <p:cNvPr id="48" name="Text 46"/>
          <p:cNvSpPr/>
          <p:nvPr/>
        </p:nvSpPr>
        <p:spPr>
          <a:xfrm>
            <a:off x="9501988" y="3474720"/>
            <a:ext cx="2103120" cy="6858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Lock Envisioning workshop dates</a:t>
            </a:r>
            <a:endParaRPr lang="en-US" sz="1100" dirty="0"/>
          </a:p>
        </p:txBody>
      </p:sp>
      <p:sp>
        <p:nvSpPr>
          <p:cNvPr id="49" name="Shape 47"/>
          <p:cNvSpPr/>
          <p:nvPr/>
        </p:nvSpPr>
        <p:spPr>
          <a:xfrm>
            <a:off x="9273388" y="4343400"/>
            <a:ext cx="164592" cy="164592"/>
          </a:xfrm>
          <a:prstGeom prst="ellipse">
            <a:avLst/>
          </a:prstGeom>
          <a:solidFill>
            <a:srgbClr val="FF5C39"/>
          </a:solidFill>
          <a:ln w="12700">
            <a:solidFill>
              <a:srgbClr val="FF5C39"/>
            </a:solidFill>
            <a:prstDash val="solid"/>
          </a:ln>
        </p:spPr>
        <p:txBody>
          <a:bodyPr/>
          <a:lstStyle/>
          <a:p>
            <a:endParaRPr lang="en-ZA"/>
          </a:p>
        </p:txBody>
      </p:sp>
      <p:sp>
        <p:nvSpPr>
          <p:cNvPr id="50" name="Text 48"/>
          <p:cNvSpPr/>
          <p:nvPr/>
        </p:nvSpPr>
        <p:spPr>
          <a:xfrm>
            <a:off x="9501988" y="4251960"/>
            <a:ext cx="2103120" cy="6858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Brief Anchor Partner</a:t>
            </a:r>
            <a:endParaRPr lang="en-US" sz="1100" dirty="0"/>
          </a:p>
        </p:txBody>
      </p:sp>
      <p:sp>
        <p:nvSpPr>
          <p:cNvPr id="51" name="Shape 49"/>
          <p:cNvSpPr/>
          <p:nvPr/>
        </p:nvSpPr>
        <p:spPr>
          <a:xfrm>
            <a:off x="9273388" y="5120640"/>
            <a:ext cx="164592" cy="164592"/>
          </a:xfrm>
          <a:prstGeom prst="ellipse">
            <a:avLst/>
          </a:prstGeom>
          <a:solidFill>
            <a:srgbClr val="FF5C39"/>
          </a:solidFill>
          <a:ln w="12700">
            <a:solidFill>
              <a:srgbClr val="FF5C39"/>
            </a:solidFill>
            <a:prstDash val="solid"/>
          </a:ln>
        </p:spPr>
        <p:txBody>
          <a:bodyPr/>
          <a:lstStyle/>
          <a:p>
            <a:endParaRPr lang="en-ZA"/>
          </a:p>
        </p:txBody>
      </p:sp>
      <p:sp>
        <p:nvSpPr>
          <p:cNvPr id="52" name="Text 50"/>
          <p:cNvSpPr/>
          <p:nvPr/>
        </p:nvSpPr>
        <p:spPr>
          <a:xfrm>
            <a:off x="9501988" y="5029200"/>
            <a:ext cx="2103120" cy="685800"/>
          </a:xfrm>
          <a:prstGeom prst="rect">
            <a:avLst/>
          </a:prstGeom>
          <a:noFill/>
          <a:ln/>
        </p:spPr>
        <p:txBody>
          <a:bodyPr wrap="square" rtlCol="0" anchor="t"/>
          <a:lstStyle/>
          <a:p>
            <a:pPr marL="0" indent="0">
              <a:buNone/>
            </a:pPr>
            <a:r>
              <a:rPr lang="en-US" sz="1100" dirty="0">
                <a:solidFill>
                  <a:srgbClr val="091F2C"/>
                </a:solidFill>
                <a:latin typeface="Segoe UI" pitchFamily="34" charset="0"/>
                <a:ea typeface="Segoe UI" pitchFamily="34" charset="-122"/>
                <a:cs typeface="Segoe UI" pitchFamily="34" charset="-120"/>
              </a:rPr>
              <a:t>Stage 3 kickoff</a:t>
            </a:r>
            <a:endParaRPr lang="en-US" sz="1100" dirty="0"/>
          </a:p>
        </p:txBody>
      </p:sp>
      <p:sp>
        <p:nvSpPr>
          <p:cNvPr id="53" name="Text 51"/>
          <p:cNvSpPr/>
          <p:nvPr/>
        </p:nvSpPr>
        <p:spPr>
          <a:xfrm>
            <a:off x="548640" y="6126480"/>
            <a:ext cx="11155680" cy="320040"/>
          </a:xfrm>
          <a:prstGeom prst="rect">
            <a:avLst/>
          </a:prstGeom>
          <a:noFill/>
          <a:ln/>
        </p:spPr>
        <p:txBody>
          <a:bodyPr wrap="square" rtlCol="0" anchor="ctr"/>
          <a:lstStyle/>
          <a:p>
            <a:pPr marL="0" indent="0">
              <a:buNone/>
            </a:pPr>
            <a:r>
              <a:rPr lang="en-US" sz="1200" b="1" i="1" dirty="0">
                <a:solidFill>
                  <a:srgbClr val="0078D4"/>
                </a:solidFill>
                <a:latin typeface="Segoe UI" pitchFamily="34" charset="0"/>
                <a:ea typeface="Segoe UI" pitchFamily="34" charset="-122"/>
                <a:cs typeface="Segoe UI" pitchFamily="34" charset="-120"/>
              </a:rPr>
              <a:t>Compress where you can — but never skip the Readiness Scorecard.</a:t>
            </a:r>
            <a:endParaRPr lang="en-US" sz="1200" dirty="0"/>
          </a:p>
        </p:txBody>
      </p:sp>
      <p:pic>
        <p:nvPicPr>
          <p:cNvPr id="54"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55" name="Text 52"/>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56" name="Text 53"/>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91F2C"/>
        </a:solidFill>
        <a:effectLst/>
      </p:bgPr>
    </p:bg>
    <p:spTree>
      <p:nvGrpSpPr>
        <p:cNvPr id="1" name=""/>
        <p:cNvGrpSpPr/>
        <p:nvPr/>
      </p:nvGrpSpPr>
      <p:grpSpPr>
        <a:xfrm>
          <a:off x="0" y="0"/>
          <a:ext cx="0" cy="0"/>
          <a:chOff x="0" y="0"/>
          <a:chExt cx="0" cy="0"/>
        </a:xfrm>
      </p:grpSpPr>
      <p:sp>
        <p:nvSpPr>
          <p:cNvPr id="2" name="Shape 0"/>
          <p:cNvSpPr/>
          <p:nvPr/>
        </p:nvSpPr>
        <p:spPr>
          <a:xfrm>
            <a:off x="0" y="1920240"/>
            <a:ext cx="12191695" cy="73152"/>
          </a:xfrm>
          <a:prstGeom prst="rect">
            <a:avLst/>
          </a:prstGeom>
          <a:solidFill>
            <a:srgbClr val="C03BC4"/>
          </a:solidFill>
          <a:ln/>
        </p:spPr>
        <p:txBody>
          <a:bodyPr/>
          <a:lstStyle/>
          <a:p>
            <a:endParaRPr lang="en-ZA"/>
          </a:p>
        </p:txBody>
      </p:sp>
      <p:sp>
        <p:nvSpPr>
          <p:cNvPr id="3" name="Shape 1"/>
          <p:cNvSpPr/>
          <p:nvPr/>
        </p:nvSpPr>
        <p:spPr>
          <a:xfrm>
            <a:off x="0" y="2057400"/>
            <a:ext cx="3047924" cy="27432"/>
          </a:xfrm>
          <a:prstGeom prst="rect">
            <a:avLst/>
          </a:prstGeom>
          <a:solidFill>
            <a:srgbClr val="FFB900"/>
          </a:solidFill>
          <a:ln/>
        </p:spPr>
        <p:txBody>
          <a:bodyPr/>
          <a:lstStyle/>
          <a:p>
            <a:endParaRPr lang="en-ZA"/>
          </a:p>
        </p:txBody>
      </p:sp>
      <p:sp>
        <p:nvSpPr>
          <p:cNvPr id="4" name="Text 2"/>
          <p:cNvSpPr/>
          <p:nvPr/>
        </p:nvSpPr>
        <p:spPr>
          <a:xfrm>
            <a:off x="822960" y="822960"/>
            <a:ext cx="9144000" cy="365760"/>
          </a:xfrm>
          <a:prstGeom prst="rect">
            <a:avLst/>
          </a:prstGeom>
          <a:noFill/>
          <a:ln/>
        </p:spPr>
        <p:txBody>
          <a:bodyPr wrap="square" rtlCol="0" anchor="ctr"/>
          <a:lstStyle/>
          <a:p>
            <a:pPr marL="0" indent="0">
              <a:buNone/>
            </a:pPr>
            <a:r>
              <a:rPr lang="en-US" sz="1200" b="1" kern="0" spc="600" dirty="0">
                <a:solidFill>
                  <a:srgbClr val="C03BC4"/>
                </a:solidFill>
                <a:latin typeface="Segoe UI" pitchFamily="34" charset="0"/>
                <a:ea typeface="Segoe UI" pitchFamily="34" charset="-122"/>
                <a:cs typeface="Segoe UI" pitchFamily="34" charset="-120"/>
              </a:rPr>
              <a:t>WHEN YOU GET STUCK</a:t>
            </a:r>
            <a:endParaRPr lang="en-US" sz="1200" dirty="0"/>
          </a:p>
        </p:txBody>
      </p:sp>
      <p:sp>
        <p:nvSpPr>
          <p:cNvPr id="5" name="Text 3"/>
          <p:cNvSpPr/>
          <p:nvPr/>
        </p:nvSpPr>
        <p:spPr>
          <a:xfrm>
            <a:off x="822960" y="1188720"/>
            <a:ext cx="10058400" cy="822960"/>
          </a:xfrm>
          <a:prstGeom prst="rect">
            <a:avLst/>
          </a:prstGeom>
          <a:noFill/>
          <a:ln/>
        </p:spPr>
        <p:txBody>
          <a:bodyPr wrap="square" rtlCol="0" anchor="ctr"/>
          <a:lstStyle/>
          <a:p>
            <a:pPr marL="0" indent="0">
              <a:buNone/>
            </a:pPr>
            <a:r>
              <a:rPr lang="en-US" sz="4400" b="1" dirty="0">
                <a:solidFill>
                  <a:srgbClr val="FFFFFF"/>
                </a:solidFill>
                <a:latin typeface="Segoe UI" pitchFamily="34" charset="0"/>
                <a:ea typeface="Segoe UI" pitchFamily="34" charset="-122"/>
                <a:cs typeface="Segoe UI" pitchFamily="34" charset="-120"/>
              </a:rPr>
              <a:t>Get help</a:t>
            </a:r>
            <a:endParaRPr lang="en-US" sz="4400" dirty="0"/>
          </a:p>
        </p:txBody>
      </p:sp>
      <p:sp>
        <p:nvSpPr>
          <p:cNvPr id="6" name="Shape 4"/>
          <p:cNvSpPr/>
          <p:nvPr/>
        </p:nvSpPr>
        <p:spPr>
          <a:xfrm>
            <a:off x="403708" y="2468880"/>
            <a:ext cx="2743200" cy="2194560"/>
          </a:xfrm>
          <a:prstGeom prst="roundRect">
            <a:avLst>
              <a:gd name="adj" fmla="val 3333"/>
            </a:avLst>
          </a:prstGeom>
          <a:solidFill>
            <a:srgbClr val="0057B8"/>
          </a:solidFill>
          <a:ln w="12700">
            <a:solidFill>
              <a:srgbClr val="0057B8"/>
            </a:solidFill>
            <a:prstDash val="solid"/>
          </a:ln>
        </p:spPr>
        <p:txBody>
          <a:bodyPr/>
          <a:lstStyle/>
          <a:p>
            <a:endParaRPr lang="en-ZA"/>
          </a:p>
        </p:txBody>
      </p:sp>
      <p:sp>
        <p:nvSpPr>
          <p:cNvPr id="7" name="Text 5"/>
          <p:cNvSpPr/>
          <p:nvPr/>
        </p:nvSpPr>
        <p:spPr>
          <a:xfrm>
            <a:off x="632308" y="2651760"/>
            <a:ext cx="2286000" cy="45720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Delivery question</a:t>
            </a:r>
            <a:endParaRPr lang="en-US" sz="1600" dirty="0"/>
          </a:p>
        </p:txBody>
      </p:sp>
      <p:sp>
        <p:nvSpPr>
          <p:cNvPr id="8" name="Text 6"/>
          <p:cNvSpPr/>
          <p:nvPr/>
        </p:nvSpPr>
        <p:spPr>
          <a:xfrm>
            <a:off x="632308" y="3200400"/>
            <a:ext cx="2286000" cy="137160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Area CSU Lead · CoE practitioner Teams channel</a:t>
            </a:r>
            <a:endParaRPr lang="en-US" sz="1200" dirty="0"/>
          </a:p>
        </p:txBody>
      </p:sp>
      <p:sp>
        <p:nvSpPr>
          <p:cNvPr id="9" name="Shape 7"/>
          <p:cNvSpPr/>
          <p:nvPr/>
        </p:nvSpPr>
        <p:spPr>
          <a:xfrm>
            <a:off x="3284068" y="2468880"/>
            <a:ext cx="2743200" cy="2194560"/>
          </a:xfrm>
          <a:prstGeom prst="roundRect">
            <a:avLst>
              <a:gd name="adj" fmla="val 3333"/>
            </a:avLst>
          </a:prstGeom>
          <a:solidFill>
            <a:srgbClr val="0057B8"/>
          </a:solidFill>
          <a:ln w="12700">
            <a:solidFill>
              <a:srgbClr val="0057B8"/>
            </a:solidFill>
            <a:prstDash val="solid"/>
          </a:ln>
        </p:spPr>
        <p:txBody>
          <a:bodyPr/>
          <a:lstStyle/>
          <a:p>
            <a:endParaRPr lang="en-ZA"/>
          </a:p>
        </p:txBody>
      </p:sp>
      <p:sp>
        <p:nvSpPr>
          <p:cNvPr id="10" name="Text 8"/>
          <p:cNvSpPr/>
          <p:nvPr/>
        </p:nvSpPr>
        <p:spPr>
          <a:xfrm>
            <a:off x="3512668" y="2651760"/>
            <a:ext cx="2286000" cy="45720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Funding question</a:t>
            </a:r>
            <a:endParaRPr lang="en-US" sz="1600" dirty="0"/>
          </a:p>
        </p:txBody>
      </p:sp>
      <p:sp>
        <p:nvSpPr>
          <p:cNvPr id="11" name="Text 9"/>
          <p:cNvSpPr/>
          <p:nvPr/>
        </p:nvSpPr>
        <p:spPr>
          <a:xfrm>
            <a:off x="3512668" y="3200400"/>
            <a:ext cx="2286000" cy="137160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ATU AE + ATS · Area Funding Manager</a:t>
            </a:r>
            <a:endParaRPr lang="en-US" sz="1200" dirty="0"/>
          </a:p>
        </p:txBody>
      </p:sp>
      <p:sp>
        <p:nvSpPr>
          <p:cNvPr id="12" name="Shape 10"/>
          <p:cNvSpPr/>
          <p:nvPr/>
        </p:nvSpPr>
        <p:spPr>
          <a:xfrm>
            <a:off x="6164428" y="2468880"/>
            <a:ext cx="2743200" cy="2194560"/>
          </a:xfrm>
          <a:prstGeom prst="roundRect">
            <a:avLst>
              <a:gd name="adj" fmla="val 3333"/>
            </a:avLst>
          </a:prstGeom>
          <a:solidFill>
            <a:srgbClr val="0057B8"/>
          </a:solidFill>
          <a:ln w="12700">
            <a:solidFill>
              <a:srgbClr val="0057B8"/>
            </a:solidFill>
            <a:prstDash val="solid"/>
          </a:ln>
        </p:spPr>
        <p:txBody>
          <a:bodyPr/>
          <a:lstStyle/>
          <a:p>
            <a:endParaRPr lang="en-ZA"/>
          </a:p>
        </p:txBody>
      </p:sp>
      <p:sp>
        <p:nvSpPr>
          <p:cNvPr id="13" name="Text 11"/>
          <p:cNvSpPr/>
          <p:nvPr/>
        </p:nvSpPr>
        <p:spPr>
          <a:xfrm>
            <a:off x="6393028" y="2651760"/>
            <a:ext cx="2286000" cy="45720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Partner question</a:t>
            </a:r>
            <a:endParaRPr lang="en-US" sz="1600" dirty="0"/>
          </a:p>
        </p:txBody>
      </p:sp>
      <p:sp>
        <p:nvSpPr>
          <p:cNvPr id="14" name="Text 12"/>
          <p:cNvSpPr/>
          <p:nvPr/>
        </p:nvSpPr>
        <p:spPr>
          <a:xfrm>
            <a:off x="6393028" y="3200400"/>
            <a:ext cx="2286000" cy="137160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EPS PDM · Area Partner Lead</a:t>
            </a:r>
            <a:endParaRPr lang="en-US" sz="1200" dirty="0"/>
          </a:p>
        </p:txBody>
      </p:sp>
      <p:sp>
        <p:nvSpPr>
          <p:cNvPr id="15" name="Shape 13"/>
          <p:cNvSpPr/>
          <p:nvPr/>
        </p:nvSpPr>
        <p:spPr>
          <a:xfrm>
            <a:off x="9044788" y="2468880"/>
            <a:ext cx="2743200" cy="2194560"/>
          </a:xfrm>
          <a:prstGeom prst="roundRect">
            <a:avLst>
              <a:gd name="adj" fmla="val 3333"/>
            </a:avLst>
          </a:prstGeom>
          <a:solidFill>
            <a:srgbClr val="0057B8"/>
          </a:solidFill>
          <a:ln w="12700">
            <a:solidFill>
              <a:srgbClr val="0057B8"/>
            </a:solidFill>
            <a:prstDash val="solid"/>
          </a:ln>
        </p:spPr>
        <p:txBody>
          <a:bodyPr/>
          <a:lstStyle/>
          <a:p>
            <a:endParaRPr lang="en-ZA"/>
          </a:p>
        </p:txBody>
      </p:sp>
      <p:sp>
        <p:nvSpPr>
          <p:cNvPr id="16" name="Text 14"/>
          <p:cNvSpPr/>
          <p:nvPr/>
        </p:nvSpPr>
        <p:spPr>
          <a:xfrm>
            <a:off x="9273388" y="2651760"/>
            <a:ext cx="2286000" cy="45720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ISD question</a:t>
            </a:r>
            <a:endParaRPr lang="en-US" sz="1600" dirty="0"/>
          </a:p>
        </p:txBody>
      </p:sp>
      <p:sp>
        <p:nvSpPr>
          <p:cNvPr id="17" name="Text 15"/>
          <p:cNvSpPr/>
          <p:nvPr/>
        </p:nvSpPr>
        <p:spPr>
          <a:xfrm>
            <a:off x="9273388" y="3200400"/>
            <a:ext cx="2286000" cy="137160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Area ISD Lead · escalation via CSU</a:t>
            </a:r>
            <a:endParaRPr lang="en-US" sz="1200" dirty="0"/>
          </a:p>
        </p:txBody>
      </p:sp>
      <p:sp>
        <p:nvSpPr>
          <p:cNvPr id="18" name="Shape 16"/>
          <p:cNvSpPr/>
          <p:nvPr/>
        </p:nvSpPr>
        <p:spPr>
          <a:xfrm>
            <a:off x="822960" y="5120640"/>
            <a:ext cx="10515600" cy="1234440"/>
          </a:xfrm>
          <a:prstGeom prst="roundRect">
            <a:avLst>
              <a:gd name="adj" fmla="val 7407"/>
            </a:avLst>
          </a:prstGeom>
          <a:solidFill>
            <a:srgbClr val="0057B8"/>
          </a:solidFill>
          <a:ln w="12700">
            <a:solidFill>
              <a:srgbClr val="0057B8"/>
            </a:solidFill>
            <a:prstDash val="solid"/>
          </a:ln>
        </p:spPr>
        <p:txBody>
          <a:bodyPr/>
          <a:lstStyle/>
          <a:p>
            <a:endParaRPr lang="en-ZA"/>
          </a:p>
        </p:txBody>
      </p:sp>
      <p:sp>
        <p:nvSpPr>
          <p:cNvPr id="19" name="Text 17"/>
          <p:cNvSpPr/>
          <p:nvPr/>
        </p:nvSpPr>
        <p:spPr>
          <a:xfrm>
            <a:off x="1097280" y="5257800"/>
            <a:ext cx="3657600" cy="274320"/>
          </a:xfrm>
          <a:prstGeom prst="rect">
            <a:avLst/>
          </a:prstGeom>
          <a:noFill/>
          <a:ln/>
        </p:spPr>
        <p:txBody>
          <a:bodyPr wrap="square" rtlCol="0" anchor="ctr"/>
          <a:lstStyle/>
          <a:p>
            <a:pPr marL="0" indent="0">
              <a:buNone/>
            </a:pPr>
            <a:r>
              <a:rPr lang="en-US" sz="1100" b="1" kern="0" spc="300" dirty="0">
                <a:solidFill>
                  <a:srgbClr val="C03BC4"/>
                </a:solidFill>
                <a:latin typeface="Segoe UI" pitchFamily="34" charset="0"/>
                <a:ea typeface="Segoe UI" pitchFamily="34" charset="-122"/>
                <a:cs typeface="Segoe UI" pitchFamily="34" charset="-120"/>
              </a:rPr>
              <a:t>OFFERING OWNER</a:t>
            </a:r>
            <a:endParaRPr lang="en-US" sz="1100" dirty="0"/>
          </a:p>
        </p:txBody>
      </p:sp>
      <p:sp>
        <p:nvSpPr>
          <p:cNvPr id="20" name="Text 18"/>
          <p:cNvSpPr/>
          <p:nvPr/>
        </p:nvSpPr>
        <p:spPr>
          <a:xfrm>
            <a:off x="1097280" y="5532120"/>
            <a:ext cx="10058400" cy="365760"/>
          </a:xfrm>
          <a:prstGeom prst="rect">
            <a:avLst/>
          </a:prstGeom>
          <a:noFill/>
          <a:ln/>
        </p:spPr>
        <p:txBody>
          <a:bodyPr wrap="square" rtlCol="0" anchor="ctr"/>
          <a:lstStyle/>
          <a:p>
            <a:pPr marL="0" indent="0">
              <a:buNone/>
            </a:pPr>
            <a:r>
              <a:rPr lang="en-US" sz="1700" b="1" dirty="0">
                <a:solidFill>
                  <a:srgbClr val="FFFFFF"/>
                </a:solidFill>
                <a:latin typeface="Segoe UI" pitchFamily="34" charset="0"/>
                <a:ea typeface="Segoe UI" pitchFamily="34" charset="-122"/>
                <a:cs typeface="Segoe UI" pitchFamily="34" charset="-120"/>
              </a:rPr>
              <a:t>Yuri Baijnath  ·  SR CSA Manager, RSA CSU</a:t>
            </a:r>
            <a:endParaRPr lang="en-US" sz="1700" dirty="0"/>
          </a:p>
        </p:txBody>
      </p:sp>
      <p:sp>
        <p:nvSpPr>
          <p:cNvPr id="21" name="Text 19"/>
          <p:cNvSpPr/>
          <p:nvPr/>
        </p:nvSpPr>
        <p:spPr>
          <a:xfrm>
            <a:off x="1097280" y="5897880"/>
            <a:ext cx="10058400" cy="27432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Yuri.Baijnath@microsoft.com  ·  Microsoft South Africa</a:t>
            </a:r>
            <a:endParaRPr lang="en-US" sz="1200" dirty="0"/>
          </a:p>
        </p:txBody>
      </p:sp>
      <p:pic>
        <p:nvPicPr>
          <p:cNvPr id="22"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23" name="Text 20"/>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Field guide  ·  © 2026 Microsoft Corporation</a:t>
            </a:r>
            <a:endParaRPr lang="en-US" sz="900" dirty="0"/>
          </a:p>
        </p:txBody>
      </p:sp>
      <p:sp>
        <p:nvSpPr>
          <p:cNvPr id="24" name="Text 21"/>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3407</Words>
  <Application>Microsoft Office PowerPoint</Application>
  <PresentationFormat>Widescreen</PresentationFormat>
  <Paragraphs>484</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the AI Centre of Excellence Offering</dc:title>
  <dc:subject>PptxGenJS Presentation</dc:subject>
  <dc:creator>Yuri Baijnath</dc:creator>
  <cp:lastModifiedBy>Yuri Baijnath</cp:lastModifiedBy>
  <cp:revision>2</cp:revision>
  <dcterms:created xsi:type="dcterms:W3CDTF">2026-05-12T07:17:40Z</dcterms:created>
  <dcterms:modified xsi:type="dcterms:W3CDTF">2026-05-12T07:19:50Z</dcterms:modified>
</cp:coreProperties>
</file>