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320040" cy="201168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377440"/>
            <a:ext cx="164592" cy="201168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Microsoft AI Center of Excellence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50E6FF"/>
                </a:solidFill>
                <a:latin typeface="Segoe UI"/>
              </a:rPr>
              <a:t>for South Africa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Three AI surfaces. Three funding streams. One operating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0E6FF"/>
                </a:solidFill>
                <a:latin typeface="Segoe UI"/>
              </a:rPr>
              <a:t>Yuri Baijnath · CSU Cloud &amp; AI Lead (South Africa), Microsoft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The moat: three surfaces × three streams = nine cells only Microsoft can fill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005840"/>
            <a:ext cx="3246120" cy="64008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1051560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MCAPS-sponsored
(landing &amp; enable)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532120" y="1005840"/>
            <a:ext cx="3246120" cy="64008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51560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Factory zero-cost
(F1–F10 build)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005840"/>
            <a:ext cx="3246120" cy="64008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051560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Partner build-run
(MAICPP scale)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1828800" cy="155448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173736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M365 Copilot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645920"/>
            <a:ext cx="3246120" cy="1554480"/>
          </a:xfrm>
          <a:prstGeom prst="rect">
            <a:avLst/>
          </a:prstGeom>
          <a:solidFill>
            <a:srgbClr val="EAF4FB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173736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202020"/>
                </a:solidFill>
                <a:latin typeface="Segoe UI"/>
              </a:rPr>
              <a:t>Copilot Adoption
Acceleration ECIF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1645920"/>
            <a:ext cx="3246120" cy="1554480"/>
          </a:xfrm>
          <a:prstGeom prst="rect">
            <a:avLst/>
          </a:prstGeom>
          <a:solidFill>
            <a:srgbClr val="EAF4FB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173736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202020"/>
                </a:solidFill>
                <a:latin typeface="Segoe UI"/>
              </a:rPr>
              <a:t>F3 SOE rollout +
F7 governance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1645920"/>
            <a:ext cx="3246120" cy="1554480"/>
          </a:xfrm>
          <a:prstGeom prst="rect">
            <a:avLst/>
          </a:prstGeom>
          <a:solidFill>
            <a:srgbClr val="EAF4FB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73736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202020"/>
                </a:solidFill>
                <a:latin typeface="Segoe UI"/>
              </a:rPr>
              <a:t>Partner-led change
&amp; measurement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1828800" cy="1554480"/>
          </a:xfrm>
          <a:prstGeom prst="rect">
            <a:avLst/>
          </a:prstGeom>
          <a:solidFill>
            <a:srgbClr val="742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46120"/>
            <a:ext cx="173736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Copilot Studio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200400"/>
            <a:ext cx="32461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329184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202020"/>
                </a:solidFill>
                <a:latin typeface="Segoe UI"/>
              </a:rPr>
              <a:t>Agent envisioning
(ACO funded)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3200400"/>
            <a:ext cx="32461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329184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202020"/>
                </a:solidFill>
                <a:latin typeface="Segoe UI"/>
              </a:rPr>
              <a:t>F4 Studio agent
factory pattern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3200400"/>
            <a:ext cx="32461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329184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202020"/>
                </a:solidFill>
                <a:latin typeface="Segoe UI"/>
              </a:rPr>
              <a:t>Partner agent
build-and-run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1828800" cy="155448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800600"/>
            <a:ext cx="173736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Azure AI Foundry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4754880"/>
            <a:ext cx="3246120" cy="1554480"/>
          </a:xfrm>
          <a:prstGeom prst="rect">
            <a:avLst/>
          </a:prstGeom>
          <a:solidFill>
            <a:srgbClr val="EAF4FB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484632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202020"/>
                </a:solidFill>
                <a:latin typeface="Segoe UI"/>
              </a:rPr>
              <a:t>Foundry envisioning
+ landing zone (ACO)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4754880"/>
            <a:ext cx="3246120" cy="1554480"/>
          </a:xfrm>
          <a:prstGeom prst="rect">
            <a:avLst/>
          </a:prstGeom>
          <a:solidFill>
            <a:srgbClr val="EAF4FB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23560" y="484632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202020"/>
                </a:solidFill>
                <a:latin typeface="Segoe UI"/>
              </a:rPr>
              <a:t>F5 Foundry pattern
+ F8 eval harness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4754880"/>
            <a:ext cx="3246120" cy="1554480"/>
          </a:xfrm>
          <a:prstGeom prst="rect">
            <a:avLst/>
          </a:prstGeom>
          <a:solidFill>
            <a:srgbClr val="EAF4FB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484632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202020"/>
                </a:solidFill>
                <a:latin typeface="Segoe UI"/>
              </a:rPr>
              <a:t>Partner build-run
MAICPP commitment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Segoe UI"/>
              </a:rPr>
              <a:t>No hyperscaler controls all three surfaces. No SI controls all three streams. The grid is the moat.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56248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Segoe UI"/>
              </a:rPr>
              <a:t>AI CoE | The moat grid (anchor)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0E6FF"/>
                </a:solidFill>
                <a:latin typeface="Segoe UI"/>
              </a:rPr>
              <a:t>Microsoft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ATO economics — the funding spine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Segoe UI"/>
              </a:rPr>
              <a:t>One Azure Consumption commitment unlocks funded landing, funded factory, and funded first three production use-cases.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23774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0E6FF"/>
                </a:solidFill>
                <a:latin typeface="Segoe UI"/>
              </a:rPr>
              <a:t>Customer commits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4747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  <a:latin typeface="Segoe UI"/>
              </a:rPr>
              <a:t>$1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0E6FF"/>
                </a:solidFill>
                <a:latin typeface="Segoe UI"/>
              </a:rPr>
              <a:t>of ACR commitment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743200"/>
            <a:ext cx="365760" cy="36576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74320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858000" cy="23774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6492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Segoe UI"/>
              </a:rPr>
              <a:t>Microsoft + partner-funded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286000"/>
            <a:ext cx="649224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600" b="1">
                <a:solidFill>
                  <a:srgbClr val="0067B8"/>
                </a:solidFill>
                <a:latin typeface="Segoe UI"/>
              </a:rPr>
              <a:t>$3 – $5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520440"/>
            <a:ext cx="6492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202020"/>
                </a:solidFill>
                <a:latin typeface="Segoe UI"/>
              </a:rPr>
              <a:t>of envisioning, landing zone, factory builds, change &amp; adoption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Segoe UI"/>
              </a:rPr>
              <a:t>Instruments stacked behind the ATO: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2743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6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67B8"/>
                </a:solidFill>
                <a:latin typeface="Segoe UI"/>
              </a:rPr>
              <a:t>ECIF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5780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Segoe UI"/>
              </a:rPr>
              <a:t>Envisioning, pilot, adoption acceleration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4846320"/>
            <a:ext cx="2743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6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48920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67B8"/>
                </a:solidFill>
                <a:latin typeface="Segoe UI"/>
              </a:rPr>
              <a:t>MAICPP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25780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Segoe UI"/>
              </a:rPr>
              <a:t>Partner build-and-run subsidy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2743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6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8920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67B8"/>
                </a:solidFill>
                <a:latin typeface="Segoe UI"/>
              </a:rPr>
              <a:t>ACO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25780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Segoe UI"/>
              </a:rPr>
              <a:t>Azure Consumption commitment offset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4846320"/>
            <a:ext cx="2743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6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48920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67B8"/>
                </a:solidFill>
                <a:latin typeface="Segoe UI"/>
              </a:rPr>
              <a:t>SA / CF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525780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02020"/>
                </a:solidFill>
                <a:latin typeface="Segoe UI"/>
              </a:rPr>
              <a:t>Strategic Architect / Customer Factory IP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56248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Segoe UI"/>
              </a:rPr>
              <a:t>AI CoE | ATO economics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0E6FF"/>
                </a:solidFill>
                <a:latin typeface="Segoe UI"/>
              </a:rPr>
              <a:t>Microsoft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The operating model — one CoE, three surfaces, three streams, four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7448" y="2926080"/>
            <a:ext cx="274320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7448" y="301752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AI CoE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7448" y="356616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0E6FF"/>
                </a:solidFill>
                <a:latin typeface="Segoe UI"/>
              </a:rPr>
              <a:t>charter • RACI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393192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0E6FF"/>
                </a:solidFill>
                <a:latin typeface="Segoe UI"/>
              </a:rPr>
              <a:t>quarterly attestation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097280"/>
            <a:ext cx="2743200" cy="91440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M365 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097280"/>
            <a:ext cx="2743200" cy="914400"/>
          </a:xfrm>
          <a:prstGeom prst="rect">
            <a:avLst/>
          </a:prstGeom>
          <a:solidFill>
            <a:srgbClr val="742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1887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Copilot Studio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097280"/>
            <a:ext cx="2743200" cy="9144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18872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Foundry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2560320" cy="502920"/>
          </a:xfrm>
          <a:prstGeom prst="rect">
            <a:avLst/>
          </a:prstGeom>
          <a:solidFill>
            <a:srgbClr val="EAF4FB"/>
          </a:solidFill>
          <a:ln w="9525">
            <a:solidFill>
              <a:srgbClr val="006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$ MCAPS-sponsored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2560320" cy="502920"/>
          </a:xfrm>
          <a:prstGeom prst="rect">
            <a:avLst/>
          </a:prstGeom>
          <a:solidFill>
            <a:srgbClr val="EAF4FB"/>
          </a:solidFill>
          <a:ln w="9525">
            <a:solidFill>
              <a:srgbClr val="006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29000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$ Factory zero-cost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2560320" cy="502920"/>
          </a:xfrm>
          <a:prstGeom prst="rect">
            <a:avLst/>
          </a:prstGeom>
          <a:solidFill>
            <a:srgbClr val="EAF4FB"/>
          </a:solidFill>
          <a:ln w="9525">
            <a:solidFill>
              <a:srgbClr val="006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69080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$ Partner build-run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560320"/>
            <a:ext cx="2560320" cy="502920"/>
          </a:xfrm>
          <a:prstGeom prst="rect">
            <a:avLst/>
          </a:prstGeom>
          <a:solidFill>
            <a:srgbClr val="EAF4FB"/>
          </a:solidFill>
          <a:ln w="9525">
            <a:solidFill>
              <a:srgbClr val="742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606040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42A9B"/>
                </a:solidFill>
                <a:latin typeface="Segoe UI"/>
              </a:rPr>
              <a:t>⚑ G1 Envision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3154679"/>
            <a:ext cx="2560320" cy="502920"/>
          </a:xfrm>
          <a:prstGeom prst="rect">
            <a:avLst/>
          </a:prstGeom>
          <a:solidFill>
            <a:srgbClr val="EAF4FB"/>
          </a:solidFill>
          <a:ln w="9525">
            <a:solidFill>
              <a:srgbClr val="742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200399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42A9B"/>
                </a:solidFill>
                <a:latin typeface="Segoe UI"/>
              </a:rPr>
              <a:t>⚑ G2 Pre-pilot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3749039"/>
            <a:ext cx="2560320" cy="502920"/>
          </a:xfrm>
          <a:prstGeom prst="rect">
            <a:avLst/>
          </a:prstGeom>
          <a:solidFill>
            <a:srgbClr val="EAF4FB"/>
          </a:solidFill>
          <a:ln w="9525">
            <a:solidFill>
              <a:srgbClr val="742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3794759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42A9B"/>
                </a:solidFill>
                <a:latin typeface="Segoe UI"/>
              </a:rPr>
              <a:t>⚑ G3 Pre-prod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4343400"/>
            <a:ext cx="2560320" cy="502920"/>
          </a:xfrm>
          <a:prstGeom prst="rect">
            <a:avLst/>
          </a:prstGeom>
          <a:solidFill>
            <a:srgbClr val="EAF4FB"/>
          </a:solidFill>
          <a:ln w="9525">
            <a:solidFill>
              <a:srgbClr val="742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4389120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42A9B"/>
                </a:solidFill>
                <a:latin typeface="Segoe UI"/>
              </a:rPr>
              <a:t>⚑ G4 Attestation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Segoe UI"/>
              </a:rPr>
              <a:t>Three surfaces deliver. Three streams fund. Four gates govern. One CoE owns the spine.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56248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Segoe UI"/>
              </a:rPr>
              <a:t>AI CoE | Operating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6556248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0E6FF"/>
                </a:solidFill>
                <a:latin typeface="Segoe UI"/>
              </a:rPr>
              <a:t>Microsoft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What we ask of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0E6FF"/>
                </a:solidFill>
                <a:latin typeface="Segoe UI"/>
              </a:rPr>
              <a:t>Four asks. Nothing else needed to start.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822960" cy="82296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317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One named executive sponsor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7432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0E6FF"/>
                </a:solidFill>
                <a:latin typeface="Segoe UI"/>
              </a:rPr>
              <a:t>C-suite or direct report. Owns the AI CoE charter end-to-end.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54680"/>
            <a:ext cx="822960" cy="82296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004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One measurable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61188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0E6FF"/>
                </a:solidFill>
                <a:latin typeface="Segoe UI"/>
              </a:rPr>
              <a:t>Cycle time, cost-to-serve, or FTE-hours per unit on the chosen workload.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822960" cy="82296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6908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One signed 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48056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0E6FF"/>
                </a:solidFill>
                <a:latin typeface="Segoe UI"/>
              </a:rPr>
              <a:t>Azure Consumption commitment. Unlocks the funded landing zone and first three use-cases.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822960" cy="82296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9204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3776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One quarterly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3492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0E6FF"/>
                </a:solidFill>
                <a:latin typeface="Segoe UI"/>
              </a:rPr>
              <a:t>Sponsor + CISO + Internal Audit. Attestation evidence sampled and signed.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Next step: a 90-minute envisioning workshop. We bring the surfaces, the streams, and a draft charter.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