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6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0"/>
            <a:ext cx="137160" cy="6858000"/>
          </a:xfrm>
          <a:prstGeom prst="rect">
            <a:avLst/>
          </a:prstGeom>
          <a:solidFill>
            <a:srgbClr val="50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07899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50E6FF"/>
                </a:solidFill>
                <a:latin typeface="Segoe UI"/>
              </a:rPr>
              <a:t>AI Center of Excellence | Telco (RSA)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10789920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Segoe UI"/>
              </a:rPr>
              <a:t>AI for network ops, customer-care, and OSS/BSS modernisation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14800"/>
            <a:ext cx="107899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EAF4FB"/>
                </a:solidFill>
                <a:latin typeface="Segoe UI"/>
              </a:rPr>
              <a:t>Executive briefing | 9 slides | Internal seller reference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663440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EAF4FB"/>
                </a:solidFill>
                <a:latin typeface="Segoe UI"/>
              </a:rPr>
              <a:t>Yuri Baijnath - CSU Cloud &amp; AI Lead (South Africa), Microsoft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029200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Segoe UI"/>
              </a:rPr>
              <a:t>Version 1.0 | 2026-06-03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5653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Segoe UI"/>
              </a:rPr>
              <a:t>AI CoE | RSA Sector Briefing | Telco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Segoe UI"/>
              </a:rPr>
              <a:t>1 / 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6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887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Segoe UI"/>
              </a:rPr>
              <a:t>2. Sector context | what's driving AI in this 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Segoe UI"/>
              </a:rPr>
              <a:t>RSA telco: spectrum scarcity, churn pressure, OSS/BSS aging, and a regulator focused on consumer outcomes.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>
                <a:solidFill>
                  <a:srgbClr val="0B1F3A"/>
                </a:solidFill>
                <a:latin typeface="Segoe UI"/>
              </a:rPr>
              <a:t>•  Three big operators competing on network quality + price; AIOps in the NOC is the operating-cost lever.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0B1F3A"/>
                </a:solidFill>
                <a:latin typeface="Segoe UI"/>
              </a:rPr>
              <a:t>•  Churn AI: predictive + agent-assisted retention is the highest near-term ROI for the CX team.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0B1F3A"/>
                </a:solidFill>
                <a:latin typeface="Segoe UI"/>
              </a:rPr>
              <a:t>•  OSS/BSS modernisation: AI doesn't replace the stack, it wraps it - Foundry agents over API gateway.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0B1F3A"/>
                </a:solidFill>
                <a:latin typeface="Segoe UI"/>
              </a:rPr>
              <a:t>•  ICASA: consumer-protection scrutiny on automated decisions in billing / disconnection.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0B1F3A"/>
                </a:solidFill>
                <a:latin typeface="Segoe UI"/>
              </a:rPr>
              <a:t>•  RICA: subscriber-identity controls extend to AI components touching that data.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0B1F3A"/>
                </a:solidFill>
                <a:latin typeface="Segoe UI"/>
              </a:rPr>
              <a:t>•  Mobile-money / fintech adjacency - SARB / FSCA controls also apply where relevant.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653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Segoe UI"/>
              </a:rPr>
              <a:t>AI CoE | RSA Sector Briefing | Telco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Segoe UI"/>
              </a:rPr>
              <a:t>2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6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887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Segoe UI"/>
              </a:rPr>
              <a:t>3. Regulators &amp; frameworks | what governs the AI use-case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22960"/>
            <a:ext cx="566928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77824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</a:rPr>
              <a:t>Sector regulators (RSA)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5486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0B1F3A"/>
                </a:solidFill>
                <a:latin typeface="Segoe UI"/>
              </a:rPr>
              <a:t>•  ICASA - End-User &amp; Subscriber Service Charter regulations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0B1F3A"/>
                </a:solidFill>
                <a:latin typeface="Segoe UI"/>
              </a:rPr>
              <a:t>•  RICA - subscriber identity registration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0B1F3A"/>
                </a:solidFill>
                <a:latin typeface="Segoe UI"/>
              </a:rPr>
              <a:t>•  Information Regulator - POPIA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0B1F3A"/>
                </a:solidFill>
                <a:latin typeface="Segoe UI"/>
              </a:rPr>
              <a:t>•  SARB / FSCA - where mobile-money / fintech is in scope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0B1F3A"/>
                </a:solidFill>
                <a:latin typeface="Segoe UI"/>
              </a:rPr>
              <a:t>•  Competition Commission - pricing + bundle scrutiny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0B1F3A"/>
                </a:solidFill>
                <a:latin typeface="Segoe UI"/>
              </a:rPr>
              <a:t>•  National Treasury - if SOE telco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822960"/>
            <a:ext cx="5669280" cy="457200"/>
          </a:xfrm>
          <a:prstGeom prst="rect">
            <a:avLst/>
          </a:prstGeom>
          <a:solidFill>
            <a:srgbClr val="742A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877824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</a:rPr>
              <a:t>Cross-cutting frameworks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371600"/>
            <a:ext cx="5486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0B1F3A"/>
                </a:solidFill>
                <a:latin typeface="Segoe UI"/>
              </a:rPr>
              <a:t>•  Microsoft RAI v2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0B1F3A"/>
                </a:solidFill>
                <a:latin typeface="Segoe UI"/>
              </a:rPr>
              <a:t>•  ISO/IEC 42001:2023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0B1F3A"/>
                </a:solidFill>
                <a:latin typeface="Segoe UI"/>
              </a:rPr>
              <a:t>•  NIST AI RMF 1.0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0B1F3A"/>
                </a:solidFill>
                <a:latin typeface="Segoe UI"/>
              </a:rPr>
              <a:t>•  TM Forum AI maturity model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0B1F3A"/>
                </a:solidFill>
                <a:latin typeface="Segoe UI"/>
              </a:rPr>
              <a:t>•  ETSI ZSM - zero-touch network management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0B1F3A"/>
                </a:solidFill>
                <a:latin typeface="Segoe UI"/>
              </a:rPr>
              <a:t>•  Microsoft Cloud for Sovereignty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65653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Segoe UI"/>
              </a:rPr>
              <a:t>AI CoE | RSA Sector Briefing | Telco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Segoe UI"/>
              </a:rPr>
              <a:t>3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6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887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Segoe UI"/>
              </a:rPr>
              <a:t>4. Top 3 named AI use-cases for this sector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22960"/>
            <a:ext cx="3749039" cy="548640"/>
          </a:xfrm>
          <a:prstGeom prst="rect">
            <a:avLst/>
          </a:prstGeom>
          <a:solidFill>
            <a:srgbClr val="006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86968"/>
            <a:ext cx="3566159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</a:rPr>
              <a:t>Network AIOps co-pilot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3749039" cy="4937760"/>
          </a:xfrm>
          <a:prstGeom prst="rect">
            <a:avLst/>
          </a:prstGeom>
          <a:solidFill>
            <a:srgbClr val="EA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63040"/>
            <a:ext cx="3474719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742A9B"/>
                </a:solidFill>
                <a:latin typeface="Segoe UI"/>
              </a:rPr>
              <a:t>Surface: Foundry + Sentinel + Log Analytics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20240"/>
            <a:ext cx="3474719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Segoe UI"/>
              </a:rPr>
              <a:t>Value: MTTR reduction 30-40%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468880"/>
            <a:ext cx="3474719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Segoe UI"/>
              </a:rPr>
              <a:t>What it does: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788920"/>
            <a:ext cx="3474719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>
                <a:solidFill>
                  <a:srgbClr val="0B1F3A"/>
                </a:solidFill>
                <a:latin typeface="Segoe UI"/>
              </a:rPr>
              <a:t>•  Alarm correlation + root-cause hypothesis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0B1F3A"/>
                </a:solidFill>
                <a:latin typeface="Segoe UI"/>
              </a:rPr>
              <a:t>•  Run-book retrieval + suggested next-step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0B1F3A"/>
                </a:solidFill>
                <a:latin typeface="Segoe UI"/>
              </a:rPr>
              <a:t>•  Change-window guidance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0B1F3A"/>
                </a:solidFill>
                <a:latin typeface="Segoe UI"/>
              </a:rPr>
              <a:t>•  Post-incident write-up draft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120640"/>
            <a:ext cx="3474719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Segoe UI"/>
              </a:rPr>
              <a:t>Key controls: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440680"/>
            <a:ext cx="347471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>
                <a:solidFill>
                  <a:srgbClr val="0B1F3A"/>
                </a:solidFill>
                <a:latin typeface="Segoe UI"/>
              </a:rPr>
              <a:t>•  Reasoning trace; HITL on production changes; Defender for Cloud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59" y="822960"/>
            <a:ext cx="3749039" cy="548640"/>
          </a:xfrm>
          <a:prstGeom prst="rect">
            <a:avLst/>
          </a:prstGeom>
          <a:solidFill>
            <a:srgbClr val="742A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43399" y="886968"/>
            <a:ext cx="3566159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</a:rPr>
              <a:t>Customer-care agent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1959" y="1371600"/>
            <a:ext cx="3749039" cy="4937760"/>
          </a:xfrm>
          <a:prstGeom prst="rect">
            <a:avLst/>
          </a:prstGeom>
          <a:solidFill>
            <a:srgbClr val="EA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19" y="1463040"/>
            <a:ext cx="3474719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742A9B"/>
                </a:solidFill>
                <a:latin typeface="Segoe UI"/>
              </a:rPr>
              <a:t>Surface: Copilot Studio + Foundry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19" y="1920240"/>
            <a:ext cx="3474719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Segoe UI"/>
              </a:rPr>
              <a:t>Value: AHT reduction 25-35%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19" y="2468880"/>
            <a:ext cx="3474719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Segoe UI"/>
              </a:rPr>
              <a:t>What it does: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19" y="2788920"/>
            <a:ext cx="3474719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>
                <a:solidFill>
                  <a:srgbClr val="0B1F3A"/>
                </a:solidFill>
                <a:latin typeface="Segoe UI"/>
              </a:rPr>
              <a:t>•  Account + billing inquiry resolution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0B1F3A"/>
                </a:solidFill>
                <a:latin typeface="Segoe UI"/>
              </a:rPr>
              <a:t>•  Plan-change with eligibility check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0B1F3A"/>
                </a:solidFill>
                <a:latin typeface="Segoe UI"/>
              </a:rPr>
              <a:t>•  Network-issue triage + ticket creation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0B1F3A"/>
                </a:solidFill>
                <a:latin typeface="Segoe UI"/>
              </a:rPr>
              <a:t>•  WhatsApp / app / IVR channels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19" y="5120640"/>
            <a:ext cx="3474719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Segoe UI"/>
              </a:rPr>
              <a:t>Key controls: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19" y="5440680"/>
            <a:ext cx="347471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>
                <a:solidFill>
                  <a:srgbClr val="0B1F3A"/>
                </a:solidFill>
                <a:latin typeface="Segoe UI"/>
              </a:rPr>
              <a:t>•  ICASA charter eval slice; HITL on disconnection; POPIA opt-in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38158" y="822960"/>
            <a:ext cx="3749039" cy="548640"/>
          </a:xfrm>
          <a:prstGeom prst="rect">
            <a:avLst/>
          </a:prstGeom>
          <a:solidFill>
            <a:srgbClr val="50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598" y="886968"/>
            <a:ext cx="3566159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Segoe UI"/>
              </a:rPr>
              <a:t>OSS/BSS reasoning agent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58" y="1371600"/>
            <a:ext cx="3749039" cy="4937760"/>
          </a:xfrm>
          <a:prstGeom prst="rect">
            <a:avLst/>
          </a:prstGeom>
          <a:solidFill>
            <a:srgbClr val="EA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5318" y="1463040"/>
            <a:ext cx="3474719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742A9B"/>
                </a:solidFill>
                <a:latin typeface="Segoe UI"/>
              </a:rPr>
              <a:t>Surface: Azure AI Foundry over API gateway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18" y="1920240"/>
            <a:ext cx="3474719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Segoe UI"/>
              </a:rPr>
              <a:t>Value: Order-to-activate 50% faster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18" y="2468880"/>
            <a:ext cx="3474719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Segoe UI"/>
              </a:rPr>
              <a:t>What it does: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18" y="2788920"/>
            <a:ext cx="3474719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>
                <a:solidFill>
                  <a:srgbClr val="0B1F3A"/>
                </a:solidFill>
                <a:latin typeface="Segoe UI"/>
              </a:rPr>
              <a:t>•  Order validation across product catalogue + inventory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0B1F3A"/>
                </a:solidFill>
                <a:latin typeface="Segoe UI"/>
              </a:rPr>
              <a:t>•  Provisioning orchestration with error reasoning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0B1F3A"/>
                </a:solidFill>
                <a:latin typeface="Segoe UI"/>
              </a:rPr>
              <a:t>•  SLA breach prediction + escalation draft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0B1F3A"/>
                </a:solidFill>
                <a:latin typeface="Segoe UI"/>
              </a:rPr>
              <a:t>•  Workforce-management co-pilot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18" y="5120640"/>
            <a:ext cx="3474719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Segoe UI"/>
              </a:rPr>
              <a:t>Key controls: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18" y="5440680"/>
            <a:ext cx="347471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>
                <a:solidFill>
                  <a:srgbClr val="0B1F3A"/>
                </a:solidFill>
                <a:latin typeface="Segoe UI"/>
              </a:rPr>
              <a:t>•  Reasoning trace; APIM rate-limits; SOC2-aligned controls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4320" y="65653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Segoe UI"/>
              </a:rPr>
              <a:t>AI CoE | RSA Sector Briefing | Telco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Segoe UI"/>
              </a:rPr>
              <a:t>4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6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887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Segoe UI"/>
              </a:rPr>
              <a:t>5. Sample reference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Segoe UI"/>
              </a:rPr>
              <a:t>Five-layer reference: care + ops surfaces over agent orchestration over OSS/BSS API gateway + telemetry lake.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2743200" cy="960120"/>
          </a:xfrm>
          <a:prstGeom prst="rect">
            <a:avLst/>
          </a:prstGeom>
          <a:solidFill>
            <a:srgbClr val="006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554480"/>
            <a:ext cx="24688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Segoe UI"/>
              </a:rPr>
              <a:t>Experience layer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1280160"/>
            <a:ext cx="8595360" cy="960120"/>
          </a:xfrm>
          <a:prstGeom prst="rect">
            <a:avLst/>
          </a:prstGeom>
          <a:solidFill>
            <a:srgbClr val="EA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37560" y="1463040"/>
            <a:ext cx="8321040" cy="685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Segoe UI"/>
              </a:rPr>
              <a:t>Copilot Studio for care channels; M365 Copilot for ops; Teams + Power Pages for HITL queues.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313432"/>
            <a:ext cx="2743200" cy="960120"/>
          </a:xfrm>
          <a:prstGeom prst="rect">
            <a:avLst/>
          </a:prstGeom>
          <a:solidFill>
            <a:srgbClr val="742A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587752"/>
            <a:ext cx="24688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Segoe UI"/>
              </a:rPr>
              <a:t>Orchestration / agents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2313432"/>
            <a:ext cx="8595360" cy="960120"/>
          </a:xfrm>
          <a:prstGeom prst="rect">
            <a:avLst/>
          </a:prstGeom>
          <a:solidFill>
            <a:srgbClr val="EA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37560" y="2496312"/>
            <a:ext cx="8321040" cy="685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Segoe UI"/>
              </a:rPr>
              <a:t>Foundry orchestrators for OSS/BSS + AIOps; Copilot Studio for care intents.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346704"/>
            <a:ext cx="2743200" cy="960120"/>
          </a:xfrm>
          <a:prstGeom prst="rect">
            <a:avLst/>
          </a:prstGeom>
          <a:solidFill>
            <a:srgbClr val="50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621024"/>
            <a:ext cx="24688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Segoe UI"/>
              </a:rPr>
              <a:t>Reasoning &amp; retrieval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3346704"/>
            <a:ext cx="8595360" cy="960120"/>
          </a:xfrm>
          <a:prstGeom prst="rect">
            <a:avLst/>
          </a:prstGeom>
          <a:solidFill>
            <a:srgbClr val="EA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37560" y="3529584"/>
            <a:ext cx="8321040" cy="685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Segoe UI"/>
              </a:rPr>
              <a:t>gpt-4o-mini default; gpt-4o for AIOps reasoning; vector index over run-books + tariffs.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379976"/>
            <a:ext cx="2743200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654296"/>
            <a:ext cx="24688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Segoe UI"/>
              </a:rPr>
              <a:t>Data foundation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0" y="4379976"/>
            <a:ext cx="8595360" cy="960120"/>
          </a:xfrm>
          <a:prstGeom prst="rect">
            <a:avLst/>
          </a:prstGeom>
          <a:solidFill>
            <a:srgbClr val="EA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37560" y="4562856"/>
            <a:ext cx="8321040" cy="685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Segoe UI"/>
              </a:rPr>
              <a:t>Fabric + Synapse + Event Hubs; OSS/BSS exposed via APIM; telemetry via Log Analytics + Sentinel.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413248"/>
            <a:ext cx="2743200" cy="960120"/>
          </a:xfrm>
          <a:prstGeom prst="rect">
            <a:avLst/>
          </a:prstGeom>
          <a:solidFill>
            <a:srgbClr val="006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5687568"/>
            <a:ext cx="24688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Segoe UI"/>
              </a:rPr>
              <a:t>Governance &amp; security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0" y="5413248"/>
            <a:ext cx="8595360" cy="960120"/>
          </a:xfrm>
          <a:prstGeom prst="rect">
            <a:avLst/>
          </a:prstGeom>
          <a:solidFill>
            <a:srgbClr val="EA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37560" y="5596128"/>
            <a:ext cx="8321040" cy="685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Segoe UI"/>
              </a:rPr>
              <a:t>Purview AI Hub; Defender for Cloud AI; POPIA + RICA controls; APIM policy enforcement.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65653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Segoe UI"/>
              </a:rPr>
              <a:t>AI CoE | RSA Sector Briefing | Telco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Segoe UI"/>
              </a:rPr>
              <a:t>5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6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887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Segoe UI"/>
              </a:rPr>
              <a:t>6. Sovereignty &amp; governance posture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Segoe UI"/>
              </a:rPr>
              <a:t>POPIA + RICA + ICASA charter form the governance perimeter; Foundry data-zone gives the residency story.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0B1F3A"/>
                </a:solidFill>
                <a:latin typeface="Segoe UI"/>
              </a:rPr>
              <a:t>•  SA North + SA West dual-region for network-critical services.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0B1F3A"/>
                </a:solidFill>
                <a:latin typeface="Segoe UI"/>
              </a:rPr>
              <a:t>•  Foundry data-zone scoping for SA-resident subscriber data.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0B1F3A"/>
                </a:solidFill>
                <a:latin typeface="Segoe UI"/>
              </a:rPr>
              <a:t>•  Customer-Managed Keys; private endpoints; VNet integration.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0B1F3A"/>
                </a:solidFill>
                <a:latin typeface="Segoe UI"/>
              </a:rPr>
              <a:t>•  Purview AI Hub for reasoning trace; ICASA + Information Regulator audit-ready.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0B1F3A"/>
                </a:solidFill>
                <a:latin typeface="Segoe UI"/>
              </a:rPr>
              <a:t>•  Defender for Cloud AI surfaces shadow-AI in care / marketing tools.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0B1F3A"/>
                </a:solidFill>
                <a:latin typeface="Segoe UI"/>
              </a:rPr>
              <a:t>•  RICA-protected identity data tokenised before model input.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653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Segoe UI"/>
              </a:rPr>
              <a:t>AI CoE | RSA Sector Briefing | Telco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Segoe UI"/>
              </a:rPr>
              <a:t>6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6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887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Segoe UI"/>
              </a:rPr>
              <a:t>7. Engagement shape | ATO sizing &amp; funding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22960"/>
            <a:ext cx="2560320" cy="457200"/>
          </a:xfrm>
          <a:prstGeom prst="rect">
            <a:avLst/>
          </a:prstGeom>
          <a:solidFill>
            <a:srgbClr val="006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86968"/>
            <a:ext cx="25603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Segoe UI"/>
              </a:rPr>
              <a:t>Phase</a:t>
            </a:r>
          </a:p>
        </p:txBody>
      </p:sp>
      <p:sp>
        <p:nvSpPr>
          <p:cNvPr id="7" name="Rectangle 6"/>
          <p:cNvSpPr/>
          <p:nvPr/>
        </p:nvSpPr>
        <p:spPr>
          <a:xfrm>
            <a:off x="2926080" y="822960"/>
            <a:ext cx="2926080" cy="457200"/>
          </a:xfrm>
          <a:prstGeom prst="rect">
            <a:avLst/>
          </a:prstGeom>
          <a:solidFill>
            <a:srgbClr val="006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0" y="886968"/>
            <a:ext cx="29260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Segoe UI"/>
              </a:rPr>
              <a:t>Vehicle</a:t>
            </a:r>
          </a:p>
        </p:txBody>
      </p:sp>
      <p:sp>
        <p:nvSpPr>
          <p:cNvPr id="9" name="Rectangle 8"/>
          <p:cNvSpPr/>
          <p:nvPr/>
        </p:nvSpPr>
        <p:spPr>
          <a:xfrm>
            <a:off x="5852160" y="822960"/>
            <a:ext cx="2011680" cy="457200"/>
          </a:xfrm>
          <a:prstGeom prst="rect">
            <a:avLst/>
          </a:prstGeom>
          <a:solidFill>
            <a:srgbClr val="006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0" y="886968"/>
            <a:ext cx="20116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Segoe UI"/>
              </a:rPr>
              <a:t>Envelope (USD)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63840" y="822960"/>
            <a:ext cx="4297680" cy="457200"/>
          </a:xfrm>
          <a:prstGeom prst="rect">
            <a:avLst/>
          </a:prstGeom>
          <a:solidFill>
            <a:srgbClr val="006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0" y="886968"/>
            <a:ext cx="42976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Segoe UI"/>
              </a:rPr>
              <a:t>Output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280160"/>
            <a:ext cx="2560320" cy="548640"/>
          </a:xfrm>
          <a:prstGeom prst="rect">
            <a:avLst/>
          </a:prstGeom>
          <a:solidFill>
            <a:srgbClr val="EA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371600"/>
            <a:ext cx="24231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Segoe UI"/>
              </a:rPr>
              <a:t>Envision workshop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26080" y="1280160"/>
            <a:ext cx="2926080" cy="548640"/>
          </a:xfrm>
          <a:prstGeom prst="rect">
            <a:avLst/>
          </a:prstGeom>
          <a:solidFill>
            <a:srgbClr val="EA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17520" y="1371600"/>
            <a:ext cx="27889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Segoe UI"/>
              </a:rPr>
              <a:t>Pre-sales ECIF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52160" y="1280160"/>
            <a:ext cx="2011680" cy="548640"/>
          </a:xfrm>
          <a:prstGeom prst="rect">
            <a:avLst/>
          </a:prstGeom>
          <a:solidFill>
            <a:srgbClr val="EA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0" y="1371600"/>
            <a:ext cx="18745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Segoe UI"/>
              </a:rPr>
              <a:t>50,000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63840" y="1280160"/>
            <a:ext cx="4297680" cy="548640"/>
          </a:xfrm>
          <a:prstGeom prst="rect">
            <a:avLst/>
          </a:prstGeom>
          <a:solidFill>
            <a:srgbClr val="EA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80" y="1371600"/>
            <a:ext cx="41605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Segoe UI"/>
              </a:rPr>
              <a:t>AIOps + care use-case shortlist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1828800"/>
            <a:ext cx="256032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1920240"/>
            <a:ext cx="24231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Segoe UI"/>
              </a:rPr>
              <a:t>AIOps pilot (10 wk)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26080" y="1828800"/>
            <a:ext cx="292608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17520" y="1920240"/>
            <a:ext cx="27889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Segoe UI"/>
              </a:rPr>
              <a:t>ATO + partner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52160" y="1828800"/>
            <a:ext cx="201168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0" y="1920240"/>
            <a:ext cx="18745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Segoe UI"/>
              </a:rPr>
              <a:t>400,000-800,000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63840" y="1828800"/>
            <a:ext cx="429768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55280" y="1920240"/>
            <a:ext cx="41605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Segoe UI"/>
              </a:rPr>
              <a:t>NOC co-pilot in 1 region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2377440"/>
            <a:ext cx="2560320" cy="548640"/>
          </a:xfrm>
          <a:prstGeom prst="rect">
            <a:avLst/>
          </a:prstGeom>
          <a:solidFill>
            <a:srgbClr val="EA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2468880"/>
            <a:ext cx="24231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Segoe UI"/>
              </a:rPr>
              <a:t>Care agent pilot (12 wk)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926080" y="2377440"/>
            <a:ext cx="2926080" cy="548640"/>
          </a:xfrm>
          <a:prstGeom prst="rect">
            <a:avLst/>
          </a:prstGeom>
          <a:solidFill>
            <a:srgbClr val="EA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17520" y="2468880"/>
            <a:ext cx="27889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Segoe UI"/>
              </a:rPr>
              <a:t>ATO + partner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852160" y="2377440"/>
            <a:ext cx="2011680" cy="548640"/>
          </a:xfrm>
          <a:prstGeom prst="rect">
            <a:avLst/>
          </a:prstGeom>
          <a:solidFill>
            <a:srgbClr val="EA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0" y="2468880"/>
            <a:ext cx="18745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Segoe UI"/>
              </a:rPr>
              <a:t>500,000-1,000,000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863840" y="2377440"/>
            <a:ext cx="4297680" cy="548640"/>
          </a:xfrm>
          <a:prstGeom prst="rect">
            <a:avLst/>
          </a:prstGeom>
          <a:solidFill>
            <a:srgbClr val="EA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55280" y="2468880"/>
            <a:ext cx="41605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Segoe UI"/>
              </a:rPr>
              <a:t>WhatsApp + web care agent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2926080"/>
            <a:ext cx="256032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3017520"/>
            <a:ext cx="24231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Segoe UI"/>
              </a:rPr>
              <a:t>OSS/BSS pilot (12 wk)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926080" y="2926080"/>
            <a:ext cx="292608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017520" y="3017520"/>
            <a:ext cx="27889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Segoe UI"/>
              </a:rPr>
              <a:t>ATO + partner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852160" y="2926080"/>
            <a:ext cx="201168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43600" y="3017520"/>
            <a:ext cx="18745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Segoe UI"/>
              </a:rPr>
              <a:t>750,000-1,000,000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863840" y="2926080"/>
            <a:ext cx="429768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955280" y="3017520"/>
            <a:ext cx="41605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Segoe UI"/>
              </a:rPr>
              <a:t>Order-to-activate agent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3474720"/>
            <a:ext cx="2560320" cy="548640"/>
          </a:xfrm>
          <a:prstGeom prst="rect">
            <a:avLst/>
          </a:prstGeom>
          <a:solidFill>
            <a:srgbClr val="EA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3566160"/>
            <a:ext cx="24231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Segoe UI"/>
              </a:rPr>
              <a:t>Production run-rate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926080" y="3474720"/>
            <a:ext cx="2926080" cy="548640"/>
          </a:xfrm>
          <a:prstGeom prst="rect">
            <a:avLst/>
          </a:prstGeom>
          <a:solidFill>
            <a:srgbClr val="EA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017520" y="3566160"/>
            <a:ext cx="27889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Segoe UI"/>
              </a:rPr>
              <a:t>MAICPP + partner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852160" y="3474720"/>
            <a:ext cx="2011680" cy="548640"/>
          </a:xfrm>
          <a:prstGeom prst="rect">
            <a:avLst/>
          </a:prstGeom>
          <a:solidFill>
            <a:srgbClr val="EA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943600" y="3566160"/>
            <a:ext cx="18745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Segoe UI"/>
              </a:rPr>
              <a:t>by partner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863840" y="3474720"/>
            <a:ext cx="4297680" cy="548640"/>
          </a:xfrm>
          <a:prstGeom prst="rect">
            <a:avLst/>
          </a:prstGeom>
          <a:solidFill>
            <a:srgbClr val="EA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955280" y="3566160"/>
            <a:ext cx="41605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Segoe UI"/>
              </a:rPr>
              <a:t>Scale + FinOps + governance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5760" y="5029200"/>
            <a:ext cx="11430000" cy="457200"/>
          </a:xfrm>
          <a:prstGeom prst="rect">
            <a:avLst/>
          </a:prstGeom>
          <a:solidFill>
            <a:srgbClr val="742A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02920" y="5093208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Segoe UI"/>
              </a:rPr>
              <a:t>Anonymised reference: RSA mobile operator - care agent + AIOps co-pilot pilots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2920" y="5577840"/>
            <a:ext cx="1124712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Segoe UI"/>
              </a:rPr>
              <a:t>12-week care agent pilot deflected 28% of inbound from human; AIOps co-pilot reduced sev-2 MTTR by 36%. Reference under NDA via account team.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74320" y="65653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Segoe UI"/>
              </a:rPr>
              <a:t>AI CoE | RSA Sector Briefing | Telco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Segoe UI"/>
              </a:rPr>
              <a:t>7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6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887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Segoe UI"/>
              </a:rPr>
              <a:t>8. Anchored accelerators (from accelerators/)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0B1F3A"/>
                </a:solidFill>
                <a:latin typeface="Segoe UI"/>
              </a:rPr>
              <a:t>Pre-built CoE assets that compress weeks 1-8 of pilot delivery for this sector.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0B1F3A"/>
                </a:solidFill>
                <a:latin typeface="Segoe UI"/>
              </a:rPr>
              <a:t>•  ACC-1 Banking CX Agent - architectural pattern reusable for telco care.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0B1F3A"/>
                </a:solidFill>
                <a:latin typeface="Segoe UI"/>
              </a:rPr>
              <a:t>•  ACC-2 POPIA Landing Zone - foundation for RICA-protected data.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0B1F3A"/>
                </a:solidFill>
                <a:latin typeface="Segoe UI"/>
              </a:rPr>
              <a:t>•  ACC-4 Regulated-Industry Pilot Kit - ICASA + RICA scoping.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0B1F3A"/>
                </a:solidFill>
                <a:latin typeface="Segoe UI"/>
              </a:rPr>
              <a:t>•  ACC-5 DocIntel + Foundry Pattern - bill explanation + complaint triage.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0B1F3A"/>
                </a:solidFill>
                <a:latin typeface="Segoe UI"/>
              </a:rPr>
              <a:t>•  AI-CoE-AI-Impact-Assessment.xlsx - per-use-case governance.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0B1F3A"/>
                </a:solidFill>
                <a:latin typeface="Segoe UI"/>
              </a:rPr>
              <a:t>•  AI-CoE-AI-TCO-Calculator.xlsx - per-token costing for high-volume care.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653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Segoe UI"/>
              </a:rPr>
              <a:t>AI CoE | RSA Sector Briefing | Telco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Segoe UI"/>
              </a:rPr>
              <a:t>8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6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0"/>
            <a:ext cx="137160" cy="6858000"/>
          </a:xfrm>
          <a:prstGeom prst="rect">
            <a:avLst/>
          </a:prstGeom>
          <a:solidFill>
            <a:srgbClr val="50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107899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50E6FF"/>
                </a:solidFill>
                <a:latin typeface="Segoe UI"/>
              </a:rPr>
              <a:t>9. What to do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789920" cy="10972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AIOps first - own the NOC story; care agent compounds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108960"/>
            <a:ext cx="10789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>
                <a:solidFill>
                  <a:srgbClr val="EAF4FB"/>
                </a:solidFill>
                <a:latin typeface="Segoe UI"/>
              </a:rPr>
              <a:t>•  Book the Envision workshop ($50K ECIF).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EAF4FB"/>
                </a:solidFill>
                <a:latin typeface="Segoe UI"/>
              </a:rPr>
              <a:t>•  Anchor on AIOps - the operating-cost story is the easiest CFO win.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EAF4FB"/>
                </a:solidFill>
                <a:latin typeface="Segoe UI"/>
              </a:rPr>
              <a:t>•  Sequence care agent after AIOps; reuse the orchestration patterns.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EAF4FB"/>
                </a:solidFill>
                <a:latin typeface="Segoe UI"/>
              </a:rPr>
              <a:t>•  Bring ICASA + RICA into Gate 2 - regulator-readiness is the moat.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43600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Segoe UI"/>
              </a:rPr>
              <a:t>Pair with: AI-CoE-Pitch-Deck.pptx | AI-CoE-Sovereign-AI-RSA.pptx | AI-CoE-Objection-Handling.pptx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653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Segoe UI"/>
              </a:rPr>
              <a:t>AI CoE | RSA Sector Briefing | Telco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Segoe UI"/>
              </a:rPr>
              <a:t>9 /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