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1445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Set context before advancing.
Key message: AI ambition is everywhere — the operating model to scale it is not. That is the gap this offering closes.
Audience check: confirm whether this is an internal MCAPS leadership session, a customer C-suite, or a partner discussion — and adjust your emphasis accordingly.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stat that resonates most with your audience.
• CIO / CDO: lead with ⅔ have not yet begun scaling AI (McKinsey 2025) — scaling failure they own.
• CFO: lead with 60% reap hardly any material value despite substantial investment (BCG Build for the Future 2025) — sunk cost on scattered pilots.
• CHRO: lead with ⅓ properly trained (BCG AI at Work 2025) — their skills mandate.
• CEO: lead with 88% now use AI in at least one business function (up from 78% YoY — McKinsey 2025) — your peers are already there.
For the value gap: BCG Build for the Future 2025 finds future-built companies achieve 5× the revenue increases and 3× the cost reductions of others. Use this on Slide 11 (Differentiation) if ROI is the sticking point.
Pause after: 'The gap is not awareness. It is the operating model.' Do not rush to the next slide — let it land.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left/right contrast: Microsoft's published definition vs the fragmented reality customers are living.
If the customer already has AI initiatives underway, ask: 'Where do you recognise yourselves on the right-hand side?' This surfaces the pain without being confrontational.
Source: Azure Essentials AI CoE e-book · Microsoft Cloud Adoption Framework AI scenario.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pillar in 30 seconds. Do not read the sub-text — it is there for the audience.
Three emphasis points:
1. Business Strategy (Pillar 1): most CoEs fail because no named business owner exists. Protect this in every engagement.
2. Governance (Pillar 5): Responsible AI is a pillar, not a footnote. Non-negotiable.
3. Co-sell (Pillar +1): Microsoft and Partner are inside the customer's CoE — not outside it.
Ask the audience: 'Which pillar is your biggest gap today?'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MCEM is the methodology that governs how we engage, deliver, and measure outcomes — and it is how this offering ties directly to commercial performance.
Critical point for CSA audiences: we own Stage 4 (Realize Value). Everything before Stage 4 is setup. Stage 4 is where ACR compounds, expansion is earned, and NSAT is built.
For MCAPS leadership: this motion ties CoE delivery directly to consumption metrics in MSX. Every pilot reaching Stage 4 shows up in ACR reporting.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surface coverage slide — use it to head off the 'is this just an Azure AI offering?' objection.
Key message: the CoE covers all three AI surfaces that matter in the enterprise:
• Surface A — M365 Copilot — horizontal productivity across Outlook, Teams, Word, Excel, PowerPoint. Seats-based. Adoption-driven. This is where most customers start.
• Surface B — Copilot Studio — low-code and pro-code agent building for domain-specific workflows. Citizen developers. Per-message or per-agent licensing.
• Surface C — Azure AI Foundry — pro-code custom build, production-grade agents, multi-agent orchestration. This is where ATO lives.
The sequencing story: most customers start at A, discover B next, land C as differentiated use-cases mature. Lead with the customer's first surface — never with ours.
For MCAPS leadership: this is a One Microsoft motion. Modern Work CSU, Business Applications CSU, and Cloud &amp; AI Platforms CSU co-sponsor every three-surface CoE. No single SA owns it alone.
Commercial clincher: AI ACR pull-through in Surface C correlates with M365 Copilot adoption upstream. The customer who runs Copilot well is the customer who commits to MACC twelve months later.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three-stream design eliminates channel conflict by design and adds a zero-cost foundation layer that frees partner-services budget for high-value work.
Stream 1 (MCAPS): Microsoft qualifies, envisions, governs. We own the commercial envelope and pull through ACR.
Stream 2 (Cloud Accelerate Factory): CSU-operated, zero customer/partner cost. Remote on-shore + off-shore engineers deliver the predictable foundation work — landing zones, GenAI MVPs, migrations. Funded under Azure Migrate &amp; Modernize / Innovate / Accelerate. Requires Unified Support OR a 2-page Factory Agreement.
Stream 3 (Partners): Partners build the differentiated solution and run it long-term — industry depth, managed services, IP.
Key framing for partner-sensitive audiences: Factory is a channel amplifier. By absorbing the foundation tasks at zero cost, Factory frees the partner SOW for the high-value work the customer actually pays for. Anchor bundle: F1 GenAI Assistant + F2 Azure Landing Zone is the default Stage-2 nomination.
All three streams share one account plan, one steerco, one set of KPIs.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the customer (or partner) a concrete view of the Factory catalogue and how it plugs into the engagement.
Framing: Factory is CSU's zero-cost remote delivery engine. It is NOT a partner replacement — it is the foundation layer that frees the partner SOW.
Walk the catalogue: F1 (GenAI Assistant MVP on Azure OpenAI) and F2 (Azure Landing Zone) are the most-used. Together they form the anchor bundle for any AI CoE Stage-2 nomination. F3–F10 cover the broader portfolio — Real-time Intelligence, Lakehouse, Power BI to Fabric, Arc, app migration, Defender for Cloud, Sentinel, infra &amp; DB migration.
Decision rules to call out:
1. Predictable, well-documented MVP/foundation? → Factory.
2. Custom architecture, business-logic build, or in-country sovereign? → Partner or ISD.
3. M365 Copilot or Copilot Studio agent build? → Partner (NOT Factory — out of scope).
4. Always check: customer has Unified Support OR will sign 2-page Factory Agreement.
5. Nomination-to-start is ~2 weeks — plan accordingly in the account roadmap.
Commercial emphasis: Factory consumes ACO/incentives funding, not customer cash. Partner SOW size does NOT shrink when Factory is added — it shifts to higher-value scope.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RACI column by column.
Key call-outs:
• ATU: Accountable for qualification and expansion — they hold the budget conversation.
• STU: Accountable for envisioning and blueprint — the technical co-design partner for CSAs.
• CSU (CSA): Accountable for landing zone build, production scale, and value realisation. This is our home.
• ISD: Optional — engaged for sovereign, regulated, or Microsoft-led delivery via Models A/B/C (see ISD slide).
• EPS: Accountable for partner lifecycle, MDF/MAICPP, and Partner Center co-sell hygiene. CSAs do not freelance with partners — route through the PDM.
• Partner: Anchor SI/ISV/MSP delivering at the customer under joint account plan.
Every CoE engagement has all six roles named in the account plan — no named owner, no Stage 3 kickoff.</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Help the audience match their partner relationships to the right archetype.
• Strategic SI: Use for greenfield enterprise CoEs with multi-year transformation budgets.
• Regional SI: Use for mid-market or vertical-specific plays where global SIs are not focused.
• ISV: Use to accelerate — their IP reduces pilot time from months to weeks.
• MSP: Use for customers who need a run partner post-stand-up; prevents CoE decay.
Start with one archetype per account. Do not run all four in parallel on the same engagement.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3-tier ladder is the commercial structure for partner engagements.
• Tier 1 (Envisioning): Fixed-price, low-risk, fast to close. Use this to qualify a partner's delivery capability before committing to a larger SOW.
• Tier 2 (Build): SOW-based; this is where MACC gets signed and ACR ramps.
• Tier 3 (Managed Run): Recurring revenue for partner; multi-year ACR compounding for Microsoft. Every Tier 2 should have a Tier 3 upsell path.
Partners can enter at any tier — but strongly discourage Tier 3 entry without prior delivery history.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$1:$3–5 ratio is your commercial anchor. Repeat it whenever justifying co-investment.
Table walk:
• Tier 1 Advisory: Partner captures 100% services margin. Microsoft captures pipeline credit and MCEM Stage 1–2 progress.
• Tier 2 Build: Partner captures services + CSP margin. Microsoft captures ACR, MACC signing, and Copilot seats.
• Tier 3 Managed Run: Partner captures recurring MSP fee. Microsoft captures multi-year ACR compounding.
• ISV IP: Partner captures software margin + Marketplace revenue. Microsoft captures transactable ACR pull-through.
Use this table to co-build a business case with your partner before presenting to the customer.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handle the 'why not a pure-play AI vendor?' objection.
Lead with Point 1: 'We run our own CoE.' Microsoft Digital's AI CoE has been live since 2023. We are not selling a concept — we are licensing a working reference architecture.
Point 4 (Partner ecosystem): MAICPP + Frontier CoE assets + MCEM-for-Partners is engineered into the offer — not bolted on.
Point 6 (Pull-through economics): $1:$3–5 makes the commercial case self-evident. Use this to close any ROI objection.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quotes directly if appropriate — both are verbatim from published Microsoft partner press releases and are fully verifiable.
NTT DATA and Capgemini are the two largest global SIs actively running CoEs on this framework today.
If the audience knows these organisations: 'We can connect you with their CoE practice leads. Would that be useful?'
Use this slide to counter the 'does this actually work in practice?' objection with named, referenceable proof.</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Agree on metrics before Stage 3 kick-off — not after.
Leading indicators (left): CoE health metrics. They tell you the CoE is operating correctly — governance cadence, skilling completions, use-case pipeline.
Lagging indicators (right): Business impact metrics. They tell you the CoE is delivering value — ACR growth, production workloads, NSAT.
For MCAPS audiences: lagging metrics drive ACR, MACC attainment, and renewal conversations in QBR.
Tip: build a shared Value Realisation Dashboard in Power BI at Stage 3 kick-off. Link it to MSX.</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this slide proactively with every partner you onboard.
Rule 2 ('Partners don't own Azure commercial') is the most common question — address it directly. MACC, ACR, and Copilot seat procurement remain Microsoft-primed. Partner margin is on services and CSP resale.
Rule 3 (Responsible AI jointly owned): frame this as protection for the partner — joint accountability means they are never alone if a governance issue arises.
Rule 4 (One face to the customer): joint account plans prevent the partner being outflanked. This is a structural guarantee.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ATO proof point: 100+ accounts already running ATO see 15% higher MoM AI ACR. This is the most powerful data point in the deck — use it to move the conversation from interest to commitment.
Position ATO clearly: the CoE is the framework the customer adopts; ATO is the Microsoft-funded programme that delivers it. They are not alternatives — they are paired.
Commercial emphasis: up to $50k pre-sales ECIF (1:5 ROI) and up to $1M post-sales envelope ($500k ECIF + $500k ACO at 1:2). The post-sales envelope is gated on AI Foundry plus Fabric or Databases attach — call this out so architecture choices in Component 2 protect the Component 3 funding.
Components can be delivered standalone — honour where the customer is in their journey. Mid-stage customers start at Component 2; use-case identification customers start at Component 1.</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slide — use it only when the audience asks about Microsoft-led delivery or when the account profile obviously demands it (regulated, sovereign, flagship).
Key framing: ISD is a layered option, not a replacement for the three-stream model. Streams 1, 2, and 3 remain the default for the RSA motion.
Three models — pick one in Stage 1, not Stage 3:
• Model A (ISD-only) — Microsoft delivers end-to-end. Use for sovereign/regulated workloads where no partner can credibly deliver in country.
• Model B (ISD + Partner) — ISD primes the SoW, Anchor Partner is subcontracted. Use when customer wants Microsoft accountability but partner brings industry IP or scale.
• Model C (ISD + ICSU + Partner) — Flagship, multi-year, industry-regulated pursuits. Three-party governance under one ISD SoW.
Discipline: model choice is named in the account plan before Stage 3. Do not improvise to ISD mid-delivery — it creates channel conflict.
For partner-sensitive audiences: emphasise that partner margin is preserved through subcontract terms and that the Partner PDM is informed before the customer.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specific, time-bound ask. Match it to your audience.
• MCAPS leadership: 'Endorse the offering as an FY27 RSA motion — can we confirm that before the FY27 Area plan closes?'
• Customer C-suite: 'Run a Tier 1 Envisioning (ATO Component 1) in the next 4 weeks. I will bring the CSA and your Anchor Partner.'
• Partner: 'Complete the qualification scorecard in a 30-minute call this week.'
Do not leave the room without a specific next step written in the action log.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1F2C"/>
        </a:solidFill>
        <a:effectLst/>
      </p:bgPr>
    </p:bg>
    <p:spTree>
      <p:nvGrpSpPr>
        <p:cNvPr id="1" name=""/>
        <p:cNvGrpSpPr/>
        <p:nvPr/>
      </p:nvGrpSpPr>
      <p:grpSpPr>
        <a:xfrm>
          <a:off x="0" y="0"/>
          <a:ext cx="0" cy="0"/>
          <a:chOff x="0" y="0"/>
          <a:chExt cx="0" cy="0"/>
        </a:xfrm>
      </p:grpSpPr>
      <p:sp>
        <p:nvSpPr>
          <p:cNvPr id="2" name="Shape 0"/>
          <p:cNvSpPr/>
          <p:nvPr/>
        </p:nvSpPr>
        <p:spPr>
          <a:xfrm>
            <a:off x="0" y="4937760"/>
            <a:ext cx="12191695" cy="73152"/>
          </a:xfrm>
          <a:prstGeom prst="rect">
            <a:avLst/>
          </a:prstGeom>
          <a:solidFill>
            <a:srgbClr val="C03BC4"/>
          </a:solidFill>
          <a:ln/>
        </p:spPr>
        <p:txBody>
          <a:bodyPr/>
          <a:lstStyle/>
          <a:p>
            <a:endParaRPr lang="en-ZA"/>
          </a:p>
        </p:txBody>
      </p:sp>
      <p:sp>
        <p:nvSpPr>
          <p:cNvPr id="3" name="Shape 1"/>
          <p:cNvSpPr/>
          <p:nvPr/>
        </p:nvSpPr>
        <p:spPr>
          <a:xfrm>
            <a:off x="0" y="5074920"/>
            <a:ext cx="3657509" cy="27432"/>
          </a:xfrm>
          <a:prstGeom prst="rect">
            <a:avLst/>
          </a:prstGeom>
          <a:solidFill>
            <a:srgbClr val="702573"/>
          </a:solidFill>
          <a:ln/>
        </p:spPr>
        <p:txBody>
          <a:bodyPr/>
          <a:lstStyle/>
          <a:p>
            <a:endParaRPr lang="en-ZA"/>
          </a:p>
        </p:txBody>
      </p:sp>
      <p:pic>
        <p:nvPicPr>
          <p:cNvPr id="4" name="Image 0" descr="assets/microsoft-mark.png"/>
          <p:cNvPicPr>
            <a:picLocks noChangeAspect="1"/>
          </p:cNvPicPr>
          <p:nvPr/>
        </p:nvPicPr>
        <p:blipFill>
          <a:blip r:embed="rId3"/>
          <a:stretch>
            <a:fillRect/>
          </a:stretch>
        </p:blipFill>
        <p:spPr>
          <a:xfrm>
            <a:off x="822960" y="502920"/>
            <a:ext cx="457200" cy="457200"/>
          </a:xfrm>
          <a:prstGeom prst="rect">
            <a:avLst/>
          </a:prstGeom>
        </p:spPr>
      </p:pic>
      <p:sp>
        <p:nvSpPr>
          <p:cNvPr id="5" name="Text 2"/>
          <p:cNvSpPr/>
          <p:nvPr/>
        </p:nvSpPr>
        <p:spPr>
          <a:xfrm>
            <a:off x="1371600" y="502920"/>
            <a:ext cx="2743200" cy="457200"/>
          </a:xfrm>
          <a:prstGeom prst="rect">
            <a:avLst/>
          </a:prstGeom>
          <a:noFill/>
          <a:ln/>
        </p:spPr>
        <p:txBody>
          <a:bodyPr wrap="square" rtlCol="0" anchor="ctr"/>
          <a:lstStyle/>
          <a:p>
            <a:pPr marL="0" indent="0">
              <a:buNone/>
            </a:pPr>
            <a:r>
              <a:rPr lang="en-US" sz="2200" b="1" dirty="0">
                <a:solidFill>
                  <a:srgbClr val="FFFFFF"/>
                </a:solidFill>
                <a:latin typeface="Segoe UI" pitchFamily="34" charset="0"/>
                <a:ea typeface="Segoe UI" pitchFamily="34" charset="-122"/>
                <a:cs typeface="Segoe UI" pitchFamily="34" charset="-120"/>
              </a:rPr>
              <a:t>Microsoft</a:t>
            </a:r>
            <a:endParaRPr lang="en-US" sz="2200" dirty="0"/>
          </a:p>
        </p:txBody>
      </p:sp>
      <p:sp>
        <p:nvSpPr>
          <p:cNvPr id="6" name="Text 3"/>
          <p:cNvSpPr/>
          <p:nvPr/>
        </p:nvSpPr>
        <p:spPr>
          <a:xfrm>
            <a:off x="822960" y="1143000"/>
            <a:ext cx="9144000" cy="320040"/>
          </a:xfrm>
          <a:prstGeom prst="rect">
            <a:avLst/>
          </a:prstGeom>
          <a:noFill/>
          <a:ln/>
        </p:spPr>
        <p:txBody>
          <a:bodyPr wrap="square" rtlCol="0" anchor="ctr"/>
          <a:lstStyle/>
          <a:p>
            <a:pPr marL="0" indent="0">
              <a:buNone/>
            </a:pPr>
            <a:r>
              <a:rPr lang="en-US" sz="1200" b="1" kern="0" spc="600" dirty="0">
                <a:solidFill>
                  <a:srgbClr val="C03BC4"/>
                </a:solidFill>
                <a:latin typeface="Segoe UI" pitchFamily="34" charset="0"/>
                <a:ea typeface="Segoe UI" pitchFamily="34" charset="-122"/>
                <a:cs typeface="Segoe UI" pitchFamily="34" charset="-120"/>
              </a:rPr>
              <a:t>MCAPS  ·  RSA</a:t>
            </a:r>
            <a:endParaRPr lang="en-US" sz="1200" dirty="0"/>
          </a:p>
        </p:txBody>
      </p:sp>
      <p:sp>
        <p:nvSpPr>
          <p:cNvPr id="7" name="Text 4"/>
          <p:cNvSpPr/>
          <p:nvPr/>
        </p:nvSpPr>
        <p:spPr>
          <a:xfrm>
            <a:off x="822960" y="1645920"/>
            <a:ext cx="10515600" cy="1280160"/>
          </a:xfrm>
          <a:prstGeom prst="rect">
            <a:avLst/>
          </a:prstGeom>
          <a:noFill/>
          <a:ln/>
        </p:spPr>
        <p:txBody>
          <a:bodyPr wrap="square" rtlCol="0" anchor="ctr"/>
          <a:lstStyle/>
          <a:p>
            <a:pPr marL="0" indent="0">
              <a:buNone/>
            </a:pPr>
            <a:r>
              <a:rPr lang="en-US" sz="5400" b="1" dirty="0">
                <a:solidFill>
                  <a:srgbClr val="FFFFFF"/>
                </a:solidFill>
                <a:latin typeface="Segoe UI" pitchFamily="34" charset="0"/>
                <a:ea typeface="Segoe UI" pitchFamily="34" charset="-122"/>
                <a:cs typeface="Segoe UI" pitchFamily="34" charset="-120"/>
              </a:rPr>
              <a:t>AI Centre of Excellence</a:t>
            </a:r>
            <a:endParaRPr lang="en-US" sz="5400" dirty="0"/>
          </a:p>
        </p:txBody>
      </p:sp>
      <p:sp>
        <p:nvSpPr>
          <p:cNvPr id="8" name="Text 5"/>
          <p:cNvSpPr/>
          <p:nvPr/>
        </p:nvSpPr>
        <p:spPr>
          <a:xfrm>
            <a:off x="822960" y="3017520"/>
            <a:ext cx="10058400" cy="731520"/>
          </a:xfrm>
          <a:prstGeom prst="rect">
            <a:avLst/>
          </a:prstGeom>
          <a:noFill/>
          <a:ln/>
        </p:spPr>
        <p:txBody>
          <a:bodyPr wrap="square" rtlCol="0" anchor="ctr"/>
          <a:lstStyle/>
          <a:p>
            <a:pPr marL="0" indent="0">
              <a:buNone/>
            </a:pPr>
            <a:r>
              <a:rPr lang="en-US" sz="2200" i="1" dirty="0">
                <a:solidFill>
                  <a:srgbClr val="F5E6F0"/>
                </a:solidFill>
                <a:latin typeface="Segoe UI" pitchFamily="34" charset="0"/>
                <a:ea typeface="Segoe UI" pitchFamily="34" charset="-122"/>
                <a:cs typeface="Segoe UI" pitchFamily="34" charset="-120"/>
              </a:rPr>
              <a:t>A Three-Stream MCAPS + Factory + Partner Offering to Scale AI Transformation</a:t>
            </a:r>
            <a:endParaRPr lang="en-US" sz="2200" dirty="0"/>
          </a:p>
        </p:txBody>
      </p:sp>
      <p:sp>
        <p:nvSpPr>
          <p:cNvPr id="9" name="Text 6"/>
          <p:cNvSpPr/>
          <p:nvPr/>
        </p:nvSpPr>
        <p:spPr>
          <a:xfrm>
            <a:off x="822960" y="3931920"/>
            <a:ext cx="10058400" cy="457200"/>
          </a:xfrm>
          <a:prstGeom prst="rect">
            <a:avLst/>
          </a:prstGeom>
          <a:noFill/>
          <a:ln/>
        </p:spPr>
        <p:txBody>
          <a:bodyPr wrap="square" rtlCol="0" anchor="ctr"/>
          <a:lstStyle/>
          <a:p>
            <a:pPr marL="0" indent="0">
              <a:buNone/>
            </a:pPr>
            <a:r>
              <a:rPr lang="en-US" sz="1600" dirty="0">
                <a:solidFill>
                  <a:srgbClr val="B8C5DB"/>
                </a:solidFill>
                <a:latin typeface="Segoe UI" pitchFamily="34" charset="0"/>
                <a:ea typeface="Segoe UI" pitchFamily="34" charset="-122"/>
                <a:cs typeface="Segoe UI" pitchFamily="34" charset="-120"/>
              </a:rPr>
              <a:t>Turn AI ambition into governed, measurable business outcomes.</a:t>
            </a:r>
            <a:endParaRPr lang="en-US" sz="1600" dirty="0"/>
          </a:p>
        </p:txBody>
      </p:sp>
      <p:sp>
        <p:nvSpPr>
          <p:cNvPr id="10" name="Text 7"/>
          <p:cNvSpPr/>
          <p:nvPr/>
        </p:nvSpPr>
        <p:spPr>
          <a:xfrm>
            <a:off x="822960" y="5486400"/>
            <a:ext cx="5486400" cy="274320"/>
          </a:xfrm>
          <a:prstGeom prst="rect">
            <a:avLst/>
          </a:prstGeom>
          <a:noFill/>
          <a:ln/>
        </p:spPr>
        <p:txBody>
          <a:bodyPr wrap="square" rtlCol="0" anchor="ctr"/>
          <a:lstStyle/>
          <a:p>
            <a:pPr marL="0" indent="0">
              <a:buNone/>
            </a:pPr>
            <a:r>
              <a:rPr lang="en-US" sz="1200" b="1" dirty="0">
                <a:solidFill>
                  <a:srgbClr val="FFFFFF"/>
                </a:solidFill>
                <a:latin typeface="Segoe UI" pitchFamily="34" charset="0"/>
                <a:ea typeface="Segoe UI" pitchFamily="34" charset="-122"/>
                <a:cs typeface="Segoe UI" pitchFamily="34" charset="-120"/>
              </a:rPr>
              <a:t>Prepared by Yuri Baijnath</a:t>
            </a:r>
            <a:endParaRPr lang="en-US" sz="1200" dirty="0"/>
          </a:p>
        </p:txBody>
      </p:sp>
      <p:sp>
        <p:nvSpPr>
          <p:cNvPr id="11" name="Text 8"/>
          <p:cNvSpPr/>
          <p:nvPr/>
        </p:nvSpPr>
        <p:spPr>
          <a:xfrm>
            <a:off x="822960" y="5760720"/>
            <a:ext cx="7315200" cy="274320"/>
          </a:xfrm>
          <a:prstGeom prst="rect">
            <a:avLst/>
          </a:prstGeom>
          <a:noFill/>
          <a:ln/>
        </p:spPr>
        <p:txBody>
          <a:bodyPr wrap="square" rtlCol="0" anchor="ctr"/>
          <a:lstStyle/>
          <a:p>
            <a:pPr marL="0" indent="0">
              <a:buNone/>
            </a:pPr>
            <a:r>
              <a:rPr lang="en-US" sz="1100" dirty="0">
                <a:solidFill>
                  <a:srgbClr val="F5E6F0"/>
                </a:solidFill>
                <a:latin typeface="Segoe UI" pitchFamily="34" charset="0"/>
                <a:ea typeface="Segoe UI" pitchFamily="34" charset="-122"/>
                <a:cs typeface="Segoe UI" pitchFamily="34" charset="-120"/>
              </a:rPr>
              <a:t>SR CSA Manager · MCAPS RSA CSU</a:t>
            </a:r>
            <a:endParaRPr lang="en-US" sz="1100" dirty="0"/>
          </a:p>
        </p:txBody>
      </p:sp>
      <p:sp>
        <p:nvSpPr>
          <p:cNvPr id="12" name="Text 9"/>
          <p:cNvSpPr/>
          <p:nvPr/>
        </p:nvSpPr>
        <p:spPr>
          <a:xfrm>
            <a:off x="822960" y="6035040"/>
            <a:ext cx="7315200" cy="274320"/>
          </a:xfrm>
          <a:prstGeom prst="rect">
            <a:avLst/>
          </a:prstGeom>
          <a:noFill/>
          <a:ln/>
        </p:spPr>
        <p:txBody>
          <a:bodyPr wrap="square" rtlCol="0" anchor="ctr"/>
          <a:lstStyle/>
          <a:p>
            <a:pPr marL="0" indent="0">
              <a:buNone/>
            </a:pPr>
            <a:r>
              <a:rPr lang="en-US" sz="1100" dirty="0">
                <a:solidFill>
                  <a:srgbClr val="8A94A6"/>
                </a:solidFill>
                <a:latin typeface="Segoe UI" pitchFamily="34" charset="0"/>
                <a:ea typeface="Segoe UI" pitchFamily="34" charset="-122"/>
                <a:cs typeface="Segoe UI" pitchFamily="34" charset="-120"/>
              </a:rPr>
              <a:t>Microsoft South Africa</a:t>
            </a:r>
            <a:endParaRPr lang="en-US" sz="1100" dirty="0"/>
          </a:p>
        </p:txBody>
      </p:sp>
      <p:sp>
        <p:nvSpPr>
          <p:cNvPr id="13" name="AICOE_GEO_ACCENT_Right Triangle 12"/>
          <p:cNvSpPr/>
          <p:nvPr/>
        </p:nvSpPr>
        <p:spPr>
          <a:xfrm>
            <a:off x="11369040" y="445770"/>
            <a:ext cx="822960" cy="82296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ICOE_GEO_ACCENT_Right Triangle 13"/>
          <p:cNvSpPr/>
          <p:nvPr/>
        </p:nvSpPr>
        <p:spPr>
          <a:xfrm rot="10800000">
            <a:off x="11369040" y="2160270"/>
            <a:ext cx="822960" cy="822960"/>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ICOE_GEO_ACCENT_Right Triangle 14"/>
          <p:cNvSpPr/>
          <p:nvPr/>
        </p:nvSpPr>
        <p:spPr>
          <a:xfrm>
            <a:off x="11369040" y="3874770"/>
            <a:ext cx="822960" cy="822960"/>
          </a:xfrm>
          <a:prstGeom prst="rtTriangle">
            <a:avLst/>
          </a:prstGeom>
          <a:solidFill>
            <a:srgbClr val="0067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AICOE_GEO_ACCENT_Right Triangle 15"/>
          <p:cNvSpPr/>
          <p:nvPr/>
        </p:nvSpPr>
        <p:spPr>
          <a:xfrm rot="5400000">
            <a:off x="11369040" y="5589270"/>
            <a:ext cx="822960" cy="822960"/>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ICOE_GEO_ACCENT_Rectangle 16"/>
          <p:cNvSpPr/>
          <p:nvPr/>
        </p:nvSpPr>
        <p:spPr>
          <a:xfrm>
            <a:off x="11295888" y="0"/>
            <a:ext cx="73152"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8F5"/>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91440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THE OPPORTUNITY</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200" b="1" dirty="0">
                <a:solidFill>
                  <a:srgbClr val="091F2C"/>
                </a:solidFill>
                <a:latin typeface="Segoe UI" pitchFamily="34" charset="0"/>
                <a:ea typeface="Segoe UI" pitchFamily="34" charset="-122"/>
                <a:cs typeface="Segoe UI" pitchFamily="34" charset="-120"/>
              </a:rPr>
              <a:t>Every customer wants AI. Almost none can scale it.</a:t>
            </a:r>
            <a:endParaRPr lang="en-US" sz="3200" dirty="0"/>
          </a:p>
        </p:txBody>
      </p:sp>
      <p:sp>
        <p:nvSpPr>
          <p:cNvPr id="5" name="Shape 3"/>
          <p:cNvSpPr/>
          <p:nvPr/>
        </p:nvSpPr>
        <p:spPr>
          <a:xfrm>
            <a:off x="609448" y="2103120"/>
            <a:ext cx="2606040" cy="2926080"/>
          </a:xfrm>
          <a:prstGeom prst="roundRect">
            <a:avLst>
              <a:gd name="adj" fmla="val 3509"/>
            </a:avLst>
          </a:prstGeom>
          <a:solidFill>
            <a:srgbClr val="FFFFFF"/>
          </a:solidFill>
          <a:ln w="12700">
            <a:solidFill>
              <a:srgbClr val="E1E6EF"/>
            </a:solidFill>
            <a:prstDash val="solid"/>
          </a:ln>
        </p:spPr>
        <p:txBody>
          <a:bodyPr/>
          <a:lstStyle/>
          <a:p>
            <a:endParaRPr lang="en-ZA"/>
          </a:p>
        </p:txBody>
      </p:sp>
      <p:sp>
        <p:nvSpPr>
          <p:cNvPr id="6" name="Shape 4"/>
          <p:cNvSpPr/>
          <p:nvPr/>
        </p:nvSpPr>
        <p:spPr>
          <a:xfrm>
            <a:off x="609448" y="2103120"/>
            <a:ext cx="2606040" cy="73152"/>
          </a:xfrm>
          <a:prstGeom prst="rect">
            <a:avLst/>
          </a:prstGeom>
          <a:solidFill>
            <a:srgbClr val="0078D4"/>
          </a:solidFill>
          <a:ln w="12700">
            <a:solidFill>
              <a:srgbClr val="0078D4"/>
            </a:solidFill>
            <a:prstDash val="solid"/>
          </a:ln>
        </p:spPr>
        <p:txBody>
          <a:bodyPr/>
          <a:lstStyle/>
          <a:p>
            <a:endParaRPr lang="en-ZA"/>
          </a:p>
        </p:txBody>
      </p:sp>
      <p:sp>
        <p:nvSpPr>
          <p:cNvPr id="7" name="Text 5"/>
          <p:cNvSpPr/>
          <p:nvPr/>
        </p:nvSpPr>
        <p:spPr>
          <a:xfrm>
            <a:off x="700888" y="2468880"/>
            <a:ext cx="2423160" cy="1554480"/>
          </a:xfrm>
          <a:prstGeom prst="rect">
            <a:avLst/>
          </a:prstGeom>
          <a:noFill/>
          <a:ln/>
        </p:spPr>
        <p:txBody>
          <a:bodyPr wrap="square" rtlCol="0" anchor="ctr"/>
          <a:lstStyle/>
          <a:p>
            <a:pPr marL="0" indent="0" algn="ctr">
              <a:buNone/>
            </a:pPr>
            <a:r>
              <a:rPr lang="en-US" sz="6400" b="1" dirty="0">
                <a:solidFill>
                  <a:srgbClr val="0078D4"/>
                </a:solidFill>
                <a:latin typeface="Segoe UI" pitchFamily="34" charset="0"/>
                <a:ea typeface="Segoe UI" pitchFamily="34" charset="-122"/>
                <a:cs typeface="Segoe UI" pitchFamily="34" charset="-120"/>
              </a:rPr>
              <a:t>88%</a:t>
            </a:r>
            <a:endParaRPr lang="en-US" sz="6400" dirty="0"/>
          </a:p>
        </p:txBody>
      </p:sp>
      <p:sp>
        <p:nvSpPr>
          <p:cNvPr id="8" name="Text 6"/>
          <p:cNvSpPr/>
          <p:nvPr/>
        </p:nvSpPr>
        <p:spPr>
          <a:xfrm>
            <a:off x="792328" y="4069080"/>
            <a:ext cx="2240280" cy="914400"/>
          </a:xfrm>
          <a:prstGeom prst="rect">
            <a:avLst/>
          </a:prstGeom>
          <a:noFill/>
          <a:ln/>
        </p:spPr>
        <p:txBody>
          <a:bodyPr wrap="square" rtlCol="0" anchor="ctr"/>
          <a:lstStyle/>
          <a:p>
            <a:pPr marL="0" indent="0" algn="ctr">
              <a:buNone/>
            </a:pPr>
            <a:r>
              <a:rPr lang="en-US" sz="1300" dirty="0">
                <a:solidFill>
                  <a:srgbClr val="091F2C"/>
                </a:solidFill>
                <a:latin typeface="Segoe UI" pitchFamily="34" charset="0"/>
                <a:ea typeface="Segoe UI" pitchFamily="34" charset="-122"/>
                <a:cs typeface="Segoe UI" pitchFamily="34" charset="-120"/>
              </a:rPr>
              <a:t>now use AI in ≥1 business function (up from 78% a year ago)</a:t>
            </a:r>
            <a:endParaRPr lang="en-US" sz="1300" dirty="0"/>
          </a:p>
        </p:txBody>
      </p:sp>
      <p:sp>
        <p:nvSpPr>
          <p:cNvPr id="9" name="Shape 7"/>
          <p:cNvSpPr/>
          <p:nvPr/>
        </p:nvSpPr>
        <p:spPr>
          <a:xfrm>
            <a:off x="3398368" y="2103120"/>
            <a:ext cx="2606040" cy="2926080"/>
          </a:xfrm>
          <a:prstGeom prst="roundRect">
            <a:avLst>
              <a:gd name="adj" fmla="val 3509"/>
            </a:avLst>
          </a:prstGeom>
          <a:solidFill>
            <a:srgbClr val="FFFFFF"/>
          </a:solidFill>
          <a:ln w="12700">
            <a:solidFill>
              <a:srgbClr val="E1E6EF"/>
            </a:solidFill>
            <a:prstDash val="solid"/>
          </a:ln>
        </p:spPr>
        <p:txBody>
          <a:bodyPr/>
          <a:lstStyle/>
          <a:p>
            <a:endParaRPr lang="en-ZA"/>
          </a:p>
        </p:txBody>
      </p:sp>
      <p:sp>
        <p:nvSpPr>
          <p:cNvPr id="10" name="Shape 8"/>
          <p:cNvSpPr/>
          <p:nvPr/>
        </p:nvSpPr>
        <p:spPr>
          <a:xfrm>
            <a:off x="3398368" y="2103120"/>
            <a:ext cx="2606040" cy="73152"/>
          </a:xfrm>
          <a:prstGeom prst="rect">
            <a:avLst/>
          </a:prstGeom>
          <a:solidFill>
            <a:srgbClr val="FFB900"/>
          </a:solidFill>
          <a:ln w="12700">
            <a:solidFill>
              <a:srgbClr val="FFB900"/>
            </a:solidFill>
            <a:prstDash val="solid"/>
          </a:ln>
        </p:spPr>
        <p:txBody>
          <a:bodyPr/>
          <a:lstStyle/>
          <a:p>
            <a:endParaRPr lang="en-ZA"/>
          </a:p>
        </p:txBody>
      </p:sp>
      <p:sp>
        <p:nvSpPr>
          <p:cNvPr id="11" name="Text 9"/>
          <p:cNvSpPr/>
          <p:nvPr/>
        </p:nvSpPr>
        <p:spPr>
          <a:xfrm>
            <a:off x="3489808" y="2468880"/>
            <a:ext cx="2423160" cy="1554480"/>
          </a:xfrm>
          <a:prstGeom prst="rect">
            <a:avLst/>
          </a:prstGeom>
          <a:noFill/>
          <a:ln/>
        </p:spPr>
        <p:txBody>
          <a:bodyPr wrap="square" rtlCol="0" anchor="ctr"/>
          <a:lstStyle/>
          <a:p>
            <a:pPr marL="0" indent="0" algn="ctr">
              <a:buNone/>
            </a:pPr>
            <a:r>
              <a:rPr lang="en-US" sz="6400" b="1" dirty="0">
                <a:solidFill>
                  <a:srgbClr val="FFB900"/>
                </a:solidFill>
                <a:latin typeface="Segoe UI" pitchFamily="34" charset="0"/>
                <a:ea typeface="Segoe UI" pitchFamily="34" charset="-122"/>
                <a:cs typeface="Segoe UI" pitchFamily="34" charset="-120"/>
              </a:rPr>
              <a:t>⅔</a:t>
            </a:r>
            <a:endParaRPr lang="en-US" sz="6400" dirty="0"/>
          </a:p>
        </p:txBody>
      </p:sp>
      <p:sp>
        <p:nvSpPr>
          <p:cNvPr id="12" name="Text 10"/>
          <p:cNvSpPr/>
          <p:nvPr/>
        </p:nvSpPr>
        <p:spPr>
          <a:xfrm>
            <a:off x="3581248" y="4069080"/>
            <a:ext cx="2240280" cy="914400"/>
          </a:xfrm>
          <a:prstGeom prst="rect">
            <a:avLst/>
          </a:prstGeom>
          <a:noFill/>
          <a:ln/>
        </p:spPr>
        <p:txBody>
          <a:bodyPr wrap="square" rtlCol="0" anchor="ctr"/>
          <a:lstStyle/>
          <a:p>
            <a:pPr marL="0" indent="0" algn="ctr">
              <a:buNone/>
            </a:pPr>
            <a:r>
              <a:rPr lang="en-US" sz="1300" dirty="0">
                <a:solidFill>
                  <a:srgbClr val="091F2C"/>
                </a:solidFill>
                <a:latin typeface="Segoe UI" pitchFamily="34" charset="0"/>
                <a:ea typeface="Segoe UI" pitchFamily="34" charset="-122"/>
                <a:cs typeface="Segoe UI" pitchFamily="34" charset="-120"/>
              </a:rPr>
              <a:t>have not yet begun scaling AI across the enterprise</a:t>
            </a:r>
            <a:endParaRPr lang="en-US" sz="1300" dirty="0"/>
          </a:p>
        </p:txBody>
      </p:sp>
      <p:sp>
        <p:nvSpPr>
          <p:cNvPr id="13" name="Shape 11"/>
          <p:cNvSpPr/>
          <p:nvPr/>
        </p:nvSpPr>
        <p:spPr>
          <a:xfrm>
            <a:off x="6187288" y="2103120"/>
            <a:ext cx="2606040" cy="2926080"/>
          </a:xfrm>
          <a:prstGeom prst="roundRect">
            <a:avLst>
              <a:gd name="adj" fmla="val 3509"/>
            </a:avLst>
          </a:prstGeom>
          <a:solidFill>
            <a:srgbClr val="FFFFFF"/>
          </a:solidFill>
          <a:ln w="12700">
            <a:solidFill>
              <a:srgbClr val="E1E6EF"/>
            </a:solidFill>
            <a:prstDash val="solid"/>
          </a:ln>
        </p:spPr>
        <p:txBody>
          <a:bodyPr/>
          <a:lstStyle/>
          <a:p>
            <a:endParaRPr lang="en-ZA"/>
          </a:p>
        </p:txBody>
      </p:sp>
      <p:sp>
        <p:nvSpPr>
          <p:cNvPr id="14" name="Shape 12"/>
          <p:cNvSpPr/>
          <p:nvPr/>
        </p:nvSpPr>
        <p:spPr>
          <a:xfrm>
            <a:off x="6187288" y="2103120"/>
            <a:ext cx="2606040" cy="73152"/>
          </a:xfrm>
          <a:prstGeom prst="rect">
            <a:avLst/>
          </a:prstGeom>
          <a:solidFill>
            <a:srgbClr val="FF5C39"/>
          </a:solidFill>
          <a:ln w="12700">
            <a:solidFill>
              <a:srgbClr val="FF5C39"/>
            </a:solidFill>
            <a:prstDash val="solid"/>
          </a:ln>
        </p:spPr>
        <p:txBody>
          <a:bodyPr/>
          <a:lstStyle/>
          <a:p>
            <a:endParaRPr lang="en-ZA"/>
          </a:p>
        </p:txBody>
      </p:sp>
      <p:sp>
        <p:nvSpPr>
          <p:cNvPr id="15" name="Text 13"/>
          <p:cNvSpPr/>
          <p:nvPr/>
        </p:nvSpPr>
        <p:spPr>
          <a:xfrm>
            <a:off x="6278728" y="2468880"/>
            <a:ext cx="2423160" cy="1554480"/>
          </a:xfrm>
          <a:prstGeom prst="rect">
            <a:avLst/>
          </a:prstGeom>
          <a:noFill/>
          <a:ln/>
        </p:spPr>
        <p:txBody>
          <a:bodyPr wrap="square" rtlCol="0" anchor="ctr"/>
          <a:lstStyle/>
          <a:p>
            <a:pPr marL="0" indent="0" algn="ctr">
              <a:buNone/>
            </a:pPr>
            <a:r>
              <a:rPr lang="en-US" sz="6400" b="1" dirty="0">
                <a:solidFill>
                  <a:srgbClr val="FF5C39"/>
                </a:solidFill>
                <a:latin typeface="Segoe UI" pitchFamily="34" charset="0"/>
                <a:ea typeface="Segoe UI" pitchFamily="34" charset="-122"/>
                <a:cs typeface="Segoe UI" pitchFamily="34" charset="-120"/>
              </a:rPr>
              <a:t>60%</a:t>
            </a:r>
            <a:endParaRPr lang="en-US" sz="6400" dirty="0"/>
          </a:p>
        </p:txBody>
      </p:sp>
      <p:sp>
        <p:nvSpPr>
          <p:cNvPr id="16" name="Text 14"/>
          <p:cNvSpPr/>
          <p:nvPr/>
        </p:nvSpPr>
        <p:spPr>
          <a:xfrm>
            <a:off x="6370168" y="4069080"/>
            <a:ext cx="2240280" cy="914400"/>
          </a:xfrm>
          <a:prstGeom prst="rect">
            <a:avLst/>
          </a:prstGeom>
          <a:noFill/>
          <a:ln/>
        </p:spPr>
        <p:txBody>
          <a:bodyPr wrap="square" rtlCol="0" anchor="ctr"/>
          <a:lstStyle/>
          <a:p>
            <a:pPr marL="0" indent="0" algn="ctr">
              <a:buNone/>
            </a:pPr>
            <a:r>
              <a:rPr lang="en-US" sz="1300" dirty="0">
                <a:solidFill>
                  <a:srgbClr val="091F2C"/>
                </a:solidFill>
                <a:latin typeface="Segoe UI" pitchFamily="34" charset="0"/>
                <a:ea typeface="Segoe UI" pitchFamily="34" charset="-122"/>
                <a:cs typeface="Segoe UI" pitchFamily="34" charset="-120"/>
              </a:rPr>
              <a:t>reap hardly any material value despite substantial investment</a:t>
            </a:r>
            <a:endParaRPr lang="en-US" sz="1300" dirty="0"/>
          </a:p>
        </p:txBody>
      </p:sp>
      <p:sp>
        <p:nvSpPr>
          <p:cNvPr id="17" name="Shape 15"/>
          <p:cNvSpPr/>
          <p:nvPr/>
        </p:nvSpPr>
        <p:spPr>
          <a:xfrm>
            <a:off x="8976208" y="2103120"/>
            <a:ext cx="2606040" cy="2926080"/>
          </a:xfrm>
          <a:prstGeom prst="roundRect">
            <a:avLst>
              <a:gd name="adj" fmla="val 3509"/>
            </a:avLst>
          </a:prstGeom>
          <a:solidFill>
            <a:srgbClr val="FFFFFF"/>
          </a:solidFill>
          <a:ln w="12700">
            <a:solidFill>
              <a:srgbClr val="E1E6EF"/>
            </a:solidFill>
            <a:prstDash val="solid"/>
          </a:ln>
        </p:spPr>
        <p:txBody>
          <a:bodyPr/>
          <a:lstStyle/>
          <a:p>
            <a:endParaRPr lang="en-ZA"/>
          </a:p>
        </p:txBody>
      </p:sp>
      <p:sp>
        <p:nvSpPr>
          <p:cNvPr id="18" name="Shape 16"/>
          <p:cNvSpPr/>
          <p:nvPr/>
        </p:nvSpPr>
        <p:spPr>
          <a:xfrm>
            <a:off x="8976208" y="2103120"/>
            <a:ext cx="2606040" cy="73152"/>
          </a:xfrm>
          <a:prstGeom prst="rect">
            <a:avLst/>
          </a:prstGeom>
          <a:solidFill>
            <a:srgbClr val="225B62"/>
          </a:solidFill>
          <a:ln w="12700">
            <a:solidFill>
              <a:srgbClr val="225B62"/>
            </a:solidFill>
            <a:prstDash val="solid"/>
          </a:ln>
        </p:spPr>
        <p:txBody>
          <a:bodyPr/>
          <a:lstStyle/>
          <a:p>
            <a:endParaRPr lang="en-ZA"/>
          </a:p>
        </p:txBody>
      </p:sp>
      <p:sp>
        <p:nvSpPr>
          <p:cNvPr id="19" name="Text 17"/>
          <p:cNvSpPr/>
          <p:nvPr/>
        </p:nvSpPr>
        <p:spPr>
          <a:xfrm>
            <a:off x="9067648" y="2468880"/>
            <a:ext cx="2423160" cy="1554480"/>
          </a:xfrm>
          <a:prstGeom prst="rect">
            <a:avLst/>
          </a:prstGeom>
          <a:noFill/>
          <a:ln/>
        </p:spPr>
        <p:txBody>
          <a:bodyPr wrap="square" rtlCol="0" anchor="ctr"/>
          <a:lstStyle/>
          <a:p>
            <a:pPr marL="0" indent="0" algn="ctr">
              <a:buNone/>
            </a:pPr>
            <a:r>
              <a:rPr lang="en-US" sz="6400" b="1" dirty="0">
                <a:solidFill>
                  <a:srgbClr val="225B62"/>
                </a:solidFill>
                <a:latin typeface="Segoe UI" pitchFamily="34" charset="0"/>
                <a:ea typeface="Segoe UI" pitchFamily="34" charset="-122"/>
                <a:cs typeface="Segoe UI" pitchFamily="34" charset="-120"/>
              </a:rPr>
              <a:t>⅓</a:t>
            </a:r>
            <a:endParaRPr lang="en-US" sz="6400" dirty="0"/>
          </a:p>
        </p:txBody>
      </p:sp>
      <p:sp>
        <p:nvSpPr>
          <p:cNvPr id="20" name="Text 18"/>
          <p:cNvSpPr/>
          <p:nvPr/>
        </p:nvSpPr>
        <p:spPr>
          <a:xfrm>
            <a:off x="9159088" y="4069080"/>
            <a:ext cx="2240280" cy="914400"/>
          </a:xfrm>
          <a:prstGeom prst="rect">
            <a:avLst/>
          </a:prstGeom>
          <a:noFill/>
          <a:ln/>
        </p:spPr>
        <p:txBody>
          <a:bodyPr wrap="square" rtlCol="0" anchor="ctr"/>
          <a:lstStyle/>
          <a:p>
            <a:pPr marL="0" indent="0" algn="ctr">
              <a:buNone/>
            </a:pPr>
            <a:r>
              <a:rPr lang="en-US" sz="1300" dirty="0">
                <a:solidFill>
                  <a:srgbClr val="091F2C"/>
                </a:solidFill>
                <a:latin typeface="Segoe UI" pitchFamily="34" charset="0"/>
                <a:ea typeface="Segoe UI" pitchFamily="34" charset="-122"/>
                <a:cs typeface="Segoe UI" pitchFamily="34" charset="-120"/>
              </a:rPr>
              <a:t>of employees say they have been properly trained</a:t>
            </a:r>
            <a:endParaRPr lang="en-US" sz="1300" dirty="0"/>
          </a:p>
        </p:txBody>
      </p:sp>
      <p:sp>
        <p:nvSpPr>
          <p:cNvPr id="21" name="Text 19"/>
          <p:cNvSpPr/>
          <p:nvPr/>
        </p:nvSpPr>
        <p:spPr>
          <a:xfrm>
            <a:off x="548640" y="5715000"/>
            <a:ext cx="10972800" cy="274320"/>
          </a:xfrm>
          <a:prstGeom prst="rect">
            <a:avLst/>
          </a:prstGeom>
          <a:noFill/>
          <a:ln/>
        </p:spPr>
        <p:txBody>
          <a:bodyPr wrap="square" rtlCol="0" anchor="ctr"/>
          <a:lstStyle/>
          <a:p>
            <a:pPr marL="0" indent="0">
              <a:buNone/>
            </a:pPr>
            <a:r>
              <a:rPr lang="en-US" sz="900" i="1" dirty="0">
                <a:solidFill>
                  <a:srgbClr val="8A94A6"/>
                </a:solidFill>
                <a:latin typeface="Segoe UI" pitchFamily="34" charset="0"/>
                <a:ea typeface="Segoe UI" pitchFamily="34" charset="-122"/>
                <a:cs typeface="Segoe UI" pitchFamily="34" charset="-120"/>
              </a:rPr>
              <a:t>Sources: McKinsey · The State of AI 2025 (Nov 2025, n=1,993) · BCG · Build for the Future 2025: The Widening AI Value Gap (Sep 2025, n=1,250) · BCG · AI at Work 2025 (Jun 2025, n=10,635)</a:t>
            </a:r>
            <a:endParaRPr lang="en-US" sz="900" dirty="0"/>
          </a:p>
        </p:txBody>
      </p:sp>
      <p:sp>
        <p:nvSpPr>
          <p:cNvPr id="22" name="Text 20"/>
          <p:cNvSpPr/>
          <p:nvPr/>
        </p:nvSpPr>
        <p:spPr>
          <a:xfrm>
            <a:off x="548640" y="6035040"/>
            <a:ext cx="10972800" cy="320040"/>
          </a:xfrm>
          <a:prstGeom prst="rect">
            <a:avLst/>
          </a:prstGeom>
          <a:noFill/>
          <a:ln/>
        </p:spPr>
        <p:txBody>
          <a:bodyPr wrap="square" rtlCol="0" anchor="ctr"/>
          <a:lstStyle/>
          <a:p>
            <a:pPr marL="0" indent="0">
              <a:buNone/>
            </a:pPr>
            <a:r>
              <a:rPr lang="en-US" sz="1400" b="1" dirty="0">
                <a:solidFill>
                  <a:srgbClr val="0078D4"/>
                </a:solidFill>
                <a:latin typeface="Segoe UI" pitchFamily="34" charset="0"/>
                <a:ea typeface="Segoe UI" pitchFamily="34" charset="-122"/>
                <a:cs typeface="Segoe UI" pitchFamily="34" charset="-120"/>
              </a:rPr>
              <a:t>The gap is not awareness. It is the operating model.</a:t>
            </a:r>
            <a:endParaRPr lang="en-US" sz="1400" dirty="0"/>
          </a:p>
        </p:txBody>
      </p:sp>
      <p:pic>
        <p:nvPicPr>
          <p:cNvPr id="23"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24" name="Text 21"/>
          <p:cNvSpPr/>
          <p:nvPr/>
        </p:nvSpPr>
        <p:spPr>
          <a:xfrm>
            <a:off x="640080" y="6492240"/>
            <a:ext cx="73152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 2026 Microsoft Corporation</a:t>
            </a:r>
            <a:endParaRPr lang="en-US" sz="900" dirty="0"/>
          </a:p>
        </p:txBody>
      </p:sp>
      <p:sp>
        <p:nvSpPr>
          <p:cNvPr id="25" name="Text 22"/>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2 / 19</a:t>
            </a:r>
            <a:endParaRPr lang="en-US" sz="900" dirty="0"/>
          </a:p>
        </p:txBody>
      </p:sp>
      <p:sp>
        <p:nvSpPr>
          <p:cNvPr id="26" name="AICOE_GEO_ACCENT_Right Triangle 25"/>
          <p:cNvSpPr/>
          <p:nvPr/>
        </p:nvSpPr>
        <p:spPr>
          <a:xfrm rot="5400000">
            <a:off x="11762232"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ICOE_GEO_ACCENT_Right Triangle 26"/>
          <p:cNvSpPr/>
          <p:nvPr/>
        </p:nvSpPr>
        <p:spPr>
          <a:xfrm rot="5400000">
            <a:off x="11874246"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91440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DEFINITION</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200" b="1" dirty="0">
                <a:solidFill>
                  <a:srgbClr val="091F2C"/>
                </a:solidFill>
                <a:latin typeface="Segoe UI" pitchFamily="34" charset="0"/>
                <a:ea typeface="Segoe UI" pitchFamily="34" charset="-122"/>
                <a:cs typeface="Segoe UI" pitchFamily="34" charset="-120"/>
              </a:rPr>
              <a:t>What is an AI Centre of Excellence?</a:t>
            </a:r>
            <a:endParaRPr lang="en-US" sz="3200" dirty="0"/>
          </a:p>
        </p:txBody>
      </p:sp>
      <p:sp>
        <p:nvSpPr>
          <p:cNvPr id="5" name="Shape 3"/>
          <p:cNvSpPr/>
          <p:nvPr/>
        </p:nvSpPr>
        <p:spPr>
          <a:xfrm>
            <a:off x="548640" y="1828800"/>
            <a:ext cx="5760720" cy="4023360"/>
          </a:xfrm>
          <a:prstGeom prst="roundRect">
            <a:avLst>
              <a:gd name="adj" fmla="val 2727"/>
            </a:avLst>
          </a:prstGeom>
          <a:solidFill>
            <a:srgbClr val="FFF8F5"/>
          </a:solidFill>
          <a:ln w="12700">
            <a:solidFill>
              <a:srgbClr val="E1E6EF"/>
            </a:solidFill>
            <a:prstDash val="solid"/>
          </a:ln>
        </p:spPr>
        <p:txBody>
          <a:bodyPr/>
          <a:lstStyle/>
          <a:p>
            <a:endParaRPr lang="en-ZA"/>
          </a:p>
        </p:txBody>
      </p:sp>
      <p:sp>
        <p:nvSpPr>
          <p:cNvPr id="6" name="Text 4"/>
          <p:cNvSpPr/>
          <p:nvPr/>
        </p:nvSpPr>
        <p:spPr>
          <a:xfrm>
            <a:off x="822960" y="2011680"/>
            <a:ext cx="5303520" cy="32004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Microsoft's definition</a:t>
            </a:r>
            <a:endParaRPr lang="en-US" sz="1200" dirty="0"/>
          </a:p>
        </p:txBody>
      </p:sp>
      <p:sp>
        <p:nvSpPr>
          <p:cNvPr id="7" name="Text 5"/>
          <p:cNvSpPr/>
          <p:nvPr/>
        </p:nvSpPr>
        <p:spPr>
          <a:xfrm>
            <a:off x="822960" y="2377440"/>
            <a:ext cx="5303520" cy="1828800"/>
          </a:xfrm>
          <a:prstGeom prst="rect">
            <a:avLst/>
          </a:prstGeom>
          <a:noFill/>
          <a:ln/>
        </p:spPr>
        <p:txBody>
          <a:bodyPr wrap="square" rtlCol="0" anchor="ctr"/>
          <a:lstStyle/>
          <a:p>
            <a:pPr marL="0" indent="0">
              <a:buNone/>
            </a:pPr>
            <a:r>
              <a:rPr lang="en-US" sz="1500" b="1" dirty="0">
                <a:solidFill>
                  <a:srgbClr val="091F2C"/>
                </a:solidFill>
                <a:latin typeface="Segoe UI" pitchFamily="34" charset="0"/>
                <a:ea typeface="Segoe UI" pitchFamily="34" charset="-122"/>
                <a:cs typeface="Segoe UI" pitchFamily="34" charset="-120"/>
              </a:rPr>
              <a:t>A strategic enabler </a:t>
            </a:r>
            <a:r>
              <a:rPr lang="en-US" sz="1500" dirty="0">
                <a:solidFill>
                  <a:srgbClr val="091F2C"/>
                </a:solidFill>
                <a:latin typeface="Segoe UI" pitchFamily="34" charset="0"/>
                <a:ea typeface="Segoe UI" pitchFamily="34" charset="-122"/>
                <a:cs typeface="Segoe UI" pitchFamily="34" charset="-120"/>
              </a:rPr>
              <a:t>that brings together a cross-functional team to bridge gaps and align stakeholders around a unified vision of AI adoption — integrating business strategy, people, technology, and governance.</a:t>
            </a:r>
            <a:endParaRPr lang="en-US" sz="1500" dirty="0"/>
          </a:p>
        </p:txBody>
      </p:sp>
      <p:sp>
        <p:nvSpPr>
          <p:cNvPr id="8" name="Text 6"/>
          <p:cNvSpPr/>
          <p:nvPr/>
        </p:nvSpPr>
        <p:spPr>
          <a:xfrm>
            <a:off x="822960" y="5349240"/>
            <a:ext cx="5303520" cy="274320"/>
          </a:xfrm>
          <a:prstGeom prst="rect">
            <a:avLst/>
          </a:prstGeom>
          <a:noFill/>
          <a:ln/>
        </p:spPr>
        <p:txBody>
          <a:bodyPr wrap="square" rtlCol="0" anchor="ctr"/>
          <a:lstStyle/>
          <a:p>
            <a:pPr marL="0" indent="0">
              <a:buNone/>
            </a:pPr>
            <a:r>
              <a:rPr lang="en-US" sz="1000" i="1" dirty="0">
                <a:solidFill>
                  <a:srgbClr val="8A94A6"/>
                </a:solidFill>
                <a:latin typeface="Segoe UI" pitchFamily="34" charset="0"/>
                <a:ea typeface="Segoe UI" pitchFamily="34" charset="-122"/>
                <a:cs typeface="Segoe UI" pitchFamily="34" charset="-120"/>
              </a:rPr>
              <a:t>Azure Essentials · Microsoft Cloud Adoption Framework</a:t>
            </a:r>
            <a:endParaRPr lang="en-US" sz="1000" dirty="0"/>
          </a:p>
        </p:txBody>
      </p:sp>
      <p:sp>
        <p:nvSpPr>
          <p:cNvPr id="9" name="Shape 7"/>
          <p:cNvSpPr/>
          <p:nvPr/>
        </p:nvSpPr>
        <p:spPr>
          <a:xfrm>
            <a:off x="6537960" y="1828800"/>
            <a:ext cx="5120640" cy="4023360"/>
          </a:xfrm>
          <a:prstGeom prst="roundRect">
            <a:avLst>
              <a:gd name="adj" fmla="val 2727"/>
            </a:avLst>
          </a:prstGeom>
          <a:solidFill>
            <a:srgbClr val="091F2C"/>
          </a:solidFill>
          <a:ln w="12700">
            <a:solidFill>
              <a:srgbClr val="091F2C"/>
            </a:solidFill>
            <a:prstDash val="solid"/>
          </a:ln>
        </p:spPr>
        <p:txBody>
          <a:bodyPr/>
          <a:lstStyle/>
          <a:p>
            <a:endParaRPr lang="en-ZA"/>
          </a:p>
        </p:txBody>
      </p:sp>
      <p:sp>
        <p:nvSpPr>
          <p:cNvPr id="10" name="Text 8"/>
          <p:cNvSpPr/>
          <p:nvPr/>
        </p:nvSpPr>
        <p:spPr>
          <a:xfrm>
            <a:off x="6766560" y="2011680"/>
            <a:ext cx="4663440" cy="457200"/>
          </a:xfrm>
          <a:prstGeom prst="rect">
            <a:avLst/>
          </a:prstGeom>
          <a:noFill/>
          <a:ln/>
        </p:spPr>
        <p:txBody>
          <a:bodyPr wrap="square" rtlCol="0" anchor="ctr"/>
          <a:lstStyle/>
          <a:p>
            <a:pPr marL="0" indent="0">
              <a:buNone/>
            </a:pPr>
            <a:r>
              <a:rPr lang="en-US" sz="1400" b="1" dirty="0">
                <a:solidFill>
                  <a:srgbClr val="C03BC4"/>
                </a:solidFill>
                <a:latin typeface="Segoe UI" pitchFamily="34" charset="0"/>
                <a:ea typeface="Segoe UI" pitchFamily="34" charset="-122"/>
                <a:cs typeface="Segoe UI" pitchFamily="34" charset="-120"/>
              </a:rPr>
              <a:t>From fragmented pilots → to governed scale</a:t>
            </a:r>
            <a:endParaRPr lang="en-US" sz="1400" dirty="0"/>
          </a:p>
        </p:txBody>
      </p:sp>
      <p:sp>
        <p:nvSpPr>
          <p:cNvPr id="11" name="Shape 9"/>
          <p:cNvSpPr/>
          <p:nvPr/>
        </p:nvSpPr>
        <p:spPr>
          <a:xfrm>
            <a:off x="6766560" y="2697480"/>
            <a:ext cx="164592" cy="164592"/>
          </a:xfrm>
          <a:prstGeom prst="ellipse">
            <a:avLst/>
          </a:prstGeom>
          <a:solidFill>
            <a:srgbClr val="C03BC4"/>
          </a:solidFill>
          <a:ln w="12700">
            <a:solidFill>
              <a:srgbClr val="C03BC4"/>
            </a:solidFill>
            <a:prstDash val="solid"/>
          </a:ln>
        </p:spPr>
        <p:txBody>
          <a:bodyPr/>
          <a:lstStyle/>
          <a:p>
            <a:endParaRPr lang="en-ZA"/>
          </a:p>
        </p:txBody>
      </p:sp>
      <p:sp>
        <p:nvSpPr>
          <p:cNvPr id="12" name="Text 10"/>
          <p:cNvSpPr/>
          <p:nvPr/>
        </p:nvSpPr>
        <p:spPr>
          <a:xfrm>
            <a:off x="7040880" y="2606040"/>
            <a:ext cx="4572000" cy="411480"/>
          </a:xfrm>
          <a:prstGeom prst="rect">
            <a:avLst/>
          </a:prstGeom>
          <a:noFill/>
          <a:ln/>
        </p:spPr>
        <p:txBody>
          <a:bodyPr wrap="square" rtlCol="0" anchor="ctr"/>
          <a:lstStyle/>
          <a:p>
            <a:pPr marL="0" indent="0">
              <a:buNone/>
            </a:pPr>
            <a:r>
              <a:rPr lang="en-US" sz="1300" dirty="0">
                <a:solidFill>
                  <a:srgbClr val="FFFFFF"/>
                </a:solidFill>
                <a:latin typeface="Segoe UI" pitchFamily="34" charset="0"/>
                <a:ea typeface="Segoe UI" pitchFamily="34" charset="-122"/>
                <a:cs typeface="Segoe UI" pitchFamily="34" charset="-120"/>
              </a:rPr>
              <a:t>Central strategy instead of scattered experiments</a:t>
            </a:r>
            <a:endParaRPr lang="en-US" sz="1300" dirty="0"/>
          </a:p>
        </p:txBody>
      </p:sp>
      <p:sp>
        <p:nvSpPr>
          <p:cNvPr id="13" name="Shape 11"/>
          <p:cNvSpPr/>
          <p:nvPr/>
        </p:nvSpPr>
        <p:spPr>
          <a:xfrm>
            <a:off x="6766560" y="3200400"/>
            <a:ext cx="164592" cy="164592"/>
          </a:xfrm>
          <a:prstGeom prst="ellipse">
            <a:avLst/>
          </a:prstGeom>
          <a:solidFill>
            <a:srgbClr val="C03BC4"/>
          </a:solidFill>
          <a:ln w="12700">
            <a:solidFill>
              <a:srgbClr val="C03BC4"/>
            </a:solidFill>
            <a:prstDash val="solid"/>
          </a:ln>
        </p:spPr>
        <p:txBody>
          <a:bodyPr/>
          <a:lstStyle/>
          <a:p>
            <a:endParaRPr lang="en-ZA"/>
          </a:p>
        </p:txBody>
      </p:sp>
      <p:sp>
        <p:nvSpPr>
          <p:cNvPr id="14" name="Text 12"/>
          <p:cNvSpPr/>
          <p:nvPr/>
        </p:nvSpPr>
        <p:spPr>
          <a:xfrm>
            <a:off x="7040880" y="3108960"/>
            <a:ext cx="4572000" cy="411480"/>
          </a:xfrm>
          <a:prstGeom prst="rect">
            <a:avLst/>
          </a:prstGeom>
          <a:noFill/>
          <a:ln/>
        </p:spPr>
        <p:txBody>
          <a:bodyPr wrap="square" rtlCol="0" anchor="ctr"/>
          <a:lstStyle/>
          <a:p>
            <a:pPr marL="0" indent="0">
              <a:buNone/>
            </a:pPr>
            <a:r>
              <a:rPr lang="en-US" sz="1300" dirty="0">
                <a:solidFill>
                  <a:srgbClr val="FFFFFF"/>
                </a:solidFill>
                <a:latin typeface="Segoe UI" pitchFamily="34" charset="0"/>
                <a:ea typeface="Segoe UI" pitchFamily="34" charset="-122"/>
                <a:cs typeface="Segoe UI" pitchFamily="34" charset="-120"/>
              </a:rPr>
              <a:t>One governance model across Responsible AI, security, data</a:t>
            </a:r>
            <a:endParaRPr lang="en-US" sz="1300" dirty="0"/>
          </a:p>
        </p:txBody>
      </p:sp>
      <p:sp>
        <p:nvSpPr>
          <p:cNvPr id="15" name="Shape 13"/>
          <p:cNvSpPr/>
          <p:nvPr/>
        </p:nvSpPr>
        <p:spPr>
          <a:xfrm>
            <a:off x="6766560" y="3703320"/>
            <a:ext cx="164592" cy="164592"/>
          </a:xfrm>
          <a:prstGeom prst="ellipse">
            <a:avLst/>
          </a:prstGeom>
          <a:solidFill>
            <a:srgbClr val="C03BC4"/>
          </a:solidFill>
          <a:ln w="12700">
            <a:solidFill>
              <a:srgbClr val="C03BC4"/>
            </a:solidFill>
            <a:prstDash val="solid"/>
          </a:ln>
        </p:spPr>
        <p:txBody>
          <a:bodyPr/>
          <a:lstStyle/>
          <a:p>
            <a:endParaRPr lang="en-ZA"/>
          </a:p>
        </p:txBody>
      </p:sp>
      <p:sp>
        <p:nvSpPr>
          <p:cNvPr id="16" name="Text 14"/>
          <p:cNvSpPr/>
          <p:nvPr/>
        </p:nvSpPr>
        <p:spPr>
          <a:xfrm>
            <a:off x="7040880" y="3611880"/>
            <a:ext cx="4572000" cy="411480"/>
          </a:xfrm>
          <a:prstGeom prst="rect">
            <a:avLst/>
          </a:prstGeom>
          <a:noFill/>
          <a:ln/>
        </p:spPr>
        <p:txBody>
          <a:bodyPr wrap="square" rtlCol="0" anchor="ctr"/>
          <a:lstStyle/>
          <a:p>
            <a:pPr marL="0" indent="0">
              <a:buNone/>
            </a:pPr>
            <a:r>
              <a:rPr lang="en-US" sz="1300" dirty="0">
                <a:solidFill>
                  <a:srgbClr val="FFFFFF"/>
                </a:solidFill>
                <a:latin typeface="Segoe UI" pitchFamily="34" charset="0"/>
                <a:ea typeface="Segoe UI" pitchFamily="34" charset="-122"/>
                <a:cs typeface="Segoe UI" pitchFamily="34" charset="-120"/>
              </a:rPr>
              <a:t>Consistent skilling and operating rituals</a:t>
            </a:r>
            <a:endParaRPr lang="en-US" sz="1300" dirty="0"/>
          </a:p>
        </p:txBody>
      </p:sp>
      <p:sp>
        <p:nvSpPr>
          <p:cNvPr id="17" name="Shape 15"/>
          <p:cNvSpPr/>
          <p:nvPr/>
        </p:nvSpPr>
        <p:spPr>
          <a:xfrm>
            <a:off x="6766560" y="4206240"/>
            <a:ext cx="164592" cy="164592"/>
          </a:xfrm>
          <a:prstGeom prst="ellipse">
            <a:avLst/>
          </a:prstGeom>
          <a:solidFill>
            <a:srgbClr val="C03BC4"/>
          </a:solidFill>
          <a:ln w="12700">
            <a:solidFill>
              <a:srgbClr val="C03BC4"/>
            </a:solidFill>
            <a:prstDash val="solid"/>
          </a:ln>
        </p:spPr>
        <p:txBody>
          <a:bodyPr/>
          <a:lstStyle/>
          <a:p>
            <a:endParaRPr lang="en-ZA"/>
          </a:p>
        </p:txBody>
      </p:sp>
      <p:sp>
        <p:nvSpPr>
          <p:cNvPr id="18" name="Text 16"/>
          <p:cNvSpPr/>
          <p:nvPr/>
        </p:nvSpPr>
        <p:spPr>
          <a:xfrm>
            <a:off x="7040880" y="4114800"/>
            <a:ext cx="4572000" cy="411480"/>
          </a:xfrm>
          <a:prstGeom prst="rect">
            <a:avLst/>
          </a:prstGeom>
          <a:noFill/>
          <a:ln/>
        </p:spPr>
        <p:txBody>
          <a:bodyPr wrap="square" rtlCol="0" anchor="ctr"/>
          <a:lstStyle/>
          <a:p>
            <a:pPr marL="0" indent="0">
              <a:buNone/>
            </a:pPr>
            <a:r>
              <a:rPr lang="en-US" sz="1300" dirty="0">
                <a:solidFill>
                  <a:srgbClr val="FFFFFF"/>
                </a:solidFill>
                <a:latin typeface="Segoe UI" pitchFamily="34" charset="0"/>
                <a:ea typeface="Segoe UI" pitchFamily="34" charset="-122"/>
                <a:cs typeface="Segoe UI" pitchFamily="34" charset="-120"/>
              </a:rPr>
              <a:t>Clear line of sight from business outcome to production AI workload</a:t>
            </a:r>
            <a:endParaRPr lang="en-US" sz="1300" dirty="0"/>
          </a:p>
        </p:txBody>
      </p:sp>
      <p:sp>
        <p:nvSpPr>
          <p:cNvPr id="19" name="Shape 17"/>
          <p:cNvSpPr/>
          <p:nvPr/>
        </p:nvSpPr>
        <p:spPr>
          <a:xfrm>
            <a:off x="6766560" y="4709160"/>
            <a:ext cx="164592" cy="164592"/>
          </a:xfrm>
          <a:prstGeom prst="ellipse">
            <a:avLst/>
          </a:prstGeom>
          <a:solidFill>
            <a:srgbClr val="C03BC4"/>
          </a:solidFill>
          <a:ln w="12700">
            <a:solidFill>
              <a:srgbClr val="C03BC4"/>
            </a:solidFill>
            <a:prstDash val="solid"/>
          </a:ln>
        </p:spPr>
        <p:txBody>
          <a:bodyPr/>
          <a:lstStyle/>
          <a:p>
            <a:endParaRPr lang="en-ZA"/>
          </a:p>
        </p:txBody>
      </p:sp>
      <p:sp>
        <p:nvSpPr>
          <p:cNvPr id="20" name="Text 18"/>
          <p:cNvSpPr/>
          <p:nvPr/>
        </p:nvSpPr>
        <p:spPr>
          <a:xfrm>
            <a:off x="7040880" y="4617720"/>
            <a:ext cx="4572000" cy="411480"/>
          </a:xfrm>
          <a:prstGeom prst="rect">
            <a:avLst/>
          </a:prstGeom>
          <a:noFill/>
          <a:ln/>
        </p:spPr>
        <p:txBody>
          <a:bodyPr wrap="square" rtlCol="0" anchor="ctr"/>
          <a:lstStyle/>
          <a:p>
            <a:pPr marL="0" indent="0">
              <a:buNone/>
            </a:pPr>
            <a:r>
              <a:rPr lang="en-US" sz="1300" dirty="0">
                <a:solidFill>
                  <a:srgbClr val="FFFFFF"/>
                </a:solidFill>
                <a:latin typeface="Segoe UI" pitchFamily="34" charset="0"/>
                <a:ea typeface="Segoe UI" pitchFamily="34" charset="-122"/>
                <a:cs typeface="Segoe UI" pitchFamily="34" charset="-120"/>
              </a:rPr>
              <a:t>Shared learning loop — every pilot strengthens the next</a:t>
            </a:r>
            <a:endParaRPr lang="en-US" sz="1300" dirty="0"/>
          </a:p>
        </p:txBody>
      </p:sp>
      <p:pic>
        <p:nvPicPr>
          <p:cNvPr id="21"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22" name="Text 19"/>
          <p:cNvSpPr/>
          <p:nvPr/>
        </p:nvSpPr>
        <p:spPr>
          <a:xfrm>
            <a:off x="640080" y="6492240"/>
            <a:ext cx="73152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 2026 Microsoft Corporation</a:t>
            </a:r>
            <a:endParaRPr lang="en-US" sz="900" dirty="0"/>
          </a:p>
        </p:txBody>
      </p:sp>
      <p:sp>
        <p:nvSpPr>
          <p:cNvPr id="23" name="Text 20"/>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3 / 19</a:t>
            </a:r>
            <a:endParaRPr lang="en-US" sz="900" dirty="0"/>
          </a:p>
        </p:txBody>
      </p:sp>
      <p:sp>
        <p:nvSpPr>
          <p:cNvPr id="24" name="AICOE_GEO_ACCENT_Right Triangle 23"/>
          <p:cNvSpPr/>
          <p:nvPr/>
        </p:nvSpPr>
        <p:spPr>
          <a:xfrm rot="5400000">
            <a:off x="11762232"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ICOE_GEO_ACCENT_Right Triangle 24"/>
          <p:cNvSpPr/>
          <p:nvPr/>
        </p:nvSpPr>
        <p:spPr>
          <a:xfrm rot="5400000">
            <a:off x="11874246"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8F5"/>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91440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OUR FRAMEWORK</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200" b="1" dirty="0">
                <a:solidFill>
                  <a:srgbClr val="091F2C"/>
                </a:solidFill>
                <a:latin typeface="Segoe UI" pitchFamily="34" charset="0"/>
                <a:ea typeface="Segoe UI" pitchFamily="34" charset="-122"/>
                <a:cs typeface="Segoe UI" pitchFamily="34" charset="-120"/>
              </a:rPr>
              <a:t>The 5+1 Pillar AI CoE Model</a:t>
            </a:r>
            <a:endParaRPr lang="en-US" sz="3200" dirty="0"/>
          </a:p>
        </p:txBody>
      </p:sp>
      <p:sp>
        <p:nvSpPr>
          <p:cNvPr id="5" name="Shape 3"/>
          <p:cNvSpPr/>
          <p:nvPr/>
        </p:nvSpPr>
        <p:spPr>
          <a:xfrm>
            <a:off x="548640" y="1828800"/>
            <a:ext cx="3611880" cy="1828800"/>
          </a:xfrm>
          <a:prstGeom prst="roundRect">
            <a:avLst>
              <a:gd name="adj" fmla="val 5000"/>
            </a:avLst>
          </a:prstGeom>
          <a:solidFill>
            <a:srgbClr val="FFFFFF"/>
          </a:solidFill>
          <a:ln w="12700">
            <a:solidFill>
              <a:srgbClr val="E1E6EF"/>
            </a:solidFill>
            <a:prstDash val="solid"/>
          </a:ln>
        </p:spPr>
        <p:txBody>
          <a:bodyPr/>
          <a:lstStyle/>
          <a:p>
            <a:endParaRPr lang="en-ZA"/>
          </a:p>
        </p:txBody>
      </p:sp>
      <p:sp>
        <p:nvSpPr>
          <p:cNvPr id="6" name="Shape 4"/>
          <p:cNvSpPr/>
          <p:nvPr/>
        </p:nvSpPr>
        <p:spPr>
          <a:xfrm>
            <a:off x="731520" y="2148840"/>
            <a:ext cx="914400" cy="822960"/>
          </a:xfrm>
          <a:prstGeom prst="hexagon">
            <a:avLst/>
          </a:prstGeom>
          <a:solidFill>
            <a:srgbClr val="0078D4"/>
          </a:solidFill>
          <a:ln w="12700">
            <a:solidFill>
              <a:srgbClr val="0078D4"/>
            </a:solidFill>
            <a:prstDash val="solid"/>
          </a:ln>
        </p:spPr>
        <p:txBody>
          <a:bodyPr/>
          <a:lstStyle/>
          <a:p>
            <a:endParaRPr lang="en-ZA"/>
          </a:p>
        </p:txBody>
      </p:sp>
      <p:sp>
        <p:nvSpPr>
          <p:cNvPr id="7" name="Text 5"/>
          <p:cNvSpPr/>
          <p:nvPr/>
        </p:nvSpPr>
        <p:spPr>
          <a:xfrm>
            <a:off x="731520" y="2148840"/>
            <a:ext cx="914400" cy="822960"/>
          </a:xfrm>
          <a:prstGeom prst="rect">
            <a:avLst/>
          </a:prstGeom>
          <a:noFill/>
          <a:ln/>
        </p:spPr>
        <p:txBody>
          <a:bodyPr wrap="square"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1</a:t>
            </a:r>
            <a:endParaRPr lang="en-US" sz="2200" dirty="0"/>
          </a:p>
        </p:txBody>
      </p:sp>
      <p:sp>
        <p:nvSpPr>
          <p:cNvPr id="8" name="Text 6"/>
          <p:cNvSpPr/>
          <p:nvPr/>
        </p:nvSpPr>
        <p:spPr>
          <a:xfrm>
            <a:off x="1737360" y="2148840"/>
            <a:ext cx="2240280" cy="457200"/>
          </a:xfrm>
          <a:prstGeom prst="rect">
            <a:avLst/>
          </a:prstGeom>
          <a:noFill/>
          <a:ln/>
        </p:spPr>
        <p:txBody>
          <a:bodyPr wrap="square" rtlCol="0" anchor="ctr"/>
          <a:lstStyle/>
          <a:p>
            <a:pPr marL="0" indent="0">
              <a:buNone/>
            </a:pPr>
            <a:r>
              <a:rPr lang="en-US" sz="1600" b="1" dirty="0">
                <a:solidFill>
                  <a:srgbClr val="091F2C"/>
                </a:solidFill>
                <a:latin typeface="Segoe UI" pitchFamily="34" charset="0"/>
                <a:ea typeface="Segoe UI" pitchFamily="34" charset="-122"/>
                <a:cs typeface="Segoe UI" pitchFamily="34" charset="-120"/>
              </a:rPr>
              <a:t>Business Strategy</a:t>
            </a:r>
            <a:endParaRPr lang="en-US" sz="1600" dirty="0"/>
          </a:p>
        </p:txBody>
      </p:sp>
      <p:sp>
        <p:nvSpPr>
          <p:cNvPr id="9" name="Text 7"/>
          <p:cNvSpPr/>
          <p:nvPr/>
        </p:nvSpPr>
        <p:spPr>
          <a:xfrm>
            <a:off x="1737360" y="2606040"/>
            <a:ext cx="2240280" cy="91440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Vision · Metrics · Use case prioritisation · Investment portfolio</a:t>
            </a:r>
            <a:endParaRPr lang="en-US" sz="1100" dirty="0"/>
          </a:p>
        </p:txBody>
      </p:sp>
      <p:sp>
        <p:nvSpPr>
          <p:cNvPr id="10" name="Shape 8"/>
          <p:cNvSpPr/>
          <p:nvPr/>
        </p:nvSpPr>
        <p:spPr>
          <a:xfrm>
            <a:off x="4297680" y="1828800"/>
            <a:ext cx="3611880" cy="1828800"/>
          </a:xfrm>
          <a:prstGeom prst="roundRect">
            <a:avLst>
              <a:gd name="adj" fmla="val 5000"/>
            </a:avLst>
          </a:prstGeom>
          <a:solidFill>
            <a:srgbClr val="FFFFFF"/>
          </a:solidFill>
          <a:ln w="12700">
            <a:solidFill>
              <a:srgbClr val="E1E6EF"/>
            </a:solidFill>
            <a:prstDash val="solid"/>
          </a:ln>
        </p:spPr>
        <p:txBody>
          <a:bodyPr/>
          <a:lstStyle/>
          <a:p>
            <a:endParaRPr lang="en-ZA"/>
          </a:p>
        </p:txBody>
      </p:sp>
      <p:sp>
        <p:nvSpPr>
          <p:cNvPr id="11" name="Shape 9"/>
          <p:cNvSpPr/>
          <p:nvPr/>
        </p:nvSpPr>
        <p:spPr>
          <a:xfrm>
            <a:off x="4480560" y="2148840"/>
            <a:ext cx="914400" cy="822960"/>
          </a:xfrm>
          <a:prstGeom prst="hexagon">
            <a:avLst/>
          </a:prstGeom>
          <a:solidFill>
            <a:srgbClr val="0057B8"/>
          </a:solidFill>
          <a:ln w="12700">
            <a:solidFill>
              <a:srgbClr val="0057B8"/>
            </a:solidFill>
            <a:prstDash val="solid"/>
          </a:ln>
        </p:spPr>
        <p:txBody>
          <a:bodyPr/>
          <a:lstStyle/>
          <a:p>
            <a:endParaRPr lang="en-ZA"/>
          </a:p>
        </p:txBody>
      </p:sp>
      <p:sp>
        <p:nvSpPr>
          <p:cNvPr id="12" name="Text 10"/>
          <p:cNvSpPr/>
          <p:nvPr/>
        </p:nvSpPr>
        <p:spPr>
          <a:xfrm>
            <a:off x="4480560" y="2148840"/>
            <a:ext cx="914400" cy="822960"/>
          </a:xfrm>
          <a:prstGeom prst="rect">
            <a:avLst/>
          </a:prstGeom>
          <a:noFill/>
          <a:ln/>
        </p:spPr>
        <p:txBody>
          <a:bodyPr wrap="square"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2</a:t>
            </a:r>
            <a:endParaRPr lang="en-US" sz="2200" dirty="0"/>
          </a:p>
        </p:txBody>
      </p:sp>
      <p:sp>
        <p:nvSpPr>
          <p:cNvPr id="13" name="Text 11"/>
          <p:cNvSpPr/>
          <p:nvPr/>
        </p:nvSpPr>
        <p:spPr>
          <a:xfrm>
            <a:off x="5486400" y="2148840"/>
            <a:ext cx="2240280" cy="457200"/>
          </a:xfrm>
          <a:prstGeom prst="rect">
            <a:avLst/>
          </a:prstGeom>
          <a:noFill/>
          <a:ln/>
        </p:spPr>
        <p:txBody>
          <a:bodyPr wrap="square" rtlCol="0" anchor="ctr"/>
          <a:lstStyle/>
          <a:p>
            <a:pPr marL="0" indent="0">
              <a:buNone/>
            </a:pPr>
            <a:r>
              <a:rPr lang="en-US" sz="1600" b="1" dirty="0">
                <a:solidFill>
                  <a:srgbClr val="091F2C"/>
                </a:solidFill>
                <a:latin typeface="Segoe UI" pitchFamily="34" charset="0"/>
                <a:ea typeface="Segoe UI" pitchFamily="34" charset="-122"/>
                <a:cs typeface="Segoe UI" pitchFamily="34" charset="-120"/>
              </a:rPr>
              <a:t>Organization &amp; Culture</a:t>
            </a:r>
            <a:endParaRPr lang="en-US" sz="1600" dirty="0"/>
          </a:p>
        </p:txBody>
      </p:sp>
      <p:sp>
        <p:nvSpPr>
          <p:cNvPr id="14" name="Text 12"/>
          <p:cNvSpPr/>
          <p:nvPr/>
        </p:nvSpPr>
        <p:spPr>
          <a:xfrm>
            <a:off x="5486400" y="2606040"/>
            <a:ext cx="2240280" cy="91440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AI CoE · Change · Upskilling · Agentic AI culture</a:t>
            </a:r>
            <a:endParaRPr lang="en-US" sz="1100" dirty="0"/>
          </a:p>
        </p:txBody>
      </p:sp>
      <p:sp>
        <p:nvSpPr>
          <p:cNvPr id="15" name="Shape 13"/>
          <p:cNvSpPr/>
          <p:nvPr/>
        </p:nvSpPr>
        <p:spPr>
          <a:xfrm>
            <a:off x="8046720" y="1828800"/>
            <a:ext cx="3611880" cy="1828800"/>
          </a:xfrm>
          <a:prstGeom prst="roundRect">
            <a:avLst>
              <a:gd name="adj" fmla="val 5000"/>
            </a:avLst>
          </a:prstGeom>
          <a:solidFill>
            <a:srgbClr val="FFFFFF"/>
          </a:solidFill>
          <a:ln w="12700">
            <a:solidFill>
              <a:srgbClr val="E1E6EF"/>
            </a:solidFill>
            <a:prstDash val="solid"/>
          </a:ln>
        </p:spPr>
        <p:txBody>
          <a:bodyPr/>
          <a:lstStyle/>
          <a:p>
            <a:endParaRPr lang="en-ZA"/>
          </a:p>
        </p:txBody>
      </p:sp>
      <p:sp>
        <p:nvSpPr>
          <p:cNvPr id="16" name="Shape 14"/>
          <p:cNvSpPr/>
          <p:nvPr/>
        </p:nvSpPr>
        <p:spPr>
          <a:xfrm>
            <a:off x="8229600" y="2148840"/>
            <a:ext cx="914400" cy="822960"/>
          </a:xfrm>
          <a:prstGeom prst="hexagon">
            <a:avLst/>
          </a:prstGeom>
          <a:solidFill>
            <a:srgbClr val="C03BC4"/>
          </a:solidFill>
          <a:ln w="12700">
            <a:solidFill>
              <a:srgbClr val="C03BC4"/>
            </a:solidFill>
            <a:prstDash val="solid"/>
          </a:ln>
        </p:spPr>
        <p:txBody>
          <a:bodyPr/>
          <a:lstStyle/>
          <a:p>
            <a:endParaRPr lang="en-ZA"/>
          </a:p>
        </p:txBody>
      </p:sp>
      <p:sp>
        <p:nvSpPr>
          <p:cNvPr id="17" name="Text 15"/>
          <p:cNvSpPr/>
          <p:nvPr/>
        </p:nvSpPr>
        <p:spPr>
          <a:xfrm>
            <a:off x="8229600" y="2148840"/>
            <a:ext cx="914400" cy="822960"/>
          </a:xfrm>
          <a:prstGeom prst="rect">
            <a:avLst/>
          </a:prstGeom>
          <a:noFill/>
          <a:ln/>
        </p:spPr>
        <p:txBody>
          <a:bodyPr wrap="square"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3</a:t>
            </a:r>
            <a:endParaRPr lang="en-US" sz="2200" dirty="0"/>
          </a:p>
        </p:txBody>
      </p:sp>
      <p:sp>
        <p:nvSpPr>
          <p:cNvPr id="18" name="Text 16"/>
          <p:cNvSpPr/>
          <p:nvPr/>
        </p:nvSpPr>
        <p:spPr>
          <a:xfrm>
            <a:off x="9235440" y="2148840"/>
            <a:ext cx="2240280" cy="457200"/>
          </a:xfrm>
          <a:prstGeom prst="rect">
            <a:avLst/>
          </a:prstGeom>
          <a:noFill/>
          <a:ln/>
        </p:spPr>
        <p:txBody>
          <a:bodyPr wrap="square" rtlCol="0" anchor="ctr"/>
          <a:lstStyle/>
          <a:p>
            <a:pPr marL="0" indent="0">
              <a:buNone/>
            </a:pPr>
            <a:r>
              <a:rPr lang="en-US" sz="1600" b="1" dirty="0">
                <a:solidFill>
                  <a:srgbClr val="091F2C"/>
                </a:solidFill>
                <a:latin typeface="Segoe UI" pitchFamily="34" charset="0"/>
                <a:ea typeface="Segoe UI" pitchFamily="34" charset="-122"/>
                <a:cs typeface="Segoe UI" pitchFamily="34" charset="-120"/>
              </a:rPr>
              <a:t>AI Strategy &amp; Experience</a:t>
            </a:r>
            <a:endParaRPr lang="en-US" sz="1600" dirty="0"/>
          </a:p>
        </p:txBody>
      </p:sp>
      <p:sp>
        <p:nvSpPr>
          <p:cNvPr id="19" name="Text 17"/>
          <p:cNvSpPr/>
          <p:nvPr/>
        </p:nvSpPr>
        <p:spPr>
          <a:xfrm>
            <a:off x="9235440" y="2606040"/>
            <a:ext cx="2240280" cy="91440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Cross-functional teams · Agile experimentation · Reusable assets</a:t>
            </a:r>
            <a:endParaRPr lang="en-US" sz="1100" dirty="0"/>
          </a:p>
        </p:txBody>
      </p:sp>
      <p:sp>
        <p:nvSpPr>
          <p:cNvPr id="20" name="Shape 18"/>
          <p:cNvSpPr/>
          <p:nvPr/>
        </p:nvSpPr>
        <p:spPr>
          <a:xfrm>
            <a:off x="548640" y="3840480"/>
            <a:ext cx="3611880" cy="1828800"/>
          </a:xfrm>
          <a:prstGeom prst="roundRect">
            <a:avLst>
              <a:gd name="adj" fmla="val 5000"/>
            </a:avLst>
          </a:prstGeom>
          <a:solidFill>
            <a:srgbClr val="FFFFFF"/>
          </a:solidFill>
          <a:ln w="12700">
            <a:solidFill>
              <a:srgbClr val="E1E6EF"/>
            </a:solidFill>
            <a:prstDash val="solid"/>
          </a:ln>
        </p:spPr>
        <p:txBody>
          <a:bodyPr/>
          <a:lstStyle/>
          <a:p>
            <a:endParaRPr lang="en-ZA"/>
          </a:p>
        </p:txBody>
      </p:sp>
      <p:sp>
        <p:nvSpPr>
          <p:cNvPr id="21" name="Shape 19"/>
          <p:cNvSpPr/>
          <p:nvPr/>
        </p:nvSpPr>
        <p:spPr>
          <a:xfrm>
            <a:off x="731520" y="4160520"/>
            <a:ext cx="914400" cy="822960"/>
          </a:xfrm>
          <a:prstGeom prst="hexagon">
            <a:avLst/>
          </a:prstGeom>
          <a:solidFill>
            <a:srgbClr val="225B62"/>
          </a:solidFill>
          <a:ln w="12700">
            <a:solidFill>
              <a:srgbClr val="225B62"/>
            </a:solidFill>
            <a:prstDash val="solid"/>
          </a:ln>
        </p:spPr>
        <p:txBody>
          <a:bodyPr/>
          <a:lstStyle/>
          <a:p>
            <a:endParaRPr lang="en-ZA"/>
          </a:p>
        </p:txBody>
      </p:sp>
      <p:sp>
        <p:nvSpPr>
          <p:cNvPr id="22" name="Text 20"/>
          <p:cNvSpPr/>
          <p:nvPr/>
        </p:nvSpPr>
        <p:spPr>
          <a:xfrm>
            <a:off x="731520" y="4160520"/>
            <a:ext cx="914400" cy="822960"/>
          </a:xfrm>
          <a:prstGeom prst="rect">
            <a:avLst/>
          </a:prstGeom>
          <a:noFill/>
          <a:ln/>
        </p:spPr>
        <p:txBody>
          <a:bodyPr wrap="square"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4</a:t>
            </a:r>
            <a:endParaRPr lang="en-US" sz="2200" dirty="0"/>
          </a:p>
        </p:txBody>
      </p:sp>
      <p:sp>
        <p:nvSpPr>
          <p:cNvPr id="23" name="Text 21"/>
          <p:cNvSpPr/>
          <p:nvPr/>
        </p:nvSpPr>
        <p:spPr>
          <a:xfrm>
            <a:off x="1737360" y="4160520"/>
            <a:ext cx="2240280" cy="457200"/>
          </a:xfrm>
          <a:prstGeom prst="rect">
            <a:avLst/>
          </a:prstGeom>
          <a:noFill/>
          <a:ln/>
        </p:spPr>
        <p:txBody>
          <a:bodyPr wrap="square" rtlCol="0" anchor="ctr"/>
          <a:lstStyle/>
          <a:p>
            <a:pPr marL="0" indent="0">
              <a:buNone/>
            </a:pPr>
            <a:r>
              <a:rPr lang="en-US" sz="1600" b="1" dirty="0">
                <a:solidFill>
                  <a:srgbClr val="091F2C"/>
                </a:solidFill>
                <a:latin typeface="Segoe UI" pitchFamily="34" charset="0"/>
                <a:ea typeface="Segoe UI" pitchFamily="34" charset="-122"/>
                <a:cs typeface="Segoe UI" pitchFamily="34" charset="-120"/>
              </a:rPr>
              <a:t>Technology &amp; Data Strategy</a:t>
            </a:r>
            <a:endParaRPr lang="en-US" sz="1600" dirty="0"/>
          </a:p>
        </p:txBody>
      </p:sp>
      <p:sp>
        <p:nvSpPr>
          <p:cNvPr id="24" name="Text 22"/>
          <p:cNvSpPr/>
          <p:nvPr/>
        </p:nvSpPr>
        <p:spPr>
          <a:xfrm>
            <a:off x="1737360" y="4617720"/>
            <a:ext cx="2240280" cy="91440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Data readiness · Scalable infra · Buy/Extend/Build · Optimisation</a:t>
            </a:r>
            <a:endParaRPr lang="en-US" sz="1100" dirty="0"/>
          </a:p>
        </p:txBody>
      </p:sp>
      <p:sp>
        <p:nvSpPr>
          <p:cNvPr id="25" name="Shape 23"/>
          <p:cNvSpPr/>
          <p:nvPr/>
        </p:nvSpPr>
        <p:spPr>
          <a:xfrm>
            <a:off x="4297680" y="3840480"/>
            <a:ext cx="3611880" cy="1828800"/>
          </a:xfrm>
          <a:prstGeom prst="roundRect">
            <a:avLst>
              <a:gd name="adj" fmla="val 5000"/>
            </a:avLst>
          </a:prstGeom>
          <a:solidFill>
            <a:srgbClr val="FFFFFF"/>
          </a:solidFill>
          <a:ln w="12700">
            <a:solidFill>
              <a:srgbClr val="E1E6EF"/>
            </a:solidFill>
            <a:prstDash val="solid"/>
          </a:ln>
        </p:spPr>
        <p:txBody>
          <a:bodyPr/>
          <a:lstStyle/>
          <a:p>
            <a:endParaRPr lang="en-ZA"/>
          </a:p>
        </p:txBody>
      </p:sp>
      <p:sp>
        <p:nvSpPr>
          <p:cNvPr id="26" name="Shape 24"/>
          <p:cNvSpPr/>
          <p:nvPr/>
        </p:nvSpPr>
        <p:spPr>
          <a:xfrm>
            <a:off x="4480560" y="4160520"/>
            <a:ext cx="914400" cy="822960"/>
          </a:xfrm>
          <a:prstGeom prst="hexagon">
            <a:avLst/>
          </a:prstGeom>
          <a:solidFill>
            <a:srgbClr val="FFB900"/>
          </a:solidFill>
          <a:ln w="12700">
            <a:solidFill>
              <a:srgbClr val="FFB900"/>
            </a:solidFill>
            <a:prstDash val="solid"/>
          </a:ln>
        </p:spPr>
        <p:txBody>
          <a:bodyPr/>
          <a:lstStyle/>
          <a:p>
            <a:endParaRPr lang="en-ZA"/>
          </a:p>
        </p:txBody>
      </p:sp>
      <p:sp>
        <p:nvSpPr>
          <p:cNvPr id="27" name="Text 25"/>
          <p:cNvSpPr/>
          <p:nvPr/>
        </p:nvSpPr>
        <p:spPr>
          <a:xfrm>
            <a:off x="4480560" y="4160520"/>
            <a:ext cx="914400" cy="822960"/>
          </a:xfrm>
          <a:prstGeom prst="rect">
            <a:avLst/>
          </a:prstGeom>
          <a:noFill/>
          <a:ln/>
        </p:spPr>
        <p:txBody>
          <a:bodyPr wrap="square"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5</a:t>
            </a:r>
            <a:endParaRPr lang="en-US" sz="2200" dirty="0"/>
          </a:p>
        </p:txBody>
      </p:sp>
      <p:sp>
        <p:nvSpPr>
          <p:cNvPr id="28" name="Text 26"/>
          <p:cNvSpPr/>
          <p:nvPr/>
        </p:nvSpPr>
        <p:spPr>
          <a:xfrm>
            <a:off x="5486400" y="4160520"/>
            <a:ext cx="2240280" cy="457200"/>
          </a:xfrm>
          <a:prstGeom prst="rect">
            <a:avLst/>
          </a:prstGeom>
          <a:noFill/>
          <a:ln/>
        </p:spPr>
        <p:txBody>
          <a:bodyPr wrap="square" rtlCol="0" anchor="ctr"/>
          <a:lstStyle/>
          <a:p>
            <a:pPr marL="0" indent="0">
              <a:buNone/>
            </a:pPr>
            <a:r>
              <a:rPr lang="en-US" sz="1600" b="1" dirty="0">
                <a:solidFill>
                  <a:srgbClr val="091F2C"/>
                </a:solidFill>
                <a:latin typeface="Segoe UI" pitchFamily="34" charset="0"/>
                <a:ea typeface="Segoe UI" pitchFamily="34" charset="-122"/>
                <a:cs typeface="Segoe UI" pitchFamily="34" charset="-120"/>
              </a:rPr>
              <a:t>AI Governance &amp; Security</a:t>
            </a:r>
            <a:endParaRPr lang="en-US" sz="1600" dirty="0"/>
          </a:p>
        </p:txBody>
      </p:sp>
      <p:sp>
        <p:nvSpPr>
          <p:cNvPr id="29" name="Text 27"/>
          <p:cNvSpPr/>
          <p:nvPr/>
        </p:nvSpPr>
        <p:spPr>
          <a:xfrm>
            <a:off x="5486400" y="4617720"/>
            <a:ext cx="2240280" cy="91440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Responsible AI · Governance · AI security · Privacy &amp; compliance</a:t>
            </a:r>
            <a:endParaRPr lang="en-US" sz="1100" dirty="0"/>
          </a:p>
        </p:txBody>
      </p:sp>
      <p:sp>
        <p:nvSpPr>
          <p:cNvPr id="30" name="Shape 28"/>
          <p:cNvSpPr/>
          <p:nvPr/>
        </p:nvSpPr>
        <p:spPr>
          <a:xfrm>
            <a:off x="8046720" y="3840480"/>
            <a:ext cx="3611880" cy="1828800"/>
          </a:xfrm>
          <a:prstGeom prst="roundRect">
            <a:avLst>
              <a:gd name="adj" fmla="val 5000"/>
            </a:avLst>
          </a:prstGeom>
          <a:solidFill>
            <a:srgbClr val="FFFFFF"/>
          </a:solidFill>
          <a:ln w="12700">
            <a:solidFill>
              <a:srgbClr val="E1E6EF"/>
            </a:solidFill>
            <a:prstDash val="solid"/>
          </a:ln>
        </p:spPr>
        <p:txBody>
          <a:bodyPr/>
          <a:lstStyle/>
          <a:p>
            <a:endParaRPr lang="en-ZA"/>
          </a:p>
        </p:txBody>
      </p:sp>
      <p:sp>
        <p:nvSpPr>
          <p:cNvPr id="31" name="Shape 29"/>
          <p:cNvSpPr/>
          <p:nvPr/>
        </p:nvSpPr>
        <p:spPr>
          <a:xfrm>
            <a:off x="8229600" y="4160520"/>
            <a:ext cx="914400" cy="822960"/>
          </a:xfrm>
          <a:prstGeom prst="hexagon">
            <a:avLst/>
          </a:prstGeom>
          <a:solidFill>
            <a:srgbClr val="FF5C39"/>
          </a:solidFill>
          <a:ln w="12700">
            <a:solidFill>
              <a:srgbClr val="FF5C39"/>
            </a:solidFill>
            <a:prstDash val="solid"/>
          </a:ln>
        </p:spPr>
        <p:txBody>
          <a:bodyPr/>
          <a:lstStyle/>
          <a:p>
            <a:endParaRPr lang="en-ZA"/>
          </a:p>
        </p:txBody>
      </p:sp>
      <p:sp>
        <p:nvSpPr>
          <p:cNvPr id="32" name="Text 30"/>
          <p:cNvSpPr/>
          <p:nvPr/>
        </p:nvSpPr>
        <p:spPr>
          <a:xfrm>
            <a:off x="8229600" y="4160520"/>
            <a:ext cx="914400" cy="822960"/>
          </a:xfrm>
          <a:prstGeom prst="rect">
            <a:avLst/>
          </a:prstGeom>
          <a:noFill/>
          <a:ln/>
        </p:spPr>
        <p:txBody>
          <a:bodyPr wrap="square"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+1</a:t>
            </a:r>
            <a:endParaRPr lang="en-US" sz="2200" dirty="0"/>
          </a:p>
        </p:txBody>
      </p:sp>
      <p:sp>
        <p:nvSpPr>
          <p:cNvPr id="33" name="Text 31"/>
          <p:cNvSpPr/>
          <p:nvPr/>
        </p:nvSpPr>
        <p:spPr>
          <a:xfrm>
            <a:off x="9235440" y="4160520"/>
            <a:ext cx="2240280" cy="457200"/>
          </a:xfrm>
          <a:prstGeom prst="rect">
            <a:avLst/>
          </a:prstGeom>
          <a:noFill/>
          <a:ln/>
        </p:spPr>
        <p:txBody>
          <a:bodyPr wrap="square" rtlCol="0" anchor="ctr"/>
          <a:lstStyle/>
          <a:p>
            <a:pPr marL="0" indent="0">
              <a:buNone/>
            </a:pPr>
            <a:r>
              <a:rPr lang="en-US" sz="1600" b="1" dirty="0">
                <a:solidFill>
                  <a:srgbClr val="091F2C"/>
                </a:solidFill>
                <a:latin typeface="Segoe UI" pitchFamily="34" charset="0"/>
                <a:ea typeface="Segoe UI" pitchFamily="34" charset="-122"/>
                <a:cs typeface="Segoe UI" pitchFamily="34" charset="-120"/>
              </a:rPr>
              <a:t>Co-sell &amp; Partner</a:t>
            </a:r>
            <a:endParaRPr lang="en-US" sz="1600" dirty="0"/>
          </a:p>
        </p:txBody>
      </p:sp>
      <p:sp>
        <p:nvSpPr>
          <p:cNvPr id="34" name="Text 32"/>
          <p:cNvSpPr/>
          <p:nvPr/>
        </p:nvSpPr>
        <p:spPr>
          <a:xfrm>
            <a:off x="9235440" y="4617720"/>
            <a:ext cx="2240280" cy="91440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MCAPS overlay · MAICPP · Frontier CoE assets</a:t>
            </a:r>
            <a:endParaRPr lang="en-US" sz="1100" dirty="0"/>
          </a:p>
        </p:txBody>
      </p:sp>
      <p:sp>
        <p:nvSpPr>
          <p:cNvPr id="35" name="Text 33"/>
          <p:cNvSpPr/>
          <p:nvPr/>
        </p:nvSpPr>
        <p:spPr>
          <a:xfrm>
            <a:off x="548640" y="5943600"/>
            <a:ext cx="11155680" cy="365760"/>
          </a:xfrm>
          <a:prstGeom prst="rect">
            <a:avLst/>
          </a:prstGeom>
          <a:noFill/>
          <a:ln/>
        </p:spPr>
        <p:txBody>
          <a:bodyPr wrap="square" rtlCol="0" anchor="ctr"/>
          <a:lstStyle/>
          <a:p>
            <a:pPr marL="0" indent="0">
              <a:buNone/>
            </a:pPr>
            <a:r>
              <a:rPr lang="en-US" sz="1200" i="1" dirty="0">
                <a:solidFill>
                  <a:srgbClr val="0078D4"/>
                </a:solidFill>
                <a:latin typeface="Segoe UI" pitchFamily="34" charset="0"/>
                <a:ea typeface="Segoe UI" pitchFamily="34" charset="-122"/>
                <a:cs typeface="Segoe UI" pitchFamily="34" charset="-120"/>
              </a:rPr>
              <a:t>Sub-pillars mirror Microsoft's Frontier AI CoE framework. Pillar +1 is the MCAPS overlay — One Microsoft and Anchor Partners inside the customer's CoE.</a:t>
            </a:r>
            <a:endParaRPr lang="en-US" sz="1200" dirty="0"/>
          </a:p>
        </p:txBody>
      </p:sp>
      <p:pic>
        <p:nvPicPr>
          <p:cNvPr id="36"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37" name="Text 34"/>
          <p:cNvSpPr/>
          <p:nvPr/>
        </p:nvSpPr>
        <p:spPr>
          <a:xfrm>
            <a:off x="640080" y="6492240"/>
            <a:ext cx="73152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 2026 Microsoft Corporation</a:t>
            </a:r>
            <a:endParaRPr lang="en-US" sz="900" dirty="0"/>
          </a:p>
        </p:txBody>
      </p:sp>
      <p:sp>
        <p:nvSpPr>
          <p:cNvPr id="38" name="Text 35"/>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4 / 19</a:t>
            </a:r>
            <a:endParaRPr lang="en-US" sz="900" dirty="0"/>
          </a:p>
        </p:txBody>
      </p:sp>
      <p:sp>
        <p:nvSpPr>
          <p:cNvPr id="39" name="AICOE_GEO_ACCENT_Right Triangle 38"/>
          <p:cNvSpPr/>
          <p:nvPr/>
        </p:nvSpPr>
        <p:spPr>
          <a:xfrm rot="5400000">
            <a:off x="11762232"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AICOE_GEO_ACCENT_Right Triangle 39"/>
          <p:cNvSpPr/>
          <p:nvPr/>
        </p:nvSpPr>
        <p:spPr>
          <a:xfrm rot="5400000">
            <a:off x="11874246"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91440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ENGAGEMENT MODEL</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200" b="1" dirty="0">
                <a:solidFill>
                  <a:srgbClr val="091F2C"/>
                </a:solidFill>
                <a:latin typeface="Segoe UI" pitchFamily="34" charset="0"/>
                <a:ea typeface="Segoe UI" pitchFamily="34" charset="-122"/>
                <a:cs typeface="Segoe UI" pitchFamily="34" charset="-120"/>
              </a:rPr>
              <a:t>Aligned to the Microsoft Customer Engagement Methodology</a:t>
            </a:r>
            <a:endParaRPr lang="en-US" sz="3200" dirty="0"/>
          </a:p>
        </p:txBody>
      </p:sp>
      <p:sp>
        <p:nvSpPr>
          <p:cNvPr id="5" name="Shape 3"/>
          <p:cNvSpPr/>
          <p:nvPr/>
        </p:nvSpPr>
        <p:spPr>
          <a:xfrm>
            <a:off x="540868" y="1920240"/>
            <a:ext cx="2148840" cy="731520"/>
          </a:xfrm>
          <a:prstGeom prst="chevron">
            <a:avLst/>
          </a:prstGeom>
          <a:solidFill>
            <a:srgbClr val="0078D4"/>
          </a:solidFill>
          <a:ln w="12700">
            <a:solidFill>
              <a:srgbClr val="0078D4"/>
            </a:solidFill>
            <a:prstDash val="solid"/>
          </a:ln>
        </p:spPr>
        <p:txBody>
          <a:bodyPr/>
          <a:lstStyle/>
          <a:p>
            <a:endParaRPr lang="en-ZA"/>
          </a:p>
        </p:txBody>
      </p:sp>
      <p:sp>
        <p:nvSpPr>
          <p:cNvPr id="6" name="Text 4"/>
          <p:cNvSpPr/>
          <p:nvPr/>
        </p:nvSpPr>
        <p:spPr>
          <a:xfrm>
            <a:off x="540868" y="1920240"/>
            <a:ext cx="2011680" cy="731520"/>
          </a:xfrm>
          <a:prstGeom prst="rect">
            <a:avLst/>
          </a:prstGeom>
          <a:noFill/>
          <a:ln/>
        </p:spPr>
        <p:txBody>
          <a:bodyPr wrap="square" rtlCol="0" anchor="ctr"/>
          <a:lstStyle/>
          <a:p>
            <a:pPr marL="0" indent="0" algn="ctr">
              <a:buNone/>
            </a:pPr>
            <a:r>
              <a:rPr lang="en-US" sz="1400" b="1" kern="0" spc="300" dirty="0">
                <a:solidFill>
                  <a:srgbClr val="FFFFFF"/>
                </a:solidFill>
                <a:latin typeface="Segoe UI" pitchFamily="34" charset="0"/>
                <a:ea typeface="Segoe UI" pitchFamily="34" charset="-122"/>
                <a:cs typeface="Segoe UI" pitchFamily="34" charset="-120"/>
              </a:rPr>
              <a:t>STAGE 1</a:t>
            </a:r>
            <a:endParaRPr lang="en-US" sz="1400" dirty="0"/>
          </a:p>
        </p:txBody>
      </p:sp>
      <p:sp>
        <p:nvSpPr>
          <p:cNvPr id="7" name="Shape 5"/>
          <p:cNvSpPr/>
          <p:nvPr/>
        </p:nvSpPr>
        <p:spPr>
          <a:xfrm>
            <a:off x="540868" y="2651760"/>
            <a:ext cx="2148840" cy="2560320"/>
          </a:xfrm>
          <a:prstGeom prst="rect">
            <a:avLst/>
          </a:prstGeom>
          <a:solidFill>
            <a:srgbClr val="FFF8F5"/>
          </a:solidFill>
          <a:ln w="12700">
            <a:solidFill>
              <a:srgbClr val="E1E6EF"/>
            </a:solidFill>
            <a:prstDash val="solid"/>
          </a:ln>
        </p:spPr>
        <p:txBody>
          <a:bodyPr/>
          <a:lstStyle/>
          <a:p>
            <a:endParaRPr lang="en-ZA"/>
          </a:p>
        </p:txBody>
      </p:sp>
      <p:sp>
        <p:nvSpPr>
          <p:cNvPr id="8" name="Text 6"/>
          <p:cNvSpPr/>
          <p:nvPr/>
        </p:nvSpPr>
        <p:spPr>
          <a:xfrm>
            <a:off x="632308" y="2788920"/>
            <a:ext cx="1965960" cy="914400"/>
          </a:xfrm>
          <a:prstGeom prst="rect">
            <a:avLst/>
          </a:prstGeom>
          <a:noFill/>
          <a:ln/>
        </p:spPr>
        <p:txBody>
          <a:bodyPr wrap="square" rtlCol="0" anchor="ctr"/>
          <a:lstStyle/>
          <a:p>
            <a:pPr marL="0" indent="0" algn="ctr">
              <a:buNone/>
            </a:pPr>
            <a:r>
              <a:rPr lang="en-US" sz="1700" b="1" dirty="0">
                <a:solidFill>
                  <a:srgbClr val="091F2C"/>
                </a:solidFill>
                <a:latin typeface="Segoe UI" pitchFamily="34" charset="0"/>
                <a:ea typeface="Segoe UI" pitchFamily="34" charset="-122"/>
                <a:cs typeface="Segoe UI" pitchFamily="34" charset="-120"/>
              </a:rPr>
              <a:t>Listen &amp;</a:t>
            </a:r>
            <a:endParaRPr lang="en-US" sz="1700" dirty="0"/>
          </a:p>
          <a:p>
            <a:pPr marL="0" indent="0" algn="ctr">
              <a:buNone/>
            </a:pPr>
            <a:r>
              <a:rPr lang="en-US" sz="1700" b="1" dirty="0">
                <a:solidFill>
                  <a:srgbClr val="091F2C"/>
                </a:solidFill>
                <a:latin typeface="Segoe UI" pitchFamily="34" charset="0"/>
                <a:ea typeface="Segoe UI" pitchFamily="34" charset="-122"/>
                <a:cs typeface="Segoe UI" pitchFamily="34" charset="-120"/>
              </a:rPr>
              <a:t>Consult</a:t>
            </a:r>
            <a:endParaRPr lang="en-US" sz="1700" dirty="0"/>
          </a:p>
        </p:txBody>
      </p:sp>
      <p:sp>
        <p:nvSpPr>
          <p:cNvPr id="9" name="Text 7"/>
          <p:cNvSpPr/>
          <p:nvPr/>
        </p:nvSpPr>
        <p:spPr>
          <a:xfrm>
            <a:off x="723748" y="3840480"/>
            <a:ext cx="1783080" cy="1188720"/>
          </a:xfrm>
          <a:prstGeom prst="rect">
            <a:avLst/>
          </a:prstGeom>
          <a:noFill/>
          <a:ln/>
        </p:spPr>
        <p:txBody>
          <a:bodyPr wrap="square" rtlCol="0" anchor="ctr"/>
          <a:lstStyle/>
          <a:p>
            <a:pPr marL="0" indent="0" algn="ctr">
              <a:buNone/>
            </a:pPr>
            <a:r>
              <a:rPr lang="en-US" sz="1100" dirty="0">
                <a:solidFill>
                  <a:srgbClr val="4B5563"/>
                </a:solidFill>
                <a:latin typeface="Segoe UI" pitchFamily="34" charset="0"/>
                <a:ea typeface="Segoe UI" pitchFamily="34" charset="-122"/>
                <a:cs typeface="Segoe UI" pitchFamily="34" charset="-120"/>
              </a:rPr>
              <a:t>Qualify opportunity</a:t>
            </a:r>
            <a:endParaRPr lang="en-US" sz="1100" dirty="0"/>
          </a:p>
          <a:p>
            <a:pPr marL="0" indent="0" algn="ctr">
              <a:buNone/>
            </a:pPr>
            <a:r>
              <a:rPr lang="en-US" sz="1100" dirty="0">
                <a:solidFill>
                  <a:srgbClr val="4B5563"/>
                </a:solidFill>
                <a:latin typeface="Segoe UI" pitchFamily="34" charset="0"/>
                <a:ea typeface="Segoe UI" pitchFamily="34" charset="-122"/>
                <a:cs typeface="Segoe UI" pitchFamily="34" charset="-120"/>
              </a:rPr>
              <a:t>CoE Readiness Scorecard</a:t>
            </a:r>
            <a:endParaRPr lang="en-US" sz="1100" dirty="0"/>
          </a:p>
        </p:txBody>
      </p:sp>
      <p:sp>
        <p:nvSpPr>
          <p:cNvPr id="10" name="Shape 8"/>
          <p:cNvSpPr/>
          <p:nvPr/>
        </p:nvSpPr>
        <p:spPr>
          <a:xfrm>
            <a:off x="2781148" y="1920240"/>
            <a:ext cx="2148840" cy="731520"/>
          </a:xfrm>
          <a:prstGeom prst="chevron">
            <a:avLst/>
          </a:prstGeom>
          <a:solidFill>
            <a:srgbClr val="0057B8"/>
          </a:solidFill>
          <a:ln w="12700">
            <a:solidFill>
              <a:srgbClr val="0057B8"/>
            </a:solidFill>
            <a:prstDash val="solid"/>
          </a:ln>
        </p:spPr>
        <p:txBody>
          <a:bodyPr/>
          <a:lstStyle/>
          <a:p>
            <a:endParaRPr lang="en-ZA"/>
          </a:p>
        </p:txBody>
      </p:sp>
      <p:sp>
        <p:nvSpPr>
          <p:cNvPr id="11" name="Text 9"/>
          <p:cNvSpPr/>
          <p:nvPr/>
        </p:nvSpPr>
        <p:spPr>
          <a:xfrm>
            <a:off x="2781148" y="1920240"/>
            <a:ext cx="2011680" cy="731520"/>
          </a:xfrm>
          <a:prstGeom prst="rect">
            <a:avLst/>
          </a:prstGeom>
          <a:noFill/>
          <a:ln/>
        </p:spPr>
        <p:txBody>
          <a:bodyPr wrap="square" rtlCol="0" anchor="ctr"/>
          <a:lstStyle/>
          <a:p>
            <a:pPr marL="0" indent="0" algn="ctr">
              <a:buNone/>
            </a:pPr>
            <a:r>
              <a:rPr lang="en-US" sz="1400" b="1" kern="0" spc="300" dirty="0">
                <a:solidFill>
                  <a:srgbClr val="FFFFFF"/>
                </a:solidFill>
                <a:latin typeface="Segoe UI" pitchFamily="34" charset="0"/>
                <a:ea typeface="Segoe UI" pitchFamily="34" charset="-122"/>
                <a:cs typeface="Segoe UI" pitchFamily="34" charset="-120"/>
              </a:rPr>
              <a:t>STAGE 2</a:t>
            </a:r>
            <a:endParaRPr lang="en-US" sz="1400" dirty="0"/>
          </a:p>
        </p:txBody>
      </p:sp>
      <p:sp>
        <p:nvSpPr>
          <p:cNvPr id="12" name="Shape 10"/>
          <p:cNvSpPr/>
          <p:nvPr/>
        </p:nvSpPr>
        <p:spPr>
          <a:xfrm>
            <a:off x="2781148" y="2651760"/>
            <a:ext cx="2148840" cy="2560320"/>
          </a:xfrm>
          <a:prstGeom prst="rect">
            <a:avLst/>
          </a:prstGeom>
          <a:solidFill>
            <a:srgbClr val="FFF8F5"/>
          </a:solidFill>
          <a:ln w="12700">
            <a:solidFill>
              <a:srgbClr val="E1E6EF"/>
            </a:solidFill>
            <a:prstDash val="solid"/>
          </a:ln>
        </p:spPr>
        <p:txBody>
          <a:bodyPr/>
          <a:lstStyle/>
          <a:p>
            <a:endParaRPr lang="en-ZA"/>
          </a:p>
        </p:txBody>
      </p:sp>
      <p:sp>
        <p:nvSpPr>
          <p:cNvPr id="13" name="Text 11"/>
          <p:cNvSpPr/>
          <p:nvPr/>
        </p:nvSpPr>
        <p:spPr>
          <a:xfrm>
            <a:off x="2872588" y="2788920"/>
            <a:ext cx="1965960" cy="914400"/>
          </a:xfrm>
          <a:prstGeom prst="rect">
            <a:avLst/>
          </a:prstGeom>
          <a:noFill/>
          <a:ln/>
        </p:spPr>
        <p:txBody>
          <a:bodyPr wrap="square" rtlCol="0" anchor="ctr"/>
          <a:lstStyle/>
          <a:p>
            <a:pPr marL="0" indent="0" algn="ctr">
              <a:buNone/>
            </a:pPr>
            <a:r>
              <a:rPr lang="en-US" sz="1700" b="1" dirty="0">
                <a:solidFill>
                  <a:srgbClr val="091F2C"/>
                </a:solidFill>
                <a:latin typeface="Segoe UI" pitchFamily="34" charset="0"/>
                <a:ea typeface="Segoe UI" pitchFamily="34" charset="-122"/>
                <a:cs typeface="Segoe UI" pitchFamily="34" charset="-120"/>
              </a:rPr>
              <a:t>Inspire &amp;</a:t>
            </a:r>
            <a:endParaRPr lang="en-US" sz="1700" dirty="0"/>
          </a:p>
          <a:p>
            <a:pPr marL="0" indent="0" algn="ctr">
              <a:buNone/>
            </a:pPr>
            <a:r>
              <a:rPr lang="en-US" sz="1700" b="1" dirty="0">
                <a:solidFill>
                  <a:srgbClr val="091F2C"/>
                </a:solidFill>
                <a:latin typeface="Segoe UI" pitchFamily="34" charset="0"/>
                <a:ea typeface="Segoe UI" pitchFamily="34" charset="-122"/>
                <a:cs typeface="Segoe UI" pitchFamily="34" charset="-120"/>
              </a:rPr>
              <a:t>Design</a:t>
            </a:r>
            <a:endParaRPr lang="en-US" sz="1700" dirty="0"/>
          </a:p>
        </p:txBody>
      </p:sp>
      <p:sp>
        <p:nvSpPr>
          <p:cNvPr id="14" name="Text 12"/>
          <p:cNvSpPr/>
          <p:nvPr/>
        </p:nvSpPr>
        <p:spPr>
          <a:xfrm>
            <a:off x="2964028" y="3840480"/>
            <a:ext cx="1783080" cy="1188720"/>
          </a:xfrm>
          <a:prstGeom prst="rect">
            <a:avLst/>
          </a:prstGeom>
          <a:noFill/>
          <a:ln/>
        </p:spPr>
        <p:txBody>
          <a:bodyPr wrap="square" rtlCol="0" anchor="ctr"/>
          <a:lstStyle/>
          <a:p>
            <a:pPr marL="0" indent="0" algn="ctr">
              <a:buNone/>
            </a:pPr>
            <a:r>
              <a:rPr lang="en-US" sz="1100" dirty="0">
                <a:solidFill>
                  <a:srgbClr val="4B5563"/>
                </a:solidFill>
                <a:latin typeface="Segoe UI" pitchFamily="34" charset="0"/>
                <a:ea typeface="Segoe UI" pitchFamily="34" charset="-122"/>
                <a:cs typeface="Segoe UI" pitchFamily="34" charset="-120"/>
              </a:rPr>
              <a:t>Envisioning workshop</a:t>
            </a:r>
            <a:endParaRPr lang="en-US" sz="1100" dirty="0"/>
          </a:p>
          <a:p>
            <a:pPr marL="0" indent="0" algn="ctr">
              <a:buNone/>
            </a:pPr>
            <a:r>
              <a:rPr lang="en-US" sz="1100" dirty="0">
                <a:solidFill>
                  <a:srgbClr val="4B5563"/>
                </a:solidFill>
                <a:latin typeface="Segoe UI" pitchFamily="34" charset="0"/>
                <a:ea typeface="Segoe UI" pitchFamily="34" charset="-122"/>
                <a:cs typeface="Segoe UI" pitchFamily="34" charset="-120"/>
              </a:rPr>
              <a:t>CoE blueprint signed</a:t>
            </a:r>
            <a:endParaRPr lang="en-US" sz="1100" dirty="0"/>
          </a:p>
        </p:txBody>
      </p:sp>
      <p:sp>
        <p:nvSpPr>
          <p:cNvPr id="15" name="Shape 13"/>
          <p:cNvSpPr/>
          <p:nvPr/>
        </p:nvSpPr>
        <p:spPr>
          <a:xfrm>
            <a:off x="5021428" y="1920240"/>
            <a:ext cx="2148840" cy="731520"/>
          </a:xfrm>
          <a:prstGeom prst="chevron">
            <a:avLst/>
          </a:prstGeom>
          <a:solidFill>
            <a:srgbClr val="C03BC4"/>
          </a:solidFill>
          <a:ln w="12700">
            <a:solidFill>
              <a:srgbClr val="C03BC4"/>
            </a:solidFill>
            <a:prstDash val="solid"/>
          </a:ln>
        </p:spPr>
        <p:txBody>
          <a:bodyPr/>
          <a:lstStyle/>
          <a:p>
            <a:endParaRPr lang="en-ZA"/>
          </a:p>
        </p:txBody>
      </p:sp>
      <p:sp>
        <p:nvSpPr>
          <p:cNvPr id="16" name="Text 14"/>
          <p:cNvSpPr/>
          <p:nvPr/>
        </p:nvSpPr>
        <p:spPr>
          <a:xfrm>
            <a:off x="5021428" y="1920240"/>
            <a:ext cx="2011680" cy="731520"/>
          </a:xfrm>
          <a:prstGeom prst="rect">
            <a:avLst/>
          </a:prstGeom>
          <a:noFill/>
          <a:ln/>
        </p:spPr>
        <p:txBody>
          <a:bodyPr wrap="square" rtlCol="0" anchor="ctr"/>
          <a:lstStyle/>
          <a:p>
            <a:pPr marL="0" indent="0" algn="ctr">
              <a:buNone/>
            </a:pPr>
            <a:r>
              <a:rPr lang="en-US" sz="1400" b="1" kern="0" spc="300" dirty="0">
                <a:solidFill>
                  <a:srgbClr val="FFFFFF"/>
                </a:solidFill>
                <a:latin typeface="Segoe UI" pitchFamily="34" charset="0"/>
                <a:ea typeface="Segoe UI" pitchFamily="34" charset="-122"/>
                <a:cs typeface="Segoe UI" pitchFamily="34" charset="-120"/>
              </a:rPr>
              <a:t>STAGE 3</a:t>
            </a:r>
            <a:endParaRPr lang="en-US" sz="1400" dirty="0"/>
          </a:p>
        </p:txBody>
      </p:sp>
      <p:sp>
        <p:nvSpPr>
          <p:cNvPr id="17" name="Shape 15"/>
          <p:cNvSpPr/>
          <p:nvPr/>
        </p:nvSpPr>
        <p:spPr>
          <a:xfrm>
            <a:off x="5021428" y="2651760"/>
            <a:ext cx="2148840" cy="2560320"/>
          </a:xfrm>
          <a:prstGeom prst="rect">
            <a:avLst/>
          </a:prstGeom>
          <a:solidFill>
            <a:srgbClr val="FFF8F5"/>
          </a:solidFill>
          <a:ln w="12700">
            <a:solidFill>
              <a:srgbClr val="E1E6EF"/>
            </a:solidFill>
            <a:prstDash val="solid"/>
          </a:ln>
        </p:spPr>
        <p:txBody>
          <a:bodyPr/>
          <a:lstStyle/>
          <a:p>
            <a:endParaRPr lang="en-ZA"/>
          </a:p>
        </p:txBody>
      </p:sp>
      <p:sp>
        <p:nvSpPr>
          <p:cNvPr id="18" name="Text 16"/>
          <p:cNvSpPr/>
          <p:nvPr/>
        </p:nvSpPr>
        <p:spPr>
          <a:xfrm>
            <a:off x="5112868" y="2788920"/>
            <a:ext cx="1965960" cy="914400"/>
          </a:xfrm>
          <a:prstGeom prst="rect">
            <a:avLst/>
          </a:prstGeom>
          <a:noFill/>
          <a:ln/>
        </p:spPr>
        <p:txBody>
          <a:bodyPr wrap="square" rtlCol="0" anchor="ctr"/>
          <a:lstStyle/>
          <a:p>
            <a:pPr marL="0" indent="0" algn="ctr">
              <a:buNone/>
            </a:pPr>
            <a:r>
              <a:rPr lang="en-US" sz="1700" b="1" dirty="0">
                <a:solidFill>
                  <a:srgbClr val="091F2C"/>
                </a:solidFill>
                <a:latin typeface="Segoe UI" pitchFamily="34" charset="0"/>
                <a:ea typeface="Segoe UI" pitchFamily="34" charset="-122"/>
                <a:cs typeface="Segoe UI" pitchFamily="34" charset="-120"/>
              </a:rPr>
              <a:t>Empower &amp;</a:t>
            </a:r>
            <a:endParaRPr lang="en-US" sz="1700" dirty="0"/>
          </a:p>
          <a:p>
            <a:pPr marL="0" indent="0" algn="ctr">
              <a:buNone/>
            </a:pPr>
            <a:r>
              <a:rPr lang="en-US" sz="1700" b="1" dirty="0">
                <a:solidFill>
                  <a:srgbClr val="091F2C"/>
                </a:solidFill>
                <a:latin typeface="Segoe UI" pitchFamily="34" charset="0"/>
                <a:ea typeface="Segoe UI" pitchFamily="34" charset="-122"/>
                <a:cs typeface="Segoe UI" pitchFamily="34" charset="-120"/>
              </a:rPr>
              <a:t>Achieve</a:t>
            </a:r>
            <a:endParaRPr lang="en-US" sz="1700" dirty="0"/>
          </a:p>
        </p:txBody>
      </p:sp>
      <p:sp>
        <p:nvSpPr>
          <p:cNvPr id="19" name="Text 17"/>
          <p:cNvSpPr/>
          <p:nvPr/>
        </p:nvSpPr>
        <p:spPr>
          <a:xfrm>
            <a:off x="5204308" y="3840480"/>
            <a:ext cx="1783080" cy="1188720"/>
          </a:xfrm>
          <a:prstGeom prst="rect">
            <a:avLst/>
          </a:prstGeom>
          <a:noFill/>
          <a:ln/>
        </p:spPr>
        <p:txBody>
          <a:bodyPr wrap="square" rtlCol="0" anchor="ctr"/>
          <a:lstStyle/>
          <a:p>
            <a:pPr marL="0" indent="0" algn="ctr">
              <a:buNone/>
            </a:pPr>
            <a:r>
              <a:rPr lang="en-US" sz="1100" dirty="0">
                <a:solidFill>
                  <a:srgbClr val="4B5563"/>
                </a:solidFill>
                <a:latin typeface="Segoe UI" pitchFamily="34" charset="0"/>
                <a:ea typeface="Segoe UI" pitchFamily="34" charset="-122"/>
                <a:cs typeface="Segoe UI" pitchFamily="34" charset="-120"/>
              </a:rPr>
              <a:t>Stand up CoE</a:t>
            </a:r>
            <a:endParaRPr lang="en-US" sz="1100" dirty="0"/>
          </a:p>
          <a:p>
            <a:pPr marL="0" indent="0" algn="ctr">
              <a:buNone/>
            </a:pPr>
            <a:r>
              <a:rPr lang="en-US" sz="1100" dirty="0">
                <a:solidFill>
                  <a:srgbClr val="4B5563"/>
                </a:solidFill>
                <a:latin typeface="Segoe UI" pitchFamily="34" charset="0"/>
                <a:ea typeface="Segoe UI" pitchFamily="34" charset="-122"/>
                <a:cs typeface="Segoe UI" pitchFamily="34" charset="-120"/>
              </a:rPr>
              <a:t>First pilot to production</a:t>
            </a:r>
            <a:endParaRPr lang="en-US" sz="1100" dirty="0"/>
          </a:p>
        </p:txBody>
      </p:sp>
      <p:sp>
        <p:nvSpPr>
          <p:cNvPr id="20" name="Shape 18"/>
          <p:cNvSpPr/>
          <p:nvPr/>
        </p:nvSpPr>
        <p:spPr>
          <a:xfrm>
            <a:off x="7261708" y="1920240"/>
            <a:ext cx="2148840" cy="731520"/>
          </a:xfrm>
          <a:prstGeom prst="chevron">
            <a:avLst/>
          </a:prstGeom>
          <a:solidFill>
            <a:srgbClr val="225B62"/>
          </a:solidFill>
          <a:ln w="12700">
            <a:solidFill>
              <a:srgbClr val="225B62"/>
            </a:solidFill>
            <a:prstDash val="solid"/>
          </a:ln>
        </p:spPr>
        <p:txBody>
          <a:bodyPr/>
          <a:lstStyle/>
          <a:p>
            <a:endParaRPr lang="en-ZA"/>
          </a:p>
        </p:txBody>
      </p:sp>
      <p:sp>
        <p:nvSpPr>
          <p:cNvPr id="21" name="Text 19"/>
          <p:cNvSpPr/>
          <p:nvPr/>
        </p:nvSpPr>
        <p:spPr>
          <a:xfrm>
            <a:off x="7261708" y="1920240"/>
            <a:ext cx="2011680" cy="731520"/>
          </a:xfrm>
          <a:prstGeom prst="rect">
            <a:avLst/>
          </a:prstGeom>
          <a:noFill/>
          <a:ln/>
        </p:spPr>
        <p:txBody>
          <a:bodyPr wrap="square" rtlCol="0" anchor="ctr"/>
          <a:lstStyle/>
          <a:p>
            <a:pPr marL="0" indent="0" algn="ctr">
              <a:buNone/>
            </a:pPr>
            <a:r>
              <a:rPr lang="en-US" sz="1400" b="1" kern="0" spc="300" dirty="0">
                <a:solidFill>
                  <a:srgbClr val="FFFFFF"/>
                </a:solidFill>
                <a:latin typeface="Segoe UI" pitchFamily="34" charset="0"/>
                <a:ea typeface="Segoe UI" pitchFamily="34" charset="-122"/>
                <a:cs typeface="Segoe UI" pitchFamily="34" charset="-120"/>
              </a:rPr>
              <a:t>STAGE 4</a:t>
            </a:r>
            <a:endParaRPr lang="en-US" sz="1400" dirty="0"/>
          </a:p>
        </p:txBody>
      </p:sp>
      <p:sp>
        <p:nvSpPr>
          <p:cNvPr id="22" name="Shape 20"/>
          <p:cNvSpPr/>
          <p:nvPr/>
        </p:nvSpPr>
        <p:spPr>
          <a:xfrm>
            <a:off x="7261708" y="2651760"/>
            <a:ext cx="2148840" cy="2560320"/>
          </a:xfrm>
          <a:prstGeom prst="rect">
            <a:avLst/>
          </a:prstGeom>
          <a:solidFill>
            <a:srgbClr val="FFF8F5"/>
          </a:solidFill>
          <a:ln w="12700">
            <a:solidFill>
              <a:srgbClr val="E1E6EF"/>
            </a:solidFill>
            <a:prstDash val="solid"/>
          </a:ln>
        </p:spPr>
        <p:txBody>
          <a:bodyPr/>
          <a:lstStyle/>
          <a:p>
            <a:endParaRPr lang="en-ZA"/>
          </a:p>
        </p:txBody>
      </p:sp>
      <p:sp>
        <p:nvSpPr>
          <p:cNvPr id="23" name="Text 21"/>
          <p:cNvSpPr/>
          <p:nvPr/>
        </p:nvSpPr>
        <p:spPr>
          <a:xfrm>
            <a:off x="7353148" y="2788920"/>
            <a:ext cx="1965960" cy="914400"/>
          </a:xfrm>
          <a:prstGeom prst="rect">
            <a:avLst/>
          </a:prstGeom>
          <a:noFill/>
          <a:ln/>
        </p:spPr>
        <p:txBody>
          <a:bodyPr wrap="square" rtlCol="0" anchor="ctr"/>
          <a:lstStyle/>
          <a:p>
            <a:pPr marL="0" indent="0" algn="ctr">
              <a:buNone/>
            </a:pPr>
            <a:r>
              <a:rPr lang="en-US" sz="1700" b="1" dirty="0">
                <a:solidFill>
                  <a:srgbClr val="091F2C"/>
                </a:solidFill>
                <a:latin typeface="Segoe UI" pitchFamily="34" charset="0"/>
                <a:ea typeface="Segoe UI" pitchFamily="34" charset="-122"/>
                <a:cs typeface="Segoe UI" pitchFamily="34" charset="-120"/>
              </a:rPr>
              <a:t>Realize</a:t>
            </a:r>
            <a:endParaRPr lang="en-US" sz="1700" dirty="0"/>
          </a:p>
          <a:p>
            <a:pPr marL="0" indent="0" algn="ctr">
              <a:buNone/>
            </a:pPr>
            <a:r>
              <a:rPr lang="en-US" sz="1700" b="1" dirty="0">
                <a:solidFill>
                  <a:srgbClr val="091F2C"/>
                </a:solidFill>
                <a:latin typeface="Segoe UI" pitchFamily="34" charset="0"/>
                <a:ea typeface="Segoe UI" pitchFamily="34" charset="-122"/>
                <a:cs typeface="Segoe UI" pitchFamily="34" charset="-120"/>
              </a:rPr>
              <a:t>Value</a:t>
            </a:r>
            <a:endParaRPr lang="en-US" sz="1700" dirty="0"/>
          </a:p>
        </p:txBody>
      </p:sp>
      <p:sp>
        <p:nvSpPr>
          <p:cNvPr id="24" name="Text 22"/>
          <p:cNvSpPr/>
          <p:nvPr/>
        </p:nvSpPr>
        <p:spPr>
          <a:xfrm>
            <a:off x="7444588" y="3840480"/>
            <a:ext cx="1783080" cy="1188720"/>
          </a:xfrm>
          <a:prstGeom prst="rect">
            <a:avLst/>
          </a:prstGeom>
          <a:noFill/>
          <a:ln/>
        </p:spPr>
        <p:txBody>
          <a:bodyPr wrap="square" rtlCol="0" anchor="ctr"/>
          <a:lstStyle/>
          <a:p>
            <a:pPr marL="0" indent="0" algn="ctr">
              <a:buNone/>
            </a:pPr>
            <a:r>
              <a:rPr lang="en-US" sz="1100" dirty="0">
                <a:solidFill>
                  <a:srgbClr val="4B5563"/>
                </a:solidFill>
                <a:latin typeface="Segoe UI" pitchFamily="34" charset="0"/>
                <a:ea typeface="Segoe UI" pitchFamily="34" charset="-122"/>
                <a:cs typeface="Segoe UI" pitchFamily="34" charset="-120"/>
              </a:rPr>
              <a:t>Production scale</a:t>
            </a:r>
            <a:endParaRPr lang="en-US" sz="1100" dirty="0"/>
          </a:p>
          <a:p>
            <a:pPr marL="0" indent="0" algn="ctr">
              <a:buNone/>
            </a:pPr>
            <a:r>
              <a:rPr lang="en-US" sz="1100" dirty="0">
                <a:solidFill>
                  <a:srgbClr val="4B5563"/>
                </a:solidFill>
                <a:latin typeface="Segoe UI" pitchFamily="34" charset="0"/>
                <a:ea typeface="Segoe UI" pitchFamily="34" charset="-122"/>
                <a:cs typeface="Segoe UI" pitchFamily="34" charset="-120"/>
              </a:rPr>
              <a:t>ACR ramp · value KPIs</a:t>
            </a:r>
            <a:endParaRPr lang="en-US" sz="1100" dirty="0"/>
          </a:p>
        </p:txBody>
      </p:sp>
      <p:sp>
        <p:nvSpPr>
          <p:cNvPr id="25" name="Shape 23"/>
          <p:cNvSpPr/>
          <p:nvPr/>
        </p:nvSpPr>
        <p:spPr>
          <a:xfrm>
            <a:off x="9501988" y="1920240"/>
            <a:ext cx="2148840" cy="731520"/>
          </a:xfrm>
          <a:prstGeom prst="chevron">
            <a:avLst/>
          </a:prstGeom>
          <a:solidFill>
            <a:srgbClr val="FFB900"/>
          </a:solidFill>
          <a:ln w="12700">
            <a:solidFill>
              <a:srgbClr val="FFB900"/>
            </a:solidFill>
            <a:prstDash val="solid"/>
          </a:ln>
        </p:spPr>
        <p:txBody>
          <a:bodyPr/>
          <a:lstStyle/>
          <a:p>
            <a:endParaRPr lang="en-ZA"/>
          </a:p>
        </p:txBody>
      </p:sp>
      <p:sp>
        <p:nvSpPr>
          <p:cNvPr id="26" name="Text 24"/>
          <p:cNvSpPr/>
          <p:nvPr/>
        </p:nvSpPr>
        <p:spPr>
          <a:xfrm>
            <a:off x="9501988" y="1920240"/>
            <a:ext cx="2011680" cy="731520"/>
          </a:xfrm>
          <a:prstGeom prst="rect">
            <a:avLst/>
          </a:prstGeom>
          <a:noFill/>
          <a:ln/>
        </p:spPr>
        <p:txBody>
          <a:bodyPr wrap="square" rtlCol="0" anchor="ctr"/>
          <a:lstStyle/>
          <a:p>
            <a:pPr marL="0" indent="0" algn="ctr">
              <a:buNone/>
            </a:pPr>
            <a:r>
              <a:rPr lang="en-US" sz="1400" b="1" kern="0" spc="300" dirty="0">
                <a:solidFill>
                  <a:srgbClr val="FFFFFF"/>
                </a:solidFill>
                <a:latin typeface="Segoe UI" pitchFamily="34" charset="0"/>
                <a:ea typeface="Segoe UI" pitchFamily="34" charset="-122"/>
                <a:cs typeface="Segoe UI" pitchFamily="34" charset="-120"/>
              </a:rPr>
              <a:t>STAGE 5</a:t>
            </a:r>
            <a:endParaRPr lang="en-US" sz="1400" dirty="0"/>
          </a:p>
        </p:txBody>
      </p:sp>
      <p:sp>
        <p:nvSpPr>
          <p:cNvPr id="27" name="Shape 25"/>
          <p:cNvSpPr/>
          <p:nvPr/>
        </p:nvSpPr>
        <p:spPr>
          <a:xfrm>
            <a:off x="9501988" y="2651760"/>
            <a:ext cx="2148840" cy="2560320"/>
          </a:xfrm>
          <a:prstGeom prst="rect">
            <a:avLst/>
          </a:prstGeom>
          <a:solidFill>
            <a:srgbClr val="FFF8F5"/>
          </a:solidFill>
          <a:ln w="12700">
            <a:solidFill>
              <a:srgbClr val="E1E6EF"/>
            </a:solidFill>
            <a:prstDash val="solid"/>
          </a:ln>
        </p:spPr>
        <p:txBody>
          <a:bodyPr/>
          <a:lstStyle/>
          <a:p>
            <a:endParaRPr lang="en-ZA"/>
          </a:p>
        </p:txBody>
      </p:sp>
      <p:sp>
        <p:nvSpPr>
          <p:cNvPr id="28" name="Text 26"/>
          <p:cNvSpPr/>
          <p:nvPr/>
        </p:nvSpPr>
        <p:spPr>
          <a:xfrm>
            <a:off x="9593428" y="2788920"/>
            <a:ext cx="1965960" cy="914400"/>
          </a:xfrm>
          <a:prstGeom prst="rect">
            <a:avLst/>
          </a:prstGeom>
          <a:noFill/>
          <a:ln/>
        </p:spPr>
        <p:txBody>
          <a:bodyPr wrap="square" rtlCol="0" anchor="ctr"/>
          <a:lstStyle/>
          <a:p>
            <a:pPr marL="0" indent="0" algn="ctr">
              <a:buNone/>
            </a:pPr>
            <a:r>
              <a:rPr lang="en-US" sz="1700" b="1" dirty="0">
                <a:solidFill>
                  <a:srgbClr val="091F2C"/>
                </a:solidFill>
                <a:latin typeface="Segoe UI" pitchFamily="34" charset="0"/>
                <a:ea typeface="Segoe UI" pitchFamily="34" charset="-122"/>
                <a:cs typeface="Segoe UI" pitchFamily="34" charset="-120"/>
              </a:rPr>
              <a:t>Manage &amp;</a:t>
            </a:r>
            <a:endParaRPr lang="en-US" sz="1700" dirty="0"/>
          </a:p>
          <a:p>
            <a:pPr marL="0" indent="0" algn="ctr">
              <a:buNone/>
            </a:pPr>
            <a:r>
              <a:rPr lang="en-US" sz="1700" b="1" dirty="0">
                <a:solidFill>
                  <a:srgbClr val="091F2C"/>
                </a:solidFill>
                <a:latin typeface="Segoe UI" pitchFamily="34" charset="0"/>
                <a:ea typeface="Segoe UI" pitchFamily="34" charset="-122"/>
                <a:cs typeface="Segoe UI" pitchFamily="34" charset="-120"/>
              </a:rPr>
              <a:t>Optimize</a:t>
            </a:r>
            <a:endParaRPr lang="en-US" sz="1700" dirty="0"/>
          </a:p>
        </p:txBody>
      </p:sp>
      <p:sp>
        <p:nvSpPr>
          <p:cNvPr id="29" name="Text 27"/>
          <p:cNvSpPr/>
          <p:nvPr/>
        </p:nvSpPr>
        <p:spPr>
          <a:xfrm>
            <a:off x="9684868" y="3840480"/>
            <a:ext cx="1783080" cy="1188720"/>
          </a:xfrm>
          <a:prstGeom prst="rect">
            <a:avLst/>
          </a:prstGeom>
          <a:noFill/>
          <a:ln/>
        </p:spPr>
        <p:txBody>
          <a:bodyPr wrap="square" rtlCol="0" anchor="ctr"/>
          <a:lstStyle/>
          <a:p>
            <a:pPr marL="0" indent="0" algn="ctr">
              <a:buNone/>
            </a:pPr>
            <a:r>
              <a:rPr lang="en-US" sz="1100" dirty="0">
                <a:solidFill>
                  <a:srgbClr val="4B5563"/>
                </a:solidFill>
                <a:latin typeface="Segoe UI" pitchFamily="34" charset="0"/>
                <a:ea typeface="Segoe UI" pitchFamily="34" charset="-122"/>
                <a:cs typeface="Segoe UI" pitchFamily="34" charset="-120"/>
              </a:rPr>
              <a:t>Federated CoE</a:t>
            </a:r>
            <a:endParaRPr lang="en-US" sz="1100" dirty="0"/>
          </a:p>
          <a:p>
            <a:pPr marL="0" indent="0" algn="ctr">
              <a:buNone/>
            </a:pPr>
            <a:r>
              <a:rPr lang="en-US" sz="1100" dirty="0">
                <a:solidFill>
                  <a:srgbClr val="4B5563"/>
                </a:solidFill>
                <a:latin typeface="Segoe UI" pitchFamily="34" charset="0"/>
                <a:ea typeface="Segoe UI" pitchFamily="34" charset="-122"/>
                <a:cs typeface="Segoe UI" pitchFamily="34" charset="-120"/>
              </a:rPr>
              <a:t>Expansion · renewal</a:t>
            </a:r>
            <a:endParaRPr lang="en-US" sz="1100" dirty="0"/>
          </a:p>
        </p:txBody>
      </p:sp>
      <p:sp>
        <p:nvSpPr>
          <p:cNvPr id="30" name="Shape 28"/>
          <p:cNvSpPr/>
          <p:nvPr/>
        </p:nvSpPr>
        <p:spPr>
          <a:xfrm>
            <a:off x="540868" y="5440680"/>
            <a:ext cx="11109960" cy="45720"/>
          </a:xfrm>
          <a:prstGeom prst="rect">
            <a:avLst/>
          </a:prstGeom>
          <a:solidFill>
            <a:srgbClr val="0078D4"/>
          </a:solidFill>
          <a:ln w="12700">
            <a:solidFill>
              <a:srgbClr val="0078D4"/>
            </a:solidFill>
            <a:prstDash val="solid"/>
          </a:ln>
        </p:spPr>
        <p:txBody>
          <a:bodyPr/>
          <a:lstStyle/>
          <a:p>
            <a:endParaRPr lang="en-ZA"/>
          </a:p>
        </p:txBody>
      </p:sp>
      <p:sp>
        <p:nvSpPr>
          <p:cNvPr id="31" name="Text 29"/>
          <p:cNvSpPr/>
          <p:nvPr/>
        </p:nvSpPr>
        <p:spPr>
          <a:xfrm>
            <a:off x="548640" y="5760720"/>
            <a:ext cx="11155680" cy="365760"/>
          </a:xfrm>
          <a:prstGeom prst="rect">
            <a:avLst/>
          </a:prstGeom>
          <a:noFill/>
          <a:ln/>
        </p:spPr>
        <p:txBody>
          <a:bodyPr wrap="square" rtlCol="0" anchor="ctr"/>
          <a:lstStyle/>
          <a:p>
            <a:pPr marL="0" indent="0" algn="ctr">
              <a:buNone/>
            </a:pPr>
            <a:r>
              <a:rPr lang="en-US" sz="1200" i="1" dirty="0">
                <a:solidFill>
                  <a:srgbClr val="091F2C"/>
                </a:solidFill>
                <a:latin typeface="Segoe UI" pitchFamily="34" charset="0"/>
                <a:ea typeface="Segoe UI" pitchFamily="34" charset="-122"/>
                <a:cs typeface="Segoe UI" pitchFamily="34" charset="-120"/>
              </a:rPr>
              <a:t>ONE customer engagement · ONE MCEM motion · MCAPS + Partners as One Team</a:t>
            </a:r>
            <a:endParaRPr lang="en-US" sz="1200" dirty="0"/>
          </a:p>
        </p:txBody>
      </p:sp>
      <p:pic>
        <p:nvPicPr>
          <p:cNvPr id="32"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33" name="Text 30"/>
          <p:cNvSpPr/>
          <p:nvPr/>
        </p:nvSpPr>
        <p:spPr>
          <a:xfrm>
            <a:off x="640080" y="6492240"/>
            <a:ext cx="73152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 2026 Microsoft Corporation</a:t>
            </a:r>
            <a:endParaRPr lang="en-US" sz="900" dirty="0"/>
          </a:p>
        </p:txBody>
      </p:sp>
      <p:sp>
        <p:nvSpPr>
          <p:cNvPr id="34" name="Text 31"/>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5 / 19</a:t>
            </a:r>
            <a:endParaRPr lang="en-US" sz="900" dirty="0"/>
          </a:p>
        </p:txBody>
      </p:sp>
      <p:sp>
        <p:nvSpPr>
          <p:cNvPr id="35" name="AICOE_GEO_ACCENT_Right Triangle 34"/>
          <p:cNvSpPr/>
          <p:nvPr/>
        </p:nvSpPr>
        <p:spPr>
          <a:xfrm rot="5400000">
            <a:off x="11762232"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AICOE_GEO_ACCENT_Right Triangle 35"/>
          <p:cNvSpPr/>
          <p:nvPr/>
        </p:nvSpPr>
        <p:spPr>
          <a:xfrm rot="5400000">
            <a:off x="11874246"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8F5"/>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57B8"/>
          </a:solidFill>
          <a:ln/>
        </p:spPr>
        <p:txBody>
          <a:bodyPr/>
          <a:lstStyle/>
          <a:p>
            <a:endParaRPr lang="en-ZA"/>
          </a:p>
        </p:txBody>
      </p:sp>
      <p:sp>
        <p:nvSpPr>
          <p:cNvPr id="3" name="Text 1"/>
          <p:cNvSpPr/>
          <p:nvPr/>
        </p:nvSpPr>
        <p:spPr>
          <a:xfrm>
            <a:off x="548640" y="457200"/>
            <a:ext cx="9144000" cy="274320"/>
          </a:xfrm>
          <a:prstGeom prst="rect">
            <a:avLst/>
          </a:prstGeom>
          <a:noFill/>
          <a:ln/>
        </p:spPr>
        <p:txBody>
          <a:bodyPr wrap="square" rtlCol="0" anchor="ctr"/>
          <a:lstStyle/>
          <a:p>
            <a:pPr marL="0" indent="0">
              <a:buNone/>
            </a:pPr>
            <a:r>
              <a:rPr lang="en-US" sz="1200" b="1" kern="0" spc="300" dirty="0">
                <a:solidFill>
                  <a:srgbClr val="0057B8"/>
                </a:solidFill>
                <a:latin typeface="Segoe UI" pitchFamily="34" charset="0"/>
                <a:ea typeface="Segoe UI" pitchFamily="34" charset="-122"/>
                <a:cs typeface="Segoe UI" pitchFamily="34" charset="-120"/>
              </a:rPr>
              <a:t>FULL-STACK AI COVERAGE</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200" b="1" dirty="0">
                <a:solidFill>
                  <a:srgbClr val="091F2C"/>
                </a:solidFill>
                <a:latin typeface="Segoe UI" pitchFamily="34" charset="0"/>
                <a:ea typeface="Segoe UI" pitchFamily="34" charset="-122"/>
                <a:cs typeface="Segoe UI" pitchFamily="34" charset="-120"/>
              </a:rPr>
              <a:t>M365 Copilot · Copilot Studio · Azure AI Foundry</a:t>
            </a:r>
            <a:endParaRPr lang="en-US" sz="3200" dirty="0"/>
          </a:p>
        </p:txBody>
      </p:sp>
      <p:sp>
        <p:nvSpPr>
          <p:cNvPr id="5" name="Shape 3"/>
          <p:cNvSpPr/>
          <p:nvPr/>
        </p:nvSpPr>
        <p:spPr>
          <a:xfrm>
            <a:off x="548640" y="1691640"/>
            <a:ext cx="11064240" cy="731520"/>
          </a:xfrm>
          <a:prstGeom prst="roundRect">
            <a:avLst>
              <a:gd name="adj" fmla="val 10000"/>
            </a:avLst>
          </a:prstGeom>
          <a:solidFill>
            <a:srgbClr val="091F2C"/>
          </a:solidFill>
          <a:ln w="12700">
            <a:solidFill>
              <a:srgbClr val="091F2C"/>
            </a:solidFill>
            <a:prstDash val="solid"/>
          </a:ln>
        </p:spPr>
        <p:txBody>
          <a:bodyPr/>
          <a:lstStyle/>
          <a:p>
            <a:endParaRPr lang="en-ZA"/>
          </a:p>
        </p:txBody>
      </p:sp>
      <p:sp>
        <p:nvSpPr>
          <p:cNvPr id="6" name="Text 4"/>
          <p:cNvSpPr/>
          <p:nvPr/>
        </p:nvSpPr>
        <p:spPr>
          <a:xfrm>
            <a:off x="777240" y="1737360"/>
            <a:ext cx="4754880" cy="640080"/>
          </a:xfrm>
          <a:prstGeom prst="rect">
            <a:avLst/>
          </a:prstGeom>
          <a:noFill/>
          <a:ln/>
        </p:spPr>
        <p:txBody>
          <a:bodyPr wrap="square" rtlCol="0" anchor="ctr"/>
          <a:lstStyle/>
          <a:p>
            <a:pPr marL="0" indent="0">
              <a:buNone/>
            </a:pPr>
            <a:r>
              <a:rPr lang="en-US" sz="1600" b="1" dirty="0">
                <a:solidFill>
                  <a:srgbClr val="C03BC4"/>
                </a:solidFill>
                <a:latin typeface="Segoe UI" pitchFamily="34" charset="0"/>
                <a:ea typeface="Segoe UI" pitchFamily="34" charset="-122"/>
                <a:cs typeface="Segoe UI" pitchFamily="34" charset="-120"/>
              </a:rPr>
              <a:t>One CoE. Three AI surfaces.</a:t>
            </a:r>
            <a:endParaRPr lang="en-US" sz="1600" dirty="0"/>
          </a:p>
        </p:txBody>
      </p:sp>
      <p:sp>
        <p:nvSpPr>
          <p:cNvPr id="7" name="Text 5"/>
          <p:cNvSpPr/>
          <p:nvPr/>
        </p:nvSpPr>
        <p:spPr>
          <a:xfrm>
            <a:off x="5577840" y="1737360"/>
            <a:ext cx="5989320" cy="640080"/>
          </a:xfrm>
          <a:prstGeom prst="rect">
            <a:avLst/>
          </a:prstGeom>
          <a:noFill/>
          <a:ln/>
        </p:spPr>
        <p:txBody>
          <a:bodyPr wrap="square" rtlCol="0" anchor="ctr"/>
          <a:lstStyle/>
          <a:p>
            <a:pPr marL="0" indent="0">
              <a:buNone/>
            </a:pPr>
            <a:r>
              <a:rPr lang="en-US" sz="1200" dirty="0">
                <a:solidFill>
                  <a:srgbClr val="F5E6F0"/>
                </a:solidFill>
                <a:latin typeface="Segoe UI" pitchFamily="34" charset="0"/>
                <a:ea typeface="Segoe UI" pitchFamily="34" charset="-122"/>
                <a:cs typeface="Segoe UI" pitchFamily="34" charset="-120"/>
              </a:rPr>
              <a:t>Sequencing changes by customer — the CoE covers all three. Productivity → Extensibility → Custom build.</a:t>
            </a:r>
            <a:endParaRPr lang="en-US" sz="1200" dirty="0"/>
          </a:p>
        </p:txBody>
      </p:sp>
      <p:sp>
        <p:nvSpPr>
          <p:cNvPr id="8" name="Shape 6"/>
          <p:cNvSpPr/>
          <p:nvPr/>
        </p:nvSpPr>
        <p:spPr>
          <a:xfrm>
            <a:off x="678028" y="2606040"/>
            <a:ext cx="3520440" cy="3108960"/>
          </a:xfrm>
          <a:prstGeom prst="roundRect">
            <a:avLst>
              <a:gd name="adj" fmla="val 2353"/>
            </a:avLst>
          </a:prstGeom>
          <a:solidFill>
            <a:srgbClr val="FFFFFF"/>
          </a:solidFill>
          <a:ln w="12700">
            <a:solidFill>
              <a:srgbClr val="E1E6EF"/>
            </a:solidFill>
            <a:prstDash val="solid"/>
          </a:ln>
        </p:spPr>
        <p:txBody>
          <a:bodyPr/>
          <a:lstStyle/>
          <a:p>
            <a:endParaRPr lang="en-ZA"/>
          </a:p>
        </p:txBody>
      </p:sp>
      <p:sp>
        <p:nvSpPr>
          <p:cNvPr id="9" name="Shape 7"/>
          <p:cNvSpPr/>
          <p:nvPr/>
        </p:nvSpPr>
        <p:spPr>
          <a:xfrm>
            <a:off x="678028" y="2606040"/>
            <a:ext cx="3520440" cy="73152"/>
          </a:xfrm>
          <a:prstGeom prst="rect">
            <a:avLst/>
          </a:prstGeom>
          <a:solidFill>
            <a:srgbClr val="0078D4"/>
          </a:solidFill>
          <a:ln/>
        </p:spPr>
        <p:txBody>
          <a:bodyPr/>
          <a:lstStyle/>
          <a:p>
            <a:endParaRPr lang="en-ZA"/>
          </a:p>
        </p:txBody>
      </p:sp>
      <p:sp>
        <p:nvSpPr>
          <p:cNvPr id="10" name="Shape 8"/>
          <p:cNvSpPr/>
          <p:nvPr/>
        </p:nvSpPr>
        <p:spPr>
          <a:xfrm>
            <a:off x="860908" y="2834640"/>
            <a:ext cx="640080" cy="640080"/>
          </a:xfrm>
          <a:prstGeom prst="ellipse">
            <a:avLst/>
          </a:prstGeom>
          <a:solidFill>
            <a:srgbClr val="0078D4"/>
          </a:solidFill>
          <a:ln w="12700">
            <a:solidFill>
              <a:srgbClr val="0078D4"/>
            </a:solidFill>
            <a:prstDash val="solid"/>
          </a:ln>
        </p:spPr>
        <p:txBody>
          <a:bodyPr/>
          <a:lstStyle/>
          <a:p>
            <a:endParaRPr lang="en-ZA"/>
          </a:p>
        </p:txBody>
      </p:sp>
      <p:sp>
        <p:nvSpPr>
          <p:cNvPr id="11" name="Text 9"/>
          <p:cNvSpPr/>
          <p:nvPr/>
        </p:nvSpPr>
        <p:spPr>
          <a:xfrm>
            <a:off x="860908" y="2834640"/>
            <a:ext cx="640080" cy="64008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A</a:t>
            </a:r>
            <a:endParaRPr lang="en-US" sz="2000" dirty="0"/>
          </a:p>
        </p:txBody>
      </p:sp>
      <p:sp>
        <p:nvSpPr>
          <p:cNvPr id="12" name="Text 10"/>
          <p:cNvSpPr/>
          <p:nvPr/>
        </p:nvSpPr>
        <p:spPr>
          <a:xfrm>
            <a:off x="1592428" y="2834640"/>
            <a:ext cx="2468880" cy="274320"/>
          </a:xfrm>
          <a:prstGeom prst="rect">
            <a:avLst/>
          </a:prstGeom>
          <a:noFill/>
          <a:ln/>
        </p:spPr>
        <p:txBody>
          <a:bodyPr wrap="square" rtlCol="0" anchor="ctr"/>
          <a:lstStyle/>
          <a:p>
            <a:pPr marL="0" indent="0">
              <a:buNone/>
            </a:pPr>
            <a:r>
              <a:rPr lang="en-US" sz="1000" b="1" kern="0" spc="200" dirty="0">
                <a:solidFill>
                  <a:srgbClr val="8A94A6"/>
                </a:solidFill>
                <a:latin typeface="Segoe UI" pitchFamily="34" charset="0"/>
                <a:ea typeface="Segoe UI" pitchFamily="34" charset="-122"/>
                <a:cs typeface="Segoe UI" pitchFamily="34" charset="-120"/>
              </a:rPr>
              <a:t>PRODUCTIVITY</a:t>
            </a:r>
            <a:endParaRPr lang="en-US" sz="1000" dirty="0"/>
          </a:p>
        </p:txBody>
      </p:sp>
      <p:sp>
        <p:nvSpPr>
          <p:cNvPr id="13" name="Text 11"/>
          <p:cNvSpPr/>
          <p:nvPr/>
        </p:nvSpPr>
        <p:spPr>
          <a:xfrm>
            <a:off x="1592428" y="3063240"/>
            <a:ext cx="2468880" cy="365760"/>
          </a:xfrm>
          <a:prstGeom prst="rect">
            <a:avLst/>
          </a:prstGeom>
          <a:noFill/>
          <a:ln/>
        </p:spPr>
        <p:txBody>
          <a:bodyPr wrap="square" rtlCol="0" anchor="ctr"/>
          <a:lstStyle/>
          <a:p>
            <a:pPr marL="0" indent="0">
              <a:buNone/>
            </a:pPr>
            <a:r>
              <a:rPr lang="en-US" sz="1700" b="1" dirty="0">
                <a:solidFill>
                  <a:srgbClr val="091F2C"/>
                </a:solidFill>
                <a:latin typeface="Segoe UI" pitchFamily="34" charset="0"/>
                <a:ea typeface="Segoe UI" pitchFamily="34" charset="-122"/>
                <a:cs typeface="Segoe UI" pitchFamily="34" charset="-120"/>
              </a:rPr>
              <a:t>M365 Copilot</a:t>
            </a:r>
            <a:endParaRPr lang="en-US" sz="1700" dirty="0"/>
          </a:p>
        </p:txBody>
      </p:sp>
      <p:sp>
        <p:nvSpPr>
          <p:cNvPr id="14" name="Text 12"/>
          <p:cNvSpPr/>
          <p:nvPr/>
        </p:nvSpPr>
        <p:spPr>
          <a:xfrm>
            <a:off x="906628" y="3611880"/>
            <a:ext cx="3063240" cy="914400"/>
          </a:xfrm>
          <a:prstGeom prst="rect">
            <a:avLst/>
          </a:prstGeom>
          <a:noFill/>
          <a:ln/>
        </p:spPr>
        <p:txBody>
          <a:bodyPr wrap="square" rtlCol="0" anchor="ctr"/>
          <a:lstStyle/>
          <a:p>
            <a:pPr marL="0" indent="0">
              <a:buNone/>
            </a:pPr>
            <a:r>
              <a:rPr lang="en-US" sz="1100" dirty="0">
                <a:solidFill>
                  <a:srgbClr val="2B2B2B"/>
                </a:solidFill>
                <a:latin typeface="Segoe UI" pitchFamily="34" charset="0"/>
                <a:ea typeface="Segoe UI" pitchFamily="34" charset="-122"/>
                <a:cs typeface="Segoe UI" pitchFamily="34" charset="-120"/>
              </a:rPr>
              <a:t>Horizontal AI across Outlook, Teams, Word, Excel, PowerPoint, Loop.</a:t>
            </a:r>
            <a:endParaRPr lang="en-US" sz="1100" dirty="0"/>
          </a:p>
        </p:txBody>
      </p:sp>
      <p:sp>
        <p:nvSpPr>
          <p:cNvPr id="15" name="Shape 13"/>
          <p:cNvSpPr/>
          <p:nvPr/>
        </p:nvSpPr>
        <p:spPr>
          <a:xfrm>
            <a:off x="906628" y="4572000"/>
            <a:ext cx="3063240" cy="18288"/>
          </a:xfrm>
          <a:prstGeom prst="rect">
            <a:avLst/>
          </a:prstGeom>
          <a:solidFill>
            <a:srgbClr val="E1E6EF"/>
          </a:solidFill>
          <a:ln w="12700">
            <a:solidFill>
              <a:srgbClr val="E1E6EF"/>
            </a:solidFill>
            <a:prstDash val="solid"/>
          </a:ln>
        </p:spPr>
        <p:txBody>
          <a:bodyPr/>
          <a:lstStyle/>
          <a:p>
            <a:endParaRPr lang="en-ZA"/>
          </a:p>
        </p:txBody>
      </p:sp>
      <p:sp>
        <p:nvSpPr>
          <p:cNvPr id="16" name="Text 14"/>
          <p:cNvSpPr/>
          <p:nvPr/>
        </p:nvSpPr>
        <p:spPr>
          <a:xfrm>
            <a:off x="906628" y="4663440"/>
            <a:ext cx="3063240" cy="182880"/>
          </a:xfrm>
          <a:prstGeom prst="rect">
            <a:avLst/>
          </a:prstGeom>
          <a:noFill/>
          <a:ln/>
        </p:spPr>
        <p:txBody>
          <a:bodyPr wrap="square" rtlCol="0" anchor="ctr"/>
          <a:lstStyle/>
          <a:p>
            <a:pPr marL="0" indent="0">
              <a:buNone/>
            </a:pPr>
            <a:r>
              <a:rPr lang="en-US" sz="800" b="1" kern="0" spc="200" dirty="0">
                <a:solidFill>
                  <a:srgbClr val="8A94A6"/>
                </a:solidFill>
                <a:latin typeface="Segoe UI" pitchFamily="34" charset="0"/>
                <a:ea typeface="Segoe UI" pitchFamily="34" charset="-122"/>
                <a:cs typeface="Segoe UI" pitchFamily="34" charset="-120"/>
              </a:rPr>
              <a:t>LEAD</a:t>
            </a:r>
            <a:endParaRPr lang="en-US" sz="800" dirty="0"/>
          </a:p>
        </p:txBody>
      </p:sp>
      <p:sp>
        <p:nvSpPr>
          <p:cNvPr id="17" name="Text 15"/>
          <p:cNvSpPr/>
          <p:nvPr/>
        </p:nvSpPr>
        <p:spPr>
          <a:xfrm>
            <a:off x="906628" y="4828032"/>
            <a:ext cx="3063240" cy="274320"/>
          </a:xfrm>
          <a:prstGeom prst="rect">
            <a:avLst/>
          </a:prstGeom>
          <a:noFill/>
          <a:ln/>
        </p:spPr>
        <p:txBody>
          <a:bodyPr wrap="square" rtlCol="0" anchor="ctr"/>
          <a:lstStyle/>
          <a:p>
            <a:pPr marL="0" indent="0">
              <a:buNone/>
            </a:pPr>
            <a:r>
              <a:rPr lang="en-US" sz="1100" b="1" dirty="0">
                <a:solidFill>
                  <a:srgbClr val="091F2C"/>
                </a:solidFill>
                <a:latin typeface="Segoe UI" pitchFamily="34" charset="0"/>
                <a:ea typeface="Segoe UI" pitchFamily="34" charset="-122"/>
                <a:cs typeface="Segoe UI" pitchFamily="34" charset="-120"/>
              </a:rPr>
              <a:t>Modern Work CSU</a:t>
            </a:r>
            <a:endParaRPr lang="en-US" sz="1100" dirty="0"/>
          </a:p>
        </p:txBody>
      </p:sp>
      <p:sp>
        <p:nvSpPr>
          <p:cNvPr id="18" name="Text 16"/>
          <p:cNvSpPr/>
          <p:nvPr/>
        </p:nvSpPr>
        <p:spPr>
          <a:xfrm>
            <a:off x="906628" y="5120640"/>
            <a:ext cx="3063240" cy="182880"/>
          </a:xfrm>
          <a:prstGeom prst="rect">
            <a:avLst/>
          </a:prstGeom>
          <a:noFill/>
          <a:ln/>
        </p:spPr>
        <p:txBody>
          <a:bodyPr wrap="square" rtlCol="0" anchor="ctr"/>
          <a:lstStyle/>
          <a:p>
            <a:pPr marL="0" indent="0">
              <a:buNone/>
            </a:pPr>
            <a:r>
              <a:rPr lang="en-US" sz="800" b="1" kern="0" spc="200" dirty="0">
                <a:solidFill>
                  <a:srgbClr val="8A94A6"/>
                </a:solidFill>
                <a:latin typeface="Segoe UI" pitchFamily="34" charset="0"/>
                <a:ea typeface="Segoe UI" pitchFamily="34" charset="-122"/>
                <a:cs typeface="Segoe UI" pitchFamily="34" charset="-120"/>
              </a:rPr>
              <a:t>TIME TO VALUE</a:t>
            </a:r>
            <a:endParaRPr lang="en-US" sz="800" dirty="0"/>
          </a:p>
        </p:txBody>
      </p:sp>
      <p:sp>
        <p:nvSpPr>
          <p:cNvPr id="19" name="Text 17"/>
          <p:cNvSpPr/>
          <p:nvPr/>
        </p:nvSpPr>
        <p:spPr>
          <a:xfrm>
            <a:off x="906628" y="5285232"/>
            <a:ext cx="3063240" cy="274320"/>
          </a:xfrm>
          <a:prstGeom prst="rect">
            <a:avLst/>
          </a:prstGeom>
          <a:noFill/>
          <a:ln/>
        </p:spPr>
        <p:txBody>
          <a:bodyPr wrap="square" rtlCol="0" anchor="ctr"/>
          <a:lstStyle/>
          <a:p>
            <a:pPr marL="0" indent="0">
              <a:buNone/>
            </a:pPr>
            <a:r>
              <a:rPr lang="en-US" sz="1100" b="1" dirty="0">
                <a:solidFill>
                  <a:srgbClr val="0078D4"/>
                </a:solidFill>
                <a:latin typeface="Segoe UI" pitchFamily="34" charset="0"/>
                <a:ea typeface="Segoe UI" pitchFamily="34" charset="-122"/>
                <a:cs typeface="Segoe UI" pitchFamily="34" charset="-120"/>
              </a:rPr>
              <a:t>Weeks</a:t>
            </a:r>
            <a:endParaRPr lang="en-US" sz="1100" dirty="0"/>
          </a:p>
        </p:txBody>
      </p:sp>
      <p:sp>
        <p:nvSpPr>
          <p:cNvPr id="20" name="Text 18"/>
          <p:cNvSpPr/>
          <p:nvPr/>
        </p:nvSpPr>
        <p:spPr>
          <a:xfrm>
            <a:off x="906628" y="5468112"/>
            <a:ext cx="3063240" cy="182880"/>
          </a:xfrm>
          <a:prstGeom prst="rect">
            <a:avLst/>
          </a:prstGeom>
          <a:noFill/>
          <a:ln/>
        </p:spPr>
        <p:txBody>
          <a:bodyPr wrap="square" rtlCol="0" anchor="ctr"/>
          <a:lstStyle/>
          <a:p>
            <a:pPr marL="0" indent="0">
              <a:buNone/>
            </a:pPr>
            <a:r>
              <a:rPr lang="en-US" sz="800" b="1" kern="0" spc="200" dirty="0">
                <a:solidFill>
                  <a:srgbClr val="8A94A6"/>
                </a:solidFill>
                <a:latin typeface="Segoe UI" pitchFamily="34" charset="0"/>
                <a:ea typeface="Segoe UI" pitchFamily="34" charset="-122"/>
                <a:cs typeface="Segoe UI" pitchFamily="34" charset="-120"/>
              </a:rPr>
              <a:t>COMMERCIAL</a:t>
            </a:r>
            <a:endParaRPr lang="en-US" sz="800" dirty="0"/>
          </a:p>
        </p:txBody>
      </p:sp>
      <p:sp>
        <p:nvSpPr>
          <p:cNvPr id="21" name="Text 19"/>
          <p:cNvSpPr/>
          <p:nvPr/>
        </p:nvSpPr>
        <p:spPr>
          <a:xfrm>
            <a:off x="906628" y="5632704"/>
            <a:ext cx="3063240" cy="274320"/>
          </a:xfrm>
          <a:prstGeom prst="rect">
            <a:avLst/>
          </a:prstGeom>
          <a:noFill/>
          <a:ln/>
        </p:spPr>
        <p:txBody>
          <a:bodyPr wrap="square" rtlCol="0" anchor="ctr"/>
          <a:lstStyle/>
          <a:p>
            <a:pPr marL="0" indent="0">
              <a:buNone/>
            </a:pPr>
            <a:r>
              <a:rPr lang="en-US" sz="1000" i="1" dirty="0">
                <a:solidFill>
                  <a:srgbClr val="4B5563"/>
                </a:solidFill>
                <a:latin typeface="Segoe UI" pitchFamily="34" charset="0"/>
                <a:ea typeface="Segoe UI" pitchFamily="34" charset="-122"/>
                <a:cs typeface="Segoe UI" pitchFamily="34" charset="-120"/>
              </a:rPr>
              <a:t>Seats · per-user / month</a:t>
            </a:r>
            <a:endParaRPr lang="en-US" sz="1000" dirty="0"/>
          </a:p>
        </p:txBody>
      </p:sp>
      <p:sp>
        <p:nvSpPr>
          <p:cNvPr id="22" name="Shape 20"/>
          <p:cNvSpPr/>
          <p:nvPr/>
        </p:nvSpPr>
        <p:spPr>
          <a:xfrm>
            <a:off x="4335628" y="2606040"/>
            <a:ext cx="3520440" cy="3108960"/>
          </a:xfrm>
          <a:prstGeom prst="roundRect">
            <a:avLst>
              <a:gd name="adj" fmla="val 2353"/>
            </a:avLst>
          </a:prstGeom>
          <a:solidFill>
            <a:srgbClr val="FFFFFF"/>
          </a:solidFill>
          <a:ln w="12700">
            <a:solidFill>
              <a:srgbClr val="E1E6EF"/>
            </a:solidFill>
            <a:prstDash val="solid"/>
          </a:ln>
        </p:spPr>
        <p:txBody>
          <a:bodyPr/>
          <a:lstStyle/>
          <a:p>
            <a:endParaRPr lang="en-ZA"/>
          </a:p>
        </p:txBody>
      </p:sp>
      <p:sp>
        <p:nvSpPr>
          <p:cNvPr id="23" name="Shape 21"/>
          <p:cNvSpPr/>
          <p:nvPr/>
        </p:nvSpPr>
        <p:spPr>
          <a:xfrm>
            <a:off x="4335628" y="2606040"/>
            <a:ext cx="3520440" cy="73152"/>
          </a:xfrm>
          <a:prstGeom prst="rect">
            <a:avLst/>
          </a:prstGeom>
          <a:solidFill>
            <a:srgbClr val="C03BC4"/>
          </a:solidFill>
          <a:ln/>
        </p:spPr>
        <p:txBody>
          <a:bodyPr/>
          <a:lstStyle/>
          <a:p>
            <a:endParaRPr lang="en-ZA"/>
          </a:p>
        </p:txBody>
      </p:sp>
      <p:sp>
        <p:nvSpPr>
          <p:cNvPr id="24" name="Shape 22"/>
          <p:cNvSpPr/>
          <p:nvPr/>
        </p:nvSpPr>
        <p:spPr>
          <a:xfrm>
            <a:off x="4518508" y="2834640"/>
            <a:ext cx="640080" cy="640080"/>
          </a:xfrm>
          <a:prstGeom prst="ellipse">
            <a:avLst/>
          </a:prstGeom>
          <a:solidFill>
            <a:srgbClr val="C03BC4"/>
          </a:solidFill>
          <a:ln w="12700">
            <a:solidFill>
              <a:srgbClr val="C03BC4"/>
            </a:solidFill>
            <a:prstDash val="solid"/>
          </a:ln>
        </p:spPr>
        <p:txBody>
          <a:bodyPr/>
          <a:lstStyle/>
          <a:p>
            <a:endParaRPr lang="en-ZA"/>
          </a:p>
        </p:txBody>
      </p:sp>
      <p:sp>
        <p:nvSpPr>
          <p:cNvPr id="25" name="Text 23"/>
          <p:cNvSpPr/>
          <p:nvPr/>
        </p:nvSpPr>
        <p:spPr>
          <a:xfrm>
            <a:off x="4518508" y="2834640"/>
            <a:ext cx="640080" cy="64008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B</a:t>
            </a:r>
            <a:endParaRPr lang="en-US" sz="2000" dirty="0"/>
          </a:p>
        </p:txBody>
      </p:sp>
      <p:sp>
        <p:nvSpPr>
          <p:cNvPr id="26" name="Text 24"/>
          <p:cNvSpPr/>
          <p:nvPr/>
        </p:nvSpPr>
        <p:spPr>
          <a:xfrm>
            <a:off x="5250028" y="2834640"/>
            <a:ext cx="2468880" cy="274320"/>
          </a:xfrm>
          <a:prstGeom prst="rect">
            <a:avLst/>
          </a:prstGeom>
          <a:noFill/>
          <a:ln/>
        </p:spPr>
        <p:txBody>
          <a:bodyPr wrap="square" rtlCol="0" anchor="ctr"/>
          <a:lstStyle/>
          <a:p>
            <a:pPr marL="0" indent="0">
              <a:buNone/>
            </a:pPr>
            <a:r>
              <a:rPr lang="en-US" sz="1000" b="1" kern="0" spc="200" dirty="0">
                <a:solidFill>
                  <a:srgbClr val="8A94A6"/>
                </a:solidFill>
                <a:latin typeface="Segoe UI" pitchFamily="34" charset="0"/>
                <a:ea typeface="Segoe UI" pitchFamily="34" charset="-122"/>
                <a:cs typeface="Segoe UI" pitchFamily="34" charset="-120"/>
              </a:rPr>
              <a:t>EXTENSIBILITY</a:t>
            </a:r>
            <a:endParaRPr lang="en-US" sz="1000" dirty="0"/>
          </a:p>
        </p:txBody>
      </p:sp>
      <p:sp>
        <p:nvSpPr>
          <p:cNvPr id="27" name="Text 25"/>
          <p:cNvSpPr/>
          <p:nvPr/>
        </p:nvSpPr>
        <p:spPr>
          <a:xfrm>
            <a:off x="5250028" y="3063240"/>
            <a:ext cx="2468880" cy="365760"/>
          </a:xfrm>
          <a:prstGeom prst="rect">
            <a:avLst/>
          </a:prstGeom>
          <a:noFill/>
          <a:ln/>
        </p:spPr>
        <p:txBody>
          <a:bodyPr wrap="square" rtlCol="0" anchor="ctr"/>
          <a:lstStyle/>
          <a:p>
            <a:pPr marL="0" indent="0">
              <a:buNone/>
            </a:pPr>
            <a:r>
              <a:rPr lang="en-US" sz="1700" b="1" dirty="0">
                <a:solidFill>
                  <a:srgbClr val="091F2C"/>
                </a:solidFill>
                <a:latin typeface="Segoe UI" pitchFamily="34" charset="0"/>
                <a:ea typeface="Segoe UI" pitchFamily="34" charset="-122"/>
                <a:cs typeface="Segoe UI" pitchFamily="34" charset="-120"/>
              </a:rPr>
              <a:t>Copilot Studio</a:t>
            </a:r>
            <a:endParaRPr lang="en-US" sz="1700" dirty="0"/>
          </a:p>
        </p:txBody>
      </p:sp>
      <p:sp>
        <p:nvSpPr>
          <p:cNvPr id="28" name="Text 26"/>
          <p:cNvSpPr/>
          <p:nvPr/>
        </p:nvSpPr>
        <p:spPr>
          <a:xfrm>
            <a:off x="4564228" y="3611880"/>
            <a:ext cx="3063240" cy="914400"/>
          </a:xfrm>
          <a:prstGeom prst="rect">
            <a:avLst/>
          </a:prstGeom>
          <a:noFill/>
          <a:ln/>
        </p:spPr>
        <p:txBody>
          <a:bodyPr wrap="square" rtlCol="0" anchor="ctr"/>
          <a:lstStyle/>
          <a:p>
            <a:pPr marL="0" indent="0">
              <a:buNone/>
            </a:pPr>
            <a:r>
              <a:rPr lang="en-US" sz="1100" dirty="0">
                <a:solidFill>
                  <a:srgbClr val="2B2B2B"/>
                </a:solidFill>
                <a:latin typeface="Segoe UI" pitchFamily="34" charset="0"/>
                <a:ea typeface="Segoe UI" pitchFamily="34" charset="-122"/>
                <a:cs typeface="Segoe UI" pitchFamily="34" charset="-120"/>
              </a:rPr>
              <a:t>Low-code + pro-code domain agents grounded on enterprise data.</a:t>
            </a:r>
            <a:endParaRPr lang="en-US" sz="1100" dirty="0"/>
          </a:p>
        </p:txBody>
      </p:sp>
      <p:sp>
        <p:nvSpPr>
          <p:cNvPr id="29" name="Shape 27"/>
          <p:cNvSpPr/>
          <p:nvPr/>
        </p:nvSpPr>
        <p:spPr>
          <a:xfrm>
            <a:off x="4564228" y="4572000"/>
            <a:ext cx="3063240" cy="18288"/>
          </a:xfrm>
          <a:prstGeom prst="rect">
            <a:avLst/>
          </a:prstGeom>
          <a:solidFill>
            <a:srgbClr val="E1E6EF"/>
          </a:solidFill>
          <a:ln w="12700">
            <a:solidFill>
              <a:srgbClr val="E1E6EF"/>
            </a:solidFill>
            <a:prstDash val="solid"/>
          </a:ln>
        </p:spPr>
        <p:txBody>
          <a:bodyPr/>
          <a:lstStyle/>
          <a:p>
            <a:endParaRPr lang="en-ZA"/>
          </a:p>
        </p:txBody>
      </p:sp>
      <p:sp>
        <p:nvSpPr>
          <p:cNvPr id="30" name="Text 28"/>
          <p:cNvSpPr/>
          <p:nvPr/>
        </p:nvSpPr>
        <p:spPr>
          <a:xfrm>
            <a:off x="4564228" y="4663440"/>
            <a:ext cx="3063240" cy="182880"/>
          </a:xfrm>
          <a:prstGeom prst="rect">
            <a:avLst/>
          </a:prstGeom>
          <a:noFill/>
          <a:ln/>
        </p:spPr>
        <p:txBody>
          <a:bodyPr wrap="square" rtlCol="0" anchor="ctr"/>
          <a:lstStyle/>
          <a:p>
            <a:pPr marL="0" indent="0">
              <a:buNone/>
            </a:pPr>
            <a:r>
              <a:rPr lang="en-US" sz="800" b="1" kern="0" spc="200" dirty="0">
                <a:solidFill>
                  <a:srgbClr val="8A94A6"/>
                </a:solidFill>
                <a:latin typeface="Segoe UI" pitchFamily="34" charset="0"/>
                <a:ea typeface="Segoe UI" pitchFamily="34" charset="-122"/>
                <a:cs typeface="Segoe UI" pitchFamily="34" charset="-120"/>
              </a:rPr>
              <a:t>LEAD</a:t>
            </a:r>
            <a:endParaRPr lang="en-US" sz="800" dirty="0"/>
          </a:p>
        </p:txBody>
      </p:sp>
      <p:sp>
        <p:nvSpPr>
          <p:cNvPr id="31" name="Text 29"/>
          <p:cNvSpPr/>
          <p:nvPr/>
        </p:nvSpPr>
        <p:spPr>
          <a:xfrm>
            <a:off x="4564228" y="4828032"/>
            <a:ext cx="3063240" cy="274320"/>
          </a:xfrm>
          <a:prstGeom prst="rect">
            <a:avLst/>
          </a:prstGeom>
          <a:noFill/>
          <a:ln/>
        </p:spPr>
        <p:txBody>
          <a:bodyPr wrap="square" rtlCol="0" anchor="ctr"/>
          <a:lstStyle/>
          <a:p>
            <a:pPr marL="0" indent="0">
              <a:buNone/>
            </a:pPr>
            <a:r>
              <a:rPr lang="en-US" sz="1100" b="1" dirty="0">
                <a:solidFill>
                  <a:srgbClr val="091F2C"/>
                </a:solidFill>
                <a:latin typeface="Segoe UI" pitchFamily="34" charset="0"/>
                <a:ea typeface="Segoe UI" pitchFamily="34" charset="-122"/>
                <a:cs typeface="Segoe UI" pitchFamily="34" charset="-120"/>
              </a:rPr>
              <a:t>Business Applications CSU</a:t>
            </a:r>
            <a:endParaRPr lang="en-US" sz="1100" dirty="0"/>
          </a:p>
        </p:txBody>
      </p:sp>
      <p:sp>
        <p:nvSpPr>
          <p:cNvPr id="32" name="Text 30"/>
          <p:cNvSpPr/>
          <p:nvPr/>
        </p:nvSpPr>
        <p:spPr>
          <a:xfrm>
            <a:off x="4564228" y="5120640"/>
            <a:ext cx="3063240" cy="182880"/>
          </a:xfrm>
          <a:prstGeom prst="rect">
            <a:avLst/>
          </a:prstGeom>
          <a:noFill/>
          <a:ln/>
        </p:spPr>
        <p:txBody>
          <a:bodyPr wrap="square" rtlCol="0" anchor="ctr"/>
          <a:lstStyle/>
          <a:p>
            <a:pPr marL="0" indent="0">
              <a:buNone/>
            </a:pPr>
            <a:r>
              <a:rPr lang="en-US" sz="800" b="1" kern="0" spc="200" dirty="0">
                <a:solidFill>
                  <a:srgbClr val="8A94A6"/>
                </a:solidFill>
                <a:latin typeface="Segoe UI" pitchFamily="34" charset="0"/>
                <a:ea typeface="Segoe UI" pitchFamily="34" charset="-122"/>
                <a:cs typeface="Segoe UI" pitchFamily="34" charset="-120"/>
              </a:rPr>
              <a:t>TIME TO VALUE</a:t>
            </a:r>
            <a:endParaRPr lang="en-US" sz="800" dirty="0"/>
          </a:p>
        </p:txBody>
      </p:sp>
      <p:sp>
        <p:nvSpPr>
          <p:cNvPr id="33" name="Text 31"/>
          <p:cNvSpPr/>
          <p:nvPr/>
        </p:nvSpPr>
        <p:spPr>
          <a:xfrm>
            <a:off x="4564228" y="5285232"/>
            <a:ext cx="3063240" cy="274320"/>
          </a:xfrm>
          <a:prstGeom prst="rect">
            <a:avLst/>
          </a:prstGeom>
          <a:noFill/>
          <a:ln/>
        </p:spPr>
        <p:txBody>
          <a:bodyPr wrap="square" rtlCol="0" anchor="ctr"/>
          <a:lstStyle/>
          <a:p>
            <a:pPr marL="0" indent="0">
              <a:buNone/>
            </a:pPr>
            <a:r>
              <a:rPr lang="en-US" sz="1100" b="1" dirty="0">
                <a:solidFill>
                  <a:srgbClr val="C03BC4"/>
                </a:solidFill>
                <a:latin typeface="Segoe UI" pitchFamily="34" charset="0"/>
                <a:ea typeface="Segoe UI" pitchFamily="34" charset="-122"/>
                <a:cs typeface="Segoe UI" pitchFamily="34" charset="-120"/>
              </a:rPr>
              <a:t>4–8 weeks</a:t>
            </a:r>
            <a:endParaRPr lang="en-US" sz="1100" dirty="0"/>
          </a:p>
        </p:txBody>
      </p:sp>
      <p:sp>
        <p:nvSpPr>
          <p:cNvPr id="34" name="Text 32"/>
          <p:cNvSpPr/>
          <p:nvPr/>
        </p:nvSpPr>
        <p:spPr>
          <a:xfrm>
            <a:off x="4564228" y="5468112"/>
            <a:ext cx="3063240" cy="182880"/>
          </a:xfrm>
          <a:prstGeom prst="rect">
            <a:avLst/>
          </a:prstGeom>
          <a:noFill/>
          <a:ln/>
        </p:spPr>
        <p:txBody>
          <a:bodyPr wrap="square" rtlCol="0" anchor="ctr"/>
          <a:lstStyle/>
          <a:p>
            <a:pPr marL="0" indent="0">
              <a:buNone/>
            </a:pPr>
            <a:r>
              <a:rPr lang="en-US" sz="800" b="1" kern="0" spc="200" dirty="0">
                <a:solidFill>
                  <a:srgbClr val="8A94A6"/>
                </a:solidFill>
                <a:latin typeface="Segoe UI" pitchFamily="34" charset="0"/>
                <a:ea typeface="Segoe UI" pitchFamily="34" charset="-122"/>
                <a:cs typeface="Segoe UI" pitchFamily="34" charset="-120"/>
              </a:rPr>
              <a:t>COMMERCIAL</a:t>
            </a:r>
            <a:endParaRPr lang="en-US" sz="800" dirty="0"/>
          </a:p>
        </p:txBody>
      </p:sp>
      <p:sp>
        <p:nvSpPr>
          <p:cNvPr id="35" name="Text 33"/>
          <p:cNvSpPr/>
          <p:nvPr/>
        </p:nvSpPr>
        <p:spPr>
          <a:xfrm>
            <a:off x="4564228" y="5632704"/>
            <a:ext cx="3063240" cy="274320"/>
          </a:xfrm>
          <a:prstGeom prst="rect">
            <a:avLst/>
          </a:prstGeom>
          <a:noFill/>
          <a:ln/>
        </p:spPr>
        <p:txBody>
          <a:bodyPr wrap="square" rtlCol="0" anchor="ctr"/>
          <a:lstStyle/>
          <a:p>
            <a:pPr marL="0" indent="0">
              <a:buNone/>
            </a:pPr>
            <a:r>
              <a:rPr lang="en-US" sz="1000" i="1" dirty="0">
                <a:solidFill>
                  <a:srgbClr val="4B5563"/>
                </a:solidFill>
                <a:latin typeface="Segoe UI" pitchFamily="34" charset="0"/>
                <a:ea typeface="Segoe UI" pitchFamily="34" charset="-122"/>
                <a:cs typeface="Segoe UI" pitchFamily="34" charset="-120"/>
              </a:rPr>
              <a:t>Per-message / per-agent</a:t>
            </a:r>
            <a:endParaRPr lang="en-US" sz="1000" dirty="0"/>
          </a:p>
        </p:txBody>
      </p:sp>
      <p:sp>
        <p:nvSpPr>
          <p:cNvPr id="36" name="Shape 34"/>
          <p:cNvSpPr/>
          <p:nvPr/>
        </p:nvSpPr>
        <p:spPr>
          <a:xfrm>
            <a:off x="7993228" y="2606040"/>
            <a:ext cx="3520440" cy="3108960"/>
          </a:xfrm>
          <a:prstGeom prst="roundRect">
            <a:avLst>
              <a:gd name="adj" fmla="val 2353"/>
            </a:avLst>
          </a:prstGeom>
          <a:solidFill>
            <a:srgbClr val="FFFFFF"/>
          </a:solidFill>
          <a:ln w="12700">
            <a:solidFill>
              <a:srgbClr val="E1E6EF"/>
            </a:solidFill>
            <a:prstDash val="solid"/>
          </a:ln>
        </p:spPr>
        <p:txBody>
          <a:bodyPr/>
          <a:lstStyle/>
          <a:p>
            <a:endParaRPr lang="en-ZA"/>
          </a:p>
        </p:txBody>
      </p:sp>
      <p:sp>
        <p:nvSpPr>
          <p:cNvPr id="37" name="Shape 35"/>
          <p:cNvSpPr/>
          <p:nvPr/>
        </p:nvSpPr>
        <p:spPr>
          <a:xfrm>
            <a:off x="7993228" y="2606040"/>
            <a:ext cx="3520440" cy="73152"/>
          </a:xfrm>
          <a:prstGeom prst="rect">
            <a:avLst/>
          </a:prstGeom>
          <a:solidFill>
            <a:srgbClr val="FF5C39"/>
          </a:solidFill>
          <a:ln/>
        </p:spPr>
        <p:txBody>
          <a:bodyPr/>
          <a:lstStyle/>
          <a:p>
            <a:endParaRPr lang="en-ZA"/>
          </a:p>
        </p:txBody>
      </p:sp>
      <p:sp>
        <p:nvSpPr>
          <p:cNvPr id="38" name="Shape 36"/>
          <p:cNvSpPr/>
          <p:nvPr/>
        </p:nvSpPr>
        <p:spPr>
          <a:xfrm>
            <a:off x="8176108" y="2834640"/>
            <a:ext cx="640080" cy="640080"/>
          </a:xfrm>
          <a:prstGeom prst="ellipse">
            <a:avLst/>
          </a:prstGeom>
          <a:solidFill>
            <a:srgbClr val="FF5C39"/>
          </a:solidFill>
          <a:ln w="12700">
            <a:solidFill>
              <a:srgbClr val="FF5C39"/>
            </a:solidFill>
            <a:prstDash val="solid"/>
          </a:ln>
        </p:spPr>
        <p:txBody>
          <a:bodyPr/>
          <a:lstStyle/>
          <a:p>
            <a:endParaRPr lang="en-ZA"/>
          </a:p>
        </p:txBody>
      </p:sp>
      <p:sp>
        <p:nvSpPr>
          <p:cNvPr id="39" name="Text 37"/>
          <p:cNvSpPr/>
          <p:nvPr/>
        </p:nvSpPr>
        <p:spPr>
          <a:xfrm>
            <a:off x="8176108" y="2834640"/>
            <a:ext cx="640080" cy="64008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C</a:t>
            </a:r>
            <a:endParaRPr lang="en-US" sz="2000" dirty="0"/>
          </a:p>
        </p:txBody>
      </p:sp>
      <p:sp>
        <p:nvSpPr>
          <p:cNvPr id="40" name="Text 38"/>
          <p:cNvSpPr/>
          <p:nvPr/>
        </p:nvSpPr>
        <p:spPr>
          <a:xfrm>
            <a:off x="8907628" y="2834640"/>
            <a:ext cx="2468880" cy="274320"/>
          </a:xfrm>
          <a:prstGeom prst="rect">
            <a:avLst/>
          </a:prstGeom>
          <a:noFill/>
          <a:ln/>
        </p:spPr>
        <p:txBody>
          <a:bodyPr wrap="square" rtlCol="0" anchor="ctr"/>
          <a:lstStyle/>
          <a:p>
            <a:pPr marL="0" indent="0">
              <a:buNone/>
            </a:pPr>
            <a:r>
              <a:rPr lang="en-US" sz="1000" b="1" kern="0" spc="200" dirty="0">
                <a:solidFill>
                  <a:srgbClr val="8A94A6"/>
                </a:solidFill>
                <a:latin typeface="Segoe UI" pitchFamily="34" charset="0"/>
                <a:ea typeface="Segoe UI" pitchFamily="34" charset="-122"/>
                <a:cs typeface="Segoe UI" pitchFamily="34" charset="-120"/>
              </a:rPr>
              <a:t>CUSTOM BUILD</a:t>
            </a:r>
            <a:endParaRPr lang="en-US" sz="1000" dirty="0"/>
          </a:p>
        </p:txBody>
      </p:sp>
      <p:sp>
        <p:nvSpPr>
          <p:cNvPr id="41" name="Text 39"/>
          <p:cNvSpPr/>
          <p:nvPr/>
        </p:nvSpPr>
        <p:spPr>
          <a:xfrm>
            <a:off x="8907628" y="3063240"/>
            <a:ext cx="2468880" cy="365760"/>
          </a:xfrm>
          <a:prstGeom prst="rect">
            <a:avLst/>
          </a:prstGeom>
          <a:noFill/>
          <a:ln/>
        </p:spPr>
        <p:txBody>
          <a:bodyPr wrap="square" rtlCol="0" anchor="ctr"/>
          <a:lstStyle/>
          <a:p>
            <a:pPr marL="0" indent="0">
              <a:buNone/>
            </a:pPr>
            <a:r>
              <a:rPr lang="en-US" sz="1700" b="1" dirty="0">
                <a:solidFill>
                  <a:srgbClr val="091F2C"/>
                </a:solidFill>
                <a:latin typeface="Segoe UI" pitchFamily="34" charset="0"/>
                <a:ea typeface="Segoe UI" pitchFamily="34" charset="-122"/>
                <a:cs typeface="Segoe UI" pitchFamily="34" charset="-120"/>
              </a:rPr>
              <a:t>Azure AI Foundry</a:t>
            </a:r>
            <a:endParaRPr lang="en-US" sz="1700" dirty="0"/>
          </a:p>
        </p:txBody>
      </p:sp>
      <p:sp>
        <p:nvSpPr>
          <p:cNvPr id="42" name="Text 40"/>
          <p:cNvSpPr/>
          <p:nvPr/>
        </p:nvSpPr>
        <p:spPr>
          <a:xfrm>
            <a:off x="8221828" y="3611880"/>
            <a:ext cx="3063240" cy="914400"/>
          </a:xfrm>
          <a:prstGeom prst="rect">
            <a:avLst/>
          </a:prstGeom>
          <a:noFill/>
          <a:ln/>
        </p:spPr>
        <p:txBody>
          <a:bodyPr wrap="square" rtlCol="0" anchor="ctr"/>
          <a:lstStyle/>
          <a:p>
            <a:pPr marL="0" indent="0">
              <a:buNone/>
            </a:pPr>
            <a:r>
              <a:rPr lang="en-US" sz="1100" dirty="0">
                <a:solidFill>
                  <a:srgbClr val="2B2B2B"/>
                </a:solidFill>
                <a:latin typeface="Segoe UI" pitchFamily="34" charset="0"/>
                <a:ea typeface="Segoe UI" pitchFamily="34" charset="-122"/>
                <a:cs typeface="Segoe UI" pitchFamily="34" charset="-120"/>
              </a:rPr>
              <a:t>Pro-code agents · multi-agent orchestration · production AgentOps.</a:t>
            </a:r>
            <a:endParaRPr lang="en-US" sz="1100" dirty="0"/>
          </a:p>
        </p:txBody>
      </p:sp>
      <p:sp>
        <p:nvSpPr>
          <p:cNvPr id="43" name="Shape 41"/>
          <p:cNvSpPr/>
          <p:nvPr/>
        </p:nvSpPr>
        <p:spPr>
          <a:xfrm>
            <a:off x="8221828" y="4572000"/>
            <a:ext cx="3063240" cy="18288"/>
          </a:xfrm>
          <a:prstGeom prst="rect">
            <a:avLst/>
          </a:prstGeom>
          <a:solidFill>
            <a:srgbClr val="E1E6EF"/>
          </a:solidFill>
          <a:ln w="12700">
            <a:solidFill>
              <a:srgbClr val="E1E6EF"/>
            </a:solidFill>
            <a:prstDash val="solid"/>
          </a:ln>
        </p:spPr>
        <p:txBody>
          <a:bodyPr/>
          <a:lstStyle/>
          <a:p>
            <a:endParaRPr lang="en-ZA"/>
          </a:p>
        </p:txBody>
      </p:sp>
      <p:sp>
        <p:nvSpPr>
          <p:cNvPr id="44" name="Text 42"/>
          <p:cNvSpPr/>
          <p:nvPr/>
        </p:nvSpPr>
        <p:spPr>
          <a:xfrm>
            <a:off x="8221828" y="4663440"/>
            <a:ext cx="3063240" cy="182880"/>
          </a:xfrm>
          <a:prstGeom prst="rect">
            <a:avLst/>
          </a:prstGeom>
          <a:noFill/>
          <a:ln/>
        </p:spPr>
        <p:txBody>
          <a:bodyPr wrap="square" rtlCol="0" anchor="ctr"/>
          <a:lstStyle/>
          <a:p>
            <a:pPr marL="0" indent="0">
              <a:buNone/>
            </a:pPr>
            <a:r>
              <a:rPr lang="en-US" sz="800" b="1" kern="0" spc="200" dirty="0">
                <a:solidFill>
                  <a:srgbClr val="8A94A6"/>
                </a:solidFill>
                <a:latin typeface="Segoe UI" pitchFamily="34" charset="0"/>
                <a:ea typeface="Segoe UI" pitchFamily="34" charset="-122"/>
                <a:cs typeface="Segoe UI" pitchFamily="34" charset="-120"/>
              </a:rPr>
              <a:t>LEAD</a:t>
            </a:r>
            <a:endParaRPr lang="en-US" sz="800" dirty="0"/>
          </a:p>
        </p:txBody>
      </p:sp>
      <p:sp>
        <p:nvSpPr>
          <p:cNvPr id="45" name="Text 43"/>
          <p:cNvSpPr/>
          <p:nvPr/>
        </p:nvSpPr>
        <p:spPr>
          <a:xfrm>
            <a:off x="8221828" y="4828032"/>
            <a:ext cx="3063240" cy="274320"/>
          </a:xfrm>
          <a:prstGeom prst="rect">
            <a:avLst/>
          </a:prstGeom>
          <a:noFill/>
          <a:ln/>
        </p:spPr>
        <p:txBody>
          <a:bodyPr wrap="square" rtlCol="0" anchor="ctr"/>
          <a:lstStyle/>
          <a:p>
            <a:pPr marL="0" indent="0">
              <a:buNone/>
            </a:pPr>
            <a:r>
              <a:rPr lang="en-US" sz="1100" b="1" dirty="0">
                <a:solidFill>
                  <a:srgbClr val="091F2C"/>
                </a:solidFill>
                <a:latin typeface="Segoe UI" pitchFamily="34" charset="0"/>
                <a:ea typeface="Segoe UI" pitchFamily="34" charset="-122"/>
                <a:cs typeface="Segoe UI" pitchFamily="34" charset="-120"/>
              </a:rPr>
              <a:t>Cloud &amp; AI Platforms CSU</a:t>
            </a:r>
            <a:endParaRPr lang="en-US" sz="1100" dirty="0"/>
          </a:p>
        </p:txBody>
      </p:sp>
      <p:sp>
        <p:nvSpPr>
          <p:cNvPr id="46" name="Text 44"/>
          <p:cNvSpPr/>
          <p:nvPr/>
        </p:nvSpPr>
        <p:spPr>
          <a:xfrm>
            <a:off x="8221828" y="5120640"/>
            <a:ext cx="3063240" cy="182880"/>
          </a:xfrm>
          <a:prstGeom prst="rect">
            <a:avLst/>
          </a:prstGeom>
          <a:noFill/>
          <a:ln/>
        </p:spPr>
        <p:txBody>
          <a:bodyPr wrap="square" rtlCol="0" anchor="ctr"/>
          <a:lstStyle/>
          <a:p>
            <a:pPr marL="0" indent="0">
              <a:buNone/>
            </a:pPr>
            <a:r>
              <a:rPr lang="en-US" sz="800" b="1" kern="0" spc="200" dirty="0">
                <a:solidFill>
                  <a:srgbClr val="8A94A6"/>
                </a:solidFill>
                <a:latin typeface="Segoe UI" pitchFamily="34" charset="0"/>
                <a:ea typeface="Segoe UI" pitchFamily="34" charset="-122"/>
                <a:cs typeface="Segoe UI" pitchFamily="34" charset="-120"/>
              </a:rPr>
              <a:t>TIME TO VALUE</a:t>
            </a:r>
            <a:endParaRPr lang="en-US" sz="800" dirty="0"/>
          </a:p>
        </p:txBody>
      </p:sp>
      <p:sp>
        <p:nvSpPr>
          <p:cNvPr id="47" name="Text 45"/>
          <p:cNvSpPr/>
          <p:nvPr/>
        </p:nvSpPr>
        <p:spPr>
          <a:xfrm>
            <a:off x="8221828" y="5285232"/>
            <a:ext cx="3063240" cy="274320"/>
          </a:xfrm>
          <a:prstGeom prst="rect">
            <a:avLst/>
          </a:prstGeom>
          <a:noFill/>
          <a:ln/>
        </p:spPr>
        <p:txBody>
          <a:bodyPr wrap="square" rtlCol="0" anchor="ctr"/>
          <a:lstStyle/>
          <a:p>
            <a:pPr marL="0" indent="0">
              <a:buNone/>
            </a:pPr>
            <a:r>
              <a:rPr lang="en-US" sz="1100" b="1" dirty="0">
                <a:solidFill>
                  <a:srgbClr val="FF5C39"/>
                </a:solidFill>
                <a:latin typeface="Segoe UI" pitchFamily="34" charset="0"/>
                <a:ea typeface="Segoe UI" pitchFamily="34" charset="-122"/>
                <a:cs typeface="Segoe UI" pitchFamily="34" charset="-120"/>
              </a:rPr>
              <a:t>6–12 weeks</a:t>
            </a:r>
            <a:endParaRPr lang="en-US" sz="1100" dirty="0"/>
          </a:p>
        </p:txBody>
      </p:sp>
      <p:sp>
        <p:nvSpPr>
          <p:cNvPr id="48" name="Text 46"/>
          <p:cNvSpPr/>
          <p:nvPr/>
        </p:nvSpPr>
        <p:spPr>
          <a:xfrm>
            <a:off x="8221828" y="5468112"/>
            <a:ext cx="3063240" cy="182880"/>
          </a:xfrm>
          <a:prstGeom prst="rect">
            <a:avLst/>
          </a:prstGeom>
          <a:noFill/>
          <a:ln/>
        </p:spPr>
        <p:txBody>
          <a:bodyPr wrap="square" rtlCol="0" anchor="ctr"/>
          <a:lstStyle/>
          <a:p>
            <a:pPr marL="0" indent="0">
              <a:buNone/>
            </a:pPr>
            <a:r>
              <a:rPr lang="en-US" sz="800" b="1" kern="0" spc="200" dirty="0">
                <a:solidFill>
                  <a:srgbClr val="8A94A6"/>
                </a:solidFill>
                <a:latin typeface="Segoe UI" pitchFamily="34" charset="0"/>
                <a:ea typeface="Segoe UI" pitchFamily="34" charset="-122"/>
                <a:cs typeface="Segoe UI" pitchFamily="34" charset="-120"/>
              </a:rPr>
              <a:t>COMMERCIAL</a:t>
            </a:r>
            <a:endParaRPr lang="en-US" sz="800" dirty="0"/>
          </a:p>
        </p:txBody>
      </p:sp>
      <p:sp>
        <p:nvSpPr>
          <p:cNvPr id="49" name="Text 47"/>
          <p:cNvSpPr/>
          <p:nvPr/>
        </p:nvSpPr>
        <p:spPr>
          <a:xfrm>
            <a:off x="8221828" y="5632704"/>
            <a:ext cx="3063240" cy="274320"/>
          </a:xfrm>
          <a:prstGeom prst="rect">
            <a:avLst/>
          </a:prstGeom>
          <a:noFill/>
          <a:ln/>
        </p:spPr>
        <p:txBody>
          <a:bodyPr wrap="square" rtlCol="0" anchor="ctr"/>
          <a:lstStyle/>
          <a:p>
            <a:pPr marL="0" indent="0">
              <a:buNone/>
            </a:pPr>
            <a:r>
              <a:rPr lang="en-US" sz="1000" i="1" dirty="0">
                <a:solidFill>
                  <a:srgbClr val="4B5563"/>
                </a:solidFill>
                <a:latin typeface="Segoe UI" pitchFamily="34" charset="0"/>
                <a:ea typeface="Segoe UI" pitchFamily="34" charset="-122"/>
                <a:cs typeface="Segoe UI" pitchFamily="34" charset="-120"/>
              </a:rPr>
              <a:t>Azure consumption · ATO</a:t>
            </a:r>
            <a:endParaRPr lang="en-US" sz="1000" dirty="0"/>
          </a:p>
        </p:txBody>
      </p:sp>
      <p:pic>
        <p:nvPicPr>
          <p:cNvPr id="50"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51" name="Text 48"/>
          <p:cNvSpPr/>
          <p:nvPr/>
        </p:nvSpPr>
        <p:spPr>
          <a:xfrm>
            <a:off x="640080" y="6492240"/>
            <a:ext cx="73152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 2026 Microsoft Corporation</a:t>
            </a:r>
            <a:endParaRPr lang="en-US" sz="900" dirty="0"/>
          </a:p>
        </p:txBody>
      </p:sp>
      <p:sp>
        <p:nvSpPr>
          <p:cNvPr id="52" name="Text 49"/>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6 / 19</a:t>
            </a:r>
            <a:endParaRPr lang="en-US" sz="900" dirty="0"/>
          </a:p>
        </p:txBody>
      </p:sp>
      <p:sp>
        <p:nvSpPr>
          <p:cNvPr id="53" name="AICOE_GEO_ACCENT_Right Triangle 52"/>
          <p:cNvSpPr/>
          <p:nvPr/>
        </p:nvSpPr>
        <p:spPr>
          <a:xfrm rot="5400000">
            <a:off x="11762232"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AICOE_GEO_ACCENT_Right Triangle 53"/>
          <p:cNvSpPr/>
          <p:nvPr/>
        </p:nvSpPr>
        <p:spPr>
          <a:xfrm rot="5400000">
            <a:off x="11874246"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8F5"/>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91440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GO-TO-MARKET</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200" b="1" dirty="0">
                <a:solidFill>
                  <a:srgbClr val="091F2C"/>
                </a:solidFill>
                <a:latin typeface="Segoe UI" pitchFamily="34" charset="0"/>
                <a:ea typeface="Segoe UI" pitchFamily="34" charset="-122"/>
                <a:cs typeface="Segoe UI" pitchFamily="34" charset="-120"/>
              </a:rPr>
              <a:t>Three Streams · One Engagement</a:t>
            </a:r>
            <a:endParaRPr lang="en-US" sz="3200" dirty="0"/>
          </a:p>
        </p:txBody>
      </p:sp>
      <p:sp>
        <p:nvSpPr>
          <p:cNvPr id="5" name="Shape 3"/>
          <p:cNvSpPr/>
          <p:nvPr/>
        </p:nvSpPr>
        <p:spPr>
          <a:xfrm>
            <a:off x="403708" y="1828800"/>
            <a:ext cx="3703320" cy="4480560"/>
          </a:xfrm>
          <a:prstGeom prst="roundRect">
            <a:avLst>
              <a:gd name="adj" fmla="val 2963"/>
            </a:avLst>
          </a:prstGeom>
          <a:solidFill>
            <a:srgbClr val="091F2C"/>
          </a:solidFill>
          <a:ln w="12700">
            <a:solidFill>
              <a:srgbClr val="091F2C"/>
            </a:solidFill>
            <a:prstDash val="solid"/>
          </a:ln>
        </p:spPr>
        <p:txBody>
          <a:bodyPr/>
          <a:lstStyle/>
          <a:p>
            <a:endParaRPr lang="en-ZA"/>
          </a:p>
        </p:txBody>
      </p:sp>
      <p:sp>
        <p:nvSpPr>
          <p:cNvPr id="6" name="Text 4"/>
          <p:cNvSpPr/>
          <p:nvPr/>
        </p:nvSpPr>
        <p:spPr>
          <a:xfrm>
            <a:off x="632308" y="1965960"/>
            <a:ext cx="3246120" cy="274320"/>
          </a:xfrm>
          <a:prstGeom prst="rect">
            <a:avLst/>
          </a:prstGeom>
          <a:noFill/>
          <a:ln/>
        </p:spPr>
        <p:txBody>
          <a:bodyPr wrap="square" rtlCol="0" anchor="ctr"/>
          <a:lstStyle/>
          <a:p>
            <a:pPr marL="0" indent="0">
              <a:buNone/>
            </a:pPr>
            <a:r>
              <a:rPr lang="en-US" sz="1000" b="1" kern="0" spc="300" dirty="0">
                <a:solidFill>
                  <a:srgbClr val="C03BC4"/>
                </a:solidFill>
                <a:latin typeface="Segoe UI" pitchFamily="34" charset="0"/>
                <a:ea typeface="Segoe UI" pitchFamily="34" charset="-122"/>
                <a:cs typeface="Segoe UI" pitchFamily="34" charset="-120"/>
              </a:rPr>
              <a:t>STREAM 1</a:t>
            </a:r>
            <a:endParaRPr lang="en-US" sz="1000" dirty="0"/>
          </a:p>
        </p:txBody>
      </p:sp>
      <p:sp>
        <p:nvSpPr>
          <p:cNvPr id="7" name="Text 5"/>
          <p:cNvSpPr/>
          <p:nvPr/>
        </p:nvSpPr>
        <p:spPr>
          <a:xfrm>
            <a:off x="632308" y="2240280"/>
            <a:ext cx="3246120" cy="548640"/>
          </a:xfrm>
          <a:prstGeom prst="rect">
            <a:avLst/>
          </a:prstGeom>
          <a:noFill/>
          <a:ln/>
        </p:spPr>
        <p:txBody>
          <a:bodyPr wrap="square" rtlCol="0" anchor="ctr"/>
          <a:lstStyle/>
          <a:p>
            <a:pPr marL="0" indent="0">
              <a:buNone/>
            </a:pPr>
            <a:r>
              <a:rPr lang="en-US" sz="2600" b="1" dirty="0">
                <a:solidFill>
                  <a:srgbClr val="FFFFFF"/>
                </a:solidFill>
                <a:latin typeface="Segoe UI" pitchFamily="34" charset="0"/>
                <a:ea typeface="Segoe UI" pitchFamily="34" charset="-122"/>
                <a:cs typeface="Segoe UI" pitchFamily="34" charset="-120"/>
              </a:rPr>
              <a:t>MCAPS</a:t>
            </a:r>
            <a:endParaRPr lang="en-US" sz="2600" dirty="0"/>
          </a:p>
        </p:txBody>
      </p:sp>
      <p:sp>
        <p:nvSpPr>
          <p:cNvPr id="8" name="Text 6"/>
          <p:cNvSpPr/>
          <p:nvPr/>
        </p:nvSpPr>
        <p:spPr>
          <a:xfrm>
            <a:off x="632308" y="2788920"/>
            <a:ext cx="3246120" cy="411480"/>
          </a:xfrm>
          <a:prstGeom prst="rect">
            <a:avLst/>
          </a:prstGeom>
          <a:noFill/>
          <a:ln/>
        </p:spPr>
        <p:txBody>
          <a:bodyPr wrap="square" rtlCol="0" anchor="ctr"/>
          <a:lstStyle/>
          <a:p>
            <a:pPr marL="0" indent="0">
              <a:buNone/>
            </a:pPr>
            <a:r>
              <a:rPr lang="en-US" sz="1100" i="1" dirty="0">
                <a:solidFill>
                  <a:srgbClr val="F5E6F0"/>
                </a:solidFill>
                <a:latin typeface="Segoe UI" pitchFamily="34" charset="0"/>
                <a:ea typeface="Segoe UI" pitchFamily="34" charset="-122"/>
                <a:cs typeface="Segoe UI" pitchFamily="34" charset="-120"/>
              </a:rPr>
              <a:t>Envisioning · governance · consumption</a:t>
            </a:r>
            <a:endParaRPr lang="en-US" sz="1100" dirty="0"/>
          </a:p>
        </p:txBody>
      </p:sp>
      <p:sp>
        <p:nvSpPr>
          <p:cNvPr id="9" name="Shape 7"/>
          <p:cNvSpPr/>
          <p:nvPr/>
        </p:nvSpPr>
        <p:spPr>
          <a:xfrm>
            <a:off x="632308" y="3383280"/>
            <a:ext cx="54864" cy="256032"/>
          </a:xfrm>
          <a:prstGeom prst="rect">
            <a:avLst/>
          </a:prstGeom>
          <a:solidFill>
            <a:srgbClr val="C03BC4"/>
          </a:solidFill>
          <a:ln w="12700">
            <a:solidFill>
              <a:srgbClr val="C03BC4"/>
            </a:solidFill>
            <a:prstDash val="solid"/>
          </a:ln>
        </p:spPr>
        <p:txBody>
          <a:bodyPr/>
          <a:lstStyle/>
          <a:p>
            <a:endParaRPr lang="en-ZA"/>
          </a:p>
        </p:txBody>
      </p:sp>
      <p:sp>
        <p:nvSpPr>
          <p:cNvPr id="10" name="Text 8"/>
          <p:cNvSpPr/>
          <p:nvPr/>
        </p:nvSpPr>
        <p:spPr>
          <a:xfrm>
            <a:off x="815188" y="3291840"/>
            <a:ext cx="3108960" cy="45720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ATU qualifies the opportunity</a:t>
            </a:r>
            <a:endParaRPr lang="en-US" sz="1100" dirty="0"/>
          </a:p>
        </p:txBody>
      </p:sp>
      <p:sp>
        <p:nvSpPr>
          <p:cNvPr id="11" name="Shape 9"/>
          <p:cNvSpPr/>
          <p:nvPr/>
        </p:nvSpPr>
        <p:spPr>
          <a:xfrm>
            <a:off x="632308" y="3886200"/>
            <a:ext cx="54864" cy="256032"/>
          </a:xfrm>
          <a:prstGeom prst="rect">
            <a:avLst/>
          </a:prstGeom>
          <a:solidFill>
            <a:srgbClr val="C03BC4"/>
          </a:solidFill>
          <a:ln w="12700">
            <a:solidFill>
              <a:srgbClr val="C03BC4"/>
            </a:solidFill>
            <a:prstDash val="solid"/>
          </a:ln>
        </p:spPr>
        <p:txBody>
          <a:bodyPr/>
          <a:lstStyle/>
          <a:p>
            <a:endParaRPr lang="en-ZA"/>
          </a:p>
        </p:txBody>
      </p:sp>
      <p:sp>
        <p:nvSpPr>
          <p:cNvPr id="12" name="Text 10"/>
          <p:cNvSpPr/>
          <p:nvPr/>
        </p:nvSpPr>
        <p:spPr>
          <a:xfrm>
            <a:off x="815188" y="3794760"/>
            <a:ext cx="3108960" cy="45720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STU co-designs the blueprint</a:t>
            </a:r>
            <a:endParaRPr lang="en-US" sz="1100" dirty="0"/>
          </a:p>
        </p:txBody>
      </p:sp>
      <p:sp>
        <p:nvSpPr>
          <p:cNvPr id="13" name="Shape 11"/>
          <p:cNvSpPr/>
          <p:nvPr/>
        </p:nvSpPr>
        <p:spPr>
          <a:xfrm>
            <a:off x="632308" y="4389120"/>
            <a:ext cx="54864" cy="256032"/>
          </a:xfrm>
          <a:prstGeom prst="rect">
            <a:avLst/>
          </a:prstGeom>
          <a:solidFill>
            <a:srgbClr val="C03BC4"/>
          </a:solidFill>
          <a:ln w="12700">
            <a:solidFill>
              <a:srgbClr val="C03BC4"/>
            </a:solidFill>
            <a:prstDash val="solid"/>
          </a:ln>
        </p:spPr>
        <p:txBody>
          <a:bodyPr/>
          <a:lstStyle/>
          <a:p>
            <a:endParaRPr lang="en-ZA"/>
          </a:p>
        </p:txBody>
      </p:sp>
      <p:sp>
        <p:nvSpPr>
          <p:cNvPr id="14" name="Text 12"/>
          <p:cNvSpPr/>
          <p:nvPr/>
        </p:nvSpPr>
        <p:spPr>
          <a:xfrm>
            <a:off x="815188" y="4297680"/>
            <a:ext cx="3108960" cy="45720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CSU CSAs own Realize Value</a:t>
            </a:r>
            <a:endParaRPr lang="en-US" sz="1100" dirty="0"/>
          </a:p>
        </p:txBody>
      </p:sp>
      <p:sp>
        <p:nvSpPr>
          <p:cNvPr id="15" name="Shape 13"/>
          <p:cNvSpPr/>
          <p:nvPr/>
        </p:nvSpPr>
        <p:spPr>
          <a:xfrm>
            <a:off x="632308" y="4892040"/>
            <a:ext cx="54864" cy="256032"/>
          </a:xfrm>
          <a:prstGeom prst="rect">
            <a:avLst/>
          </a:prstGeom>
          <a:solidFill>
            <a:srgbClr val="C03BC4"/>
          </a:solidFill>
          <a:ln w="12700">
            <a:solidFill>
              <a:srgbClr val="C03BC4"/>
            </a:solidFill>
            <a:prstDash val="solid"/>
          </a:ln>
        </p:spPr>
        <p:txBody>
          <a:bodyPr/>
          <a:lstStyle/>
          <a:p>
            <a:endParaRPr lang="en-ZA"/>
          </a:p>
        </p:txBody>
      </p:sp>
      <p:sp>
        <p:nvSpPr>
          <p:cNvPr id="16" name="Text 14"/>
          <p:cNvSpPr/>
          <p:nvPr/>
        </p:nvSpPr>
        <p:spPr>
          <a:xfrm>
            <a:off x="815188" y="4800600"/>
            <a:ext cx="3108960" cy="45720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Drives ACR · MACC · Copilot seats</a:t>
            </a:r>
            <a:endParaRPr lang="en-US" sz="1100" dirty="0"/>
          </a:p>
        </p:txBody>
      </p:sp>
      <p:sp>
        <p:nvSpPr>
          <p:cNvPr id="17" name="Shape 15"/>
          <p:cNvSpPr/>
          <p:nvPr/>
        </p:nvSpPr>
        <p:spPr>
          <a:xfrm>
            <a:off x="632308" y="5394960"/>
            <a:ext cx="54864" cy="256032"/>
          </a:xfrm>
          <a:prstGeom prst="rect">
            <a:avLst/>
          </a:prstGeom>
          <a:solidFill>
            <a:srgbClr val="C03BC4"/>
          </a:solidFill>
          <a:ln w="12700">
            <a:solidFill>
              <a:srgbClr val="C03BC4"/>
            </a:solidFill>
            <a:prstDash val="solid"/>
          </a:ln>
        </p:spPr>
        <p:txBody>
          <a:bodyPr/>
          <a:lstStyle/>
          <a:p>
            <a:endParaRPr lang="en-ZA"/>
          </a:p>
        </p:txBody>
      </p:sp>
      <p:sp>
        <p:nvSpPr>
          <p:cNvPr id="18" name="Text 16"/>
          <p:cNvSpPr/>
          <p:nvPr/>
        </p:nvSpPr>
        <p:spPr>
          <a:xfrm>
            <a:off x="815188" y="5303520"/>
            <a:ext cx="3108960" cy="45720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Anchors Responsible AI posture</a:t>
            </a:r>
            <a:endParaRPr lang="en-US" sz="1100" dirty="0"/>
          </a:p>
        </p:txBody>
      </p:sp>
      <p:sp>
        <p:nvSpPr>
          <p:cNvPr id="19" name="Shape 17"/>
          <p:cNvSpPr/>
          <p:nvPr/>
        </p:nvSpPr>
        <p:spPr>
          <a:xfrm>
            <a:off x="632308" y="5760720"/>
            <a:ext cx="3246120" cy="18288"/>
          </a:xfrm>
          <a:prstGeom prst="rect">
            <a:avLst/>
          </a:prstGeom>
          <a:solidFill>
            <a:srgbClr val="C03BC4"/>
          </a:solidFill>
          <a:ln w="12700">
            <a:solidFill>
              <a:srgbClr val="C03BC4"/>
            </a:solidFill>
            <a:prstDash val="solid"/>
          </a:ln>
        </p:spPr>
        <p:txBody>
          <a:bodyPr/>
          <a:lstStyle/>
          <a:p>
            <a:endParaRPr lang="en-ZA"/>
          </a:p>
        </p:txBody>
      </p:sp>
      <p:sp>
        <p:nvSpPr>
          <p:cNvPr id="20" name="Text 18"/>
          <p:cNvSpPr/>
          <p:nvPr/>
        </p:nvSpPr>
        <p:spPr>
          <a:xfrm>
            <a:off x="632308" y="5852160"/>
            <a:ext cx="3246120" cy="320040"/>
          </a:xfrm>
          <a:prstGeom prst="rect">
            <a:avLst/>
          </a:prstGeom>
          <a:noFill/>
          <a:ln/>
        </p:spPr>
        <p:txBody>
          <a:bodyPr wrap="square" rtlCol="0" anchor="ctr"/>
          <a:lstStyle/>
          <a:p>
            <a:pPr marL="0" indent="0">
              <a:buNone/>
            </a:pPr>
            <a:r>
              <a:rPr lang="en-US" sz="1000" b="1" dirty="0">
                <a:solidFill>
                  <a:srgbClr val="C03BC4"/>
                </a:solidFill>
                <a:latin typeface="Segoe UI" pitchFamily="34" charset="0"/>
                <a:ea typeface="Segoe UI" pitchFamily="34" charset="-122"/>
                <a:cs typeface="Segoe UI" pitchFamily="34" charset="-120"/>
              </a:rPr>
              <a:t>ATO Component 1 · Stages 1–2</a:t>
            </a:r>
            <a:endParaRPr lang="en-US" sz="1000" dirty="0"/>
          </a:p>
        </p:txBody>
      </p:sp>
      <p:sp>
        <p:nvSpPr>
          <p:cNvPr id="21" name="Shape 19"/>
          <p:cNvSpPr/>
          <p:nvPr/>
        </p:nvSpPr>
        <p:spPr>
          <a:xfrm>
            <a:off x="4244188" y="1828800"/>
            <a:ext cx="3703320" cy="4480560"/>
          </a:xfrm>
          <a:prstGeom prst="roundRect">
            <a:avLst>
              <a:gd name="adj" fmla="val 2963"/>
            </a:avLst>
          </a:prstGeom>
          <a:solidFill>
            <a:srgbClr val="0057B8"/>
          </a:solidFill>
          <a:ln w="12700">
            <a:solidFill>
              <a:srgbClr val="0057B8"/>
            </a:solidFill>
            <a:prstDash val="solid"/>
          </a:ln>
        </p:spPr>
        <p:txBody>
          <a:bodyPr/>
          <a:lstStyle/>
          <a:p>
            <a:endParaRPr lang="en-ZA"/>
          </a:p>
        </p:txBody>
      </p:sp>
      <p:sp>
        <p:nvSpPr>
          <p:cNvPr id="22" name="Text 20"/>
          <p:cNvSpPr/>
          <p:nvPr/>
        </p:nvSpPr>
        <p:spPr>
          <a:xfrm>
            <a:off x="4472788" y="1965960"/>
            <a:ext cx="3246120" cy="274320"/>
          </a:xfrm>
          <a:prstGeom prst="rect">
            <a:avLst/>
          </a:prstGeom>
          <a:noFill/>
          <a:ln/>
        </p:spPr>
        <p:txBody>
          <a:bodyPr wrap="square" rtlCol="0" anchor="ctr"/>
          <a:lstStyle/>
          <a:p>
            <a:pPr marL="0" indent="0">
              <a:buNone/>
            </a:pPr>
            <a:r>
              <a:rPr lang="en-US" sz="1000" b="1" kern="0" spc="300" dirty="0">
                <a:solidFill>
                  <a:srgbClr val="C03BC4"/>
                </a:solidFill>
                <a:latin typeface="Segoe UI" pitchFamily="34" charset="0"/>
                <a:ea typeface="Segoe UI" pitchFamily="34" charset="-122"/>
                <a:cs typeface="Segoe UI" pitchFamily="34" charset="-120"/>
              </a:rPr>
              <a:t>STREAM 2 · ZERO COST</a:t>
            </a:r>
            <a:endParaRPr lang="en-US" sz="1000" dirty="0"/>
          </a:p>
        </p:txBody>
      </p:sp>
      <p:sp>
        <p:nvSpPr>
          <p:cNvPr id="23" name="Text 21"/>
          <p:cNvSpPr/>
          <p:nvPr/>
        </p:nvSpPr>
        <p:spPr>
          <a:xfrm>
            <a:off x="4472788" y="2240280"/>
            <a:ext cx="3246120" cy="548640"/>
          </a:xfrm>
          <a:prstGeom prst="rect">
            <a:avLst/>
          </a:prstGeom>
          <a:noFill/>
          <a:ln/>
        </p:spPr>
        <p:txBody>
          <a:bodyPr wrap="square" rtlCol="0" anchor="ctr"/>
          <a:lstStyle/>
          <a:p>
            <a:pPr marL="0" indent="0">
              <a:buNone/>
            </a:pPr>
            <a:r>
              <a:rPr lang="en-US" sz="2600" b="1" dirty="0">
                <a:solidFill>
                  <a:srgbClr val="FFFFFF"/>
                </a:solidFill>
                <a:latin typeface="Segoe UI" pitchFamily="34" charset="0"/>
                <a:ea typeface="Segoe UI" pitchFamily="34" charset="-122"/>
                <a:cs typeface="Segoe UI" pitchFamily="34" charset="-120"/>
              </a:rPr>
              <a:t>Factory</a:t>
            </a:r>
            <a:endParaRPr lang="en-US" sz="2600" dirty="0"/>
          </a:p>
        </p:txBody>
      </p:sp>
      <p:sp>
        <p:nvSpPr>
          <p:cNvPr id="24" name="Text 22"/>
          <p:cNvSpPr/>
          <p:nvPr/>
        </p:nvSpPr>
        <p:spPr>
          <a:xfrm>
            <a:off x="4472788" y="2788920"/>
            <a:ext cx="3246120" cy="411480"/>
          </a:xfrm>
          <a:prstGeom prst="rect">
            <a:avLst/>
          </a:prstGeom>
          <a:noFill/>
          <a:ln/>
        </p:spPr>
        <p:txBody>
          <a:bodyPr wrap="square" rtlCol="0" anchor="ctr"/>
          <a:lstStyle/>
          <a:p>
            <a:pPr marL="0" indent="0">
              <a:buNone/>
            </a:pPr>
            <a:r>
              <a:rPr lang="en-US" sz="1100" i="1" dirty="0">
                <a:solidFill>
                  <a:srgbClr val="F5E6F0"/>
                </a:solidFill>
                <a:latin typeface="Segoe UI" pitchFamily="34" charset="0"/>
                <a:ea typeface="Segoe UI" pitchFamily="34" charset="-122"/>
                <a:cs typeface="Segoe UI" pitchFamily="34" charset="-120"/>
              </a:rPr>
              <a:t>CSU-operated remote delivery engine</a:t>
            </a:r>
            <a:endParaRPr lang="en-US" sz="1100" dirty="0"/>
          </a:p>
        </p:txBody>
      </p:sp>
      <p:sp>
        <p:nvSpPr>
          <p:cNvPr id="25" name="Shape 23"/>
          <p:cNvSpPr/>
          <p:nvPr/>
        </p:nvSpPr>
        <p:spPr>
          <a:xfrm>
            <a:off x="4472788" y="3383280"/>
            <a:ext cx="54864" cy="256032"/>
          </a:xfrm>
          <a:prstGeom prst="rect">
            <a:avLst/>
          </a:prstGeom>
          <a:solidFill>
            <a:srgbClr val="C03BC4"/>
          </a:solidFill>
          <a:ln w="12700">
            <a:solidFill>
              <a:srgbClr val="C03BC4"/>
            </a:solidFill>
            <a:prstDash val="solid"/>
          </a:ln>
        </p:spPr>
        <p:txBody>
          <a:bodyPr/>
          <a:lstStyle/>
          <a:p>
            <a:endParaRPr lang="en-ZA"/>
          </a:p>
        </p:txBody>
      </p:sp>
      <p:sp>
        <p:nvSpPr>
          <p:cNvPr id="26" name="Text 24"/>
          <p:cNvSpPr/>
          <p:nvPr/>
        </p:nvSpPr>
        <p:spPr>
          <a:xfrm>
            <a:off x="4655668" y="3291840"/>
            <a:ext cx="3108960" cy="45720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On-shore + off-shore CSU engineers</a:t>
            </a:r>
            <a:endParaRPr lang="en-US" sz="1100" dirty="0"/>
          </a:p>
        </p:txBody>
      </p:sp>
      <p:sp>
        <p:nvSpPr>
          <p:cNvPr id="27" name="Shape 25"/>
          <p:cNvSpPr/>
          <p:nvPr/>
        </p:nvSpPr>
        <p:spPr>
          <a:xfrm>
            <a:off x="4472788" y="3886200"/>
            <a:ext cx="54864" cy="256032"/>
          </a:xfrm>
          <a:prstGeom prst="rect">
            <a:avLst/>
          </a:prstGeom>
          <a:solidFill>
            <a:srgbClr val="C03BC4"/>
          </a:solidFill>
          <a:ln w="12700">
            <a:solidFill>
              <a:srgbClr val="C03BC4"/>
            </a:solidFill>
            <a:prstDash val="solid"/>
          </a:ln>
        </p:spPr>
        <p:txBody>
          <a:bodyPr/>
          <a:lstStyle/>
          <a:p>
            <a:endParaRPr lang="en-ZA"/>
          </a:p>
        </p:txBody>
      </p:sp>
      <p:sp>
        <p:nvSpPr>
          <p:cNvPr id="28" name="Text 26"/>
          <p:cNvSpPr/>
          <p:nvPr/>
        </p:nvSpPr>
        <p:spPr>
          <a:xfrm>
            <a:off x="4655668" y="3794760"/>
            <a:ext cx="3108960" cy="45720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F1 GenAI MVP · F2 Landing Zone anchor</a:t>
            </a:r>
            <a:endParaRPr lang="en-US" sz="1100" dirty="0"/>
          </a:p>
        </p:txBody>
      </p:sp>
      <p:sp>
        <p:nvSpPr>
          <p:cNvPr id="29" name="Shape 27"/>
          <p:cNvSpPr/>
          <p:nvPr/>
        </p:nvSpPr>
        <p:spPr>
          <a:xfrm>
            <a:off x="4472788" y="4389120"/>
            <a:ext cx="54864" cy="256032"/>
          </a:xfrm>
          <a:prstGeom prst="rect">
            <a:avLst/>
          </a:prstGeom>
          <a:solidFill>
            <a:srgbClr val="C03BC4"/>
          </a:solidFill>
          <a:ln w="12700">
            <a:solidFill>
              <a:srgbClr val="C03BC4"/>
            </a:solidFill>
            <a:prstDash val="solid"/>
          </a:ln>
        </p:spPr>
        <p:txBody>
          <a:bodyPr/>
          <a:lstStyle/>
          <a:p>
            <a:endParaRPr lang="en-ZA"/>
          </a:p>
        </p:txBody>
      </p:sp>
      <p:sp>
        <p:nvSpPr>
          <p:cNvPr id="30" name="Text 28"/>
          <p:cNvSpPr/>
          <p:nvPr/>
        </p:nvSpPr>
        <p:spPr>
          <a:xfrm>
            <a:off x="4655668" y="4297680"/>
            <a:ext cx="3108960" cy="45720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Funded by AMM / Innovate / Accelerate</a:t>
            </a:r>
            <a:endParaRPr lang="en-US" sz="1100" dirty="0"/>
          </a:p>
        </p:txBody>
      </p:sp>
      <p:sp>
        <p:nvSpPr>
          <p:cNvPr id="31" name="Shape 29"/>
          <p:cNvSpPr/>
          <p:nvPr/>
        </p:nvSpPr>
        <p:spPr>
          <a:xfrm>
            <a:off x="4472788" y="4892040"/>
            <a:ext cx="54864" cy="256032"/>
          </a:xfrm>
          <a:prstGeom prst="rect">
            <a:avLst/>
          </a:prstGeom>
          <a:solidFill>
            <a:srgbClr val="C03BC4"/>
          </a:solidFill>
          <a:ln w="12700">
            <a:solidFill>
              <a:srgbClr val="C03BC4"/>
            </a:solidFill>
            <a:prstDash val="solid"/>
          </a:ln>
        </p:spPr>
        <p:txBody>
          <a:bodyPr/>
          <a:lstStyle/>
          <a:p>
            <a:endParaRPr lang="en-ZA"/>
          </a:p>
        </p:txBody>
      </p:sp>
      <p:sp>
        <p:nvSpPr>
          <p:cNvPr id="32" name="Text 30"/>
          <p:cNvSpPr/>
          <p:nvPr/>
        </p:nvSpPr>
        <p:spPr>
          <a:xfrm>
            <a:off x="4655668" y="4800600"/>
            <a:ext cx="3108960" cy="45720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Unified Support OR 2-page agreement</a:t>
            </a:r>
            <a:endParaRPr lang="en-US" sz="1100" dirty="0"/>
          </a:p>
        </p:txBody>
      </p:sp>
      <p:sp>
        <p:nvSpPr>
          <p:cNvPr id="33" name="Shape 31"/>
          <p:cNvSpPr/>
          <p:nvPr/>
        </p:nvSpPr>
        <p:spPr>
          <a:xfrm>
            <a:off x="4472788" y="5394960"/>
            <a:ext cx="54864" cy="256032"/>
          </a:xfrm>
          <a:prstGeom prst="rect">
            <a:avLst/>
          </a:prstGeom>
          <a:solidFill>
            <a:srgbClr val="C03BC4"/>
          </a:solidFill>
          <a:ln w="12700">
            <a:solidFill>
              <a:srgbClr val="C03BC4"/>
            </a:solidFill>
            <a:prstDash val="solid"/>
          </a:ln>
        </p:spPr>
        <p:txBody>
          <a:bodyPr/>
          <a:lstStyle/>
          <a:p>
            <a:endParaRPr lang="en-ZA"/>
          </a:p>
        </p:txBody>
      </p:sp>
      <p:sp>
        <p:nvSpPr>
          <p:cNvPr id="34" name="Text 32"/>
          <p:cNvSpPr/>
          <p:nvPr/>
        </p:nvSpPr>
        <p:spPr>
          <a:xfrm>
            <a:off x="4655668" y="5303520"/>
            <a:ext cx="3108960" cy="45720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~2 weeks nomination to start</a:t>
            </a:r>
            <a:endParaRPr lang="en-US" sz="1100" dirty="0"/>
          </a:p>
        </p:txBody>
      </p:sp>
      <p:sp>
        <p:nvSpPr>
          <p:cNvPr id="35" name="Shape 33"/>
          <p:cNvSpPr/>
          <p:nvPr/>
        </p:nvSpPr>
        <p:spPr>
          <a:xfrm>
            <a:off x="4472788" y="5760720"/>
            <a:ext cx="3246120" cy="18288"/>
          </a:xfrm>
          <a:prstGeom prst="rect">
            <a:avLst/>
          </a:prstGeom>
          <a:solidFill>
            <a:srgbClr val="C03BC4"/>
          </a:solidFill>
          <a:ln w="12700">
            <a:solidFill>
              <a:srgbClr val="C03BC4"/>
            </a:solidFill>
            <a:prstDash val="solid"/>
          </a:ln>
        </p:spPr>
        <p:txBody>
          <a:bodyPr/>
          <a:lstStyle/>
          <a:p>
            <a:endParaRPr lang="en-ZA"/>
          </a:p>
        </p:txBody>
      </p:sp>
      <p:sp>
        <p:nvSpPr>
          <p:cNvPr id="36" name="Text 34"/>
          <p:cNvSpPr/>
          <p:nvPr/>
        </p:nvSpPr>
        <p:spPr>
          <a:xfrm>
            <a:off x="4472788" y="5852160"/>
            <a:ext cx="3246120" cy="320040"/>
          </a:xfrm>
          <a:prstGeom prst="rect">
            <a:avLst/>
          </a:prstGeom>
          <a:noFill/>
          <a:ln/>
        </p:spPr>
        <p:txBody>
          <a:bodyPr wrap="square" rtlCol="0" anchor="ctr"/>
          <a:lstStyle/>
          <a:p>
            <a:pPr marL="0" indent="0">
              <a:buNone/>
            </a:pPr>
            <a:r>
              <a:rPr lang="en-US" sz="1000" b="1" dirty="0">
                <a:solidFill>
                  <a:srgbClr val="C03BC4"/>
                </a:solidFill>
                <a:latin typeface="Segoe UI" pitchFamily="34" charset="0"/>
                <a:ea typeface="Segoe UI" pitchFamily="34" charset="-122"/>
                <a:cs typeface="Segoe UI" pitchFamily="34" charset="-120"/>
              </a:rPr>
              <a:t>ATO Component 2 + MVP of C3 · Stage 3 foundation</a:t>
            </a:r>
            <a:endParaRPr lang="en-US" sz="1000" dirty="0"/>
          </a:p>
        </p:txBody>
      </p:sp>
      <p:sp>
        <p:nvSpPr>
          <p:cNvPr id="37" name="Shape 35"/>
          <p:cNvSpPr/>
          <p:nvPr/>
        </p:nvSpPr>
        <p:spPr>
          <a:xfrm>
            <a:off x="8084668" y="1828800"/>
            <a:ext cx="3703320" cy="4480560"/>
          </a:xfrm>
          <a:prstGeom prst="roundRect">
            <a:avLst>
              <a:gd name="adj" fmla="val 2963"/>
            </a:avLst>
          </a:prstGeom>
          <a:solidFill>
            <a:srgbClr val="0078D4"/>
          </a:solidFill>
          <a:ln w="12700">
            <a:solidFill>
              <a:srgbClr val="0078D4"/>
            </a:solidFill>
            <a:prstDash val="solid"/>
          </a:ln>
        </p:spPr>
        <p:txBody>
          <a:bodyPr/>
          <a:lstStyle/>
          <a:p>
            <a:endParaRPr lang="en-ZA"/>
          </a:p>
        </p:txBody>
      </p:sp>
      <p:sp>
        <p:nvSpPr>
          <p:cNvPr id="38" name="Text 36"/>
          <p:cNvSpPr/>
          <p:nvPr/>
        </p:nvSpPr>
        <p:spPr>
          <a:xfrm>
            <a:off x="8313268" y="1965960"/>
            <a:ext cx="3246120" cy="274320"/>
          </a:xfrm>
          <a:prstGeom prst="rect">
            <a:avLst/>
          </a:prstGeom>
          <a:noFill/>
          <a:ln/>
        </p:spPr>
        <p:txBody>
          <a:bodyPr wrap="square" rtlCol="0" anchor="ctr"/>
          <a:lstStyle/>
          <a:p>
            <a:pPr marL="0" indent="0">
              <a:buNone/>
            </a:pPr>
            <a:r>
              <a:rPr lang="en-US" sz="1000" b="1" kern="0" spc="300" dirty="0">
                <a:solidFill>
                  <a:srgbClr val="FFB900"/>
                </a:solidFill>
                <a:latin typeface="Segoe UI" pitchFamily="34" charset="0"/>
                <a:ea typeface="Segoe UI" pitchFamily="34" charset="-122"/>
                <a:cs typeface="Segoe UI" pitchFamily="34" charset="-120"/>
              </a:rPr>
              <a:t>STREAM 3</a:t>
            </a:r>
            <a:endParaRPr lang="en-US" sz="1000" dirty="0"/>
          </a:p>
        </p:txBody>
      </p:sp>
      <p:sp>
        <p:nvSpPr>
          <p:cNvPr id="39" name="Text 37"/>
          <p:cNvSpPr/>
          <p:nvPr/>
        </p:nvSpPr>
        <p:spPr>
          <a:xfrm>
            <a:off x="8313268" y="2240280"/>
            <a:ext cx="3246120" cy="548640"/>
          </a:xfrm>
          <a:prstGeom prst="rect">
            <a:avLst/>
          </a:prstGeom>
          <a:noFill/>
          <a:ln/>
        </p:spPr>
        <p:txBody>
          <a:bodyPr wrap="square" rtlCol="0" anchor="ctr"/>
          <a:lstStyle/>
          <a:p>
            <a:pPr marL="0" indent="0">
              <a:buNone/>
            </a:pPr>
            <a:r>
              <a:rPr lang="en-US" sz="2600" b="1" dirty="0">
                <a:solidFill>
                  <a:srgbClr val="FFFFFF"/>
                </a:solidFill>
                <a:latin typeface="Segoe UI" pitchFamily="34" charset="0"/>
                <a:ea typeface="Segoe UI" pitchFamily="34" charset="-122"/>
                <a:cs typeface="Segoe UI" pitchFamily="34" charset="-120"/>
              </a:rPr>
              <a:t>Partners</a:t>
            </a:r>
            <a:endParaRPr lang="en-US" sz="2600" dirty="0"/>
          </a:p>
        </p:txBody>
      </p:sp>
      <p:sp>
        <p:nvSpPr>
          <p:cNvPr id="40" name="Text 38"/>
          <p:cNvSpPr/>
          <p:nvPr/>
        </p:nvSpPr>
        <p:spPr>
          <a:xfrm>
            <a:off x="8313268" y="2788920"/>
            <a:ext cx="3246120" cy="411480"/>
          </a:xfrm>
          <a:prstGeom prst="rect">
            <a:avLst/>
          </a:prstGeom>
          <a:noFill/>
          <a:ln/>
        </p:spPr>
        <p:txBody>
          <a:bodyPr wrap="square" rtlCol="0" anchor="ctr"/>
          <a:lstStyle/>
          <a:p>
            <a:pPr marL="0" indent="0">
              <a:buNone/>
            </a:pPr>
            <a:r>
              <a:rPr lang="en-US" sz="1100" i="1" dirty="0">
                <a:solidFill>
                  <a:srgbClr val="F5E6F0"/>
                </a:solidFill>
                <a:latin typeface="Segoe UI" pitchFamily="34" charset="0"/>
                <a:ea typeface="Segoe UI" pitchFamily="34" charset="-122"/>
                <a:cs typeface="Segoe UI" pitchFamily="34" charset="-120"/>
              </a:rPr>
              <a:t>Build the differentiated solution · run it long-term</a:t>
            </a:r>
            <a:endParaRPr lang="en-US" sz="1100" dirty="0"/>
          </a:p>
        </p:txBody>
      </p:sp>
      <p:sp>
        <p:nvSpPr>
          <p:cNvPr id="41" name="Shape 39"/>
          <p:cNvSpPr/>
          <p:nvPr/>
        </p:nvSpPr>
        <p:spPr>
          <a:xfrm>
            <a:off x="8313268" y="3383280"/>
            <a:ext cx="54864" cy="256032"/>
          </a:xfrm>
          <a:prstGeom prst="rect">
            <a:avLst/>
          </a:prstGeom>
          <a:solidFill>
            <a:srgbClr val="FFB900"/>
          </a:solidFill>
          <a:ln w="12700">
            <a:solidFill>
              <a:srgbClr val="FFB900"/>
            </a:solidFill>
            <a:prstDash val="solid"/>
          </a:ln>
        </p:spPr>
        <p:txBody>
          <a:bodyPr/>
          <a:lstStyle/>
          <a:p>
            <a:endParaRPr lang="en-ZA"/>
          </a:p>
        </p:txBody>
      </p:sp>
      <p:sp>
        <p:nvSpPr>
          <p:cNvPr id="42" name="Text 40"/>
          <p:cNvSpPr/>
          <p:nvPr/>
        </p:nvSpPr>
        <p:spPr>
          <a:xfrm>
            <a:off x="8496148" y="3291840"/>
            <a:ext cx="3108960" cy="45720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4 archetypes: SI · Regional · ISV · MSP</a:t>
            </a:r>
            <a:endParaRPr lang="en-US" sz="1100" dirty="0"/>
          </a:p>
        </p:txBody>
      </p:sp>
      <p:sp>
        <p:nvSpPr>
          <p:cNvPr id="43" name="Shape 41"/>
          <p:cNvSpPr/>
          <p:nvPr/>
        </p:nvSpPr>
        <p:spPr>
          <a:xfrm>
            <a:off x="8313268" y="3886200"/>
            <a:ext cx="54864" cy="256032"/>
          </a:xfrm>
          <a:prstGeom prst="rect">
            <a:avLst/>
          </a:prstGeom>
          <a:solidFill>
            <a:srgbClr val="FFB900"/>
          </a:solidFill>
          <a:ln w="12700">
            <a:solidFill>
              <a:srgbClr val="FFB900"/>
            </a:solidFill>
            <a:prstDash val="solid"/>
          </a:ln>
        </p:spPr>
        <p:txBody>
          <a:bodyPr/>
          <a:lstStyle/>
          <a:p>
            <a:endParaRPr lang="en-ZA"/>
          </a:p>
        </p:txBody>
      </p:sp>
      <p:sp>
        <p:nvSpPr>
          <p:cNvPr id="44" name="Text 42"/>
          <p:cNvSpPr/>
          <p:nvPr/>
        </p:nvSpPr>
        <p:spPr>
          <a:xfrm>
            <a:off x="8496148" y="3794760"/>
            <a:ext cx="3108960" cy="45720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3 tiers: Envision → Build → Run</a:t>
            </a:r>
            <a:endParaRPr lang="en-US" sz="1100" dirty="0"/>
          </a:p>
        </p:txBody>
      </p:sp>
      <p:sp>
        <p:nvSpPr>
          <p:cNvPr id="45" name="Shape 43"/>
          <p:cNvSpPr/>
          <p:nvPr/>
        </p:nvSpPr>
        <p:spPr>
          <a:xfrm>
            <a:off x="8313268" y="4389120"/>
            <a:ext cx="54864" cy="256032"/>
          </a:xfrm>
          <a:prstGeom prst="rect">
            <a:avLst/>
          </a:prstGeom>
          <a:solidFill>
            <a:srgbClr val="FFB900"/>
          </a:solidFill>
          <a:ln w="12700">
            <a:solidFill>
              <a:srgbClr val="FFB900"/>
            </a:solidFill>
            <a:prstDash val="solid"/>
          </a:ln>
        </p:spPr>
        <p:txBody>
          <a:bodyPr/>
          <a:lstStyle/>
          <a:p>
            <a:endParaRPr lang="en-ZA"/>
          </a:p>
        </p:txBody>
      </p:sp>
      <p:sp>
        <p:nvSpPr>
          <p:cNvPr id="46" name="Text 44"/>
          <p:cNvSpPr/>
          <p:nvPr/>
        </p:nvSpPr>
        <p:spPr>
          <a:xfrm>
            <a:off x="8496148" y="4297680"/>
            <a:ext cx="3108960" cy="45720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Frontier CoE asset pack out of box</a:t>
            </a:r>
            <a:endParaRPr lang="en-US" sz="1100" dirty="0"/>
          </a:p>
        </p:txBody>
      </p:sp>
      <p:sp>
        <p:nvSpPr>
          <p:cNvPr id="47" name="Shape 45"/>
          <p:cNvSpPr/>
          <p:nvPr/>
        </p:nvSpPr>
        <p:spPr>
          <a:xfrm>
            <a:off x="8313268" y="4892040"/>
            <a:ext cx="54864" cy="256032"/>
          </a:xfrm>
          <a:prstGeom prst="rect">
            <a:avLst/>
          </a:prstGeom>
          <a:solidFill>
            <a:srgbClr val="FFB900"/>
          </a:solidFill>
          <a:ln w="12700">
            <a:solidFill>
              <a:srgbClr val="FFB900"/>
            </a:solidFill>
            <a:prstDash val="solid"/>
          </a:ln>
        </p:spPr>
        <p:txBody>
          <a:bodyPr/>
          <a:lstStyle/>
          <a:p>
            <a:endParaRPr lang="en-ZA"/>
          </a:p>
        </p:txBody>
      </p:sp>
      <p:sp>
        <p:nvSpPr>
          <p:cNvPr id="48" name="Text 46"/>
          <p:cNvSpPr/>
          <p:nvPr/>
        </p:nvSpPr>
        <p:spPr>
          <a:xfrm>
            <a:off x="8496148" y="4800600"/>
            <a:ext cx="3108960" cy="45720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MAICPP + ESI + AMM stack</a:t>
            </a:r>
            <a:endParaRPr lang="en-US" sz="1100" dirty="0"/>
          </a:p>
        </p:txBody>
      </p:sp>
      <p:sp>
        <p:nvSpPr>
          <p:cNvPr id="49" name="Shape 47"/>
          <p:cNvSpPr/>
          <p:nvPr/>
        </p:nvSpPr>
        <p:spPr>
          <a:xfrm>
            <a:off x="8313268" y="5394960"/>
            <a:ext cx="54864" cy="256032"/>
          </a:xfrm>
          <a:prstGeom prst="rect">
            <a:avLst/>
          </a:prstGeom>
          <a:solidFill>
            <a:srgbClr val="FFB900"/>
          </a:solidFill>
          <a:ln w="12700">
            <a:solidFill>
              <a:srgbClr val="FFB900"/>
            </a:solidFill>
            <a:prstDash val="solid"/>
          </a:ln>
        </p:spPr>
        <p:txBody>
          <a:bodyPr/>
          <a:lstStyle/>
          <a:p>
            <a:endParaRPr lang="en-ZA"/>
          </a:p>
        </p:txBody>
      </p:sp>
      <p:sp>
        <p:nvSpPr>
          <p:cNvPr id="50" name="Text 48"/>
          <p:cNvSpPr/>
          <p:nvPr/>
        </p:nvSpPr>
        <p:spPr>
          <a:xfrm>
            <a:off x="8496148" y="5303520"/>
            <a:ext cx="3108960" cy="45720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$1 services → $3–5 ACR</a:t>
            </a:r>
            <a:endParaRPr lang="en-US" sz="1100" dirty="0"/>
          </a:p>
        </p:txBody>
      </p:sp>
      <p:sp>
        <p:nvSpPr>
          <p:cNvPr id="51" name="Shape 49"/>
          <p:cNvSpPr/>
          <p:nvPr/>
        </p:nvSpPr>
        <p:spPr>
          <a:xfrm>
            <a:off x="8313268" y="5760720"/>
            <a:ext cx="3246120" cy="18288"/>
          </a:xfrm>
          <a:prstGeom prst="rect">
            <a:avLst/>
          </a:prstGeom>
          <a:solidFill>
            <a:srgbClr val="FFB900"/>
          </a:solidFill>
          <a:ln w="12700">
            <a:solidFill>
              <a:srgbClr val="FFB900"/>
            </a:solidFill>
            <a:prstDash val="solid"/>
          </a:ln>
        </p:spPr>
        <p:txBody>
          <a:bodyPr/>
          <a:lstStyle/>
          <a:p>
            <a:endParaRPr lang="en-ZA"/>
          </a:p>
        </p:txBody>
      </p:sp>
      <p:sp>
        <p:nvSpPr>
          <p:cNvPr id="52" name="Text 50"/>
          <p:cNvSpPr/>
          <p:nvPr/>
        </p:nvSpPr>
        <p:spPr>
          <a:xfrm>
            <a:off x="8313268" y="5852160"/>
            <a:ext cx="3246120" cy="320040"/>
          </a:xfrm>
          <a:prstGeom prst="rect">
            <a:avLst/>
          </a:prstGeom>
          <a:noFill/>
          <a:ln/>
        </p:spPr>
        <p:txBody>
          <a:bodyPr wrap="square" rtlCol="0" anchor="ctr"/>
          <a:lstStyle/>
          <a:p>
            <a:pPr marL="0" indent="0">
              <a:buNone/>
            </a:pPr>
            <a:r>
              <a:rPr lang="en-US" sz="1000" b="1" dirty="0">
                <a:solidFill>
                  <a:srgbClr val="FFB900"/>
                </a:solidFill>
                <a:latin typeface="Segoe UI" pitchFamily="34" charset="0"/>
                <a:ea typeface="Segoe UI" pitchFamily="34" charset="-122"/>
                <a:cs typeface="Segoe UI" pitchFamily="34" charset="-120"/>
              </a:rPr>
              <a:t>ATO Component 3 · Stages 3–5</a:t>
            </a:r>
            <a:endParaRPr lang="en-US" sz="1000" dirty="0"/>
          </a:p>
        </p:txBody>
      </p:sp>
      <p:sp>
        <p:nvSpPr>
          <p:cNvPr id="53" name="Text 51"/>
          <p:cNvSpPr/>
          <p:nvPr/>
        </p:nvSpPr>
        <p:spPr>
          <a:xfrm>
            <a:off x="548640" y="6355080"/>
            <a:ext cx="11064240" cy="320040"/>
          </a:xfrm>
          <a:prstGeom prst="rect">
            <a:avLst/>
          </a:prstGeom>
          <a:noFill/>
          <a:ln/>
        </p:spPr>
        <p:txBody>
          <a:bodyPr wrap="square" rtlCol="0" anchor="ctr"/>
          <a:lstStyle/>
          <a:p>
            <a:pPr marL="0" indent="0" algn="ctr">
              <a:buNone/>
            </a:pPr>
            <a:r>
              <a:rPr lang="en-US" sz="1200" b="1" i="1" dirty="0">
                <a:solidFill>
                  <a:srgbClr val="091F2C"/>
                </a:solidFill>
                <a:latin typeface="Segoe UI" pitchFamily="34" charset="0"/>
                <a:ea typeface="Segoe UI" pitchFamily="34" charset="-122"/>
                <a:cs typeface="Segoe UI" pitchFamily="34" charset="-120"/>
              </a:rPr>
              <a:t>One account plan · one steerco · one set of KPIs · zero channel conflict by design</a:t>
            </a:r>
            <a:endParaRPr lang="en-US" sz="1200" dirty="0"/>
          </a:p>
        </p:txBody>
      </p:sp>
      <p:pic>
        <p:nvPicPr>
          <p:cNvPr id="54"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55" name="Text 52"/>
          <p:cNvSpPr/>
          <p:nvPr/>
        </p:nvSpPr>
        <p:spPr>
          <a:xfrm>
            <a:off x="640080" y="6492240"/>
            <a:ext cx="73152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 2026 Microsoft Corporation</a:t>
            </a:r>
            <a:endParaRPr lang="en-US" sz="900" dirty="0"/>
          </a:p>
        </p:txBody>
      </p:sp>
      <p:sp>
        <p:nvSpPr>
          <p:cNvPr id="56" name="Text 53"/>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7 / 19</a:t>
            </a:r>
            <a:endParaRPr lang="en-US" sz="900" dirty="0"/>
          </a:p>
        </p:txBody>
      </p:sp>
      <p:sp>
        <p:nvSpPr>
          <p:cNvPr id="57" name="AICOE_GEO_ACCENT_Right Triangle 56"/>
          <p:cNvSpPr/>
          <p:nvPr/>
        </p:nvSpPr>
        <p:spPr>
          <a:xfrm rot="5400000">
            <a:off x="11762232"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AICOE_GEO_ACCENT_Right Triangle 57"/>
          <p:cNvSpPr/>
          <p:nvPr/>
        </p:nvSpPr>
        <p:spPr>
          <a:xfrm rot="5400000">
            <a:off x="11874246"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57B8"/>
          </a:solidFill>
          <a:ln/>
        </p:spPr>
        <p:txBody>
          <a:bodyPr/>
          <a:lstStyle/>
          <a:p>
            <a:endParaRPr lang="en-ZA"/>
          </a:p>
        </p:txBody>
      </p:sp>
      <p:sp>
        <p:nvSpPr>
          <p:cNvPr id="3" name="Text 1"/>
          <p:cNvSpPr/>
          <p:nvPr/>
        </p:nvSpPr>
        <p:spPr>
          <a:xfrm>
            <a:off x="548640" y="457200"/>
            <a:ext cx="9144000" cy="274320"/>
          </a:xfrm>
          <a:prstGeom prst="rect">
            <a:avLst/>
          </a:prstGeom>
          <a:noFill/>
          <a:ln/>
        </p:spPr>
        <p:txBody>
          <a:bodyPr wrap="square" rtlCol="0" anchor="ctr"/>
          <a:lstStyle/>
          <a:p>
            <a:pPr marL="0" indent="0">
              <a:buNone/>
            </a:pPr>
            <a:r>
              <a:rPr lang="en-US" sz="1200" b="1" kern="0" spc="300" dirty="0">
                <a:solidFill>
                  <a:srgbClr val="0057B8"/>
                </a:solidFill>
                <a:latin typeface="Segoe UI" pitchFamily="34" charset="0"/>
                <a:ea typeface="Segoe UI" pitchFamily="34" charset="-122"/>
                <a:cs typeface="Segoe UI" pitchFamily="34" charset="-120"/>
              </a:rPr>
              <a:t>STREAM 2 · CLOUD ACCELERATE FACTORY</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200" b="1" dirty="0">
                <a:solidFill>
                  <a:srgbClr val="091F2C"/>
                </a:solidFill>
                <a:latin typeface="Segoe UI" pitchFamily="34" charset="0"/>
                <a:ea typeface="Segoe UI" pitchFamily="34" charset="-122"/>
                <a:cs typeface="Segoe UI" pitchFamily="34" charset="-120"/>
              </a:rPr>
              <a:t>Zero-cost CSU delivery engine that frees partner SOW</a:t>
            </a:r>
            <a:endParaRPr lang="en-US" sz="3200" dirty="0"/>
          </a:p>
        </p:txBody>
      </p:sp>
      <p:sp>
        <p:nvSpPr>
          <p:cNvPr id="5" name="Shape 3"/>
          <p:cNvSpPr/>
          <p:nvPr/>
        </p:nvSpPr>
        <p:spPr>
          <a:xfrm>
            <a:off x="548640" y="1691640"/>
            <a:ext cx="11064240" cy="777240"/>
          </a:xfrm>
          <a:prstGeom prst="roundRect">
            <a:avLst>
              <a:gd name="adj" fmla="val 9412"/>
            </a:avLst>
          </a:prstGeom>
          <a:solidFill>
            <a:srgbClr val="091F2C"/>
          </a:solidFill>
          <a:ln w="12700">
            <a:solidFill>
              <a:srgbClr val="091F2C"/>
            </a:solidFill>
            <a:prstDash val="solid"/>
          </a:ln>
        </p:spPr>
        <p:txBody>
          <a:bodyPr/>
          <a:lstStyle/>
          <a:p>
            <a:endParaRPr lang="en-ZA"/>
          </a:p>
        </p:txBody>
      </p:sp>
      <p:sp>
        <p:nvSpPr>
          <p:cNvPr id="6" name="Text 4"/>
          <p:cNvSpPr/>
          <p:nvPr/>
        </p:nvSpPr>
        <p:spPr>
          <a:xfrm>
            <a:off x="777240" y="1737360"/>
            <a:ext cx="1097280" cy="685800"/>
          </a:xfrm>
          <a:prstGeom prst="rect">
            <a:avLst/>
          </a:prstGeom>
          <a:noFill/>
          <a:ln/>
        </p:spPr>
        <p:txBody>
          <a:bodyPr wrap="square" rtlCol="0" anchor="ctr"/>
          <a:lstStyle/>
          <a:p>
            <a:pPr marL="0" indent="0">
              <a:buNone/>
            </a:pPr>
            <a:r>
              <a:rPr lang="en-US" sz="3400" b="1" dirty="0">
                <a:solidFill>
                  <a:srgbClr val="C03BC4"/>
                </a:solidFill>
                <a:latin typeface="Segoe UI" pitchFamily="34" charset="0"/>
                <a:ea typeface="Segoe UI" pitchFamily="34" charset="-122"/>
                <a:cs typeface="Segoe UI" pitchFamily="34" charset="-120"/>
              </a:rPr>
              <a:t>$0</a:t>
            </a:r>
            <a:endParaRPr lang="en-US" sz="3400" dirty="0"/>
          </a:p>
        </p:txBody>
      </p:sp>
      <p:sp>
        <p:nvSpPr>
          <p:cNvPr id="7" name="Text 5"/>
          <p:cNvSpPr/>
          <p:nvPr/>
        </p:nvSpPr>
        <p:spPr>
          <a:xfrm>
            <a:off x="1920240" y="1737360"/>
            <a:ext cx="5852160" cy="685800"/>
          </a:xfrm>
          <a:prstGeom prst="rect">
            <a:avLst/>
          </a:prstGeom>
          <a:noFill/>
          <a:ln/>
        </p:spPr>
        <p:txBody>
          <a:bodyPr wrap="square" rtlCol="0" anchor="ctr"/>
          <a:lstStyle/>
          <a:p>
            <a:pPr marL="0" indent="0">
              <a:buNone/>
            </a:pPr>
            <a:r>
              <a:rPr lang="en-US" sz="1200" dirty="0">
                <a:solidFill>
                  <a:srgbClr val="F5E6F0"/>
                </a:solidFill>
                <a:latin typeface="Segoe UI" pitchFamily="34" charset="0"/>
                <a:ea typeface="Segoe UI" pitchFamily="34" charset="-122"/>
                <a:cs typeface="Segoe UI" pitchFamily="34" charset="-120"/>
              </a:rPr>
              <a:t>to customer &amp; partner — funded by Azure Migrate &amp; Modernize / Innovate / Accelerate</a:t>
            </a:r>
            <a:endParaRPr lang="en-US" sz="1200" dirty="0"/>
          </a:p>
        </p:txBody>
      </p:sp>
      <p:sp>
        <p:nvSpPr>
          <p:cNvPr id="8" name="Text 6"/>
          <p:cNvSpPr/>
          <p:nvPr/>
        </p:nvSpPr>
        <p:spPr>
          <a:xfrm>
            <a:off x="7863840" y="1737360"/>
            <a:ext cx="1371600" cy="685800"/>
          </a:xfrm>
          <a:prstGeom prst="rect">
            <a:avLst/>
          </a:prstGeom>
          <a:noFill/>
          <a:ln/>
        </p:spPr>
        <p:txBody>
          <a:bodyPr wrap="square" rtlCol="0" anchor="ctr"/>
          <a:lstStyle/>
          <a:p>
            <a:pPr marL="0" indent="0">
              <a:buNone/>
            </a:pPr>
            <a:r>
              <a:rPr lang="en-US" sz="1800" b="1" dirty="0">
                <a:solidFill>
                  <a:srgbClr val="FFB900"/>
                </a:solidFill>
                <a:latin typeface="Segoe UI" pitchFamily="34" charset="0"/>
                <a:ea typeface="Segoe UI" pitchFamily="34" charset="-122"/>
                <a:cs typeface="Segoe UI" pitchFamily="34" charset="-120"/>
              </a:rPr>
              <a:t>~2 weeks</a:t>
            </a:r>
            <a:endParaRPr lang="en-US" sz="1800" dirty="0"/>
          </a:p>
        </p:txBody>
      </p:sp>
      <p:sp>
        <p:nvSpPr>
          <p:cNvPr id="9" name="Text 7"/>
          <p:cNvSpPr/>
          <p:nvPr/>
        </p:nvSpPr>
        <p:spPr>
          <a:xfrm>
            <a:off x="9144000" y="1737360"/>
            <a:ext cx="2468880" cy="685800"/>
          </a:xfrm>
          <a:prstGeom prst="rect">
            <a:avLst/>
          </a:prstGeom>
          <a:noFill/>
          <a:ln/>
        </p:spPr>
        <p:txBody>
          <a:bodyPr wrap="square" rtlCol="0" anchor="ctr"/>
          <a:lstStyle/>
          <a:p>
            <a:pPr marL="0" indent="0">
              <a:buNone/>
            </a:pPr>
            <a:r>
              <a:rPr lang="en-US" sz="1200" dirty="0">
                <a:solidFill>
                  <a:srgbClr val="F5E6F0"/>
                </a:solidFill>
                <a:latin typeface="Segoe UI" pitchFamily="34" charset="0"/>
                <a:ea typeface="Segoe UI" pitchFamily="34" charset="-122"/>
                <a:cs typeface="Segoe UI" pitchFamily="34" charset="-120"/>
              </a:rPr>
              <a:t>nomination to delivery start</a:t>
            </a:r>
            <a:endParaRPr lang="en-US" sz="1200" dirty="0"/>
          </a:p>
        </p:txBody>
      </p:sp>
      <p:sp>
        <p:nvSpPr>
          <p:cNvPr id="10" name="Text 8"/>
          <p:cNvSpPr/>
          <p:nvPr/>
        </p:nvSpPr>
        <p:spPr>
          <a:xfrm>
            <a:off x="548640" y="2606040"/>
            <a:ext cx="6766560" cy="274320"/>
          </a:xfrm>
          <a:prstGeom prst="rect">
            <a:avLst/>
          </a:prstGeom>
          <a:noFill/>
          <a:ln/>
        </p:spPr>
        <p:txBody>
          <a:bodyPr wrap="square" rtlCol="0" anchor="ctr"/>
          <a:lstStyle/>
          <a:p>
            <a:pPr marL="0" indent="0">
              <a:buNone/>
            </a:pPr>
            <a:r>
              <a:rPr lang="en-US" sz="1200" b="1" kern="0" spc="200" dirty="0">
                <a:solidFill>
                  <a:srgbClr val="0057B8"/>
                </a:solidFill>
                <a:latin typeface="Segoe UI" pitchFamily="34" charset="0"/>
                <a:ea typeface="Segoe UI" pitchFamily="34" charset="-122"/>
                <a:cs typeface="Segoe UI" pitchFamily="34" charset="-120"/>
              </a:rPr>
              <a:t>AI-relevant catalogue</a:t>
            </a:r>
            <a:endParaRPr lang="en-US" sz="1200" dirty="0"/>
          </a:p>
        </p:txBody>
      </p:sp>
      <p:sp>
        <p:nvSpPr>
          <p:cNvPr id="11" name="Shape 9"/>
          <p:cNvSpPr/>
          <p:nvPr/>
        </p:nvSpPr>
        <p:spPr>
          <a:xfrm>
            <a:off x="548640" y="2926080"/>
            <a:ext cx="411480" cy="292608"/>
          </a:xfrm>
          <a:prstGeom prst="rect">
            <a:avLst/>
          </a:prstGeom>
          <a:solidFill>
            <a:srgbClr val="0057B8"/>
          </a:solidFill>
          <a:ln w="12700">
            <a:solidFill>
              <a:srgbClr val="0057B8"/>
            </a:solidFill>
            <a:prstDash val="solid"/>
          </a:ln>
        </p:spPr>
        <p:txBody>
          <a:bodyPr/>
          <a:lstStyle/>
          <a:p>
            <a:endParaRPr lang="en-ZA"/>
          </a:p>
        </p:txBody>
      </p:sp>
      <p:sp>
        <p:nvSpPr>
          <p:cNvPr id="12" name="Text 10"/>
          <p:cNvSpPr/>
          <p:nvPr/>
        </p:nvSpPr>
        <p:spPr>
          <a:xfrm>
            <a:off x="548640" y="2926080"/>
            <a:ext cx="411480" cy="292608"/>
          </a:xfrm>
          <a:prstGeom prst="rect">
            <a:avLst/>
          </a:prstGeom>
          <a:noFill/>
          <a:ln/>
        </p:spPr>
        <p:txBody>
          <a:bodyPr wrap="square" lIns="50800" tIns="50800" rIns="50800" bIns="50800" rtlCol="0" anchor="ctr"/>
          <a:lstStyle/>
          <a:p>
            <a:pPr marL="0" indent="0" algn="ctr">
              <a:buNone/>
            </a:pPr>
            <a:r>
              <a:rPr lang="en-US" sz="1000" b="1" dirty="0">
                <a:solidFill>
                  <a:srgbClr val="FFFFFF"/>
                </a:solidFill>
                <a:latin typeface="Segoe UI" pitchFamily="34" charset="0"/>
                <a:ea typeface="Segoe UI" pitchFamily="34" charset="-122"/>
                <a:cs typeface="Segoe UI" pitchFamily="34" charset="-120"/>
              </a:rPr>
              <a:t>#</a:t>
            </a:r>
            <a:endParaRPr lang="en-US" sz="1000" dirty="0"/>
          </a:p>
        </p:txBody>
      </p:sp>
      <p:sp>
        <p:nvSpPr>
          <p:cNvPr id="13" name="Shape 11"/>
          <p:cNvSpPr/>
          <p:nvPr/>
        </p:nvSpPr>
        <p:spPr>
          <a:xfrm>
            <a:off x="960120" y="2926080"/>
            <a:ext cx="1874520" cy="292608"/>
          </a:xfrm>
          <a:prstGeom prst="rect">
            <a:avLst/>
          </a:prstGeom>
          <a:solidFill>
            <a:srgbClr val="0057B8"/>
          </a:solidFill>
          <a:ln w="12700">
            <a:solidFill>
              <a:srgbClr val="0057B8"/>
            </a:solidFill>
            <a:prstDash val="solid"/>
          </a:ln>
        </p:spPr>
        <p:txBody>
          <a:bodyPr/>
          <a:lstStyle/>
          <a:p>
            <a:endParaRPr lang="en-ZA"/>
          </a:p>
        </p:txBody>
      </p:sp>
      <p:sp>
        <p:nvSpPr>
          <p:cNvPr id="14" name="Text 12"/>
          <p:cNvSpPr/>
          <p:nvPr/>
        </p:nvSpPr>
        <p:spPr>
          <a:xfrm>
            <a:off x="960120" y="2926080"/>
            <a:ext cx="1874520" cy="292608"/>
          </a:xfrm>
          <a:prstGeom prst="rect">
            <a:avLst/>
          </a:prstGeom>
          <a:noFill/>
          <a:ln/>
        </p:spPr>
        <p:txBody>
          <a:bodyPr wrap="square" lIns="50800" tIns="50800" rIns="50800" bIns="50800" rtlCol="0" anchor="ctr"/>
          <a:lstStyle/>
          <a:p>
            <a:pPr marL="0" indent="0" algn="l">
              <a:buNone/>
            </a:pPr>
            <a:r>
              <a:rPr lang="en-US" sz="1000" b="1" dirty="0">
                <a:solidFill>
                  <a:srgbClr val="FFFFFF"/>
                </a:solidFill>
                <a:latin typeface="Segoe UI" pitchFamily="34" charset="0"/>
                <a:ea typeface="Segoe UI" pitchFamily="34" charset="-122"/>
                <a:cs typeface="Segoe UI" pitchFamily="34" charset="-120"/>
              </a:rPr>
              <a:t>Offering</a:t>
            </a:r>
            <a:endParaRPr lang="en-US" sz="1000" dirty="0"/>
          </a:p>
        </p:txBody>
      </p:sp>
      <p:sp>
        <p:nvSpPr>
          <p:cNvPr id="15" name="Shape 13"/>
          <p:cNvSpPr/>
          <p:nvPr/>
        </p:nvSpPr>
        <p:spPr>
          <a:xfrm>
            <a:off x="2834640" y="2926080"/>
            <a:ext cx="4434840" cy="292608"/>
          </a:xfrm>
          <a:prstGeom prst="rect">
            <a:avLst/>
          </a:prstGeom>
          <a:solidFill>
            <a:srgbClr val="0057B8"/>
          </a:solidFill>
          <a:ln w="12700">
            <a:solidFill>
              <a:srgbClr val="0057B8"/>
            </a:solidFill>
            <a:prstDash val="solid"/>
          </a:ln>
        </p:spPr>
        <p:txBody>
          <a:bodyPr/>
          <a:lstStyle/>
          <a:p>
            <a:endParaRPr lang="en-ZA"/>
          </a:p>
        </p:txBody>
      </p:sp>
      <p:sp>
        <p:nvSpPr>
          <p:cNvPr id="16" name="Text 14"/>
          <p:cNvSpPr/>
          <p:nvPr/>
        </p:nvSpPr>
        <p:spPr>
          <a:xfrm>
            <a:off x="2834640" y="2926080"/>
            <a:ext cx="4434840" cy="292608"/>
          </a:xfrm>
          <a:prstGeom prst="rect">
            <a:avLst/>
          </a:prstGeom>
          <a:noFill/>
          <a:ln/>
        </p:spPr>
        <p:txBody>
          <a:bodyPr wrap="square" lIns="50800" tIns="50800" rIns="50800" bIns="50800" rtlCol="0" anchor="ctr"/>
          <a:lstStyle/>
          <a:p>
            <a:pPr marL="0" indent="0" algn="l">
              <a:buNone/>
            </a:pPr>
            <a:r>
              <a:rPr lang="en-US" sz="1000" b="1" dirty="0">
                <a:solidFill>
                  <a:srgbClr val="FFFFFF"/>
                </a:solidFill>
                <a:latin typeface="Segoe UI" pitchFamily="34" charset="0"/>
                <a:ea typeface="Segoe UI" pitchFamily="34" charset="-122"/>
                <a:cs typeface="Segoe UI" pitchFamily="34" charset="-120"/>
              </a:rPr>
              <a:t>What it delivers</a:t>
            </a:r>
            <a:endParaRPr lang="en-US" sz="1000" dirty="0"/>
          </a:p>
        </p:txBody>
      </p:sp>
      <p:sp>
        <p:nvSpPr>
          <p:cNvPr id="17" name="Shape 15"/>
          <p:cNvSpPr/>
          <p:nvPr/>
        </p:nvSpPr>
        <p:spPr>
          <a:xfrm>
            <a:off x="548640" y="3218688"/>
            <a:ext cx="411480" cy="292608"/>
          </a:xfrm>
          <a:prstGeom prst="rect">
            <a:avLst/>
          </a:prstGeom>
          <a:solidFill>
            <a:srgbClr val="FFF8F5"/>
          </a:solidFill>
          <a:ln w="6350">
            <a:solidFill>
              <a:srgbClr val="E1E6EF"/>
            </a:solidFill>
            <a:prstDash val="solid"/>
          </a:ln>
        </p:spPr>
        <p:txBody>
          <a:bodyPr/>
          <a:lstStyle/>
          <a:p>
            <a:endParaRPr lang="en-ZA"/>
          </a:p>
        </p:txBody>
      </p:sp>
      <p:sp>
        <p:nvSpPr>
          <p:cNvPr id="18" name="Text 16"/>
          <p:cNvSpPr/>
          <p:nvPr/>
        </p:nvSpPr>
        <p:spPr>
          <a:xfrm>
            <a:off x="548640" y="3218688"/>
            <a:ext cx="411480" cy="292608"/>
          </a:xfrm>
          <a:prstGeom prst="rect">
            <a:avLst/>
          </a:prstGeom>
          <a:noFill/>
          <a:ln/>
        </p:spPr>
        <p:txBody>
          <a:bodyPr wrap="square" lIns="50800" tIns="50800" rIns="50800" bIns="50800" rtlCol="0" anchor="ctr"/>
          <a:lstStyle/>
          <a:p>
            <a:pPr marL="0" indent="0" algn="ctr">
              <a:buNone/>
            </a:pPr>
            <a:r>
              <a:rPr lang="en-US" sz="900" b="1" dirty="0">
                <a:solidFill>
                  <a:srgbClr val="0057B8"/>
                </a:solidFill>
                <a:latin typeface="Segoe UI" pitchFamily="34" charset="0"/>
                <a:ea typeface="Segoe UI" pitchFamily="34" charset="-122"/>
                <a:cs typeface="Segoe UI" pitchFamily="34" charset="-120"/>
              </a:rPr>
              <a:t>F1</a:t>
            </a:r>
            <a:endParaRPr lang="en-US" sz="900" dirty="0"/>
          </a:p>
        </p:txBody>
      </p:sp>
      <p:sp>
        <p:nvSpPr>
          <p:cNvPr id="19" name="Shape 17"/>
          <p:cNvSpPr/>
          <p:nvPr/>
        </p:nvSpPr>
        <p:spPr>
          <a:xfrm>
            <a:off x="960120" y="3218688"/>
            <a:ext cx="1874520" cy="292608"/>
          </a:xfrm>
          <a:prstGeom prst="rect">
            <a:avLst/>
          </a:prstGeom>
          <a:solidFill>
            <a:srgbClr val="FFF8F5"/>
          </a:solidFill>
          <a:ln w="6350">
            <a:solidFill>
              <a:srgbClr val="E1E6EF"/>
            </a:solidFill>
            <a:prstDash val="solid"/>
          </a:ln>
        </p:spPr>
        <p:txBody>
          <a:bodyPr/>
          <a:lstStyle/>
          <a:p>
            <a:endParaRPr lang="en-ZA"/>
          </a:p>
        </p:txBody>
      </p:sp>
      <p:sp>
        <p:nvSpPr>
          <p:cNvPr id="20" name="Text 18"/>
          <p:cNvSpPr/>
          <p:nvPr/>
        </p:nvSpPr>
        <p:spPr>
          <a:xfrm>
            <a:off x="960120" y="3218688"/>
            <a:ext cx="1874520" cy="292608"/>
          </a:xfrm>
          <a:prstGeom prst="rect">
            <a:avLst/>
          </a:prstGeom>
          <a:noFill/>
          <a:ln/>
        </p:spPr>
        <p:txBody>
          <a:bodyPr wrap="square" lIns="50800" tIns="50800" rIns="50800" bIns="50800" rtlCol="0" anchor="ctr"/>
          <a:lstStyle/>
          <a:p>
            <a:pPr marL="0" indent="0" algn="l">
              <a:buNone/>
            </a:pPr>
            <a:r>
              <a:rPr lang="en-US" sz="950" dirty="0">
                <a:solidFill>
                  <a:srgbClr val="091F2C"/>
                </a:solidFill>
                <a:latin typeface="Segoe UI" pitchFamily="34" charset="0"/>
                <a:ea typeface="Segoe UI" pitchFamily="34" charset="-122"/>
                <a:cs typeface="Segoe UI" pitchFamily="34" charset="-120"/>
              </a:rPr>
              <a:t>GenAI Assistant MVP</a:t>
            </a:r>
            <a:endParaRPr lang="en-US" sz="950" dirty="0"/>
          </a:p>
        </p:txBody>
      </p:sp>
      <p:sp>
        <p:nvSpPr>
          <p:cNvPr id="21" name="Shape 19"/>
          <p:cNvSpPr/>
          <p:nvPr/>
        </p:nvSpPr>
        <p:spPr>
          <a:xfrm>
            <a:off x="2834640" y="3218688"/>
            <a:ext cx="4434840" cy="292608"/>
          </a:xfrm>
          <a:prstGeom prst="rect">
            <a:avLst/>
          </a:prstGeom>
          <a:solidFill>
            <a:srgbClr val="FFF8F5"/>
          </a:solidFill>
          <a:ln w="6350">
            <a:solidFill>
              <a:srgbClr val="E1E6EF"/>
            </a:solidFill>
            <a:prstDash val="solid"/>
          </a:ln>
        </p:spPr>
        <p:txBody>
          <a:bodyPr/>
          <a:lstStyle/>
          <a:p>
            <a:endParaRPr lang="en-ZA"/>
          </a:p>
        </p:txBody>
      </p:sp>
      <p:sp>
        <p:nvSpPr>
          <p:cNvPr id="22" name="Text 20"/>
          <p:cNvSpPr/>
          <p:nvPr/>
        </p:nvSpPr>
        <p:spPr>
          <a:xfrm>
            <a:off x="2834640" y="3218688"/>
            <a:ext cx="4434840" cy="292608"/>
          </a:xfrm>
          <a:prstGeom prst="rect">
            <a:avLst/>
          </a:prstGeom>
          <a:noFill/>
          <a:ln/>
        </p:spPr>
        <p:txBody>
          <a:bodyPr wrap="square" lIns="50800" tIns="50800" rIns="50800" bIns="50800" rtlCol="0" anchor="ctr"/>
          <a:lstStyle/>
          <a:p>
            <a:pPr marL="0" indent="0" algn="l">
              <a:buNone/>
            </a:pPr>
            <a:r>
              <a:rPr lang="en-US" sz="950" dirty="0">
                <a:solidFill>
                  <a:srgbClr val="091F2C"/>
                </a:solidFill>
                <a:latin typeface="Segoe UI" pitchFamily="34" charset="0"/>
                <a:ea typeface="Segoe UI" pitchFamily="34" charset="-122"/>
                <a:cs typeface="Segoe UI" pitchFamily="34" charset="-120"/>
              </a:rPr>
              <a:t>Azure OpenAI chat MVP on customer data</a:t>
            </a:r>
            <a:endParaRPr lang="en-US" sz="950" dirty="0"/>
          </a:p>
        </p:txBody>
      </p:sp>
      <p:sp>
        <p:nvSpPr>
          <p:cNvPr id="23" name="Shape 21"/>
          <p:cNvSpPr/>
          <p:nvPr/>
        </p:nvSpPr>
        <p:spPr>
          <a:xfrm>
            <a:off x="548640" y="3511296"/>
            <a:ext cx="411480" cy="292608"/>
          </a:xfrm>
          <a:prstGeom prst="rect">
            <a:avLst/>
          </a:prstGeom>
          <a:solidFill>
            <a:srgbClr val="FFFFFF"/>
          </a:solidFill>
          <a:ln w="6350">
            <a:solidFill>
              <a:srgbClr val="E1E6EF"/>
            </a:solidFill>
            <a:prstDash val="solid"/>
          </a:ln>
        </p:spPr>
        <p:txBody>
          <a:bodyPr/>
          <a:lstStyle/>
          <a:p>
            <a:endParaRPr lang="en-ZA"/>
          </a:p>
        </p:txBody>
      </p:sp>
      <p:sp>
        <p:nvSpPr>
          <p:cNvPr id="24" name="Text 22"/>
          <p:cNvSpPr/>
          <p:nvPr/>
        </p:nvSpPr>
        <p:spPr>
          <a:xfrm>
            <a:off x="548640" y="3511296"/>
            <a:ext cx="411480" cy="292608"/>
          </a:xfrm>
          <a:prstGeom prst="rect">
            <a:avLst/>
          </a:prstGeom>
          <a:noFill/>
          <a:ln/>
        </p:spPr>
        <p:txBody>
          <a:bodyPr wrap="square" lIns="50800" tIns="50800" rIns="50800" bIns="50800" rtlCol="0" anchor="ctr"/>
          <a:lstStyle/>
          <a:p>
            <a:pPr marL="0" indent="0" algn="ctr">
              <a:buNone/>
            </a:pPr>
            <a:r>
              <a:rPr lang="en-US" sz="900" b="1" dirty="0">
                <a:solidFill>
                  <a:srgbClr val="0057B8"/>
                </a:solidFill>
                <a:latin typeface="Segoe UI" pitchFamily="34" charset="0"/>
                <a:ea typeface="Segoe UI" pitchFamily="34" charset="-122"/>
                <a:cs typeface="Segoe UI" pitchFamily="34" charset="-120"/>
              </a:rPr>
              <a:t>F2</a:t>
            </a:r>
            <a:endParaRPr lang="en-US" sz="900" dirty="0"/>
          </a:p>
        </p:txBody>
      </p:sp>
      <p:sp>
        <p:nvSpPr>
          <p:cNvPr id="25" name="Shape 23"/>
          <p:cNvSpPr/>
          <p:nvPr/>
        </p:nvSpPr>
        <p:spPr>
          <a:xfrm>
            <a:off x="960120" y="3511296"/>
            <a:ext cx="1874520" cy="292608"/>
          </a:xfrm>
          <a:prstGeom prst="rect">
            <a:avLst/>
          </a:prstGeom>
          <a:solidFill>
            <a:srgbClr val="FFFFFF"/>
          </a:solidFill>
          <a:ln w="6350">
            <a:solidFill>
              <a:srgbClr val="E1E6EF"/>
            </a:solidFill>
            <a:prstDash val="solid"/>
          </a:ln>
        </p:spPr>
        <p:txBody>
          <a:bodyPr/>
          <a:lstStyle/>
          <a:p>
            <a:endParaRPr lang="en-ZA"/>
          </a:p>
        </p:txBody>
      </p:sp>
      <p:sp>
        <p:nvSpPr>
          <p:cNvPr id="26" name="Text 24"/>
          <p:cNvSpPr/>
          <p:nvPr/>
        </p:nvSpPr>
        <p:spPr>
          <a:xfrm>
            <a:off x="960120" y="3511296"/>
            <a:ext cx="1874520" cy="292608"/>
          </a:xfrm>
          <a:prstGeom prst="rect">
            <a:avLst/>
          </a:prstGeom>
          <a:noFill/>
          <a:ln/>
        </p:spPr>
        <p:txBody>
          <a:bodyPr wrap="square" lIns="50800" tIns="50800" rIns="50800" bIns="50800" rtlCol="0" anchor="ctr"/>
          <a:lstStyle/>
          <a:p>
            <a:pPr marL="0" indent="0" algn="l">
              <a:buNone/>
            </a:pPr>
            <a:r>
              <a:rPr lang="en-US" sz="950" dirty="0">
                <a:solidFill>
                  <a:srgbClr val="091F2C"/>
                </a:solidFill>
                <a:latin typeface="Segoe UI" pitchFamily="34" charset="0"/>
                <a:ea typeface="Segoe UI" pitchFamily="34" charset="-122"/>
                <a:cs typeface="Segoe UI" pitchFamily="34" charset="-120"/>
              </a:rPr>
              <a:t>Azure Landing Zone</a:t>
            </a:r>
            <a:endParaRPr lang="en-US" sz="950" dirty="0"/>
          </a:p>
        </p:txBody>
      </p:sp>
      <p:sp>
        <p:nvSpPr>
          <p:cNvPr id="27" name="Shape 25"/>
          <p:cNvSpPr/>
          <p:nvPr/>
        </p:nvSpPr>
        <p:spPr>
          <a:xfrm>
            <a:off x="2834640" y="3511296"/>
            <a:ext cx="4434840" cy="292608"/>
          </a:xfrm>
          <a:prstGeom prst="rect">
            <a:avLst/>
          </a:prstGeom>
          <a:solidFill>
            <a:srgbClr val="FFFFFF"/>
          </a:solidFill>
          <a:ln w="6350">
            <a:solidFill>
              <a:srgbClr val="E1E6EF"/>
            </a:solidFill>
            <a:prstDash val="solid"/>
          </a:ln>
        </p:spPr>
        <p:txBody>
          <a:bodyPr/>
          <a:lstStyle/>
          <a:p>
            <a:endParaRPr lang="en-ZA"/>
          </a:p>
        </p:txBody>
      </p:sp>
      <p:sp>
        <p:nvSpPr>
          <p:cNvPr id="28" name="Text 26"/>
          <p:cNvSpPr/>
          <p:nvPr/>
        </p:nvSpPr>
        <p:spPr>
          <a:xfrm>
            <a:off x="2834640" y="3511296"/>
            <a:ext cx="4434840" cy="292608"/>
          </a:xfrm>
          <a:prstGeom prst="rect">
            <a:avLst/>
          </a:prstGeom>
          <a:noFill/>
          <a:ln/>
        </p:spPr>
        <p:txBody>
          <a:bodyPr wrap="square" lIns="50800" tIns="50800" rIns="50800" bIns="50800" rtlCol="0" anchor="ctr"/>
          <a:lstStyle/>
          <a:p>
            <a:pPr marL="0" indent="0" algn="l">
              <a:buNone/>
            </a:pPr>
            <a:r>
              <a:rPr lang="en-US" sz="950" dirty="0">
                <a:solidFill>
                  <a:srgbClr val="091F2C"/>
                </a:solidFill>
                <a:latin typeface="Segoe UI" pitchFamily="34" charset="0"/>
                <a:ea typeface="Segoe UI" pitchFamily="34" charset="-122"/>
                <a:cs typeface="Segoe UI" pitchFamily="34" charset="-120"/>
              </a:rPr>
              <a:t>Enterprise-scale ALZ — anchor of every CoE</a:t>
            </a:r>
            <a:endParaRPr lang="en-US" sz="950" dirty="0"/>
          </a:p>
        </p:txBody>
      </p:sp>
      <p:sp>
        <p:nvSpPr>
          <p:cNvPr id="29" name="Shape 27"/>
          <p:cNvSpPr/>
          <p:nvPr/>
        </p:nvSpPr>
        <p:spPr>
          <a:xfrm>
            <a:off x="548640" y="3803904"/>
            <a:ext cx="411480" cy="292608"/>
          </a:xfrm>
          <a:prstGeom prst="rect">
            <a:avLst/>
          </a:prstGeom>
          <a:solidFill>
            <a:srgbClr val="FFF8F5"/>
          </a:solidFill>
          <a:ln w="6350">
            <a:solidFill>
              <a:srgbClr val="E1E6EF"/>
            </a:solidFill>
            <a:prstDash val="solid"/>
          </a:ln>
        </p:spPr>
        <p:txBody>
          <a:bodyPr/>
          <a:lstStyle/>
          <a:p>
            <a:endParaRPr lang="en-ZA"/>
          </a:p>
        </p:txBody>
      </p:sp>
      <p:sp>
        <p:nvSpPr>
          <p:cNvPr id="30" name="Text 28"/>
          <p:cNvSpPr/>
          <p:nvPr/>
        </p:nvSpPr>
        <p:spPr>
          <a:xfrm>
            <a:off x="548640" y="3803904"/>
            <a:ext cx="411480" cy="292608"/>
          </a:xfrm>
          <a:prstGeom prst="rect">
            <a:avLst/>
          </a:prstGeom>
          <a:noFill/>
          <a:ln/>
        </p:spPr>
        <p:txBody>
          <a:bodyPr wrap="square" lIns="50800" tIns="50800" rIns="50800" bIns="50800" rtlCol="0" anchor="ctr"/>
          <a:lstStyle/>
          <a:p>
            <a:pPr marL="0" indent="0" algn="ctr">
              <a:buNone/>
            </a:pPr>
            <a:r>
              <a:rPr lang="en-US" sz="900" b="1" dirty="0">
                <a:solidFill>
                  <a:srgbClr val="0057B8"/>
                </a:solidFill>
                <a:latin typeface="Segoe UI" pitchFamily="34" charset="0"/>
                <a:ea typeface="Segoe UI" pitchFamily="34" charset="-122"/>
                <a:cs typeface="Segoe UI" pitchFamily="34" charset="-120"/>
              </a:rPr>
              <a:t>F3</a:t>
            </a:r>
            <a:endParaRPr lang="en-US" sz="900" dirty="0"/>
          </a:p>
        </p:txBody>
      </p:sp>
      <p:sp>
        <p:nvSpPr>
          <p:cNvPr id="31" name="Shape 29"/>
          <p:cNvSpPr/>
          <p:nvPr/>
        </p:nvSpPr>
        <p:spPr>
          <a:xfrm>
            <a:off x="960120" y="3803904"/>
            <a:ext cx="1874520" cy="292608"/>
          </a:xfrm>
          <a:prstGeom prst="rect">
            <a:avLst/>
          </a:prstGeom>
          <a:solidFill>
            <a:srgbClr val="FFF8F5"/>
          </a:solidFill>
          <a:ln w="6350">
            <a:solidFill>
              <a:srgbClr val="E1E6EF"/>
            </a:solidFill>
            <a:prstDash val="solid"/>
          </a:ln>
        </p:spPr>
        <p:txBody>
          <a:bodyPr/>
          <a:lstStyle/>
          <a:p>
            <a:endParaRPr lang="en-ZA"/>
          </a:p>
        </p:txBody>
      </p:sp>
      <p:sp>
        <p:nvSpPr>
          <p:cNvPr id="32" name="Text 30"/>
          <p:cNvSpPr/>
          <p:nvPr/>
        </p:nvSpPr>
        <p:spPr>
          <a:xfrm>
            <a:off x="960120" y="3803904"/>
            <a:ext cx="1874520" cy="292608"/>
          </a:xfrm>
          <a:prstGeom prst="rect">
            <a:avLst/>
          </a:prstGeom>
          <a:noFill/>
          <a:ln/>
        </p:spPr>
        <p:txBody>
          <a:bodyPr wrap="square" lIns="50800" tIns="50800" rIns="50800" bIns="50800" rtlCol="0" anchor="ctr"/>
          <a:lstStyle/>
          <a:p>
            <a:pPr marL="0" indent="0" algn="l">
              <a:buNone/>
            </a:pPr>
            <a:r>
              <a:rPr lang="en-US" sz="950" dirty="0">
                <a:solidFill>
                  <a:srgbClr val="091F2C"/>
                </a:solidFill>
                <a:latin typeface="Segoe UI" pitchFamily="34" charset="0"/>
                <a:ea typeface="Segoe UI" pitchFamily="34" charset="-122"/>
                <a:cs typeface="Segoe UI" pitchFamily="34" charset="-120"/>
              </a:rPr>
              <a:t>Real-time Intelligence</a:t>
            </a:r>
            <a:endParaRPr lang="en-US" sz="950" dirty="0"/>
          </a:p>
        </p:txBody>
      </p:sp>
      <p:sp>
        <p:nvSpPr>
          <p:cNvPr id="33" name="Shape 31"/>
          <p:cNvSpPr/>
          <p:nvPr/>
        </p:nvSpPr>
        <p:spPr>
          <a:xfrm>
            <a:off x="2834640" y="3803904"/>
            <a:ext cx="4434840" cy="292608"/>
          </a:xfrm>
          <a:prstGeom prst="rect">
            <a:avLst/>
          </a:prstGeom>
          <a:solidFill>
            <a:srgbClr val="FFF8F5"/>
          </a:solidFill>
          <a:ln w="6350">
            <a:solidFill>
              <a:srgbClr val="E1E6EF"/>
            </a:solidFill>
            <a:prstDash val="solid"/>
          </a:ln>
        </p:spPr>
        <p:txBody>
          <a:bodyPr/>
          <a:lstStyle/>
          <a:p>
            <a:endParaRPr lang="en-ZA"/>
          </a:p>
        </p:txBody>
      </p:sp>
      <p:sp>
        <p:nvSpPr>
          <p:cNvPr id="34" name="Text 32"/>
          <p:cNvSpPr/>
          <p:nvPr/>
        </p:nvSpPr>
        <p:spPr>
          <a:xfrm>
            <a:off x="2834640" y="3803904"/>
            <a:ext cx="4434840" cy="292608"/>
          </a:xfrm>
          <a:prstGeom prst="rect">
            <a:avLst/>
          </a:prstGeom>
          <a:noFill/>
          <a:ln/>
        </p:spPr>
        <p:txBody>
          <a:bodyPr wrap="square" lIns="50800" tIns="50800" rIns="50800" bIns="50800" rtlCol="0" anchor="ctr"/>
          <a:lstStyle/>
          <a:p>
            <a:pPr marL="0" indent="0" algn="l">
              <a:buNone/>
            </a:pPr>
            <a:r>
              <a:rPr lang="en-US" sz="950" dirty="0">
                <a:solidFill>
                  <a:srgbClr val="091F2C"/>
                </a:solidFill>
                <a:latin typeface="Segoe UI" pitchFamily="34" charset="0"/>
                <a:ea typeface="Segoe UI" pitchFamily="34" charset="-122"/>
                <a:cs typeface="Segoe UI" pitchFamily="34" charset="-120"/>
              </a:rPr>
              <a:t>Fabric Real-Time Hub MVP</a:t>
            </a:r>
            <a:endParaRPr lang="en-US" sz="950" dirty="0"/>
          </a:p>
        </p:txBody>
      </p:sp>
      <p:sp>
        <p:nvSpPr>
          <p:cNvPr id="35" name="Shape 33"/>
          <p:cNvSpPr/>
          <p:nvPr/>
        </p:nvSpPr>
        <p:spPr>
          <a:xfrm>
            <a:off x="548640" y="4096512"/>
            <a:ext cx="411480" cy="292608"/>
          </a:xfrm>
          <a:prstGeom prst="rect">
            <a:avLst/>
          </a:prstGeom>
          <a:solidFill>
            <a:srgbClr val="FFFFFF"/>
          </a:solidFill>
          <a:ln w="6350">
            <a:solidFill>
              <a:srgbClr val="E1E6EF"/>
            </a:solidFill>
            <a:prstDash val="solid"/>
          </a:ln>
        </p:spPr>
        <p:txBody>
          <a:bodyPr/>
          <a:lstStyle/>
          <a:p>
            <a:endParaRPr lang="en-ZA"/>
          </a:p>
        </p:txBody>
      </p:sp>
      <p:sp>
        <p:nvSpPr>
          <p:cNvPr id="36" name="Text 34"/>
          <p:cNvSpPr/>
          <p:nvPr/>
        </p:nvSpPr>
        <p:spPr>
          <a:xfrm>
            <a:off x="548640" y="4096512"/>
            <a:ext cx="411480" cy="292608"/>
          </a:xfrm>
          <a:prstGeom prst="rect">
            <a:avLst/>
          </a:prstGeom>
          <a:noFill/>
          <a:ln/>
        </p:spPr>
        <p:txBody>
          <a:bodyPr wrap="square" lIns="50800" tIns="50800" rIns="50800" bIns="50800" rtlCol="0" anchor="ctr"/>
          <a:lstStyle/>
          <a:p>
            <a:pPr marL="0" indent="0" algn="ctr">
              <a:buNone/>
            </a:pPr>
            <a:r>
              <a:rPr lang="en-US" sz="900" b="1" dirty="0">
                <a:solidFill>
                  <a:srgbClr val="0057B8"/>
                </a:solidFill>
                <a:latin typeface="Segoe UI" pitchFamily="34" charset="0"/>
                <a:ea typeface="Segoe UI" pitchFamily="34" charset="-122"/>
                <a:cs typeface="Segoe UI" pitchFamily="34" charset="-120"/>
              </a:rPr>
              <a:t>F4</a:t>
            </a:r>
            <a:endParaRPr lang="en-US" sz="900" dirty="0"/>
          </a:p>
        </p:txBody>
      </p:sp>
      <p:sp>
        <p:nvSpPr>
          <p:cNvPr id="37" name="Shape 35"/>
          <p:cNvSpPr/>
          <p:nvPr/>
        </p:nvSpPr>
        <p:spPr>
          <a:xfrm>
            <a:off x="960120" y="4096512"/>
            <a:ext cx="1874520" cy="292608"/>
          </a:xfrm>
          <a:prstGeom prst="rect">
            <a:avLst/>
          </a:prstGeom>
          <a:solidFill>
            <a:srgbClr val="FFFFFF"/>
          </a:solidFill>
          <a:ln w="6350">
            <a:solidFill>
              <a:srgbClr val="E1E6EF"/>
            </a:solidFill>
            <a:prstDash val="solid"/>
          </a:ln>
        </p:spPr>
        <p:txBody>
          <a:bodyPr/>
          <a:lstStyle/>
          <a:p>
            <a:endParaRPr lang="en-ZA"/>
          </a:p>
        </p:txBody>
      </p:sp>
      <p:sp>
        <p:nvSpPr>
          <p:cNvPr id="38" name="Text 36"/>
          <p:cNvSpPr/>
          <p:nvPr/>
        </p:nvSpPr>
        <p:spPr>
          <a:xfrm>
            <a:off x="960120" y="4096512"/>
            <a:ext cx="1874520" cy="292608"/>
          </a:xfrm>
          <a:prstGeom prst="rect">
            <a:avLst/>
          </a:prstGeom>
          <a:noFill/>
          <a:ln/>
        </p:spPr>
        <p:txBody>
          <a:bodyPr wrap="square" lIns="50800" tIns="50800" rIns="50800" bIns="50800" rtlCol="0" anchor="ctr"/>
          <a:lstStyle/>
          <a:p>
            <a:pPr marL="0" indent="0" algn="l">
              <a:buNone/>
            </a:pPr>
            <a:r>
              <a:rPr lang="en-US" sz="950" dirty="0">
                <a:solidFill>
                  <a:srgbClr val="091F2C"/>
                </a:solidFill>
                <a:latin typeface="Segoe UI" pitchFamily="34" charset="0"/>
                <a:ea typeface="Segoe UI" pitchFamily="34" charset="-122"/>
                <a:cs typeface="Segoe UI" pitchFamily="34" charset="-120"/>
              </a:rPr>
              <a:t>Lakehouse + DW</a:t>
            </a:r>
            <a:endParaRPr lang="en-US" sz="950" dirty="0"/>
          </a:p>
        </p:txBody>
      </p:sp>
      <p:sp>
        <p:nvSpPr>
          <p:cNvPr id="39" name="Shape 37"/>
          <p:cNvSpPr/>
          <p:nvPr/>
        </p:nvSpPr>
        <p:spPr>
          <a:xfrm>
            <a:off x="2834640" y="4096512"/>
            <a:ext cx="4434840" cy="292608"/>
          </a:xfrm>
          <a:prstGeom prst="rect">
            <a:avLst/>
          </a:prstGeom>
          <a:solidFill>
            <a:srgbClr val="FFFFFF"/>
          </a:solidFill>
          <a:ln w="6350">
            <a:solidFill>
              <a:srgbClr val="E1E6EF"/>
            </a:solidFill>
            <a:prstDash val="solid"/>
          </a:ln>
        </p:spPr>
        <p:txBody>
          <a:bodyPr/>
          <a:lstStyle/>
          <a:p>
            <a:endParaRPr lang="en-ZA"/>
          </a:p>
        </p:txBody>
      </p:sp>
      <p:sp>
        <p:nvSpPr>
          <p:cNvPr id="40" name="Text 38"/>
          <p:cNvSpPr/>
          <p:nvPr/>
        </p:nvSpPr>
        <p:spPr>
          <a:xfrm>
            <a:off x="2834640" y="4096512"/>
            <a:ext cx="4434840" cy="292608"/>
          </a:xfrm>
          <a:prstGeom prst="rect">
            <a:avLst/>
          </a:prstGeom>
          <a:noFill/>
          <a:ln/>
        </p:spPr>
        <p:txBody>
          <a:bodyPr wrap="square" lIns="50800" tIns="50800" rIns="50800" bIns="50800" rtlCol="0" anchor="ctr"/>
          <a:lstStyle/>
          <a:p>
            <a:pPr marL="0" indent="0" algn="l">
              <a:buNone/>
            </a:pPr>
            <a:r>
              <a:rPr lang="en-US" sz="950" dirty="0">
                <a:solidFill>
                  <a:srgbClr val="091F2C"/>
                </a:solidFill>
                <a:latin typeface="Segoe UI" pitchFamily="34" charset="0"/>
                <a:ea typeface="Segoe UI" pitchFamily="34" charset="-122"/>
                <a:cs typeface="Segoe UI" pitchFamily="34" charset="-120"/>
              </a:rPr>
              <a:t>Fabric Lakehouse / Warehouse foundation</a:t>
            </a:r>
            <a:endParaRPr lang="en-US" sz="950" dirty="0"/>
          </a:p>
        </p:txBody>
      </p:sp>
      <p:sp>
        <p:nvSpPr>
          <p:cNvPr id="41" name="Shape 39"/>
          <p:cNvSpPr/>
          <p:nvPr/>
        </p:nvSpPr>
        <p:spPr>
          <a:xfrm>
            <a:off x="548640" y="4389120"/>
            <a:ext cx="411480" cy="292608"/>
          </a:xfrm>
          <a:prstGeom prst="rect">
            <a:avLst/>
          </a:prstGeom>
          <a:solidFill>
            <a:srgbClr val="FFF8F5"/>
          </a:solidFill>
          <a:ln w="6350">
            <a:solidFill>
              <a:srgbClr val="E1E6EF"/>
            </a:solidFill>
            <a:prstDash val="solid"/>
          </a:ln>
        </p:spPr>
        <p:txBody>
          <a:bodyPr/>
          <a:lstStyle/>
          <a:p>
            <a:endParaRPr lang="en-ZA"/>
          </a:p>
        </p:txBody>
      </p:sp>
      <p:sp>
        <p:nvSpPr>
          <p:cNvPr id="42" name="Text 40"/>
          <p:cNvSpPr/>
          <p:nvPr/>
        </p:nvSpPr>
        <p:spPr>
          <a:xfrm>
            <a:off x="548640" y="4389120"/>
            <a:ext cx="411480" cy="292608"/>
          </a:xfrm>
          <a:prstGeom prst="rect">
            <a:avLst/>
          </a:prstGeom>
          <a:noFill/>
          <a:ln/>
        </p:spPr>
        <p:txBody>
          <a:bodyPr wrap="square" lIns="50800" tIns="50800" rIns="50800" bIns="50800" rtlCol="0" anchor="ctr"/>
          <a:lstStyle/>
          <a:p>
            <a:pPr marL="0" indent="0" algn="ctr">
              <a:buNone/>
            </a:pPr>
            <a:r>
              <a:rPr lang="en-US" sz="900" b="1" dirty="0">
                <a:solidFill>
                  <a:srgbClr val="0057B8"/>
                </a:solidFill>
                <a:latin typeface="Segoe UI" pitchFamily="34" charset="0"/>
                <a:ea typeface="Segoe UI" pitchFamily="34" charset="-122"/>
                <a:cs typeface="Segoe UI" pitchFamily="34" charset="-120"/>
              </a:rPr>
              <a:t>F5</a:t>
            </a:r>
            <a:endParaRPr lang="en-US" sz="900" dirty="0"/>
          </a:p>
        </p:txBody>
      </p:sp>
      <p:sp>
        <p:nvSpPr>
          <p:cNvPr id="43" name="Shape 41"/>
          <p:cNvSpPr/>
          <p:nvPr/>
        </p:nvSpPr>
        <p:spPr>
          <a:xfrm>
            <a:off x="960120" y="4389120"/>
            <a:ext cx="1874520" cy="292608"/>
          </a:xfrm>
          <a:prstGeom prst="rect">
            <a:avLst/>
          </a:prstGeom>
          <a:solidFill>
            <a:srgbClr val="FFF8F5"/>
          </a:solidFill>
          <a:ln w="6350">
            <a:solidFill>
              <a:srgbClr val="E1E6EF"/>
            </a:solidFill>
            <a:prstDash val="solid"/>
          </a:ln>
        </p:spPr>
        <p:txBody>
          <a:bodyPr/>
          <a:lstStyle/>
          <a:p>
            <a:endParaRPr lang="en-ZA"/>
          </a:p>
        </p:txBody>
      </p:sp>
      <p:sp>
        <p:nvSpPr>
          <p:cNvPr id="44" name="Text 42"/>
          <p:cNvSpPr/>
          <p:nvPr/>
        </p:nvSpPr>
        <p:spPr>
          <a:xfrm>
            <a:off x="960120" y="4389120"/>
            <a:ext cx="1874520" cy="292608"/>
          </a:xfrm>
          <a:prstGeom prst="rect">
            <a:avLst/>
          </a:prstGeom>
          <a:noFill/>
          <a:ln/>
        </p:spPr>
        <p:txBody>
          <a:bodyPr wrap="square" lIns="50800" tIns="50800" rIns="50800" bIns="50800" rtlCol="0" anchor="ctr"/>
          <a:lstStyle/>
          <a:p>
            <a:pPr marL="0" indent="0" algn="l">
              <a:buNone/>
            </a:pPr>
            <a:r>
              <a:rPr lang="en-US" sz="950" dirty="0">
                <a:solidFill>
                  <a:srgbClr val="091F2C"/>
                </a:solidFill>
                <a:latin typeface="Segoe UI" pitchFamily="34" charset="0"/>
                <a:ea typeface="Segoe UI" pitchFamily="34" charset="-122"/>
                <a:cs typeface="Segoe UI" pitchFamily="34" charset="-120"/>
              </a:rPr>
              <a:t>Power BI to Fabric</a:t>
            </a:r>
            <a:endParaRPr lang="en-US" sz="950" dirty="0"/>
          </a:p>
        </p:txBody>
      </p:sp>
      <p:sp>
        <p:nvSpPr>
          <p:cNvPr id="45" name="Shape 43"/>
          <p:cNvSpPr/>
          <p:nvPr/>
        </p:nvSpPr>
        <p:spPr>
          <a:xfrm>
            <a:off x="2834640" y="4389120"/>
            <a:ext cx="4434840" cy="292608"/>
          </a:xfrm>
          <a:prstGeom prst="rect">
            <a:avLst/>
          </a:prstGeom>
          <a:solidFill>
            <a:srgbClr val="FFF8F5"/>
          </a:solidFill>
          <a:ln w="6350">
            <a:solidFill>
              <a:srgbClr val="E1E6EF"/>
            </a:solidFill>
            <a:prstDash val="solid"/>
          </a:ln>
        </p:spPr>
        <p:txBody>
          <a:bodyPr/>
          <a:lstStyle/>
          <a:p>
            <a:endParaRPr lang="en-ZA"/>
          </a:p>
        </p:txBody>
      </p:sp>
      <p:sp>
        <p:nvSpPr>
          <p:cNvPr id="46" name="Text 44"/>
          <p:cNvSpPr/>
          <p:nvPr/>
        </p:nvSpPr>
        <p:spPr>
          <a:xfrm>
            <a:off x="2834640" y="4389120"/>
            <a:ext cx="4434840" cy="292608"/>
          </a:xfrm>
          <a:prstGeom prst="rect">
            <a:avLst/>
          </a:prstGeom>
          <a:noFill/>
          <a:ln/>
        </p:spPr>
        <p:txBody>
          <a:bodyPr wrap="square" lIns="50800" tIns="50800" rIns="50800" bIns="50800" rtlCol="0" anchor="ctr"/>
          <a:lstStyle/>
          <a:p>
            <a:pPr marL="0" indent="0" algn="l">
              <a:buNone/>
            </a:pPr>
            <a:r>
              <a:rPr lang="en-US" sz="950" dirty="0">
                <a:solidFill>
                  <a:srgbClr val="091F2C"/>
                </a:solidFill>
                <a:latin typeface="Segoe UI" pitchFamily="34" charset="0"/>
                <a:ea typeface="Segoe UI" pitchFamily="34" charset="-122"/>
                <a:cs typeface="Segoe UI" pitchFamily="34" charset="-120"/>
              </a:rPr>
              <a:t>Migration of PBI estate into Fabric</a:t>
            </a:r>
            <a:endParaRPr lang="en-US" sz="950" dirty="0"/>
          </a:p>
        </p:txBody>
      </p:sp>
      <p:sp>
        <p:nvSpPr>
          <p:cNvPr id="47" name="Shape 45"/>
          <p:cNvSpPr/>
          <p:nvPr/>
        </p:nvSpPr>
        <p:spPr>
          <a:xfrm>
            <a:off x="548640" y="4681728"/>
            <a:ext cx="411480" cy="292608"/>
          </a:xfrm>
          <a:prstGeom prst="rect">
            <a:avLst/>
          </a:prstGeom>
          <a:solidFill>
            <a:srgbClr val="FFFFFF"/>
          </a:solidFill>
          <a:ln w="6350">
            <a:solidFill>
              <a:srgbClr val="E1E6EF"/>
            </a:solidFill>
            <a:prstDash val="solid"/>
          </a:ln>
        </p:spPr>
        <p:txBody>
          <a:bodyPr/>
          <a:lstStyle/>
          <a:p>
            <a:endParaRPr lang="en-ZA"/>
          </a:p>
        </p:txBody>
      </p:sp>
      <p:sp>
        <p:nvSpPr>
          <p:cNvPr id="48" name="Text 46"/>
          <p:cNvSpPr/>
          <p:nvPr/>
        </p:nvSpPr>
        <p:spPr>
          <a:xfrm>
            <a:off x="548640" y="4681728"/>
            <a:ext cx="411480" cy="292608"/>
          </a:xfrm>
          <a:prstGeom prst="rect">
            <a:avLst/>
          </a:prstGeom>
          <a:noFill/>
          <a:ln/>
        </p:spPr>
        <p:txBody>
          <a:bodyPr wrap="square" lIns="50800" tIns="50800" rIns="50800" bIns="50800" rtlCol="0" anchor="ctr"/>
          <a:lstStyle/>
          <a:p>
            <a:pPr marL="0" indent="0" algn="ctr">
              <a:buNone/>
            </a:pPr>
            <a:r>
              <a:rPr lang="en-US" sz="900" b="1" dirty="0">
                <a:solidFill>
                  <a:srgbClr val="0057B8"/>
                </a:solidFill>
                <a:latin typeface="Segoe UI" pitchFamily="34" charset="0"/>
                <a:ea typeface="Segoe UI" pitchFamily="34" charset="-122"/>
                <a:cs typeface="Segoe UI" pitchFamily="34" charset="-120"/>
              </a:rPr>
              <a:t>F6</a:t>
            </a:r>
            <a:endParaRPr lang="en-US" sz="900" dirty="0"/>
          </a:p>
        </p:txBody>
      </p:sp>
      <p:sp>
        <p:nvSpPr>
          <p:cNvPr id="49" name="Shape 47"/>
          <p:cNvSpPr/>
          <p:nvPr/>
        </p:nvSpPr>
        <p:spPr>
          <a:xfrm>
            <a:off x="960120" y="4681728"/>
            <a:ext cx="1874520" cy="292608"/>
          </a:xfrm>
          <a:prstGeom prst="rect">
            <a:avLst/>
          </a:prstGeom>
          <a:solidFill>
            <a:srgbClr val="FFFFFF"/>
          </a:solidFill>
          <a:ln w="6350">
            <a:solidFill>
              <a:srgbClr val="E1E6EF"/>
            </a:solidFill>
            <a:prstDash val="solid"/>
          </a:ln>
        </p:spPr>
        <p:txBody>
          <a:bodyPr/>
          <a:lstStyle/>
          <a:p>
            <a:endParaRPr lang="en-ZA"/>
          </a:p>
        </p:txBody>
      </p:sp>
      <p:sp>
        <p:nvSpPr>
          <p:cNvPr id="50" name="Text 48"/>
          <p:cNvSpPr/>
          <p:nvPr/>
        </p:nvSpPr>
        <p:spPr>
          <a:xfrm>
            <a:off x="960120" y="4681728"/>
            <a:ext cx="1874520" cy="292608"/>
          </a:xfrm>
          <a:prstGeom prst="rect">
            <a:avLst/>
          </a:prstGeom>
          <a:noFill/>
          <a:ln/>
        </p:spPr>
        <p:txBody>
          <a:bodyPr wrap="square" lIns="50800" tIns="50800" rIns="50800" bIns="50800" rtlCol="0" anchor="ctr"/>
          <a:lstStyle/>
          <a:p>
            <a:pPr marL="0" indent="0" algn="l">
              <a:buNone/>
            </a:pPr>
            <a:r>
              <a:rPr lang="en-US" sz="950" dirty="0">
                <a:solidFill>
                  <a:srgbClr val="091F2C"/>
                </a:solidFill>
                <a:latin typeface="Segoe UI" pitchFamily="34" charset="0"/>
                <a:ea typeface="Segoe UI" pitchFamily="34" charset="-122"/>
                <a:cs typeface="Segoe UI" pitchFamily="34" charset="-120"/>
              </a:rPr>
              <a:t>Arc Enablement</a:t>
            </a:r>
            <a:endParaRPr lang="en-US" sz="950" dirty="0"/>
          </a:p>
        </p:txBody>
      </p:sp>
      <p:sp>
        <p:nvSpPr>
          <p:cNvPr id="51" name="Shape 49"/>
          <p:cNvSpPr/>
          <p:nvPr/>
        </p:nvSpPr>
        <p:spPr>
          <a:xfrm>
            <a:off x="2834640" y="4681728"/>
            <a:ext cx="4434840" cy="292608"/>
          </a:xfrm>
          <a:prstGeom prst="rect">
            <a:avLst/>
          </a:prstGeom>
          <a:solidFill>
            <a:srgbClr val="FFFFFF"/>
          </a:solidFill>
          <a:ln w="6350">
            <a:solidFill>
              <a:srgbClr val="E1E6EF"/>
            </a:solidFill>
            <a:prstDash val="solid"/>
          </a:ln>
        </p:spPr>
        <p:txBody>
          <a:bodyPr/>
          <a:lstStyle/>
          <a:p>
            <a:endParaRPr lang="en-ZA"/>
          </a:p>
        </p:txBody>
      </p:sp>
      <p:sp>
        <p:nvSpPr>
          <p:cNvPr id="52" name="Text 50"/>
          <p:cNvSpPr/>
          <p:nvPr/>
        </p:nvSpPr>
        <p:spPr>
          <a:xfrm>
            <a:off x="2834640" y="4681728"/>
            <a:ext cx="4434840" cy="292608"/>
          </a:xfrm>
          <a:prstGeom prst="rect">
            <a:avLst/>
          </a:prstGeom>
          <a:noFill/>
          <a:ln/>
        </p:spPr>
        <p:txBody>
          <a:bodyPr wrap="square" lIns="50800" tIns="50800" rIns="50800" bIns="50800" rtlCol="0" anchor="ctr"/>
          <a:lstStyle/>
          <a:p>
            <a:pPr marL="0" indent="0" algn="l">
              <a:buNone/>
            </a:pPr>
            <a:r>
              <a:rPr lang="en-US" sz="950" dirty="0">
                <a:solidFill>
                  <a:srgbClr val="091F2C"/>
                </a:solidFill>
                <a:latin typeface="Segoe UI" pitchFamily="34" charset="0"/>
                <a:ea typeface="Segoe UI" pitchFamily="34" charset="-122"/>
                <a:cs typeface="Segoe UI" pitchFamily="34" charset="-120"/>
              </a:rPr>
              <a:t>Hybrid management plane for AI workloads</a:t>
            </a:r>
            <a:endParaRPr lang="en-US" sz="950" dirty="0"/>
          </a:p>
        </p:txBody>
      </p:sp>
      <p:sp>
        <p:nvSpPr>
          <p:cNvPr id="53" name="Shape 51"/>
          <p:cNvSpPr/>
          <p:nvPr/>
        </p:nvSpPr>
        <p:spPr>
          <a:xfrm>
            <a:off x="548640" y="4974336"/>
            <a:ext cx="411480" cy="292608"/>
          </a:xfrm>
          <a:prstGeom prst="rect">
            <a:avLst/>
          </a:prstGeom>
          <a:solidFill>
            <a:srgbClr val="FFF8F5"/>
          </a:solidFill>
          <a:ln w="6350">
            <a:solidFill>
              <a:srgbClr val="E1E6EF"/>
            </a:solidFill>
            <a:prstDash val="solid"/>
          </a:ln>
        </p:spPr>
        <p:txBody>
          <a:bodyPr/>
          <a:lstStyle/>
          <a:p>
            <a:endParaRPr lang="en-ZA"/>
          </a:p>
        </p:txBody>
      </p:sp>
      <p:sp>
        <p:nvSpPr>
          <p:cNvPr id="54" name="Text 52"/>
          <p:cNvSpPr/>
          <p:nvPr/>
        </p:nvSpPr>
        <p:spPr>
          <a:xfrm>
            <a:off x="548640" y="4974336"/>
            <a:ext cx="411480" cy="292608"/>
          </a:xfrm>
          <a:prstGeom prst="rect">
            <a:avLst/>
          </a:prstGeom>
          <a:noFill/>
          <a:ln/>
        </p:spPr>
        <p:txBody>
          <a:bodyPr wrap="square" lIns="50800" tIns="50800" rIns="50800" bIns="50800" rtlCol="0" anchor="ctr"/>
          <a:lstStyle/>
          <a:p>
            <a:pPr marL="0" indent="0" algn="ctr">
              <a:buNone/>
            </a:pPr>
            <a:r>
              <a:rPr lang="en-US" sz="900" b="1" dirty="0">
                <a:solidFill>
                  <a:srgbClr val="0057B8"/>
                </a:solidFill>
                <a:latin typeface="Segoe UI" pitchFamily="34" charset="0"/>
                <a:ea typeface="Segoe UI" pitchFamily="34" charset="-122"/>
                <a:cs typeface="Segoe UI" pitchFamily="34" charset="-120"/>
              </a:rPr>
              <a:t>F7</a:t>
            </a:r>
            <a:endParaRPr lang="en-US" sz="900" dirty="0"/>
          </a:p>
        </p:txBody>
      </p:sp>
      <p:sp>
        <p:nvSpPr>
          <p:cNvPr id="55" name="Shape 53"/>
          <p:cNvSpPr/>
          <p:nvPr/>
        </p:nvSpPr>
        <p:spPr>
          <a:xfrm>
            <a:off x="960120" y="4974336"/>
            <a:ext cx="1874520" cy="292608"/>
          </a:xfrm>
          <a:prstGeom prst="rect">
            <a:avLst/>
          </a:prstGeom>
          <a:solidFill>
            <a:srgbClr val="FFF8F5"/>
          </a:solidFill>
          <a:ln w="6350">
            <a:solidFill>
              <a:srgbClr val="E1E6EF"/>
            </a:solidFill>
            <a:prstDash val="solid"/>
          </a:ln>
        </p:spPr>
        <p:txBody>
          <a:bodyPr/>
          <a:lstStyle/>
          <a:p>
            <a:endParaRPr lang="en-ZA"/>
          </a:p>
        </p:txBody>
      </p:sp>
      <p:sp>
        <p:nvSpPr>
          <p:cNvPr id="56" name="Text 54"/>
          <p:cNvSpPr/>
          <p:nvPr/>
        </p:nvSpPr>
        <p:spPr>
          <a:xfrm>
            <a:off x="960120" y="4974336"/>
            <a:ext cx="1874520" cy="292608"/>
          </a:xfrm>
          <a:prstGeom prst="rect">
            <a:avLst/>
          </a:prstGeom>
          <a:noFill/>
          <a:ln/>
        </p:spPr>
        <p:txBody>
          <a:bodyPr wrap="square" lIns="50800" tIns="50800" rIns="50800" bIns="50800" rtlCol="0" anchor="ctr"/>
          <a:lstStyle/>
          <a:p>
            <a:pPr marL="0" indent="0" algn="l">
              <a:buNone/>
            </a:pPr>
            <a:r>
              <a:rPr lang="en-US" sz="950" dirty="0">
                <a:solidFill>
                  <a:srgbClr val="091F2C"/>
                </a:solidFill>
                <a:latin typeface="Segoe UI" pitchFamily="34" charset="0"/>
                <a:ea typeface="Segoe UI" pitchFamily="34" charset="-122"/>
                <a:cs typeface="Segoe UI" pitchFamily="34" charset="-120"/>
              </a:rPr>
              <a:t>App Migration</a:t>
            </a:r>
            <a:endParaRPr lang="en-US" sz="950" dirty="0"/>
          </a:p>
        </p:txBody>
      </p:sp>
      <p:sp>
        <p:nvSpPr>
          <p:cNvPr id="57" name="Shape 55"/>
          <p:cNvSpPr/>
          <p:nvPr/>
        </p:nvSpPr>
        <p:spPr>
          <a:xfrm>
            <a:off x="2834640" y="4974336"/>
            <a:ext cx="4434840" cy="292608"/>
          </a:xfrm>
          <a:prstGeom prst="rect">
            <a:avLst/>
          </a:prstGeom>
          <a:solidFill>
            <a:srgbClr val="FFF8F5"/>
          </a:solidFill>
          <a:ln w="6350">
            <a:solidFill>
              <a:srgbClr val="E1E6EF"/>
            </a:solidFill>
            <a:prstDash val="solid"/>
          </a:ln>
        </p:spPr>
        <p:txBody>
          <a:bodyPr/>
          <a:lstStyle/>
          <a:p>
            <a:endParaRPr lang="en-ZA"/>
          </a:p>
        </p:txBody>
      </p:sp>
      <p:sp>
        <p:nvSpPr>
          <p:cNvPr id="58" name="Text 56"/>
          <p:cNvSpPr/>
          <p:nvPr/>
        </p:nvSpPr>
        <p:spPr>
          <a:xfrm>
            <a:off x="2834640" y="4974336"/>
            <a:ext cx="4434840" cy="292608"/>
          </a:xfrm>
          <a:prstGeom prst="rect">
            <a:avLst/>
          </a:prstGeom>
          <a:noFill/>
          <a:ln/>
        </p:spPr>
        <p:txBody>
          <a:bodyPr wrap="square" lIns="50800" tIns="50800" rIns="50800" bIns="50800" rtlCol="0" anchor="ctr"/>
          <a:lstStyle/>
          <a:p>
            <a:pPr marL="0" indent="0" algn="l">
              <a:buNone/>
            </a:pPr>
            <a:r>
              <a:rPr lang="en-US" sz="950" dirty="0">
                <a:solidFill>
                  <a:srgbClr val="091F2C"/>
                </a:solidFill>
                <a:latin typeface="Segoe UI" pitchFamily="34" charset="0"/>
                <a:ea typeface="Segoe UI" pitchFamily="34" charset="-122"/>
                <a:cs typeface="Segoe UI" pitchFamily="34" charset="-120"/>
              </a:rPr>
              <a:t>App Service · AKS · ACA modernization</a:t>
            </a:r>
            <a:endParaRPr lang="en-US" sz="950" dirty="0"/>
          </a:p>
        </p:txBody>
      </p:sp>
      <p:sp>
        <p:nvSpPr>
          <p:cNvPr id="59" name="Shape 57"/>
          <p:cNvSpPr/>
          <p:nvPr/>
        </p:nvSpPr>
        <p:spPr>
          <a:xfrm>
            <a:off x="548640" y="5266944"/>
            <a:ext cx="411480" cy="292608"/>
          </a:xfrm>
          <a:prstGeom prst="rect">
            <a:avLst/>
          </a:prstGeom>
          <a:solidFill>
            <a:srgbClr val="FFFFFF"/>
          </a:solidFill>
          <a:ln w="6350">
            <a:solidFill>
              <a:srgbClr val="E1E6EF"/>
            </a:solidFill>
            <a:prstDash val="solid"/>
          </a:ln>
        </p:spPr>
        <p:txBody>
          <a:bodyPr/>
          <a:lstStyle/>
          <a:p>
            <a:endParaRPr lang="en-ZA"/>
          </a:p>
        </p:txBody>
      </p:sp>
      <p:sp>
        <p:nvSpPr>
          <p:cNvPr id="60" name="Text 58"/>
          <p:cNvSpPr/>
          <p:nvPr/>
        </p:nvSpPr>
        <p:spPr>
          <a:xfrm>
            <a:off x="548640" y="5266944"/>
            <a:ext cx="411480" cy="292608"/>
          </a:xfrm>
          <a:prstGeom prst="rect">
            <a:avLst/>
          </a:prstGeom>
          <a:noFill/>
          <a:ln/>
        </p:spPr>
        <p:txBody>
          <a:bodyPr wrap="square" lIns="50800" tIns="50800" rIns="50800" bIns="50800" rtlCol="0" anchor="ctr"/>
          <a:lstStyle/>
          <a:p>
            <a:pPr marL="0" indent="0" algn="ctr">
              <a:buNone/>
            </a:pPr>
            <a:r>
              <a:rPr lang="en-US" sz="900" b="1" dirty="0">
                <a:solidFill>
                  <a:srgbClr val="0057B8"/>
                </a:solidFill>
                <a:latin typeface="Segoe UI" pitchFamily="34" charset="0"/>
                <a:ea typeface="Segoe UI" pitchFamily="34" charset="-122"/>
                <a:cs typeface="Segoe UI" pitchFamily="34" charset="-120"/>
              </a:rPr>
              <a:t>F8</a:t>
            </a:r>
            <a:endParaRPr lang="en-US" sz="900" dirty="0"/>
          </a:p>
        </p:txBody>
      </p:sp>
      <p:sp>
        <p:nvSpPr>
          <p:cNvPr id="61" name="Shape 59"/>
          <p:cNvSpPr/>
          <p:nvPr/>
        </p:nvSpPr>
        <p:spPr>
          <a:xfrm>
            <a:off x="960120" y="5266944"/>
            <a:ext cx="1874520" cy="292608"/>
          </a:xfrm>
          <a:prstGeom prst="rect">
            <a:avLst/>
          </a:prstGeom>
          <a:solidFill>
            <a:srgbClr val="FFFFFF"/>
          </a:solidFill>
          <a:ln w="6350">
            <a:solidFill>
              <a:srgbClr val="E1E6EF"/>
            </a:solidFill>
            <a:prstDash val="solid"/>
          </a:ln>
        </p:spPr>
        <p:txBody>
          <a:bodyPr/>
          <a:lstStyle/>
          <a:p>
            <a:endParaRPr lang="en-ZA"/>
          </a:p>
        </p:txBody>
      </p:sp>
      <p:sp>
        <p:nvSpPr>
          <p:cNvPr id="62" name="Text 60"/>
          <p:cNvSpPr/>
          <p:nvPr/>
        </p:nvSpPr>
        <p:spPr>
          <a:xfrm>
            <a:off x="960120" y="5266944"/>
            <a:ext cx="1874520" cy="292608"/>
          </a:xfrm>
          <a:prstGeom prst="rect">
            <a:avLst/>
          </a:prstGeom>
          <a:noFill/>
          <a:ln/>
        </p:spPr>
        <p:txBody>
          <a:bodyPr wrap="square" lIns="50800" tIns="50800" rIns="50800" bIns="50800" rtlCol="0" anchor="ctr"/>
          <a:lstStyle/>
          <a:p>
            <a:pPr marL="0" indent="0" algn="l">
              <a:buNone/>
            </a:pPr>
            <a:r>
              <a:rPr lang="en-US" sz="950" dirty="0">
                <a:solidFill>
                  <a:srgbClr val="091F2C"/>
                </a:solidFill>
                <a:latin typeface="Segoe UI" pitchFamily="34" charset="0"/>
                <a:ea typeface="Segoe UI" pitchFamily="34" charset="-122"/>
                <a:cs typeface="Segoe UI" pitchFamily="34" charset="-120"/>
              </a:rPr>
              <a:t>Defender for Cloud</a:t>
            </a:r>
            <a:endParaRPr lang="en-US" sz="950" dirty="0"/>
          </a:p>
        </p:txBody>
      </p:sp>
      <p:sp>
        <p:nvSpPr>
          <p:cNvPr id="63" name="Shape 61"/>
          <p:cNvSpPr/>
          <p:nvPr/>
        </p:nvSpPr>
        <p:spPr>
          <a:xfrm>
            <a:off x="2834640" y="5266944"/>
            <a:ext cx="4434840" cy="292608"/>
          </a:xfrm>
          <a:prstGeom prst="rect">
            <a:avLst/>
          </a:prstGeom>
          <a:solidFill>
            <a:srgbClr val="FFFFFF"/>
          </a:solidFill>
          <a:ln w="6350">
            <a:solidFill>
              <a:srgbClr val="E1E6EF"/>
            </a:solidFill>
            <a:prstDash val="solid"/>
          </a:ln>
        </p:spPr>
        <p:txBody>
          <a:bodyPr/>
          <a:lstStyle/>
          <a:p>
            <a:endParaRPr lang="en-ZA"/>
          </a:p>
        </p:txBody>
      </p:sp>
      <p:sp>
        <p:nvSpPr>
          <p:cNvPr id="64" name="Text 62"/>
          <p:cNvSpPr/>
          <p:nvPr/>
        </p:nvSpPr>
        <p:spPr>
          <a:xfrm>
            <a:off x="2834640" y="5266944"/>
            <a:ext cx="4434840" cy="292608"/>
          </a:xfrm>
          <a:prstGeom prst="rect">
            <a:avLst/>
          </a:prstGeom>
          <a:noFill/>
          <a:ln/>
        </p:spPr>
        <p:txBody>
          <a:bodyPr wrap="square" lIns="50800" tIns="50800" rIns="50800" bIns="50800" rtlCol="0" anchor="ctr"/>
          <a:lstStyle/>
          <a:p>
            <a:pPr marL="0" indent="0" algn="l">
              <a:buNone/>
            </a:pPr>
            <a:r>
              <a:rPr lang="en-US" sz="950" dirty="0">
                <a:solidFill>
                  <a:srgbClr val="091F2C"/>
                </a:solidFill>
                <a:latin typeface="Segoe UI" pitchFamily="34" charset="0"/>
                <a:ea typeface="Segoe UI" pitchFamily="34" charset="-122"/>
                <a:cs typeface="Segoe UI" pitchFamily="34" charset="-120"/>
              </a:rPr>
              <a:t>Cloud security posture for AI estate</a:t>
            </a:r>
            <a:endParaRPr lang="en-US" sz="950" dirty="0"/>
          </a:p>
        </p:txBody>
      </p:sp>
      <p:sp>
        <p:nvSpPr>
          <p:cNvPr id="65" name="Shape 63"/>
          <p:cNvSpPr/>
          <p:nvPr/>
        </p:nvSpPr>
        <p:spPr>
          <a:xfrm>
            <a:off x="548640" y="5559552"/>
            <a:ext cx="411480" cy="292608"/>
          </a:xfrm>
          <a:prstGeom prst="rect">
            <a:avLst/>
          </a:prstGeom>
          <a:solidFill>
            <a:srgbClr val="FFF8F5"/>
          </a:solidFill>
          <a:ln w="6350">
            <a:solidFill>
              <a:srgbClr val="E1E6EF"/>
            </a:solidFill>
            <a:prstDash val="solid"/>
          </a:ln>
        </p:spPr>
        <p:txBody>
          <a:bodyPr/>
          <a:lstStyle/>
          <a:p>
            <a:endParaRPr lang="en-ZA"/>
          </a:p>
        </p:txBody>
      </p:sp>
      <p:sp>
        <p:nvSpPr>
          <p:cNvPr id="66" name="Text 64"/>
          <p:cNvSpPr/>
          <p:nvPr/>
        </p:nvSpPr>
        <p:spPr>
          <a:xfrm>
            <a:off x="548640" y="5559552"/>
            <a:ext cx="411480" cy="292608"/>
          </a:xfrm>
          <a:prstGeom prst="rect">
            <a:avLst/>
          </a:prstGeom>
          <a:noFill/>
          <a:ln/>
        </p:spPr>
        <p:txBody>
          <a:bodyPr wrap="square" lIns="50800" tIns="50800" rIns="50800" bIns="50800" rtlCol="0" anchor="ctr"/>
          <a:lstStyle/>
          <a:p>
            <a:pPr marL="0" indent="0" algn="ctr">
              <a:buNone/>
            </a:pPr>
            <a:r>
              <a:rPr lang="en-US" sz="900" b="1" dirty="0">
                <a:solidFill>
                  <a:srgbClr val="0057B8"/>
                </a:solidFill>
                <a:latin typeface="Segoe UI" pitchFamily="34" charset="0"/>
                <a:ea typeface="Segoe UI" pitchFamily="34" charset="-122"/>
                <a:cs typeface="Segoe UI" pitchFamily="34" charset="-120"/>
              </a:rPr>
              <a:t>F9</a:t>
            </a:r>
            <a:endParaRPr lang="en-US" sz="900" dirty="0"/>
          </a:p>
        </p:txBody>
      </p:sp>
      <p:sp>
        <p:nvSpPr>
          <p:cNvPr id="67" name="Shape 65"/>
          <p:cNvSpPr/>
          <p:nvPr/>
        </p:nvSpPr>
        <p:spPr>
          <a:xfrm>
            <a:off x="960120" y="5559552"/>
            <a:ext cx="1874520" cy="292608"/>
          </a:xfrm>
          <a:prstGeom prst="rect">
            <a:avLst/>
          </a:prstGeom>
          <a:solidFill>
            <a:srgbClr val="FFF8F5"/>
          </a:solidFill>
          <a:ln w="6350">
            <a:solidFill>
              <a:srgbClr val="E1E6EF"/>
            </a:solidFill>
            <a:prstDash val="solid"/>
          </a:ln>
        </p:spPr>
        <p:txBody>
          <a:bodyPr/>
          <a:lstStyle/>
          <a:p>
            <a:endParaRPr lang="en-ZA"/>
          </a:p>
        </p:txBody>
      </p:sp>
      <p:sp>
        <p:nvSpPr>
          <p:cNvPr id="68" name="Text 66"/>
          <p:cNvSpPr/>
          <p:nvPr/>
        </p:nvSpPr>
        <p:spPr>
          <a:xfrm>
            <a:off x="960120" y="5559552"/>
            <a:ext cx="1874520" cy="292608"/>
          </a:xfrm>
          <a:prstGeom prst="rect">
            <a:avLst/>
          </a:prstGeom>
          <a:noFill/>
          <a:ln/>
        </p:spPr>
        <p:txBody>
          <a:bodyPr wrap="square" lIns="50800" tIns="50800" rIns="50800" bIns="50800" rtlCol="0" anchor="ctr"/>
          <a:lstStyle/>
          <a:p>
            <a:pPr marL="0" indent="0" algn="l">
              <a:buNone/>
            </a:pPr>
            <a:r>
              <a:rPr lang="en-US" sz="950" dirty="0">
                <a:solidFill>
                  <a:srgbClr val="091F2C"/>
                </a:solidFill>
                <a:latin typeface="Segoe UI" pitchFamily="34" charset="0"/>
                <a:ea typeface="Segoe UI" pitchFamily="34" charset="-122"/>
                <a:cs typeface="Segoe UI" pitchFamily="34" charset="-120"/>
              </a:rPr>
              <a:t>Sentinel / Splunk</a:t>
            </a:r>
            <a:endParaRPr lang="en-US" sz="950" dirty="0"/>
          </a:p>
        </p:txBody>
      </p:sp>
      <p:sp>
        <p:nvSpPr>
          <p:cNvPr id="69" name="Shape 67"/>
          <p:cNvSpPr/>
          <p:nvPr/>
        </p:nvSpPr>
        <p:spPr>
          <a:xfrm>
            <a:off x="2834640" y="5559552"/>
            <a:ext cx="4434840" cy="292608"/>
          </a:xfrm>
          <a:prstGeom prst="rect">
            <a:avLst/>
          </a:prstGeom>
          <a:solidFill>
            <a:srgbClr val="FFF8F5"/>
          </a:solidFill>
          <a:ln w="6350">
            <a:solidFill>
              <a:srgbClr val="E1E6EF"/>
            </a:solidFill>
            <a:prstDash val="solid"/>
          </a:ln>
        </p:spPr>
        <p:txBody>
          <a:bodyPr/>
          <a:lstStyle/>
          <a:p>
            <a:endParaRPr lang="en-ZA"/>
          </a:p>
        </p:txBody>
      </p:sp>
      <p:sp>
        <p:nvSpPr>
          <p:cNvPr id="70" name="Text 68"/>
          <p:cNvSpPr/>
          <p:nvPr/>
        </p:nvSpPr>
        <p:spPr>
          <a:xfrm>
            <a:off x="2834640" y="5559552"/>
            <a:ext cx="4434840" cy="292608"/>
          </a:xfrm>
          <a:prstGeom prst="rect">
            <a:avLst/>
          </a:prstGeom>
          <a:noFill/>
          <a:ln/>
        </p:spPr>
        <p:txBody>
          <a:bodyPr wrap="square" lIns="50800" tIns="50800" rIns="50800" bIns="50800" rtlCol="0" anchor="ctr"/>
          <a:lstStyle/>
          <a:p>
            <a:pPr marL="0" indent="0" algn="l">
              <a:buNone/>
            </a:pPr>
            <a:r>
              <a:rPr lang="en-US" sz="950" dirty="0">
                <a:solidFill>
                  <a:srgbClr val="091F2C"/>
                </a:solidFill>
                <a:latin typeface="Segoe UI" pitchFamily="34" charset="0"/>
                <a:ea typeface="Segoe UI" pitchFamily="34" charset="-122"/>
                <a:cs typeface="Segoe UI" pitchFamily="34" charset="-120"/>
              </a:rPr>
              <a:t>SIEM migration to Sentinel</a:t>
            </a:r>
            <a:endParaRPr lang="en-US" sz="950" dirty="0"/>
          </a:p>
        </p:txBody>
      </p:sp>
      <p:sp>
        <p:nvSpPr>
          <p:cNvPr id="71" name="Shape 69"/>
          <p:cNvSpPr/>
          <p:nvPr/>
        </p:nvSpPr>
        <p:spPr>
          <a:xfrm>
            <a:off x="548640" y="5852160"/>
            <a:ext cx="411480" cy="292608"/>
          </a:xfrm>
          <a:prstGeom prst="rect">
            <a:avLst/>
          </a:prstGeom>
          <a:solidFill>
            <a:srgbClr val="FFFFFF"/>
          </a:solidFill>
          <a:ln w="6350">
            <a:solidFill>
              <a:srgbClr val="E1E6EF"/>
            </a:solidFill>
            <a:prstDash val="solid"/>
          </a:ln>
        </p:spPr>
        <p:txBody>
          <a:bodyPr/>
          <a:lstStyle/>
          <a:p>
            <a:endParaRPr lang="en-ZA"/>
          </a:p>
        </p:txBody>
      </p:sp>
      <p:sp>
        <p:nvSpPr>
          <p:cNvPr id="72" name="Text 70"/>
          <p:cNvSpPr/>
          <p:nvPr/>
        </p:nvSpPr>
        <p:spPr>
          <a:xfrm>
            <a:off x="548640" y="5852160"/>
            <a:ext cx="411480" cy="292608"/>
          </a:xfrm>
          <a:prstGeom prst="rect">
            <a:avLst/>
          </a:prstGeom>
          <a:noFill/>
          <a:ln/>
        </p:spPr>
        <p:txBody>
          <a:bodyPr wrap="square" lIns="50800" tIns="50800" rIns="50800" bIns="50800" rtlCol="0" anchor="ctr"/>
          <a:lstStyle/>
          <a:p>
            <a:pPr marL="0" indent="0" algn="ctr">
              <a:buNone/>
            </a:pPr>
            <a:r>
              <a:rPr lang="en-US" sz="900" b="1" dirty="0">
                <a:solidFill>
                  <a:srgbClr val="0057B8"/>
                </a:solidFill>
                <a:latin typeface="Segoe UI" pitchFamily="34" charset="0"/>
                <a:ea typeface="Segoe UI" pitchFamily="34" charset="-122"/>
                <a:cs typeface="Segoe UI" pitchFamily="34" charset="-120"/>
              </a:rPr>
              <a:t>F10</a:t>
            </a:r>
            <a:endParaRPr lang="en-US" sz="900" dirty="0"/>
          </a:p>
        </p:txBody>
      </p:sp>
      <p:sp>
        <p:nvSpPr>
          <p:cNvPr id="73" name="Shape 71"/>
          <p:cNvSpPr/>
          <p:nvPr/>
        </p:nvSpPr>
        <p:spPr>
          <a:xfrm>
            <a:off x="960120" y="5852160"/>
            <a:ext cx="1874520" cy="292608"/>
          </a:xfrm>
          <a:prstGeom prst="rect">
            <a:avLst/>
          </a:prstGeom>
          <a:solidFill>
            <a:srgbClr val="FFFFFF"/>
          </a:solidFill>
          <a:ln w="6350">
            <a:solidFill>
              <a:srgbClr val="E1E6EF"/>
            </a:solidFill>
            <a:prstDash val="solid"/>
          </a:ln>
        </p:spPr>
        <p:txBody>
          <a:bodyPr/>
          <a:lstStyle/>
          <a:p>
            <a:endParaRPr lang="en-ZA"/>
          </a:p>
        </p:txBody>
      </p:sp>
      <p:sp>
        <p:nvSpPr>
          <p:cNvPr id="74" name="Text 72"/>
          <p:cNvSpPr/>
          <p:nvPr/>
        </p:nvSpPr>
        <p:spPr>
          <a:xfrm>
            <a:off x="960120" y="5852160"/>
            <a:ext cx="1874520" cy="292608"/>
          </a:xfrm>
          <a:prstGeom prst="rect">
            <a:avLst/>
          </a:prstGeom>
          <a:noFill/>
          <a:ln/>
        </p:spPr>
        <p:txBody>
          <a:bodyPr wrap="square" lIns="50800" tIns="50800" rIns="50800" bIns="50800" rtlCol="0" anchor="ctr"/>
          <a:lstStyle/>
          <a:p>
            <a:pPr marL="0" indent="0" algn="l">
              <a:buNone/>
            </a:pPr>
            <a:r>
              <a:rPr lang="en-US" sz="950" dirty="0">
                <a:solidFill>
                  <a:srgbClr val="091F2C"/>
                </a:solidFill>
                <a:latin typeface="Segoe UI" pitchFamily="34" charset="0"/>
                <a:ea typeface="Segoe UI" pitchFamily="34" charset="-122"/>
                <a:cs typeface="Segoe UI" pitchFamily="34" charset="-120"/>
              </a:rPr>
              <a:t>Infra &amp; DB Migration</a:t>
            </a:r>
            <a:endParaRPr lang="en-US" sz="950" dirty="0"/>
          </a:p>
        </p:txBody>
      </p:sp>
      <p:sp>
        <p:nvSpPr>
          <p:cNvPr id="75" name="Shape 73"/>
          <p:cNvSpPr/>
          <p:nvPr/>
        </p:nvSpPr>
        <p:spPr>
          <a:xfrm>
            <a:off x="2834640" y="5852160"/>
            <a:ext cx="4434840" cy="292608"/>
          </a:xfrm>
          <a:prstGeom prst="rect">
            <a:avLst/>
          </a:prstGeom>
          <a:solidFill>
            <a:srgbClr val="FFFFFF"/>
          </a:solidFill>
          <a:ln w="6350">
            <a:solidFill>
              <a:srgbClr val="E1E6EF"/>
            </a:solidFill>
            <a:prstDash val="solid"/>
          </a:ln>
        </p:spPr>
        <p:txBody>
          <a:bodyPr/>
          <a:lstStyle/>
          <a:p>
            <a:endParaRPr lang="en-ZA"/>
          </a:p>
        </p:txBody>
      </p:sp>
      <p:sp>
        <p:nvSpPr>
          <p:cNvPr id="76" name="Text 74"/>
          <p:cNvSpPr/>
          <p:nvPr/>
        </p:nvSpPr>
        <p:spPr>
          <a:xfrm>
            <a:off x="2834640" y="5852160"/>
            <a:ext cx="4434840" cy="292608"/>
          </a:xfrm>
          <a:prstGeom prst="rect">
            <a:avLst/>
          </a:prstGeom>
          <a:noFill/>
          <a:ln/>
        </p:spPr>
        <p:txBody>
          <a:bodyPr wrap="square" lIns="50800" tIns="50800" rIns="50800" bIns="50800" rtlCol="0" anchor="ctr"/>
          <a:lstStyle/>
          <a:p>
            <a:pPr marL="0" indent="0" algn="l">
              <a:buNone/>
            </a:pPr>
            <a:r>
              <a:rPr lang="en-US" sz="950" dirty="0">
                <a:solidFill>
                  <a:srgbClr val="091F2C"/>
                </a:solidFill>
                <a:latin typeface="Segoe UI" pitchFamily="34" charset="0"/>
                <a:ea typeface="Segoe UI" pitchFamily="34" charset="-122"/>
                <a:cs typeface="Segoe UI" pitchFamily="34" charset="-120"/>
              </a:rPr>
              <a:t>Lift-and-shift to Azure foundation</a:t>
            </a:r>
            <a:endParaRPr lang="en-US" sz="950" dirty="0"/>
          </a:p>
        </p:txBody>
      </p:sp>
      <p:sp>
        <p:nvSpPr>
          <p:cNvPr id="77" name="Shape 75"/>
          <p:cNvSpPr/>
          <p:nvPr/>
        </p:nvSpPr>
        <p:spPr>
          <a:xfrm>
            <a:off x="7498080" y="2606040"/>
            <a:ext cx="4114800" cy="3931920"/>
          </a:xfrm>
          <a:prstGeom prst="roundRect">
            <a:avLst>
              <a:gd name="adj" fmla="val 2326"/>
            </a:avLst>
          </a:prstGeom>
          <a:solidFill>
            <a:srgbClr val="FFF8F5"/>
          </a:solidFill>
          <a:ln w="12700">
            <a:solidFill>
              <a:srgbClr val="E1E6EF"/>
            </a:solidFill>
            <a:prstDash val="solid"/>
          </a:ln>
        </p:spPr>
        <p:txBody>
          <a:bodyPr/>
          <a:lstStyle/>
          <a:p>
            <a:endParaRPr lang="en-ZA"/>
          </a:p>
        </p:txBody>
      </p:sp>
      <p:sp>
        <p:nvSpPr>
          <p:cNvPr id="78" name="Text 76"/>
          <p:cNvSpPr/>
          <p:nvPr/>
        </p:nvSpPr>
        <p:spPr>
          <a:xfrm>
            <a:off x="7680960" y="2697480"/>
            <a:ext cx="3749040" cy="274320"/>
          </a:xfrm>
          <a:prstGeom prst="rect">
            <a:avLst/>
          </a:prstGeom>
          <a:noFill/>
          <a:ln/>
        </p:spPr>
        <p:txBody>
          <a:bodyPr wrap="square" rtlCol="0" anchor="ctr"/>
          <a:lstStyle/>
          <a:p>
            <a:pPr marL="0" indent="0">
              <a:buNone/>
            </a:pPr>
            <a:r>
              <a:rPr lang="en-US" sz="1200" b="1" kern="0" spc="200" dirty="0">
                <a:solidFill>
                  <a:srgbClr val="0057B8"/>
                </a:solidFill>
                <a:latin typeface="Segoe UI" pitchFamily="34" charset="0"/>
                <a:ea typeface="Segoe UI" pitchFamily="34" charset="-122"/>
                <a:cs typeface="Segoe UI" pitchFamily="34" charset="-120"/>
              </a:rPr>
              <a:t>Decision gate</a:t>
            </a:r>
            <a:endParaRPr lang="en-US" sz="1200" dirty="0"/>
          </a:p>
        </p:txBody>
      </p:sp>
      <p:sp>
        <p:nvSpPr>
          <p:cNvPr id="79" name="Shape 77"/>
          <p:cNvSpPr/>
          <p:nvPr/>
        </p:nvSpPr>
        <p:spPr>
          <a:xfrm>
            <a:off x="7680960" y="3063240"/>
            <a:ext cx="292608" cy="292608"/>
          </a:xfrm>
          <a:prstGeom prst="ellipse">
            <a:avLst/>
          </a:prstGeom>
          <a:solidFill>
            <a:srgbClr val="0057B8"/>
          </a:solidFill>
          <a:ln w="12700">
            <a:solidFill>
              <a:srgbClr val="0057B8"/>
            </a:solidFill>
            <a:prstDash val="solid"/>
          </a:ln>
        </p:spPr>
        <p:txBody>
          <a:bodyPr/>
          <a:lstStyle/>
          <a:p>
            <a:endParaRPr lang="en-ZA"/>
          </a:p>
        </p:txBody>
      </p:sp>
      <p:sp>
        <p:nvSpPr>
          <p:cNvPr id="80" name="Text 78"/>
          <p:cNvSpPr/>
          <p:nvPr/>
        </p:nvSpPr>
        <p:spPr>
          <a:xfrm>
            <a:off x="7680960" y="3063240"/>
            <a:ext cx="292608" cy="292608"/>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81" name="Text 79"/>
          <p:cNvSpPr/>
          <p:nvPr/>
        </p:nvSpPr>
        <p:spPr>
          <a:xfrm>
            <a:off x="8092440" y="3017520"/>
            <a:ext cx="3383280" cy="274320"/>
          </a:xfrm>
          <a:prstGeom prst="rect">
            <a:avLst/>
          </a:prstGeom>
          <a:noFill/>
          <a:ln/>
        </p:spPr>
        <p:txBody>
          <a:bodyPr wrap="square" rtlCol="0" anchor="ctr"/>
          <a:lstStyle/>
          <a:p>
            <a:pPr marL="0" indent="0">
              <a:buNone/>
            </a:pPr>
            <a:r>
              <a:rPr lang="en-US" sz="1050" b="1" dirty="0">
                <a:solidFill>
                  <a:srgbClr val="091F2C"/>
                </a:solidFill>
                <a:latin typeface="Segoe UI" pitchFamily="34" charset="0"/>
                <a:ea typeface="Segoe UI" pitchFamily="34" charset="-122"/>
                <a:cs typeface="Segoe UI" pitchFamily="34" charset="-120"/>
              </a:rPr>
              <a:t>Predictable foundation MVP?</a:t>
            </a:r>
            <a:endParaRPr lang="en-US" sz="1050" dirty="0"/>
          </a:p>
        </p:txBody>
      </p:sp>
      <p:sp>
        <p:nvSpPr>
          <p:cNvPr id="82" name="Text 80"/>
          <p:cNvSpPr/>
          <p:nvPr/>
        </p:nvSpPr>
        <p:spPr>
          <a:xfrm>
            <a:off x="8092440" y="3227832"/>
            <a:ext cx="3383280" cy="256032"/>
          </a:xfrm>
          <a:prstGeom prst="rect">
            <a:avLst/>
          </a:prstGeom>
          <a:noFill/>
          <a:ln/>
        </p:spPr>
        <p:txBody>
          <a:bodyPr wrap="square" rtlCol="0" anchor="ctr"/>
          <a:lstStyle/>
          <a:p>
            <a:pPr marL="0" indent="0">
              <a:buNone/>
            </a:pPr>
            <a:r>
              <a:rPr lang="en-US" sz="950" i="1" dirty="0">
                <a:solidFill>
                  <a:srgbClr val="0057B8"/>
                </a:solidFill>
                <a:latin typeface="Segoe UI" pitchFamily="34" charset="0"/>
                <a:ea typeface="Segoe UI" pitchFamily="34" charset="-122"/>
                <a:cs typeface="Segoe UI" pitchFamily="34" charset="-120"/>
              </a:rPr>
              <a:t>→ Factory</a:t>
            </a:r>
            <a:endParaRPr lang="en-US" sz="950" dirty="0"/>
          </a:p>
        </p:txBody>
      </p:sp>
      <p:sp>
        <p:nvSpPr>
          <p:cNvPr id="83" name="Shape 81"/>
          <p:cNvSpPr/>
          <p:nvPr/>
        </p:nvSpPr>
        <p:spPr>
          <a:xfrm>
            <a:off x="7680960" y="3566160"/>
            <a:ext cx="292608" cy="292608"/>
          </a:xfrm>
          <a:prstGeom prst="ellipse">
            <a:avLst/>
          </a:prstGeom>
          <a:solidFill>
            <a:srgbClr val="0057B8"/>
          </a:solidFill>
          <a:ln w="12700">
            <a:solidFill>
              <a:srgbClr val="0057B8"/>
            </a:solidFill>
            <a:prstDash val="solid"/>
          </a:ln>
        </p:spPr>
        <p:txBody>
          <a:bodyPr/>
          <a:lstStyle/>
          <a:p>
            <a:endParaRPr lang="en-ZA"/>
          </a:p>
        </p:txBody>
      </p:sp>
      <p:sp>
        <p:nvSpPr>
          <p:cNvPr id="84" name="Text 82"/>
          <p:cNvSpPr/>
          <p:nvPr/>
        </p:nvSpPr>
        <p:spPr>
          <a:xfrm>
            <a:off x="7680960" y="3566160"/>
            <a:ext cx="292608" cy="292608"/>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85" name="Text 83"/>
          <p:cNvSpPr/>
          <p:nvPr/>
        </p:nvSpPr>
        <p:spPr>
          <a:xfrm>
            <a:off x="8092440" y="3520440"/>
            <a:ext cx="3383280" cy="274320"/>
          </a:xfrm>
          <a:prstGeom prst="rect">
            <a:avLst/>
          </a:prstGeom>
          <a:noFill/>
          <a:ln/>
        </p:spPr>
        <p:txBody>
          <a:bodyPr wrap="square" rtlCol="0" anchor="ctr"/>
          <a:lstStyle/>
          <a:p>
            <a:pPr marL="0" indent="0">
              <a:buNone/>
            </a:pPr>
            <a:r>
              <a:rPr lang="en-US" sz="1050" b="1" dirty="0">
                <a:solidFill>
                  <a:srgbClr val="091F2C"/>
                </a:solidFill>
                <a:latin typeface="Segoe UI" pitchFamily="34" charset="0"/>
                <a:ea typeface="Segoe UI" pitchFamily="34" charset="-122"/>
                <a:cs typeface="Segoe UI" pitchFamily="34" charset="-120"/>
              </a:rPr>
              <a:t>Custom architecture or business logic?</a:t>
            </a:r>
            <a:endParaRPr lang="en-US" sz="1050" dirty="0"/>
          </a:p>
        </p:txBody>
      </p:sp>
      <p:sp>
        <p:nvSpPr>
          <p:cNvPr id="86" name="Text 84"/>
          <p:cNvSpPr/>
          <p:nvPr/>
        </p:nvSpPr>
        <p:spPr>
          <a:xfrm>
            <a:off x="8092440" y="3730752"/>
            <a:ext cx="3383280" cy="256032"/>
          </a:xfrm>
          <a:prstGeom prst="rect">
            <a:avLst/>
          </a:prstGeom>
          <a:noFill/>
          <a:ln/>
        </p:spPr>
        <p:txBody>
          <a:bodyPr wrap="square" rtlCol="0" anchor="ctr"/>
          <a:lstStyle/>
          <a:p>
            <a:pPr marL="0" indent="0">
              <a:buNone/>
            </a:pPr>
            <a:r>
              <a:rPr lang="en-US" sz="950" i="1" dirty="0">
                <a:solidFill>
                  <a:srgbClr val="0057B8"/>
                </a:solidFill>
                <a:latin typeface="Segoe UI" pitchFamily="34" charset="0"/>
                <a:ea typeface="Segoe UI" pitchFamily="34" charset="-122"/>
                <a:cs typeface="Segoe UI" pitchFamily="34" charset="-120"/>
              </a:rPr>
              <a:t>→ Partner</a:t>
            </a:r>
            <a:endParaRPr lang="en-US" sz="950" dirty="0"/>
          </a:p>
        </p:txBody>
      </p:sp>
      <p:sp>
        <p:nvSpPr>
          <p:cNvPr id="87" name="Shape 85"/>
          <p:cNvSpPr/>
          <p:nvPr/>
        </p:nvSpPr>
        <p:spPr>
          <a:xfrm>
            <a:off x="7680960" y="4069080"/>
            <a:ext cx="292608" cy="292608"/>
          </a:xfrm>
          <a:prstGeom prst="ellipse">
            <a:avLst/>
          </a:prstGeom>
          <a:solidFill>
            <a:srgbClr val="0057B8"/>
          </a:solidFill>
          <a:ln w="12700">
            <a:solidFill>
              <a:srgbClr val="0057B8"/>
            </a:solidFill>
            <a:prstDash val="solid"/>
          </a:ln>
        </p:spPr>
        <p:txBody>
          <a:bodyPr/>
          <a:lstStyle/>
          <a:p>
            <a:endParaRPr lang="en-ZA"/>
          </a:p>
        </p:txBody>
      </p:sp>
      <p:sp>
        <p:nvSpPr>
          <p:cNvPr id="88" name="Text 86"/>
          <p:cNvSpPr/>
          <p:nvPr/>
        </p:nvSpPr>
        <p:spPr>
          <a:xfrm>
            <a:off x="7680960" y="4069080"/>
            <a:ext cx="292608" cy="292608"/>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sp>
        <p:nvSpPr>
          <p:cNvPr id="89" name="Text 87"/>
          <p:cNvSpPr/>
          <p:nvPr/>
        </p:nvSpPr>
        <p:spPr>
          <a:xfrm>
            <a:off x="8092440" y="4023360"/>
            <a:ext cx="3383280" cy="274320"/>
          </a:xfrm>
          <a:prstGeom prst="rect">
            <a:avLst/>
          </a:prstGeom>
          <a:noFill/>
          <a:ln/>
        </p:spPr>
        <p:txBody>
          <a:bodyPr wrap="square" rtlCol="0" anchor="ctr"/>
          <a:lstStyle/>
          <a:p>
            <a:pPr marL="0" indent="0">
              <a:buNone/>
            </a:pPr>
            <a:r>
              <a:rPr lang="en-US" sz="1050" b="1" dirty="0">
                <a:solidFill>
                  <a:srgbClr val="091F2C"/>
                </a:solidFill>
                <a:latin typeface="Segoe UI" pitchFamily="34" charset="0"/>
                <a:ea typeface="Segoe UI" pitchFamily="34" charset="-122"/>
                <a:cs typeface="Segoe UI" pitchFamily="34" charset="-120"/>
              </a:rPr>
              <a:t>M365 Copilot or Studio agent build?</a:t>
            </a:r>
            <a:endParaRPr lang="en-US" sz="1050" dirty="0"/>
          </a:p>
        </p:txBody>
      </p:sp>
      <p:sp>
        <p:nvSpPr>
          <p:cNvPr id="90" name="Text 88"/>
          <p:cNvSpPr/>
          <p:nvPr/>
        </p:nvSpPr>
        <p:spPr>
          <a:xfrm>
            <a:off x="8092440" y="4233672"/>
            <a:ext cx="3383280" cy="256032"/>
          </a:xfrm>
          <a:prstGeom prst="rect">
            <a:avLst/>
          </a:prstGeom>
          <a:noFill/>
          <a:ln/>
        </p:spPr>
        <p:txBody>
          <a:bodyPr wrap="square" rtlCol="0" anchor="ctr"/>
          <a:lstStyle/>
          <a:p>
            <a:pPr marL="0" indent="0">
              <a:buNone/>
            </a:pPr>
            <a:r>
              <a:rPr lang="en-US" sz="950" i="1" dirty="0">
                <a:solidFill>
                  <a:srgbClr val="0057B8"/>
                </a:solidFill>
                <a:latin typeface="Segoe UI" pitchFamily="34" charset="0"/>
                <a:ea typeface="Segoe UI" pitchFamily="34" charset="-122"/>
                <a:cs typeface="Segoe UI" pitchFamily="34" charset="-120"/>
              </a:rPr>
              <a:t>→ Partner (NOT Factory)</a:t>
            </a:r>
            <a:endParaRPr lang="en-US" sz="950" dirty="0"/>
          </a:p>
        </p:txBody>
      </p:sp>
      <p:sp>
        <p:nvSpPr>
          <p:cNvPr id="91" name="Shape 89"/>
          <p:cNvSpPr/>
          <p:nvPr/>
        </p:nvSpPr>
        <p:spPr>
          <a:xfrm>
            <a:off x="7680960" y="4572000"/>
            <a:ext cx="292608" cy="292608"/>
          </a:xfrm>
          <a:prstGeom prst="ellipse">
            <a:avLst/>
          </a:prstGeom>
          <a:solidFill>
            <a:srgbClr val="0057B8"/>
          </a:solidFill>
          <a:ln w="12700">
            <a:solidFill>
              <a:srgbClr val="0057B8"/>
            </a:solidFill>
            <a:prstDash val="solid"/>
          </a:ln>
        </p:spPr>
        <p:txBody>
          <a:bodyPr/>
          <a:lstStyle/>
          <a:p>
            <a:endParaRPr lang="en-ZA"/>
          </a:p>
        </p:txBody>
      </p:sp>
      <p:sp>
        <p:nvSpPr>
          <p:cNvPr id="92" name="Text 90"/>
          <p:cNvSpPr/>
          <p:nvPr/>
        </p:nvSpPr>
        <p:spPr>
          <a:xfrm>
            <a:off x="7680960" y="4572000"/>
            <a:ext cx="292608" cy="292608"/>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4</a:t>
            </a:r>
            <a:endParaRPr lang="en-US" sz="1100" dirty="0"/>
          </a:p>
        </p:txBody>
      </p:sp>
      <p:sp>
        <p:nvSpPr>
          <p:cNvPr id="93" name="Text 91"/>
          <p:cNvSpPr/>
          <p:nvPr/>
        </p:nvSpPr>
        <p:spPr>
          <a:xfrm>
            <a:off x="8092440" y="4526280"/>
            <a:ext cx="3383280" cy="274320"/>
          </a:xfrm>
          <a:prstGeom prst="rect">
            <a:avLst/>
          </a:prstGeom>
          <a:noFill/>
          <a:ln/>
        </p:spPr>
        <p:txBody>
          <a:bodyPr wrap="square" rtlCol="0" anchor="ctr"/>
          <a:lstStyle/>
          <a:p>
            <a:pPr marL="0" indent="0">
              <a:buNone/>
            </a:pPr>
            <a:r>
              <a:rPr lang="en-US" sz="1050" b="1" dirty="0">
                <a:solidFill>
                  <a:srgbClr val="091F2C"/>
                </a:solidFill>
                <a:latin typeface="Segoe UI" pitchFamily="34" charset="0"/>
                <a:ea typeface="Segoe UI" pitchFamily="34" charset="-122"/>
                <a:cs typeface="Segoe UI" pitchFamily="34" charset="-120"/>
              </a:rPr>
              <a:t>In-country sovereign / regulated?</a:t>
            </a:r>
            <a:endParaRPr lang="en-US" sz="1050" dirty="0"/>
          </a:p>
        </p:txBody>
      </p:sp>
      <p:sp>
        <p:nvSpPr>
          <p:cNvPr id="94" name="Text 92"/>
          <p:cNvSpPr/>
          <p:nvPr/>
        </p:nvSpPr>
        <p:spPr>
          <a:xfrm>
            <a:off x="8092440" y="4736592"/>
            <a:ext cx="3383280" cy="256032"/>
          </a:xfrm>
          <a:prstGeom prst="rect">
            <a:avLst/>
          </a:prstGeom>
          <a:noFill/>
          <a:ln/>
        </p:spPr>
        <p:txBody>
          <a:bodyPr wrap="square" rtlCol="0" anchor="ctr"/>
          <a:lstStyle/>
          <a:p>
            <a:pPr marL="0" indent="0">
              <a:buNone/>
            </a:pPr>
            <a:r>
              <a:rPr lang="en-US" sz="950" i="1" dirty="0">
                <a:solidFill>
                  <a:srgbClr val="0057B8"/>
                </a:solidFill>
                <a:latin typeface="Segoe UI" pitchFamily="34" charset="0"/>
                <a:ea typeface="Segoe UI" pitchFamily="34" charset="-122"/>
                <a:cs typeface="Segoe UI" pitchFamily="34" charset="-120"/>
              </a:rPr>
              <a:t>→ ISD</a:t>
            </a:r>
            <a:endParaRPr lang="en-US" sz="950" dirty="0"/>
          </a:p>
        </p:txBody>
      </p:sp>
      <p:sp>
        <p:nvSpPr>
          <p:cNvPr id="95" name="Shape 93"/>
          <p:cNvSpPr/>
          <p:nvPr/>
        </p:nvSpPr>
        <p:spPr>
          <a:xfrm>
            <a:off x="7680960" y="5074920"/>
            <a:ext cx="292608" cy="292608"/>
          </a:xfrm>
          <a:prstGeom prst="ellipse">
            <a:avLst/>
          </a:prstGeom>
          <a:solidFill>
            <a:srgbClr val="0057B8"/>
          </a:solidFill>
          <a:ln w="12700">
            <a:solidFill>
              <a:srgbClr val="0057B8"/>
            </a:solidFill>
            <a:prstDash val="solid"/>
          </a:ln>
        </p:spPr>
        <p:txBody>
          <a:bodyPr/>
          <a:lstStyle/>
          <a:p>
            <a:endParaRPr lang="en-ZA"/>
          </a:p>
        </p:txBody>
      </p:sp>
      <p:sp>
        <p:nvSpPr>
          <p:cNvPr id="96" name="Text 94"/>
          <p:cNvSpPr/>
          <p:nvPr/>
        </p:nvSpPr>
        <p:spPr>
          <a:xfrm>
            <a:off x="7680960" y="5074920"/>
            <a:ext cx="292608" cy="292608"/>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5</a:t>
            </a:r>
            <a:endParaRPr lang="en-US" sz="1100" dirty="0"/>
          </a:p>
        </p:txBody>
      </p:sp>
      <p:sp>
        <p:nvSpPr>
          <p:cNvPr id="97" name="Text 95"/>
          <p:cNvSpPr/>
          <p:nvPr/>
        </p:nvSpPr>
        <p:spPr>
          <a:xfrm>
            <a:off x="8092440" y="5029200"/>
            <a:ext cx="3383280" cy="274320"/>
          </a:xfrm>
          <a:prstGeom prst="rect">
            <a:avLst/>
          </a:prstGeom>
          <a:noFill/>
          <a:ln/>
        </p:spPr>
        <p:txBody>
          <a:bodyPr wrap="square" rtlCol="0" anchor="ctr"/>
          <a:lstStyle/>
          <a:p>
            <a:pPr marL="0" indent="0">
              <a:buNone/>
            </a:pPr>
            <a:r>
              <a:rPr lang="en-US" sz="1050" b="1" dirty="0">
                <a:solidFill>
                  <a:srgbClr val="091F2C"/>
                </a:solidFill>
                <a:latin typeface="Segoe UI" pitchFamily="34" charset="0"/>
                <a:ea typeface="Segoe UI" pitchFamily="34" charset="-122"/>
                <a:cs typeface="Segoe UI" pitchFamily="34" charset="-120"/>
              </a:rPr>
              <a:t>Unified Support or 2-page agreement?</a:t>
            </a:r>
            <a:endParaRPr lang="en-US" sz="1050" dirty="0"/>
          </a:p>
        </p:txBody>
      </p:sp>
      <p:sp>
        <p:nvSpPr>
          <p:cNvPr id="98" name="Text 96"/>
          <p:cNvSpPr/>
          <p:nvPr/>
        </p:nvSpPr>
        <p:spPr>
          <a:xfrm>
            <a:off x="8092440" y="5239512"/>
            <a:ext cx="3383280" cy="256032"/>
          </a:xfrm>
          <a:prstGeom prst="rect">
            <a:avLst/>
          </a:prstGeom>
          <a:noFill/>
          <a:ln/>
        </p:spPr>
        <p:txBody>
          <a:bodyPr wrap="square" rtlCol="0" anchor="ctr"/>
          <a:lstStyle/>
          <a:p>
            <a:pPr marL="0" indent="0">
              <a:buNone/>
            </a:pPr>
            <a:r>
              <a:rPr lang="en-US" sz="950" i="1" dirty="0">
                <a:solidFill>
                  <a:srgbClr val="0057B8"/>
                </a:solidFill>
                <a:latin typeface="Segoe UI" pitchFamily="34" charset="0"/>
                <a:ea typeface="Segoe UI" pitchFamily="34" charset="-122"/>
                <a:cs typeface="Segoe UI" pitchFamily="34" charset="-120"/>
              </a:rPr>
              <a:t>Required before nominate</a:t>
            </a:r>
            <a:endParaRPr lang="en-US" sz="950" dirty="0"/>
          </a:p>
        </p:txBody>
      </p:sp>
      <p:sp>
        <p:nvSpPr>
          <p:cNvPr id="99" name="Shape 97"/>
          <p:cNvSpPr/>
          <p:nvPr/>
        </p:nvSpPr>
        <p:spPr>
          <a:xfrm>
            <a:off x="548640" y="6263640"/>
            <a:ext cx="11064240" cy="457200"/>
          </a:xfrm>
          <a:prstGeom prst="roundRect">
            <a:avLst>
              <a:gd name="adj" fmla="val 16000"/>
            </a:avLst>
          </a:prstGeom>
          <a:solidFill>
            <a:srgbClr val="0057B8"/>
          </a:solidFill>
          <a:ln w="12700">
            <a:solidFill>
              <a:srgbClr val="0057B8"/>
            </a:solidFill>
            <a:prstDash val="solid"/>
          </a:ln>
        </p:spPr>
        <p:txBody>
          <a:bodyPr/>
          <a:lstStyle/>
          <a:p>
            <a:endParaRPr lang="en-ZA"/>
          </a:p>
        </p:txBody>
      </p:sp>
      <p:sp>
        <p:nvSpPr>
          <p:cNvPr id="100" name="Text 98"/>
          <p:cNvSpPr/>
          <p:nvPr/>
        </p:nvSpPr>
        <p:spPr>
          <a:xfrm>
            <a:off x="777240" y="6263640"/>
            <a:ext cx="1828800" cy="457200"/>
          </a:xfrm>
          <a:prstGeom prst="rect">
            <a:avLst/>
          </a:prstGeom>
          <a:noFill/>
          <a:ln/>
        </p:spPr>
        <p:txBody>
          <a:bodyPr wrap="square" rtlCol="0" anchor="ctr"/>
          <a:lstStyle/>
          <a:p>
            <a:pPr marL="0" indent="0">
              <a:buNone/>
            </a:pPr>
            <a:r>
              <a:rPr lang="en-US" sz="1200" b="1" dirty="0">
                <a:solidFill>
                  <a:srgbClr val="FFB900"/>
                </a:solidFill>
                <a:latin typeface="Segoe UI" pitchFamily="34" charset="0"/>
                <a:ea typeface="Segoe UI" pitchFamily="34" charset="-122"/>
                <a:cs typeface="Segoe UI" pitchFamily="34" charset="-120"/>
              </a:rPr>
              <a:t>Anchor bundle:</a:t>
            </a:r>
            <a:endParaRPr lang="en-US" sz="1200" dirty="0"/>
          </a:p>
        </p:txBody>
      </p:sp>
      <p:sp>
        <p:nvSpPr>
          <p:cNvPr id="101" name="Text 99"/>
          <p:cNvSpPr/>
          <p:nvPr/>
        </p:nvSpPr>
        <p:spPr>
          <a:xfrm>
            <a:off x="2468880" y="6263640"/>
            <a:ext cx="9052560" cy="45720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F1 GenAI Assistant + F2 Azure Landing Zone — the default Stage-2 nomination for every AI CoE engagement.</a:t>
            </a:r>
            <a:endParaRPr lang="en-US" sz="1100" dirty="0"/>
          </a:p>
        </p:txBody>
      </p:sp>
      <p:pic>
        <p:nvPicPr>
          <p:cNvPr id="102"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103" name="Text 100"/>
          <p:cNvSpPr/>
          <p:nvPr/>
        </p:nvSpPr>
        <p:spPr>
          <a:xfrm>
            <a:off x="640080" y="6492240"/>
            <a:ext cx="73152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 2026 Microsoft Corporation</a:t>
            </a:r>
            <a:endParaRPr lang="en-US" sz="900" dirty="0"/>
          </a:p>
        </p:txBody>
      </p:sp>
      <p:sp>
        <p:nvSpPr>
          <p:cNvPr id="104" name="Text 101"/>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8 / 19</a:t>
            </a:r>
            <a:endParaRPr lang="en-US" sz="900" dirty="0"/>
          </a:p>
        </p:txBody>
      </p:sp>
      <p:sp>
        <p:nvSpPr>
          <p:cNvPr id="105" name="AICOE_GEO_ACCENT_Right Triangle 104"/>
          <p:cNvSpPr/>
          <p:nvPr/>
        </p:nvSpPr>
        <p:spPr>
          <a:xfrm rot="5400000">
            <a:off x="11762232"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AICOE_GEO_ACCENT_Right Triangle 105"/>
          <p:cNvSpPr/>
          <p:nvPr/>
        </p:nvSpPr>
        <p:spPr>
          <a:xfrm rot="5400000">
            <a:off x="11874246"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91440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STREAM 1 · MCAPS</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200" b="1" dirty="0">
                <a:solidFill>
                  <a:srgbClr val="091F2C"/>
                </a:solidFill>
                <a:latin typeface="Segoe UI" pitchFamily="34" charset="0"/>
                <a:ea typeface="Segoe UI" pitchFamily="34" charset="-122"/>
                <a:cs typeface="Segoe UI" pitchFamily="34" charset="-120"/>
              </a:rPr>
              <a:t>Who does what across MCEM</a:t>
            </a:r>
            <a:endParaRPr lang="en-US" sz="3200" dirty="0"/>
          </a:p>
        </p:txBody>
      </p:sp>
      <p:sp>
        <p:nvSpPr>
          <p:cNvPr id="5" name="Shape 3"/>
          <p:cNvSpPr/>
          <p:nvPr/>
        </p:nvSpPr>
        <p:spPr>
          <a:xfrm>
            <a:off x="548640" y="1920240"/>
            <a:ext cx="3108960" cy="411480"/>
          </a:xfrm>
          <a:prstGeom prst="rect">
            <a:avLst/>
          </a:prstGeom>
          <a:solidFill>
            <a:srgbClr val="091F2C"/>
          </a:solidFill>
          <a:ln w="12700">
            <a:solidFill>
              <a:srgbClr val="091F2C"/>
            </a:solidFill>
            <a:prstDash val="solid"/>
          </a:ln>
        </p:spPr>
        <p:txBody>
          <a:bodyPr/>
          <a:lstStyle/>
          <a:p>
            <a:endParaRPr lang="en-ZA"/>
          </a:p>
        </p:txBody>
      </p:sp>
      <p:sp>
        <p:nvSpPr>
          <p:cNvPr id="6" name="Text 4"/>
          <p:cNvSpPr/>
          <p:nvPr/>
        </p:nvSpPr>
        <p:spPr>
          <a:xfrm>
            <a:off x="548640" y="1920240"/>
            <a:ext cx="3108960" cy="411480"/>
          </a:xfrm>
          <a:prstGeom prst="rect">
            <a:avLst/>
          </a:prstGeom>
          <a:noFill/>
          <a:ln/>
        </p:spPr>
        <p:txBody>
          <a:bodyPr wrap="square" lIns="76200" tIns="76200" rIns="76200" bIns="76200" rtlCol="0" anchor="ctr"/>
          <a:lstStyle/>
          <a:p>
            <a:pPr marL="0" indent="0" algn="l">
              <a:buNone/>
            </a:pPr>
            <a:r>
              <a:rPr lang="en-US" sz="1200" b="1" dirty="0">
                <a:solidFill>
                  <a:srgbClr val="FFFFFF"/>
                </a:solidFill>
                <a:latin typeface="Segoe UI" pitchFamily="34" charset="0"/>
                <a:ea typeface="Segoe UI" pitchFamily="34" charset="-122"/>
                <a:cs typeface="Segoe UI" pitchFamily="34" charset="-120"/>
              </a:rPr>
              <a:t>Activity</a:t>
            </a:r>
            <a:endParaRPr lang="en-US" sz="1200" dirty="0"/>
          </a:p>
        </p:txBody>
      </p:sp>
      <p:sp>
        <p:nvSpPr>
          <p:cNvPr id="7" name="Shape 5"/>
          <p:cNvSpPr/>
          <p:nvPr/>
        </p:nvSpPr>
        <p:spPr>
          <a:xfrm>
            <a:off x="3657600" y="1920240"/>
            <a:ext cx="914400" cy="411480"/>
          </a:xfrm>
          <a:prstGeom prst="rect">
            <a:avLst/>
          </a:prstGeom>
          <a:solidFill>
            <a:srgbClr val="091F2C"/>
          </a:solidFill>
          <a:ln w="12700">
            <a:solidFill>
              <a:srgbClr val="091F2C"/>
            </a:solidFill>
            <a:prstDash val="solid"/>
          </a:ln>
        </p:spPr>
        <p:txBody>
          <a:bodyPr/>
          <a:lstStyle/>
          <a:p>
            <a:endParaRPr lang="en-ZA"/>
          </a:p>
        </p:txBody>
      </p:sp>
      <p:sp>
        <p:nvSpPr>
          <p:cNvPr id="8" name="Text 6"/>
          <p:cNvSpPr/>
          <p:nvPr/>
        </p:nvSpPr>
        <p:spPr>
          <a:xfrm>
            <a:off x="3657600" y="1920240"/>
            <a:ext cx="914400" cy="411480"/>
          </a:xfrm>
          <a:prstGeom prst="rect">
            <a:avLst/>
          </a:prstGeom>
          <a:noFill/>
          <a:ln/>
        </p:spPr>
        <p:txBody>
          <a:bodyPr wrap="square" lIns="76200" tIns="76200" rIns="76200" bIns="7620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ATU</a:t>
            </a:r>
            <a:endParaRPr lang="en-US" sz="1200" dirty="0"/>
          </a:p>
        </p:txBody>
      </p:sp>
      <p:sp>
        <p:nvSpPr>
          <p:cNvPr id="9" name="Shape 7"/>
          <p:cNvSpPr/>
          <p:nvPr/>
        </p:nvSpPr>
        <p:spPr>
          <a:xfrm>
            <a:off x="4572000" y="1920240"/>
            <a:ext cx="914400" cy="411480"/>
          </a:xfrm>
          <a:prstGeom prst="rect">
            <a:avLst/>
          </a:prstGeom>
          <a:solidFill>
            <a:srgbClr val="091F2C"/>
          </a:solidFill>
          <a:ln w="12700">
            <a:solidFill>
              <a:srgbClr val="091F2C"/>
            </a:solidFill>
            <a:prstDash val="solid"/>
          </a:ln>
        </p:spPr>
        <p:txBody>
          <a:bodyPr/>
          <a:lstStyle/>
          <a:p>
            <a:endParaRPr lang="en-ZA"/>
          </a:p>
        </p:txBody>
      </p:sp>
      <p:sp>
        <p:nvSpPr>
          <p:cNvPr id="10" name="Text 8"/>
          <p:cNvSpPr/>
          <p:nvPr/>
        </p:nvSpPr>
        <p:spPr>
          <a:xfrm>
            <a:off x="4572000" y="1920240"/>
            <a:ext cx="914400" cy="411480"/>
          </a:xfrm>
          <a:prstGeom prst="rect">
            <a:avLst/>
          </a:prstGeom>
          <a:noFill/>
          <a:ln/>
        </p:spPr>
        <p:txBody>
          <a:bodyPr wrap="square" lIns="76200" tIns="76200" rIns="76200" bIns="7620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STU</a:t>
            </a:r>
            <a:endParaRPr lang="en-US" sz="1200" dirty="0"/>
          </a:p>
        </p:txBody>
      </p:sp>
      <p:sp>
        <p:nvSpPr>
          <p:cNvPr id="11" name="Shape 9"/>
          <p:cNvSpPr/>
          <p:nvPr/>
        </p:nvSpPr>
        <p:spPr>
          <a:xfrm>
            <a:off x="5486400" y="1920240"/>
            <a:ext cx="1737360" cy="411480"/>
          </a:xfrm>
          <a:prstGeom prst="rect">
            <a:avLst/>
          </a:prstGeom>
          <a:solidFill>
            <a:srgbClr val="091F2C"/>
          </a:solidFill>
          <a:ln w="12700">
            <a:solidFill>
              <a:srgbClr val="091F2C"/>
            </a:solidFill>
            <a:prstDash val="solid"/>
          </a:ln>
        </p:spPr>
        <p:txBody>
          <a:bodyPr/>
          <a:lstStyle/>
          <a:p>
            <a:endParaRPr lang="en-ZA"/>
          </a:p>
        </p:txBody>
      </p:sp>
      <p:sp>
        <p:nvSpPr>
          <p:cNvPr id="12" name="Text 10"/>
          <p:cNvSpPr/>
          <p:nvPr/>
        </p:nvSpPr>
        <p:spPr>
          <a:xfrm>
            <a:off x="5486400" y="1920240"/>
            <a:ext cx="1737360" cy="411480"/>
          </a:xfrm>
          <a:prstGeom prst="rect">
            <a:avLst/>
          </a:prstGeom>
          <a:noFill/>
          <a:ln/>
        </p:spPr>
        <p:txBody>
          <a:bodyPr wrap="square" lIns="76200" tIns="76200" rIns="76200" bIns="7620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CSU (CSA)</a:t>
            </a:r>
            <a:endParaRPr lang="en-US" sz="1200" dirty="0"/>
          </a:p>
        </p:txBody>
      </p:sp>
      <p:sp>
        <p:nvSpPr>
          <p:cNvPr id="13" name="Shape 11"/>
          <p:cNvSpPr/>
          <p:nvPr/>
        </p:nvSpPr>
        <p:spPr>
          <a:xfrm>
            <a:off x="7223760" y="1920240"/>
            <a:ext cx="1005840" cy="411480"/>
          </a:xfrm>
          <a:prstGeom prst="rect">
            <a:avLst/>
          </a:prstGeom>
          <a:solidFill>
            <a:srgbClr val="091F2C"/>
          </a:solidFill>
          <a:ln w="12700">
            <a:solidFill>
              <a:srgbClr val="091F2C"/>
            </a:solidFill>
            <a:prstDash val="solid"/>
          </a:ln>
        </p:spPr>
        <p:txBody>
          <a:bodyPr/>
          <a:lstStyle/>
          <a:p>
            <a:endParaRPr lang="en-ZA"/>
          </a:p>
        </p:txBody>
      </p:sp>
      <p:sp>
        <p:nvSpPr>
          <p:cNvPr id="14" name="Text 12"/>
          <p:cNvSpPr/>
          <p:nvPr/>
        </p:nvSpPr>
        <p:spPr>
          <a:xfrm>
            <a:off x="7223760" y="1920240"/>
            <a:ext cx="1005840" cy="411480"/>
          </a:xfrm>
          <a:prstGeom prst="rect">
            <a:avLst/>
          </a:prstGeom>
          <a:noFill/>
          <a:ln/>
        </p:spPr>
        <p:txBody>
          <a:bodyPr wrap="square" lIns="76200" tIns="76200" rIns="76200" bIns="7620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ISD</a:t>
            </a:r>
            <a:endParaRPr lang="en-US" sz="1200" dirty="0"/>
          </a:p>
        </p:txBody>
      </p:sp>
      <p:sp>
        <p:nvSpPr>
          <p:cNvPr id="15" name="Shape 13"/>
          <p:cNvSpPr/>
          <p:nvPr/>
        </p:nvSpPr>
        <p:spPr>
          <a:xfrm>
            <a:off x="8229600" y="1920240"/>
            <a:ext cx="1097280" cy="411480"/>
          </a:xfrm>
          <a:prstGeom prst="rect">
            <a:avLst/>
          </a:prstGeom>
          <a:solidFill>
            <a:srgbClr val="091F2C"/>
          </a:solidFill>
          <a:ln w="12700">
            <a:solidFill>
              <a:srgbClr val="091F2C"/>
            </a:solidFill>
            <a:prstDash val="solid"/>
          </a:ln>
        </p:spPr>
        <p:txBody>
          <a:bodyPr/>
          <a:lstStyle/>
          <a:p>
            <a:endParaRPr lang="en-ZA"/>
          </a:p>
        </p:txBody>
      </p:sp>
      <p:sp>
        <p:nvSpPr>
          <p:cNvPr id="16" name="Text 14"/>
          <p:cNvSpPr/>
          <p:nvPr/>
        </p:nvSpPr>
        <p:spPr>
          <a:xfrm>
            <a:off x="8229600" y="1920240"/>
            <a:ext cx="1097280" cy="411480"/>
          </a:xfrm>
          <a:prstGeom prst="rect">
            <a:avLst/>
          </a:prstGeom>
          <a:noFill/>
          <a:ln/>
        </p:spPr>
        <p:txBody>
          <a:bodyPr wrap="square" lIns="76200" tIns="76200" rIns="76200" bIns="7620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EPS</a:t>
            </a:r>
            <a:endParaRPr lang="en-US" sz="1200" dirty="0"/>
          </a:p>
        </p:txBody>
      </p:sp>
      <p:sp>
        <p:nvSpPr>
          <p:cNvPr id="17" name="Shape 15"/>
          <p:cNvSpPr/>
          <p:nvPr/>
        </p:nvSpPr>
        <p:spPr>
          <a:xfrm>
            <a:off x="9326880" y="1920240"/>
            <a:ext cx="1188720" cy="411480"/>
          </a:xfrm>
          <a:prstGeom prst="rect">
            <a:avLst/>
          </a:prstGeom>
          <a:solidFill>
            <a:srgbClr val="091F2C"/>
          </a:solidFill>
          <a:ln w="12700">
            <a:solidFill>
              <a:srgbClr val="091F2C"/>
            </a:solidFill>
            <a:prstDash val="solid"/>
          </a:ln>
        </p:spPr>
        <p:txBody>
          <a:bodyPr/>
          <a:lstStyle/>
          <a:p>
            <a:endParaRPr lang="en-ZA"/>
          </a:p>
        </p:txBody>
      </p:sp>
      <p:sp>
        <p:nvSpPr>
          <p:cNvPr id="18" name="Text 16"/>
          <p:cNvSpPr/>
          <p:nvPr/>
        </p:nvSpPr>
        <p:spPr>
          <a:xfrm>
            <a:off x="9326880" y="1920240"/>
            <a:ext cx="1188720" cy="411480"/>
          </a:xfrm>
          <a:prstGeom prst="rect">
            <a:avLst/>
          </a:prstGeom>
          <a:noFill/>
          <a:ln/>
        </p:spPr>
        <p:txBody>
          <a:bodyPr wrap="square" lIns="76200" tIns="76200" rIns="76200" bIns="7620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Partner</a:t>
            </a:r>
            <a:endParaRPr lang="en-US" sz="1200" dirty="0"/>
          </a:p>
        </p:txBody>
      </p:sp>
      <p:sp>
        <p:nvSpPr>
          <p:cNvPr id="19" name="Shape 17"/>
          <p:cNvSpPr/>
          <p:nvPr/>
        </p:nvSpPr>
        <p:spPr>
          <a:xfrm>
            <a:off x="548640" y="2331720"/>
            <a:ext cx="3108960" cy="411480"/>
          </a:xfrm>
          <a:prstGeom prst="rect">
            <a:avLst/>
          </a:prstGeom>
          <a:solidFill>
            <a:srgbClr val="FFF8F5"/>
          </a:solidFill>
          <a:ln w="6350">
            <a:solidFill>
              <a:srgbClr val="E1E6EF"/>
            </a:solidFill>
            <a:prstDash val="solid"/>
          </a:ln>
        </p:spPr>
        <p:txBody>
          <a:bodyPr/>
          <a:lstStyle/>
          <a:p>
            <a:endParaRPr lang="en-ZA"/>
          </a:p>
        </p:txBody>
      </p:sp>
      <p:sp>
        <p:nvSpPr>
          <p:cNvPr id="20" name="Text 18"/>
          <p:cNvSpPr/>
          <p:nvPr/>
        </p:nvSpPr>
        <p:spPr>
          <a:xfrm>
            <a:off x="548640" y="2331720"/>
            <a:ext cx="3108960" cy="411480"/>
          </a:xfrm>
          <a:prstGeom prst="rect">
            <a:avLst/>
          </a:prstGeom>
          <a:noFill/>
          <a:ln/>
        </p:spPr>
        <p:txBody>
          <a:bodyPr wrap="square" lIns="76200" tIns="76200" rIns="76200" bIns="76200" rtlCol="0" anchor="ctr"/>
          <a:lstStyle/>
          <a:p>
            <a:pPr marL="0" indent="0" algn="l">
              <a:buNone/>
            </a:pPr>
            <a:r>
              <a:rPr lang="en-US" sz="1100" b="1" dirty="0">
                <a:solidFill>
                  <a:srgbClr val="091F2C"/>
                </a:solidFill>
                <a:latin typeface="Segoe UI" pitchFamily="34" charset="0"/>
                <a:ea typeface="Segoe UI" pitchFamily="34" charset="-122"/>
                <a:cs typeface="Segoe UI" pitchFamily="34" charset="-120"/>
              </a:rPr>
              <a:t>AI CoE qualification</a:t>
            </a:r>
            <a:endParaRPr lang="en-US" sz="1100" dirty="0"/>
          </a:p>
        </p:txBody>
      </p:sp>
      <p:sp>
        <p:nvSpPr>
          <p:cNvPr id="21" name="Shape 19"/>
          <p:cNvSpPr/>
          <p:nvPr/>
        </p:nvSpPr>
        <p:spPr>
          <a:xfrm>
            <a:off x="3657600" y="2331720"/>
            <a:ext cx="914400" cy="411480"/>
          </a:xfrm>
          <a:prstGeom prst="rect">
            <a:avLst/>
          </a:prstGeom>
          <a:solidFill>
            <a:srgbClr val="FFF8F5"/>
          </a:solidFill>
          <a:ln w="6350">
            <a:solidFill>
              <a:srgbClr val="E1E6EF"/>
            </a:solidFill>
            <a:prstDash val="solid"/>
          </a:ln>
        </p:spPr>
        <p:txBody>
          <a:bodyPr/>
          <a:lstStyle/>
          <a:p>
            <a:endParaRPr lang="en-ZA"/>
          </a:p>
        </p:txBody>
      </p:sp>
      <p:sp>
        <p:nvSpPr>
          <p:cNvPr id="22" name="Text 20"/>
          <p:cNvSpPr/>
          <p:nvPr/>
        </p:nvSpPr>
        <p:spPr>
          <a:xfrm>
            <a:off x="3657600" y="2331720"/>
            <a:ext cx="914400" cy="411480"/>
          </a:xfrm>
          <a:prstGeom prst="rect">
            <a:avLst/>
          </a:prstGeom>
          <a:noFill/>
          <a:ln/>
        </p:spPr>
        <p:txBody>
          <a:bodyPr wrap="square" lIns="76200" tIns="76200" rIns="76200" bIns="76200" rtlCol="0" anchor="ctr"/>
          <a:lstStyle/>
          <a:p>
            <a:pPr marL="0" indent="0" algn="ctr">
              <a:buNone/>
            </a:pPr>
            <a:r>
              <a:rPr lang="en-US" sz="1200" b="1" dirty="0">
                <a:solidFill>
                  <a:srgbClr val="0078D4"/>
                </a:solidFill>
                <a:latin typeface="Segoe UI" pitchFamily="34" charset="0"/>
                <a:ea typeface="Segoe UI" pitchFamily="34" charset="-122"/>
                <a:cs typeface="Segoe UI" pitchFamily="34" charset="-120"/>
              </a:rPr>
              <a:t>A/R</a:t>
            </a:r>
            <a:endParaRPr lang="en-US" sz="1200" dirty="0"/>
          </a:p>
        </p:txBody>
      </p:sp>
      <p:sp>
        <p:nvSpPr>
          <p:cNvPr id="23" name="Shape 21"/>
          <p:cNvSpPr/>
          <p:nvPr/>
        </p:nvSpPr>
        <p:spPr>
          <a:xfrm>
            <a:off x="4572000" y="2331720"/>
            <a:ext cx="914400" cy="411480"/>
          </a:xfrm>
          <a:prstGeom prst="rect">
            <a:avLst/>
          </a:prstGeom>
          <a:solidFill>
            <a:srgbClr val="FFF8F5"/>
          </a:solidFill>
          <a:ln w="6350">
            <a:solidFill>
              <a:srgbClr val="E1E6EF"/>
            </a:solidFill>
            <a:prstDash val="solid"/>
          </a:ln>
        </p:spPr>
        <p:txBody>
          <a:bodyPr/>
          <a:lstStyle/>
          <a:p>
            <a:endParaRPr lang="en-ZA"/>
          </a:p>
        </p:txBody>
      </p:sp>
      <p:sp>
        <p:nvSpPr>
          <p:cNvPr id="24" name="Text 22"/>
          <p:cNvSpPr/>
          <p:nvPr/>
        </p:nvSpPr>
        <p:spPr>
          <a:xfrm>
            <a:off x="4572000" y="2331720"/>
            <a:ext cx="91440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C</a:t>
            </a:r>
            <a:endParaRPr lang="en-US" sz="1200" dirty="0"/>
          </a:p>
        </p:txBody>
      </p:sp>
      <p:sp>
        <p:nvSpPr>
          <p:cNvPr id="25" name="Shape 23"/>
          <p:cNvSpPr/>
          <p:nvPr/>
        </p:nvSpPr>
        <p:spPr>
          <a:xfrm>
            <a:off x="5486400" y="2331720"/>
            <a:ext cx="1737360" cy="411480"/>
          </a:xfrm>
          <a:prstGeom prst="rect">
            <a:avLst/>
          </a:prstGeom>
          <a:solidFill>
            <a:srgbClr val="FFF8F5"/>
          </a:solidFill>
          <a:ln w="6350">
            <a:solidFill>
              <a:srgbClr val="E1E6EF"/>
            </a:solidFill>
            <a:prstDash val="solid"/>
          </a:ln>
        </p:spPr>
        <p:txBody>
          <a:bodyPr/>
          <a:lstStyle/>
          <a:p>
            <a:endParaRPr lang="en-ZA"/>
          </a:p>
        </p:txBody>
      </p:sp>
      <p:sp>
        <p:nvSpPr>
          <p:cNvPr id="26" name="Text 24"/>
          <p:cNvSpPr/>
          <p:nvPr/>
        </p:nvSpPr>
        <p:spPr>
          <a:xfrm>
            <a:off x="5486400" y="2331720"/>
            <a:ext cx="173736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C</a:t>
            </a:r>
            <a:endParaRPr lang="en-US" sz="1200" dirty="0"/>
          </a:p>
        </p:txBody>
      </p:sp>
      <p:sp>
        <p:nvSpPr>
          <p:cNvPr id="27" name="Shape 25"/>
          <p:cNvSpPr/>
          <p:nvPr/>
        </p:nvSpPr>
        <p:spPr>
          <a:xfrm>
            <a:off x="7223760" y="2331720"/>
            <a:ext cx="1005840" cy="411480"/>
          </a:xfrm>
          <a:prstGeom prst="rect">
            <a:avLst/>
          </a:prstGeom>
          <a:solidFill>
            <a:srgbClr val="FFF8F5"/>
          </a:solidFill>
          <a:ln w="6350">
            <a:solidFill>
              <a:srgbClr val="E1E6EF"/>
            </a:solidFill>
            <a:prstDash val="solid"/>
          </a:ln>
        </p:spPr>
        <p:txBody>
          <a:bodyPr/>
          <a:lstStyle/>
          <a:p>
            <a:endParaRPr lang="en-ZA"/>
          </a:p>
        </p:txBody>
      </p:sp>
      <p:sp>
        <p:nvSpPr>
          <p:cNvPr id="28" name="Text 26"/>
          <p:cNvSpPr/>
          <p:nvPr/>
        </p:nvSpPr>
        <p:spPr>
          <a:xfrm>
            <a:off x="7223760" y="2331720"/>
            <a:ext cx="100584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I</a:t>
            </a:r>
            <a:endParaRPr lang="en-US" sz="1200" dirty="0"/>
          </a:p>
        </p:txBody>
      </p:sp>
      <p:sp>
        <p:nvSpPr>
          <p:cNvPr id="29" name="Shape 27"/>
          <p:cNvSpPr/>
          <p:nvPr/>
        </p:nvSpPr>
        <p:spPr>
          <a:xfrm>
            <a:off x="8229600" y="2331720"/>
            <a:ext cx="1097280" cy="411480"/>
          </a:xfrm>
          <a:prstGeom prst="rect">
            <a:avLst/>
          </a:prstGeom>
          <a:solidFill>
            <a:srgbClr val="FFF8F5"/>
          </a:solidFill>
          <a:ln w="6350">
            <a:solidFill>
              <a:srgbClr val="E1E6EF"/>
            </a:solidFill>
            <a:prstDash val="solid"/>
          </a:ln>
        </p:spPr>
        <p:txBody>
          <a:bodyPr/>
          <a:lstStyle/>
          <a:p>
            <a:endParaRPr lang="en-ZA"/>
          </a:p>
        </p:txBody>
      </p:sp>
      <p:sp>
        <p:nvSpPr>
          <p:cNvPr id="30" name="Text 28"/>
          <p:cNvSpPr/>
          <p:nvPr/>
        </p:nvSpPr>
        <p:spPr>
          <a:xfrm>
            <a:off x="8229600" y="2331720"/>
            <a:ext cx="109728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I</a:t>
            </a:r>
            <a:endParaRPr lang="en-US" sz="1200" dirty="0"/>
          </a:p>
        </p:txBody>
      </p:sp>
      <p:sp>
        <p:nvSpPr>
          <p:cNvPr id="31" name="Shape 29"/>
          <p:cNvSpPr/>
          <p:nvPr/>
        </p:nvSpPr>
        <p:spPr>
          <a:xfrm>
            <a:off x="9326880" y="2331720"/>
            <a:ext cx="1188720" cy="411480"/>
          </a:xfrm>
          <a:prstGeom prst="rect">
            <a:avLst/>
          </a:prstGeom>
          <a:solidFill>
            <a:srgbClr val="FFF8F5"/>
          </a:solidFill>
          <a:ln w="6350">
            <a:solidFill>
              <a:srgbClr val="E1E6EF"/>
            </a:solidFill>
            <a:prstDash val="solid"/>
          </a:ln>
        </p:spPr>
        <p:txBody>
          <a:bodyPr/>
          <a:lstStyle/>
          <a:p>
            <a:endParaRPr lang="en-ZA"/>
          </a:p>
        </p:txBody>
      </p:sp>
      <p:sp>
        <p:nvSpPr>
          <p:cNvPr id="32" name="Text 30"/>
          <p:cNvSpPr/>
          <p:nvPr/>
        </p:nvSpPr>
        <p:spPr>
          <a:xfrm>
            <a:off x="9326880" y="2331720"/>
            <a:ext cx="118872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C</a:t>
            </a:r>
            <a:endParaRPr lang="en-US" sz="1200" dirty="0"/>
          </a:p>
        </p:txBody>
      </p:sp>
      <p:sp>
        <p:nvSpPr>
          <p:cNvPr id="33" name="Shape 31"/>
          <p:cNvSpPr/>
          <p:nvPr/>
        </p:nvSpPr>
        <p:spPr>
          <a:xfrm>
            <a:off x="548640" y="2743200"/>
            <a:ext cx="3108960" cy="411480"/>
          </a:xfrm>
          <a:prstGeom prst="rect">
            <a:avLst/>
          </a:prstGeom>
          <a:solidFill>
            <a:srgbClr val="FFFFFF"/>
          </a:solidFill>
          <a:ln w="6350">
            <a:solidFill>
              <a:srgbClr val="E1E6EF"/>
            </a:solidFill>
            <a:prstDash val="solid"/>
          </a:ln>
        </p:spPr>
        <p:txBody>
          <a:bodyPr/>
          <a:lstStyle/>
          <a:p>
            <a:endParaRPr lang="en-ZA"/>
          </a:p>
        </p:txBody>
      </p:sp>
      <p:sp>
        <p:nvSpPr>
          <p:cNvPr id="34" name="Text 32"/>
          <p:cNvSpPr/>
          <p:nvPr/>
        </p:nvSpPr>
        <p:spPr>
          <a:xfrm>
            <a:off x="548640" y="2743200"/>
            <a:ext cx="3108960" cy="411480"/>
          </a:xfrm>
          <a:prstGeom prst="rect">
            <a:avLst/>
          </a:prstGeom>
          <a:noFill/>
          <a:ln/>
        </p:spPr>
        <p:txBody>
          <a:bodyPr wrap="square" lIns="76200" tIns="76200" rIns="76200" bIns="76200" rtlCol="0" anchor="ctr"/>
          <a:lstStyle/>
          <a:p>
            <a:pPr marL="0" indent="0" algn="l">
              <a:buNone/>
            </a:pPr>
            <a:r>
              <a:rPr lang="en-US" sz="1100" b="1" dirty="0">
                <a:solidFill>
                  <a:srgbClr val="091F2C"/>
                </a:solidFill>
                <a:latin typeface="Segoe UI" pitchFamily="34" charset="0"/>
                <a:ea typeface="Segoe UI" pitchFamily="34" charset="-122"/>
                <a:cs typeface="Segoe UI" pitchFamily="34" charset="-120"/>
              </a:rPr>
              <a:t>Envisioning workshop</a:t>
            </a:r>
            <a:endParaRPr lang="en-US" sz="1100" dirty="0"/>
          </a:p>
        </p:txBody>
      </p:sp>
      <p:sp>
        <p:nvSpPr>
          <p:cNvPr id="35" name="Shape 33"/>
          <p:cNvSpPr/>
          <p:nvPr/>
        </p:nvSpPr>
        <p:spPr>
          <a:xfrm>
            <a:off x="3657600" y="2743200"/>
            <a:ext cx="914400" cy="411480"/>
          </a:xfrm>
          <a:prstGeom prst="rect">
            <a:avLst/>
          </a:prstGeom>
          <a:solidFill>
            <a:srgbClr val="FFFFFF"/>
          </a:solidFill>
          <a:ln w="6350">
            <a:solidFill>
              <a:srgbClr val="E1E6EF"/>
            </a:solidFill>
            <a:prstDash val="solid"/>
          </a:ln>
        </p:spPr>
        <p:txBody>
          <a:bodyPr/>
          <a:lstStyle/>
          <a:p>
            <a:endParaRPr lang="en-ZA"/>
          </a:p>
        </p:txBody>
      </p:sp>
      <p:sp>
        <p:nvSpPr>
          <p:cNvPr id="36" name="Text 34"/>
          <p:cNvSpPr/>
          <p:nvPr/>
        </p:nvSpPr>
        <p:spPr>
          <a:xfrm>
            <a:off x="3657600" y="2743200"/>
            <a:ext cx="91440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C</a:t>
            </a:r>
            <a:endParaRPr lang="en-US" sz="1200" dirty="0"/>
          </a:p>
        </p:txBody>
      </p:sp>
      <p:sp>
        <p:nvSpPr>
          <p:cNvPr id="37" name="Shape 35"/>
          <p:cNvSpPr/>
          <p:nvPr/>
        </p:nvSpPr>
        <p:spPr>
          <a:xfrm>
            <a:off x="4572000" y="2743200"/>
            <a:ext cx="914400" cy="411480"/>
          </a:xfrm>
          <a:prstGeom prst="rect">
            <a:avLst/>
          </a:prstGeom>
          <a:solidFill>
            <a:srgbClr val="FFFFFF"/>
          </a:solidFill>
          <a:ln w="6350">
            <a:solidFill>
              <a:srgbClr val="E1E6EF"/>
            </a:solidFill>
            <a:prstDash val="solid"/>
          </a:ln>
        </p:spPr>
        <p:txBody>
          <a:bodyPr/>
          <a:lstStyle/>
          <a:p>
            <a:endParaRPr lang="en-ZA"/>
          </a:p>
        </p:txBody>
      </p:sp>
      <p:sp>
        <p:nvSpPr>
          <p:cNvPr id="38" name="Text 36"/>
          <p:cNvSpPr/>
          <p:nvPr/>
        </p:nvSpPr>
        <p:spPr>
          <a:xfrm>
            <a:off x="4572000" y="2743200"/>
            <a:ext cx="914400" cy="411480"/>
          </a:xfrm>
          <a:prstGeom prst="rect">
            <a:avLst/>
          </a:prstGeom>
          <a:noFill/>
          <a:ln/>
        </p:spPr>
        <p:txBody>
          <a:bodyPr wrap="square" lIns="76200" tIns="76200" rIns="76200" bIns="76200" rtlCol="0" anchor="ctr"/>
          <a:lstStyle/>
          <a:p>
            <a:pPr marL="0" indent="0" algn="ctr">
              <a:buNone/>
            </a:pPr>
            <a:r>
              <a:rPr lang="en-US" sz="1200" b="1" dirty="0">
                <a:solidFill>
                  <a:srgbClr val="0078D4"/>
                </a:solidFill>
                <a:latin typeface="Segoe UI" pitchFamily="34" charset="0"/>
                <a:ea typeface="Segoe UI" pitchFamily="34" charset="-122"/>
                <a:cs typeface="Segoe UI" pitchFamily="34" charset="-120"/>
              </a:rPr>
              <a:t>A/R</a:t>
            </a:r>
            <a:endParaRPr lang="en-US" sz="1200" dirty="0"/>
          </a:p>
        </p:txBody>
      </p:sp>
      <p:sp>
        <p:nvSpPr>
          <p:cNvPr id="39" name="Shape 37"/>
          <p:cNvSpPr/>
          <p:nvPr/>
        </p:nvSpPr>
        <p:spPr>
          <a:xfrm>
            <a:off x="5486400" y="2743200"/>
            <a:ext cx="1737360" cy="411480"/>
          </a:xfrm>
          <a:prstGeom prst="rect">
            <a:avLst/>
          </a:prstGeom>
          <a:solidFill>
            <a:srgbClr val="FFFFFF"/>
          </a:solidFill>
          <a:ln w="6350">
            <a:solidFill>
              <a:srgbClr val="E1E6EF"/>
            </a:solidFill>
            <a:prstDash val="solid"/>
          </a:ln>
        </p:spPr>
        <p:txBody>
          <a:bodyPr/>
          <a:lstStyle/>
          <a:p>
            <a:endParaRPr lang="en-ZA"/>
          </a:p>
        </p:txBody>
      </p:sp>
      <p:sp>
        <p:nvSpPr>
          <p:cNvPr id="40" name="Text 38"/>
          <p:cNvSpPr/>
          <p:nvPr/>
        </p:nvSpPr>
        <p:spPr>
          <a:xfrm>
            <a:off x="5486400" y="2743200"/>
            <a:ext cx="173736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R</a:t>
            </a:r>
            <a:endParaRPr lang="en-US" sz="1200" dirty="0"/>
          </a:p>
        </p:txBody>
      </p:sp>
      <p:sp>
        <p:nvSpPr>
          <p:cNvPr id="41" name="Shape 39"/>
          <p:cNvSpPr/>
          <p:nvPr/>
        </p:nvSpPr>
        <p:spPr>
          <a:xfrm>
            <a:off x="7223760" y="2743200"/>
            <a:ext cx="1005840" cy="411480"/>
          </a:xfrm>
          <a:prstGeom prst="rect">
            <a:avLst/>
          </a:prstGeom>
          <a:solidFill>
            <a:srgbClr val="FFFFFF"/>
          </a:solidFill>
          <a:ln w="6350">
            <a:solidFill>
              <a:srgbClr val="E1E6EF"/>
            </a:solidFill>
            <a:prstDash val="solid"/>
          </a:ln>
        </p:spPr>
        <p:txBody>
          <a:bodyPr/>
          <a:lstStyle/>
          <a:p>
            <a:endParaRPr lang="en-ZA"/>
          </a:p>
        </p:txBody>
      </p:sp>
      <p:sp>
        <p:nvSpPr>
          <p:cNvPr id="42" name="Text 40"/>
          <p:cNvSpPr/>
          <p:nvPr/>
        </p:nvSpPr>
        <p:spPr>
          <a:xfrm>
            <a:off x="7223760" y="2743200"/>
            <a:ext cx="100584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R</a:t>
            </a:r>
            <a:endParaRPr lang="en-US" sz="1200" dirty="0"/>
          </a:p>
        </p:txBody>
      </p:sp>
      <p:sp>
        <p:nvSpPr>
          <p:cNvPr id="43" name="Shape 41"/>
          <p:cNvSpPr/>
          <p:nvPr/>
        </p:nvSpPr>
        <p:spPr>
          <a:xfrm>
            <a:off x="8229600" y="2743200"/>
            <a:ext cx="1097280" cy="411480"/>
          </a:xfrm>
          <a:prstGeom prst="rect">
            <a:avLst/>
          </a:prstGeom>
          <a:solidFill>
            <a:srgbClr val="FFFFFF"/>
          </a:solidFill>
          <a:ln w="6350">
            <a:solidFill>
              <a:srgbClr val="E1E6EF"/>
            </a:solidFill>
            <a:prstDash val="solid"/>
          </a:ln>
        </p:spPr>
        <p:txBody>
          <a:bodyPr/>
          <a:lstStyle/>
          <a:p>
            <a:endParaRPr lang="en-ZA"/>
          </a:p>
        </p:txBody>
      </p:sp>
      <p:sp>
        <p:nvSpPr>
          <p:cNvPr id="44" name="Text 42"/>
          <p:cNvSpPr/>
          <p:nvPr/>
        </p:nvSpPr>
        <p:spPr>
          <a:xfrm>
            <a:off x="8229600" y="2743200"/>
            <a:ext cx="109728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I</a:t>
            </a:r>
            <a:endParaRPr lang="en-US" sz="1200" dirty="0"/>
          </a:p>
        </p:txBody>
      </p:sp>
      <p:sp>
        <p:nvSpPr>
          <p:cNvPr id="45" name="Shape 43"/>
          <p:cNvSpPr/>
          <p:nvPr/>
        </p:nvSpPr>
        <p:spPr>
          <a:xfrm>
            <a:off x="9326880" y="2743200"/>
            <a:ext cx="1188720" cy="411480"/>
          </a:xfrm>
          <a:prstGeom prst="rect">
            <a:avLst/>
          </a:prstGeom>
          <a:solidFill>
            <a:srgbClr val="FFFFFF"/>
          </a:solidFill>
          <a:ln w="6350">
            <a:solidFill>
              <a:srgbClr val="E1E6EF"/>
            </a:solidFill>
            <a:prstDash val="solid"/>
          </a:ln>
        </p:spPr>
        <p:txBody>
          <a:bodyPr/>
          <a:lstStyle/>
          <a:p>
            <a:endParaRPr lang="en-ZA"/>
          </a:p>
        </p:txBody>
      </p:sp>
      <p:sp>
        <p:nvSpPr>
          <p:cNvPr id="46" name="Text 44"/>
          <p:cNvSpPr/>
          <p:nvPr/>
        </p:nvSpPr>
        <p:spPr>
          <a:xfrm>
            <a:off x="9326880" y="2743200"/>
            <a:ext cx="118872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C</a:t>
            </a:r>
            <a:endParaRPr lang="en-US" sz="1200" dirty="0"/>
          </a:p>
        </p:txBody>
      </p:sp>
      <p:sp>
        <p:nvSpPr>
          <p:cNvPr id="47" name="Shape 45"/>
          <p:cNvSpPr/>
          <p:nvPr/>
        </p:nvSpPr>
        <p:spPr>
          <a:xfrm>
            <a:off x="548640" y="3154680"/>
            <a:ext cx="3108960" cy="411480"/>
          </a:xfrm>
          <a:prstGeom prst="rect">
            <a:avLst/>
          </a:prstGeom>
          <a:solidFill>
            <a:srgbClr val="FFF8F5"/>
          </a:solidFill>
          <a:ln w="6350">
            <a:solidFill>
              <a:srgbClr val="E1E6EF"/>
            </a:solidFill>
            <a:prstDash val="solid"/>
          </a:ln>
        </p:spPr>
        <p:txBody>
          <a:bodyPr/>
          <a:lstStyle/>
          <a:p>
            <a:endParaRPr lang="en-ZA"/>
          </a:p>
        </p:txBody>
      </p:sp>
      <p:sp>
        <p:nvSpPr>
          <p:cNvPr id="48" name="Text 46"/>
          <p:cNvSpPr/>
          <p:nvPr/>
        </p:nvSpPr>
        <p:spPr>
          <a:xfrm>
            <a:off x="548640" y="3154680"/>
            <a:ext cx="3108960" cy="411480"/>
          </a:xfrm>
          <a:prstGeom prst="rect">
            <a:avLst/>
          </a:prstGeom>
          <a:noFill/>
          <a:ln/>
        </p:spPr>
        <p:txBody>
          <a:bodyPr wrap="square" lIns="76200" tIns="76200" rIns="76200" bIns="76200" rtlCol="0" anchor="ctr"/>
          <a:lstStyle/>
          <a:p>
            <a:pPr marL="0" indent="0" algn="l">
              <a:buNone/>
            </a:pPr>
            <a:r>
              <a:rPr lang="en-US" sz="1100" b="1" dirty="0">
                <a:solidFill>
                  <a:srgbClr val="091F2C"/>
                </a:solidFill>
                <a:latin typeface="Segoe UI" pitchFamily="34" charset="0"/>
                <a:ea typeface="Segoe UI" pitchFamily="34" charset="-122"/>
                <a:cs typeface="Segoe UI" pitchFamily="34" charset="-120"/>
              </a:rPr>
              <a:t>CoE blueprint design</a:t>
            </a:r>
            <a:endParaRPr lang="en-US" sz="1100" dirty="0"/>
          </a:p>
        </p:txBody>
      </p:sp>
      <p:sp>
        <p:nvSpPr>
          <p:cNvPr id="49" name="Shape 47"/>
          <p:cNvSpPr/>
          <p:nvPr/>
        </p:nvSpPr>
        <p:spPr>
          <a:xfrm>
            <a:off x="3657600" y="3154680"/>
            <a:ext cx="914400" cy="411480"/>
          </a:xfrm>
          <a:prstGeom prst="rect">
            <a:avLst/>
          </a:prstGeom>
          <a:solidFill>
            <a:srgbClr val="FFF8F5"/>
          </a:solidFill>
          <a:ln w="6350">
            <a:solidFill>
              <a:srgbClr val="E1E6EF"/>
            </a:solidFill>
            <a:prstDash val="solid"/>
          </a:ln>
        </p:spPr>
        <p:txBody>
          <a:bodyPr/>
          <a:lstStyle/>
          <a:p>
            <a:endParaRPr lang="en-ZA"/>
          </a:p>
        </p:txBody>
      </p:sp>
      <p:sp>
        <p:nvSpPr>
          <p:cNvPr id="50" name="Text 48"/>
          <p:cNvSpPr/>
          <p:nvPr/>
        </p:nvSpPr>
        <p:spPr>
          <a:xfrm>
            <a:off x="3657600" y="3154680"/>
            <a:ext cx="91440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I</a:t>
            </a:r>
            <a:endParaRPr lang="en-US" sz="1200" dirty="0"/>
          </a:p>
        </p:txBody>
      </p:sp>
      <p:sp>
        <p:nvSpPr>
          <p:cNvPr id="51" name="Shape 49"/>
          <p:cNvSpPr/>
          <p:nvPr/>
        </p:nvSpPr>
        <p:spPr>
          <a:xfrm>
            <a:off x="4572000" y="3154680"/>
            <a:ext cx="914400" cy="411480"/>
          </a:xfrm>
          <a:prstGeom prst="rect">
            <a:avLst/>
          </a:prstGeom>
          <a:solidFill>
            <a:srgbClr val="FFF8F5"/>
          </a:solidFill>
          <a:ln w="6350">
            <a:solidFill>
              <a:srgbClr val="E1E6EF"/>
            </a:solidFill>
            <a:prstDash val="solid"/>
          </a:ln>
        </p:spPr>
        <p:txBody>
          <a:bodyPr/>
          <a:lstStyle/>
          <a:p>
            <a:endParaRPr lang="en-ZA"/>
          </a:p>
        </p:txBody>
      </p:sp>
      <p:sp>
        <p:nvSpPr>
          <p:cNvPr id="52" name="Text 50"/>
          <p:cNvSpPr/>
          <p:nvPr/>
        </p:nvSpPr>
        <p:spPr>
          <a:xfrm>
            <a:off x="4572000" y="3154680"/>
            <a:ext cx="914400" cy="411480"/>
          </a:xfrm>
          <a:prstGeom prst="rect">
            <a:avLst/>
          </a:prstGeom>
          <a:noFill/>
          <a:ln/>
        </p:spPr>
        <p:txBody>
          <a:bodyPr wrap="square" lIns="76200" tIns="76200" rIns="76200" bIns="76200" rtlCol="0" anchor="ctr"/>
          <a:lstStyle/>
          <a:p>
            <a:pPr marL="0" indent="0" algn="ctr">
              <a:buNone/>
            </a:pPr>
            <a:r>
              <a:rPr lang="en-US" sz="1200" b="1" dirty="0">
                <a:solidFill>
                  <a:srgbClr val="0078D4"/>
                </a:solidFill>
                <a:latin typeface="Segoe UI" pitchFamily="34" charset="0"/>
                <a:ea typeface="Segoe UI" pitchFamily="34" charset="-122"/>
                <a:cs typeface="Segoe UI" pitchFamily="34" charset="-120"/>
              </a:rPr>
              <a:t>A</a:t>
            </a:r>
            <a:endParaRPr lang="en-US" sz="1200" dirty="0"/>
          </a:p>
        </p:txBody>
      </p:sp>
      <p:sp>
        <p:nvSpPr>
          <p:cNvPr id="53" name="Shape 51"/>
          <p:cNvSpPr/>
          <p:nvPr/>
        </p:nvSpPr>
        <p:spPr>
          <a:xfrm>
            <a:off x="5486400" y="3154680"/>
            <a:ext cx="1737360" cy="411480"/>
          </a:xfrm>
          <a:prstGeom prst="rect">
            <a:avLst/>
          </a:prstGeom>
          <a:solidFill>
            <a:srgbClr val="FFF8F5"/>
          </a:solidFill>
          <a:ln w="6350">
            <a:solidFill>
              <a:srgbClr val="E1E6EF"/>
            </a:solidFill>
            <a:prstDash val="solid"/>
          </a:ln>
        </p:spPr>
        <p:txBody>
          <a:bodyPr/>
          <a:lstStyle/>
          <a:p>
            <a:endParaRPr lang="en-ZA"/>
          </a:p>
        </p:txBody>
      </p:sp>
      <p:sp>
        <p:nvSpPr>
          <p:cNvPr id="54" name="Text 52"/>
          <p:cNvSpPr/>
          <p:nvPr/>
        </p:nvSpPr>
        <p:spPr>
          <a:xfrm>
            <a:off x="5486400" y="3154680"/>
            <a:ext cx="173736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R</a:t>
            </a:r>
            <a:endParaRPr lang="en-US" sz="1200" dirty="0"/>
          </a:p>
        </p:txBody>
      </p:sp>
      <p:sp>
        <p:nvSpPr>
          <p:cNvPr id="55" name="Shape 53"/>
          <p:cNvSpPr/>
          <p:nvPr/>
        </p:nvSpPr>
        <p:spPr>
          <a:xfrm>
            <a:off x="7223760" y="3154680"/>
            <a:ext cx="1005840" cy="411480"/>
          </a:xfrm>
          <a:prstGeom prst="rect">
            <a:avLst/>
          </a:prstGeom>
          <a:solidFill>
            <a:srgbClr val="FFF8F5"/>
          </a:solidFill>
          <a:ln w="6350">
            <a:solidFill>
              <a:srgbClr val="E1E6EF"/>
            </a:solidFill>
            <a:prstDash val="solid"/>
          </a:ln>
        </p:spPr>
        <p:txBody>
          <a:bodyPr/>
          <a:lstStyle/>
          <a:p>
            <a:endParaRPr lang="en-ZA"/>
          </a:p>
        </p:txBody>
      </p:sp>
      <p:sp>
        <p:nvSpPr>
          <p:cNvPr id="56" name="Text 54"/>
          <p:cNvSpPr/>
          <p:nvPr/>
        </p:nvSpPr>
        <p:spPr>
          <a:xfrm>
            <a:off x="7223760" y="3154680"/>
            <a:ext cx="100584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R</a:t>
            </a:r>
            <a:endParaRPr lang="en-US" sz="1200" dirty="0"/>
          </a:p>
        </p:txBody>
      </p:sp>
      <p:sp>
        <p:nvSpPr>
          <p:cNvPr id="57" name="Shape 55"/>
          <p:cNvSpPr/>
          <p:nvPr/>
        </p:nvSpPr>
        <p:spPr>
          <a:xfrm>
            <a:off x="8229600" y="3154680"/>
            <a:ext cx="1097280" cy="411480"/>
          </a:xfrm>
          <a:prstGeom prst="rect">
            <a:avLst/>
          </a:prstGeom>
          <a:solidFill>
            <a:srgbClr val="FFF8F5"/>
          </a:solidFill>
          <a:ln w="6350">
            <a:solidFill>
              <a:srgbClr val="E1E6EF"/>
            </a:solidFill>
            <a:prstDash val="solid"/>
          </a:ln>
        </p:spPr>
        <p:txBody>
          <a:bodyPr/>
          <a:lstStyle/>
          <a:p>
            <a:endParaRPr lang="en-ZA"/>
          </a:p>
        </p:txBody>
      </p:sp>
      <p:sp>
        <p:nvSpPr>
          <p:cNvPr id="58" name="Text 56"/>
          <p:cNvSpPr/>
          <p:nvPr/>
        </p:nvSpPr>
        <p:spPr>
          <a:xfrm>
            <a:off x="8229600" y="3154680"/>
            <a:ext cx="109728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I</a:t>
            </a:r>
            <a:endParaRPr lang="en-US" sz="1200" dirty="0"/>
          </a:p>
        </p:txBody>
      </p:sp>
      <p:sp>
        <p:nvSpPr>
          <p:cNvPr id="59" name="Shape 57"/>
          <p:cNvSpPr/>
          <p:nvPr/>
        </p:nvSpPr>
        <p:spPr>
          <a:xfrm>
            <a:off x="9326880" y="3154680"/>
            <a:ext cx="1188720" cy="411480"/>
          </a:xfrm>
          <a:prstGeom prst="rect">
            <a:avLst/>
          </a:prstGeom>
          <a:solidFill>
            <a:srgbClr val="FFF8F5"/>
          </a:solidFill>
          <a:ln w="6350">
            <a:solidFill>
              <a:srgbClr val="E1E6EF"/>
            </a:solidFill>
            <a:prstDash val="solid"/>
          </a:ln>
        </p:spPr>
        <p:txBody>
          <a:bodyPr/>
          <a:lstStyle/>
          <a:p>
            <a:endParaRPr lang="en-ZA"/>
          </a:p>
        </p:txBody>
      </p:sp>
      <p:sp>
        <p:nvSpPr>
          <p:cNvPr id="60" name="Text 58"/>
          <p:cNvSpPr/>
          <p:nvPr/>
        </p:nvSpPr>
        <p:spPr>
          <a:xfrm>
            <a:off x="9326880" y="3154680"/>
            <a:ext cx="118872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R</a:t>
            </a:r>
            <a:endParaRPr lang="en-US" sz="1200" dirty="0"/>
          </a:p>
        </p:txBody>
      </p:sp>
      <p:sp>
        <p:nvSpPr>
          <p:cNvPr id="61" name="Shape 59"/>
          <p:cNvSpPr/>
          <p:nvPr/>
        </p:nvSpPr>
        <p:spPr>
          <a:xfrm>
            <a:off x="548640" y="3566160"/>
            <a:ext cx="3108960" cy="411480"/>
          </a:xfrm>
          <a:prstGeom prst="rect">
            <a:avLst/>
          </a:prstGeom>
          <a:solidFill>
            <a:srgbClr val="FFFFFF"/>
          </a:solidFill>
          <a:ln w="6350">
            <a:solidFill>
              <a:srgbClr val="E1E6EF"/>
            </a:solidFill>
            <a:prstDash val="solid"/>
          </a:ln>
        </p:spPr>
        <p:txBody>
          <a:bodyPr/>
          <a:lstStyle/>
          <a:p>
            <a:endParaRPr lang="en-ZA"/>
          </a:p>
        </p:txBody>
      </p:sp>
      <p:sp>
        <p:nvSpPr>
          <p:cNvPr id="62" name="Text 60"/>
          <p:cNvSpPr/>
          <p:nvPr/>
        </p:nvSpPr>
        <p:spPr>
          <a:xfrm>
            <a:off x="548640" y="3566160"/>
            <a:ext cx="3108960" cy="411480"/>
          </a:xfrm>
          <a:prstGeom prst="rect">
            <a:avLst/>
          </a:prstGeom>
          <a:noFill/>
          <a:ln/>
        </p:spPr>
        <p:txBody>
          <a:bodyPr wrap="square" lIns="76200" tIns="76200" rIns="76200" bIns="76200" rtlCol="0" anchor="ctr"/>
          <a:lstStyle/>
          <a:p>
            <a:pPr marL="0" indent="0" algn="l">
              <a:buNone/>
            </a:pPr>
            <a:r>
              <a:rPr lang="en-US" sz="1100" b="1" dirty="0">
                <a:solidFill>
                  <a:srgbClr val="091F2C"/>
                </a:solidFill>
                <a:latin typeface="Segoe UI" pitchFamily="34" charset="0"/>
                <a:ea typeface="Segoe UI" pitchFamily="34" charset="-122"/>
                <a:cs typeface="Segoe UI" pitchFamily="34" charset="-120"/>
              </a:rPr>
              <a:t>Governance &amp; Responsible AI</a:t>
            </a:r>
            <a:endParaRPr lang="en-US" sz="1100" dirty="0"/>
          </a:p>
        </p:txBody>
      </p:sp>
      <p:sp>
        <p:nvSpPr>
          <p:cNvPr id="63" name="Shape 61"/>
          <p:cNvSpPr/>
          <p:nvPr/>
        </p:nvSpPr>
        <p:spPr>
          <a:xfrm>
            <a:off x="3657600" y="3566160"/>
            <a:ext cx="914400" cy="411480"/>
          </a:xfrm>
          <a:prstGeom prst="rect">
            <a:avLst/>
          </a:prstGeom>
          <a:solidFill>
            <a:srgbClr val="FFFFFF"/>
          </a:solidFill>
          <a:ln w="6350">
            <a:solidFill>
              <a:srgbClr val="E1E6EF"/>
            </a:solidFill>
            <a:prstDash val="solid"/>
          </a:ln>
        </p:spPr>
        <p:txBody>
          <a:bodyPr/>
          <a:lstStyle/>
          <a:p>
            <a:endParaRPr lang="en-ZA"/>
          </a:p>
        </p:txBody>
      </p:sp>
      <p:sp>
        <p:nvSpPr>
          <p:cNvPr id="64" name="Text 62"/>
          <p:cNvSpPr/>
          <p:nvPr/>
        </p:nvSpPr>
        <p:spPr>
          <a:xfrm>
            <a:off x="3657600" y="3566160"/>
            <a:ext cx="91440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I</a:t>
            </a:r>
            <a:endParaRPr lang="en-US" sz="1200" dirty="0"/>
          </a:p>
        </p:txBody>
      </p:sp>
      <p:sp>
        <p:nvSpPr>
          <p:cNvPr id="65" name="Shape 63"/>
          <p:cNvSpPr/>
          <p:nvPr/>
        </p:nvSpPr>
        <p:spPr>
          <a:xfrm>
            <a:off x="4572000" y="3566160"/>
            <a:ext cx="914400" cy="411480"/>
          </a:xfrm>
          <a:prstGeom prst="rect">
            <a:avLst/>
          </a:prstGeom>
          <a:solidFill>
            <a:srgbClr val="FFFFFF"/>
          </a:solidFill>
          <a:ln w="6350">
            <a:solidFill>
              <a:srgbClr val="E1E6EF"/>
            </a:solidFill>
            <a:prstDash val="solid"/>
          </a:ln>
        </p:spPr>
        <p:txBody>
          <a:bodyPr/>
          <a:lstStyle/>
          <a:p>
            <a:endParaRPr lang="en-ZA"/>
          </a:p>
        </p:txBody>
      </p:sp>
      <p:sp>
        <p:nvSpPr>
          <p:cNvPr id="66" name="Text 64"/>
          <p:cNvSpPr/>
          <p:nvPr/>
        </p:nvSpPr>
        <p:spPr>
          <a:xfrm>
            <a:off x="4572000" y="3566160"/>
            <a:ext cx="91440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C</a:t>
            </a:r>
            <a:endParaRPr lang="en-US" sz="1200" dirty="0"/>
          </a:p>
        </p:txBody>
      </p:sp>
      <p:sp>
        <p:nvSpPr>
          <p:cNvPr id="67" name="Shape 65"/>
          <p:cNvSpPr/>
          <p:nvPr/>
        </p:nvSpPr>
        <p:spPr>
          <a:xfrm>
            <a:off x="5486400" y="3566160"/>
            <a:ext cx="1737360" cy="411480"/>
          </a:xfrm>
          <a:prstGeom prst="rect">
            <a:avLst/>
          </a:prstGeom>
          <a:solidFill>
            <a:srgbClr val="FFFFFF"/>
          </a:solidFill>
          <a:ln w="6350">
            <a:solidFill>
              <a:srgbClr val="E1E6EF"/>
            </a:solidFill>
            <a:prstDash val="solid"/>
          </a:ln>
        </p:spPr>
        <p:txBody>
          <a:bodyPr/>
          <a:lstStyle/>
          <a:p>
            <a:endParaRPr lang="en-ZA"/>
          </a:p>
        </p:txBody>
      </p:sp>
      <p:sp>
        <p:nvSpPr>
          <p:cNvPr id="68" name="Text 66"/>
          <p:cNvSpPr/>
          <p:nvPr/>
        </p:nvSpPr>
        <p:spPr>
          <a:xfrm>
            <a:off x="5486400" y="3566160"/>
            <a:ext cx="173736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R</a:t>
            </a:r>
            <a:endParaRPr lang="en-US" sz="1200" dirty="0"/>
          </a:p>
        </p:txBody>
      </p:sp>
      <p:sp>
        <p:nvSpPr>
          <p:cNvPr id="69" name="Shape 67"/>
          <p:cNvSpPr/>
          <p:nvPr/>
        </p:nvSpPr>
        <p:spPr>
          <a:xfrm>
            <a:off x="7223760" y="3566160"/>
            <a:ext cx="1005840" cy="411480"/>
          </a:xfrm>
          <a:prstGeom prst="rect">
            <a:avLst/>
          </a:prstGeom>
          <a:solidFill>
            <a:srgbClr val="FFFFFF"/>
          </a:solidFill>
          <a:ln w="6350">
            <a:solidFill>
              <a:srgbClr val="E1E6EF"/>
            </a:solidFill>
            <a:prstDash val="solid"/>
          </a:ln>
        </p:spPr>
        <p:txBody>
          <a:bodyPr/>
          <a:lstStyle/>
          <a:p>
            <a:endParaRPr lang="en-ZA"/>
          </a:p>
        </p:txBody>
      </p:sp>
      <p:sp>
        <p:nvSpPr>
          <p:cNvPr id="70" name="Text 68"/>
          <p:cNvSpPr/>
          <p:nvPr/>
        </p:nvSpPr>
        <p:spPr>
          <a:xfrm>
            <a:off x="7223760" y="3566160"/>
            <a:ext cx="100584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R</a:t>
            </a:r>
            <a:endParaRPr lang="en-US" sz="1200" dirty="0"/>
          </a:p>
        </p:txBody>
      </p:sp>
      <p:sp>
        <p:nvSpPr>
          <p:cNvPr id="71" name="Shape 69"/>
          <p:cNvSpPr/>
          <p:nvPr/>
        </p:nvSpPr>
        <p:spPr>
          <a:xfrm>
            <a:off x="8229600" y="3566160"/>
            <a:ext cx="1097280" cy="411480"/>
          </a:xfrm>
          <a:prstGeom prst="rect">
            <a:avLst/>
          </a:prstGeom>
          <a:solidFill>
            <a:srgbClr val="FFFFFF"/>
          </a:solidFill>
          <a:ln w="6350">
            <a:solidFill>
              <a:srgbClr val="E1E6EF"/>
            </a:solidFill>
            <a:prstDash val="solid"/>
          </a:ln>
        </p:spPr>
        <p:txBody>
          <a:bodyPr/>
          <a:lstStyle/>
          <a:p>
            <a:endParaRPr lang="en-ZA"/>
          </a:p>
        </p:txBody>
      </p:sp>
      <p:sp>
        <p:nvSpPr>
          <p:cNvPr id="72" name="Text 70"/>
          <p:cNvSpPr/>
          <p:nvPr/>
        </p:nvSpPr>
        <p:spPr>
          <a:xfrm>
            <a:off x="8229600" y="3566160"/>
            <a:ext cx="109728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I</a:t>
            </a:r>
            <a:endParaRPr lang="en-US" sz="1200" dirty="0"/>
          </a:p>
        </p:txBody>
      </p:sp>
      <p:sp>
        <p:nvSpPr>
          <p:cNvPr id="73" name="Shape 71"/>
          <p:cNvSpPr/>
          <p:nvPr/>
        </p:nvSpPr>
        <p:spPr>
          <a:xfrm>
            <a:off x="9326880" y="3566160"/>
            <a:ext cx="1188720" cy="411480"/>
          </a:xfrm>
          <a:prstGeom prst="rect">
            <a:avLst/>
          </a:prstGeom>
          <a:solidFill>
            <a:srgbClr val="FFFFFF"/>
          </a:solidFill>
          <a:ln w="6350">
            <a:solidFill>
              <a:srgbClr val="E1E6EF"/>
            </a:solidFill>
            <a:prstDash val="solid"/>
          </a:ln>
        </p:spPr>
        <p:txBody>
          <a:bodyPr/>
          <a:lstStyle/>
          <a:p>
            <a:endParaRPr lang="en-ZA"/>
          </a:p>
        </p:txBody>
      </p:sp>
      <p:sp>
        <p:nvSpPr>
          <p:cNvPr id="74" name="Text 72"/>
          <p:cNvSpPr/>
          <p:nvPr/>
        </p:nvSpPr>
        <p:spPr>
          <a:xfrm>
            <a:off x="9326880" y="3566160"/>
            <a:ext cx="118872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C</a:t>
            </a:r>
            <a:endParaRPr lang="en-US" sz="1200" dirty="0"/>
          </a:p>
        </p:txBody>
      </p:sp>
      <p:sp>
        <p:nvSpPr>
          <p:cNvPr id="75" name="Shape 73"/>
          <p:cNvSpPr/>
          <p:nvPr/>
        </p:nvSpPr>
        <p:spPr>
          <a:xfrm>
            <a:off x="548640" y="3977640"/>
            <a:ext cx="3108960" cy="411480"/>
          </a:xfrm>
          <a:prstGeom prst="rect">
            <a:avLst/>
          </a:prstGeom>
          <a:solidFill>
            <a:srgbClr val="FFF8F5"/>
          </a:solidFill>
          <a:ln w="6350">
            <a:solidFill>
              <a:srgbClr val="E1E6EF"/>
            </a:solidFill>
            <a:prstDash val="solid"/>
          </a:ln>
        </p:spPr>
        <p:txBody>
          <a:bodyPr/>
          <a:lstStyle/>
          <a:p>
            <a:endParaRPr lang="en-ZA"/>
          </a:p>
        </p:txBody>
      </p:sp>
      <p:sp>
        <p:nvSpPr>
          <p:cNvPr id="76" name="Text 74"/>
          <p:cNvSpPr/>
          <p:nvPr/>
        </p:nvSpPr>
        <p:spPr>
          <a:xfrm>
            <a:off x="548640" y="3977640"/>
            <a:ext cx="3108960" cy="411480"/>
          </a:xfrm>
          <a:prstGeom prst="rect">
            <a:avLst/>
          </a:prstGeom>
          <a:noFill/>
          <a:ln/>
        </p:spPr>
        <p:txBody>
          <a:bodyPr wrap="square" lIns="76200" tIns="76200" rIns="76200" bIns="76200" rtlCol="0" anchor="ctr"/>
          <a:lstStyle/>
          <a:p>
            <a:pPr marL="0" indent="0" algn="l">
              <a:buNone/>
            </a:pPr>
            <a:r>
              <a:rPr lang="en-US" sz="1100" b="1" dirty="0">
                <a:solidFill>
                  <a:srgbClr val="091F2C"/>
                </a:solidFill>
                <a:latin typeface="Segoe UI" pitchFamily="34" charset="0"/>
                <a:ea typeface="Segoe UI" pitchFamily="34" charset="-122"/>
                <a:cs typeface="Segoe UI" pitchFamily="34" charset="-120"/>
              </a:rPr>
              <a:t>Landing zone + pilot build</a:t>
            </a:r>
            <a:endParaRPr lang="en-US" sz="1100" dirty="0"/>
          </a:p>
        </p:txBody>
      </p:sp>
      <p:sp>
        <p:nvSpPr>
          <p:cNvPr id="77" name="Shape 75"/>
          <p:cNvSpPr/>
          <p:nvPr/>
        </p:nvSpPr>
        <p:spPr>
          <a:xfrm>
            <a:off x="3657600" y="3977640"/>
            <a:ext cx="914400" cy="411480"/>
          </a:xfrm>
          <a:prstGeom prst="rect">
            <a:avLst/>
          </a:prstGeom>
          <a:solidFill>
            <a:srgbClr val="FFF8F5"/>
          </a:solidFill>
          <a:ln w="6350">
            <a:solidFill>
              <a:srgbClr val="E1E6EF"/>
            </a:solidFill>
            <a:prstDash val="solid"/>
          </a:ln>
        </p:spPr>
        <p:txBody>
          <a:bodyPr/>
          <a:lstStyle/>
          <a:p>
            <a:endParaRPr lang="en-ZA"/>
          </a:p>
        </p:txBody>
      </p:sp>
      <p:sp>
        <p:nvSpPr>
          <p:cNvPr id="78" name="Text 76"/>
          <p:cNvSpPr/>
          <p:nvPr/>
        </p:nvSpPr>
        <p:spPr>
          <a:xfrm>
            <a:off x="3657600" y="3977640"/>
            <a:ext cx="91440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I</a:t>
            </a:r>
            <a:endParaRPr lang="en-US" sz="1200" dirty="0"/>
          </a:p>
        </p:txBody>
      </p:sp>
      <p:sp>
        <p:nvSpPr>
          <p:cNvPr id="79" name="Shape 77"/>
          <p:cNvSpPr/>
          <p:nvPr/>
        </p:nvSpPr>
        <p:spPr>
          <a:xfrm>
            <a:off x="4572000" y="3977640"/>
            <a:ext cx="914400" cy="411480"/>
          </a:xfrm>
          <a:prstGeom prst="rect">
            <a:avLst/>
          </a:prstGeom>
          <a:solidFill>
            <a:srgbClr val="FFF8F5"/>
          </a:solidFill>
          <a:ln w="6350">
            <a:solidFill>
              <a:srgbClr val="E1E6EF"/>
            </a:solidFill>
            <a:prstDash val="solid"/>
          </a:ln>
        </p:spPr>
        <p:txBody>
          <a:bodyPr/>
          <a:lstStyle/>
          <a:p>
            <a:endParaRPr lang="en-ZA"/>
          </a:p>
        </p:txBody>
      </p:sp>
      <p:sp>
        <p:nvSpPr>
          <p:cNvPr id="80" name="Text 78"/>
          <p:cNvSpPr/>
          <p:nvPr/>
        </p:nvSpPr>
        <p:spPr>
          <a:xfrm>
            <a:off x="4572000" y="3977640"/>
            <a:ext cx="91440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C</a:t>
            </a:r>
            <a:endParaRPr lang="en-US" sz="1200" dirty="0"/>
          </a:p>
        </p:txBody>
      </p:sp>
      <p:sp>
        <p:nvSpPr>
          <p:cNvPr id="81" name="Shape 79"/>
          <p:cNvSpPr/>
          <p:nvPr/>
        </p:nvSpPr>
        <p:spPr>
          <a:xfrm>
            <a:off x="5486400" y="3977640"/>
            <a:ext cx="1737360" cy="411480"/>
          </a:xfrm>
          <a:prstGeom prst="rect">
            <a:avLst/>
          </a:prstGeom>
          <a:solidFill>
            <a:srgbClr val="FFF8F5"/>
          </a:solidFill>
          <a:ln w="6350">
            <a:solidFill>
              <a:srgbClr val="E1E6EF"/>
            </a:solidFill>
            <a:prstDash val="solid"/>
          </a:ln>
        </p:spPr>
        <p:txBody>
          <a:bodyPr/>
          <a:lstStyle/>
          <a:p>
            <a:endParaRPr lang="en-ZA"/>
          </a:p>
        </p:txBody>
      </p:sp>
      <p:sp>
        <p:nvSpPr>
          <p:cNvPr id="82" name="Text 80"/>
          <p:cNvSpPr/>
          <p:nvPr/>
        </p:nvSpPr>
        <p:spPr>
          <a:xfrm>
            <a:off x="5486400" y="3977640"/>
            <a:ext cx="1737360" cy="411480"/>
          </a:xfrm>
          <a:prstGeom prst="rect">
            <a:avLst/>
          </a:prstGeom>
          <a:noFill/>
          <a:ln/>
        </p:spPr>
        <p:txBody>
          <a:bodyPr wrap="square" lIns="76200" tIns="76200" rIns="76200" bIns="76200" rtlCol="0" anchor="ctr"/>
          <a:lstStyle/>
          <a:p>
            <a:pPr marL="0" indent="0" algn="ctr">
              <a:buNone/>
            </a:pPr>
            <a:r>
              <a:rPr lang="en-US" sz="1200" b="1" dirty="0">
                <a:solidFill>
                  <a:srgbClr val="0078D4"/>
                </a:solidFill>
                <a:latin typeface="Segoe UI" pitchFamily="34" charset="0"/>
                <a:ea typeface="Segoe UI" pitchFamily="34" charset="-122"/>
                <a:cs typeface="Segoe UI" pitchFamily="34" charset="-120"/>
              </a:rPr>
              <a:t>A/R</a:t>
            </a:r>
            <a:endParaRPr lang="en-US" sz="1200" dirty="0"/>
          </a:p>
        </p:txBody>
      </p:sp>
      <p:sp>
        <p:nvSpPr>
          <p:cNvPr id="83" name="Shape 81"/>
          <p:cNvSpPr/>
          <p:nvPr/>
        </p:nvSpPr>
        <p:spPr>
          <a:xfrm>
            <a:off x="7223760" y="3977640"/>
            <a:ext cx="1005840" cy="411480"/>
          </a:xfrm>
          <a:prstGeom prst="rect">
            <a:avLst/>
          </a:prstGeom>
          <a:solidFill>
            <a:srgbClr val="FFF8F5"/>
          </a:solidFill>
          <a:ln w="6350">
            <a:solidFill>
              <a:srgbClr val="E1E6EF"/>
            </a:solidFill>
            <a:prstDash val="solid"/>
          </a:ln>
        </p:spPr>
        <p:txBody>
          <a:bodyPr/>
          <a:lstStyle/>
          <a:p>
            <a:endParaRPr lang="en-ZA"/>
          </a:p>
        </p:txBody>
      </p:sp>
      <p:sp>
        <p:nvSpPr>
          <p:cNvPr id="84" name="Text 82"/>
          <p:cNvSpPr/>
          <p:nvPr/>
        </p:nvSpPr>
        <p:spPr>
          <a:xfrm>
            <a:off x="7223760" y="3977640"/>
            <a:ext cx="100584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R</a:t>
            </a:r>
            <a:endParaRPr lang="en-US" sz="1200" dirty="0"/>
          </a:p>
        </p:txBody>
      </p:sp>
      <p:sp>
        <p:nvSpPr>
          <p:cNvPr id="85" name="Shape 83"/>
          <p:cNvSpPr/>
          <p:nvPr/>
        </p:nvSpPr>
        <p:spPr>
          <a:xfrm>
            <a:off x="8229600" y="3977640"/>
            <a:ext cx="1097280" cy="411480"/>
          </a:xfrm>
          <a:prstGeom prst="rect">
            <a:avLst/>
          </a:prstGeom>
          <a:solidFill>
            <a:srgbClr val="FFF8F5"/>
          </a:solidFill>
          <a:ln w="6350">
            <a:solidFill>
              <a:srgbClr val="E1E6EF"/>
            </a:solidFill>
            <a:prstDash val="solid"/>
          </a:ln>
        </p:spPr>
        <p:txBody>
          <a:bodyPr/>
          <a:lstStyle/>
          <a:p>
            <a:endParaRPr lang="en-ZA"/>
          </a:p>
        </p:txBody>
      </p:sp>
      <p:sp>
        <p:nvSpPr>
          <p:cNvPr id="86" name="Text 84"/>
          <p:cNvSpPr/>
          <p:nvPr/>
        </p:nvSpPr>
        <p:spPr>
          <a:xfrm>
            <a:off x="8229600" y="3977640"/>
            <a:ext cx="109728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I</a:t>
            </a:r>
            <a:endParaRPr lang="en-US" sz="1200" dirty="0"/>
          </a:p>
        </p:txBody>
      </p:sp>
      <p:sp>
        <p:nvSpPr>
          <p:cNvPr id="87" name="Shape 85"/>
          <p:cNvSpPr/>
          <p:nvPr/>
        </p:nvSpPr>
        <p:spPr>
          <a:xfrm>
            <a:off x="9326880" y="3977640"/>
            <a:ext cx="1188720" cy="411480"/>
          </a:xfrm>
          <a:prstGeom prst="rect">
            <a:avLst/>
          </a:prstGeom>
          <a:solidFill>
            <a:srgbClr val="FFF8F5"/>
          </a:solidFill>
          <a:ln w="6350">
            <a:solidFill>
              <a:srgbClr val="E1E6EF"/>
            </a:solidFill>
            <a:prstDash val="solid"/>
          </a:ln>
        </p:spPr>
        <p:txBody>
          <a:bodyPr/>
          <a:lstStyle/>
          <a:p>
            <a:endParaRPr lang="en-ZA"/>
          </a:p>
        </p:txBody>
      </p:sp>
      <p:sp>
        <p:nvSpPr>
          <p:cNvPr id="88" name="Text 86"/>
          <p:cNvSpPr/>
          <p:nvPr/>
        </p:nvSpPr>
        <p:spPr>
          <a:xfrm>
            <a:off x="9326880" y="3977640"/>
            <a:ext cx="118872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R</a:t>
            </a:r>
            <a:endParaRPr lang="en-US" sz="1200" dirty="0"/>
          </a:p>
        </p:txBody>
      </p:sp>
      <p:sp>
        <p:nvSpPr>
          <p:cNvPr id="89" name="Shape 87"/>
          <p:cNvSpPr/>
          <p:nvPr/>
        </p:nvSpPr>
        <p:spPr>
          <a:xfrm>
            <a:off x="548640" y="4389120"/>
            <a:ext cx="3108960" cy="411480"/>
          </a:xfrm>
          <a:prstGeom prst="rect">
            <a:avLst/>
          </a:prstGeom>
          <a:solidFill>
            <a:srgbClr val="FFFFFF"/>
          </a:solidFill>
          <a:ln w="6350">
            <a:solidFill>
              <a:srgbClr val="E1E6EF"/>
            </a:solidFill>
            <a:prstDash val="solid"/>
          </a:ln>
        </p:spPr>
        <p:txBody>
          <a:bodyPr/>
          <a:lstStyle/>
          <a:p>
            <a:endParaRPr lang="en-ZA"/>
          </a:p>
        </p:txBody>
      </p:sp>
      <p:sp>
        <p:nvSpPr>
          <p:cNvPr id="90" name="Text 88"/>
          <p:cNvSpPr/>
          <p:nvPr/>
        </p:nvSpPr>
        <p:spPr>
          <a:xfrm>
            <a:off x="548640" y="4389120"/>
            <a:ext cx="3108960" cy="411480"/>
          </a:xfrm>
          <a:prstGeom prst="rect">
            <a:avLst/>
          </a:prstGeom>
          <a:noFill/>
          <a:ln/>
        </p:spPr>
        <p:txBody>
          <a:bodyPr wrap="square" lIns="76200" tIns="76200" rIns="76200" bIns="76200" rtlCol="0" anchor="ctr"/>
          <a:lstStyle/>
          <a:p>
            <a:pPr marL="0" indent="0" algn="l">
              <a:buNone/>
            </a:pPr>
            <a:r>
              <a:rPr lang="en-US" sz="1100" b="1" dirty="0">
                <a:solidFill>
                  <a:srgbClr val="091F2C"/>
                </a:solidFill>
                <a:latin typeface="Segoe UI" pitchFamily="34" charset="0"/>
                <a:ea typeface="Segoe UI" pitchFamily="34" charset="-122"/>
                <a:cs typeface="Segoe UI" pitchFamily="34" charset="-120"/>
              </a:rPr>
              <a:t>Production scale · value</a:t>
            </a:r>
            <a:endParaRPr lang="en-US" sz="1100" dirty="0"/>
          </a:p>
        </p:txBody>
      </p:sp>
      <p:sp>
        <p:nvSpPr>
          <p:cNvPr id="91" name="Shape 89"/>
          <p:cNvSpPr/>
          <p:nvPr/>
        </p:nvSpPr>
        <p:spPr>
          <a:xfrm>
            <a:off x="3657600" y="4389120"/>
            <a:ext cx="914400" cy="411480"/>
          </a:xfrm>
          <a:prstGeom prst="rect">
            <a:avLst/>
          </a:prstGeom>
          <a:solidFill>
            <a:srgbClr val="FFFFFF"/>
          </a:solidFill>
          <a:ln w="6350">
            <a:solidFill>
              <a:srgbClr val="E1E6EF"/>
            </a:solidFill>
            <a:prstDash val="solid"/>
          </a:ln>
        </p:spPr>
        <p:txBody>
          <a:bodyPr/>
          <a:lstStyle/>
          <a:p>
            <a:endParaRPr lang="en-ZA"/>
          </a:p>
        </p:txBody>
      </p:sp>
      <p:sp>
        <p:nvSpPr>
          <p:cNvPr id="92" name="Text 90"/>
          <p:cNvSpPr/>
          <p:nvPr/>
        </p:nvSpPr>
        <p:spPr>
          <a:xfrm>
            <a:off x="3657600" y="4389120"/>
            <a:ext cx="91440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C</a:t>
            </a:r>
            <a:endParaRPr lang="en-US" sz="1200" dirty="0"/>
          </a:p>
        </p:txBody>
      </p:sp>
      <p:sp>
        <p:nvSpPr>
          <p:cNvPr id="93" name="Shape 91"/>
          <p:cNvSpPr/>
          <p:nvPr/>
        </p:nvSpPr>
        <p:spPr>
          <a:xfrm>
            <a:off x="4572000" y="4389120"/>
            <a:ext cx="914400" cy="411480"/>
          </a:xfrm>
          <a:prstGeom prst="rect">
            <a:avLst/>
          </a:prstGeom>
          <a:solidFill>
            <a:srgbClr val="FFFFFF"/>
          </a:solidFill>
          <a:ln w="6350">
            <a:solidFill>
              <a:srgbClr val="E1E6EF"/>
            </a:solidFill>
            <a:prstDash val="solid"/>
          </a:ln>
        </p:spPr>
        <p:txBody>
          <a:bodyPr/>
          <a:lstStyle/>
          <a:p>
            <a:endParaRPr lang="en-ZA"/>
          </a:p>
        </p:txBody>
      </p:sp>
      <p:sp>
        <p:nvSpPr>
          <p:cNvPr id="94" name="Text 92"/>
          <p:cNvSpPr/>
          <p:nvPr/>
        </p:nvSpPr>
        <p:spPr>
          <a:xfrm>
            <a:off x="4572000" y="4389120"/>
            <a:ext cx="91440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C</a:t>
            </a:r>
            <a:endParaRPr lang="en-US" sz="1200" dirty="0"/>
          </a:p>
        </p:txBody>
      </p:sp>
      <p:sp>
        <p:nvSpPr>
          <p:cNvPr id="95" name="Shape 93"/>
          <p:cNvSpPr/>
          <p:nvPr/>
        </p:nvSpPr>
        <p:spPr>
          <a:xfrm>
            <a:off x="5486400" y="4389120"/>
            <a:ext cx="1737360" cy="411480"/>
          </a:xfrm>
          <a:prstGeom prst="rect">
            <a:avLst/>
          </a:prstGeom>
          <a:solidFill>
            <a:srgbClr val="FFFFFF"/>
          </a:solidFill>
          <a:ln w="6350">
            <a:solidFill>
              <a:srgbClr val="E1E6EF"/>
            </a:solidFill>
            <a:prstDash val="solid"/>
          </a:ln>
        </p:spPr>
        <p:txBody>
          <a:bodyPr/>
          <a:lstStyle/>
          <a:p>
            <a:endParaRPr lang="en-ZA"/>
          </a:p>
        </p:txBody>
      </p:sp>
      <p:sp>
        <p:nvSpPr>
          <p:cNvPr id="96" name="Text 94"/>
          <p:cNvSpPr/>
          <p:nvPr/>
        </p:nvSpPr>
        <p:spPr>
          <a:xfrm>
            <a:off x="5486400" y="4389120"/>
            <a:ext cx="1737360" cy="411480"/>
          </a:xfrm>
          <a:prstGeom prst="rect">
            <a:avLst/>
          </a:prstGeom>
          <a:noFill/>
          <a:ln/>
        </p:spPr>
        <p:txBody>
          <a:bodyPr wrap="square" lIns="76200" tIns="76200" rIns="76200" bIns="76200" rtlCol="0" anchor="ctr"/>
          <a:lstStyle/>
          <a:p>
            <a:pPr marL="0" indent="0" algn="ctr">
              <a:buNone/>
            </a:pPr>
            <a:r>
              <a:rPr lang="en-US" sz="1200" b="1" dirty="0">
                <a:solidFill>
                  <a:srgbClr val="0078D4"/>
                </a:solidFill>
                <a:latin typeface="Segoe UI" pitchFamily="34" charset="0"/>
                <a:ea typeface="Segoe UI" pitchFamily="34" charset="-122"/>
                <a:cs typeface="Segoe UI" pitchFamily="34" charset="-120"/>
              </a:rPr>
              <a:t>A/R</a:t>
            </a:r>
            <a:endParaRPr lang="en-US" sz="1200" dirty="0"/>
          </a:p>
        </p:txBody>
      </p:sp>
      <p:sp>
        <p:nvSpPr>
          <p:cNvPr id="97" name="Shape 95"/>
          <p:cNvSpPr/>
          <p:nvPr/>
        </p:nvSpPr>
        <p:spPr>
          <a:xfrm>
            <a:off x="7223760" y="4389120"/>
            <a:ext cx="1005840" cy="411480"/>
          </a:xfrm>
          <a:prstGeom prst="rect">
            <a:avLst/>
          </a:prstGeom>
          <a:solidFill>
            <a:srgbClr val="FFFFFF"/>
          </a:solidFill>
          <a:ln w="6350">
            <a:solidFill>
              <a:srgbClr val="E1E6EF"/>
            </a:solidFill>
            <a:prstDash val="solid"/>
          </a:ln>
        </p:spPr>
        <p:txBody>
          <a:bodyPr/>
          <a:lstStyle/>
          <a:p>
            <a:endParaRPr lang="en-ZA"/>
          </a:p>
        </p:txBody>
      </p:sp>
      <p:sp>
        <p:nvSpPr>
          <p:cNvPr id="98" name="Text 96"/>
          <p:cNvSpPr/>
          <p:nvPr/>
        </p:nvSpPr>
        <p:spPr>
          <a:xfrm>
            <a:off x="7223760" y="4389120"/>
            <a:ext cx="100584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C</a:t>
            </a:r>
            <a:endParaRPr lang="en-US" sz="1200" dirty="0"/>
          </a:p>
        </p:txBody>
      </p:sp>
      <p:sp>
        <p:nvSpPr>
          <p:cNvPr id="99" name="Shape 97"/>
          <p:cNvSpPr/>
          <p:nvPr/>
        </p:nvSpPr>
        <p:spPr>
          <a:xfrm>
            <a:off x="8229600" y="4389120"/>
            <a:ext cx="1097280" cy="411480"/>
          </a:xfrm>
          <a:prstGeom prst="rect">
            <a:avLst/>
          </a:prstGeom>
          <a:solidFill>
            <a:srgbClr val="FFFFFF"/>
          </a:solidFill>
          <a:ln w="6350">
            <a:solidFill>
              <a:srgbClr val="E1E6EF"/>
            </a:solidFill>
            <a:prstDash val="solid"/>
          </a:ln>
        </p:spPr>
        <p:txBody>
          <a:bodyPr/>
          <a:lstStyle/>
          <a:p>
            <a:endParaRPr lang="en-ZA"/>
          </a:p>
        </p:txBody>
      </p:sp>
      <p:sp>
        <p:nvSpPr>
          <p:cNvPr id="100" name="Text 98"/>
          <p:cNvSpPr/>
          <p:nvPr/>
        </p:nvSpPr>
        <p:spPr>
          <a:xfrm>
            <a:off x="8229600" y="4389120"/>
            <a:ext cx="109728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I</a:t>
            </a:r>
            <a:endParaRPr lang="en-US" sz="1200" dirty="0"/>
          </a:p>
        </p:txBody>
      </p:sp>
      <p:sp>
        <p:nvSpPr>
          <p:cNvPr id="101" name="Shape 99"/>
          <p:cNvSpPr/>
          <p:nvPr/>
        </p:nvSpPr>
        <p:spPr>
          <a:xfrm>
            <a:off x="9326880" y="4389120"/>
            <a:ext cx="1188720" cy="411480"/>
          </a:xfrm>
          <a:prstGeom prst="rect">
            <a:avLst/>
          </a:prstGeom>
          <a:solidFill>
            <a:srgbClr val="FFFFFF"/>
          </a:solidFill>
          <a:ln w="6350">
            <a:solidFill>
              <a:srgbClr val="E1E6EF"/>
            </a:solidFill>
            <a:prstDash val="solid"/>
          </a:ln>
        </p:spPr>
        <p:txBody>
          <a:bodyPr/>
          <a:lstStyle/>
          <a:p>
            <a:endParaRPr lang="en-ZA"/>
          </a:p>
        </p:txBody>
      </p:sp>
      <p:sp>
        <p:nvSpPr>
          <p:cNvPr id="102" name="Text 100"/>
          <p:cNvSpPr/>
          <p:nvPr/>
        </p:nvSpPr>
        <p:spPr>
          <a:xfrm>
            <a:off x="9326880" y="4389120"/>
            <a:ext cx="118872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R</a:t>
            </a:r>
            <a:endParaRPr lang="en-US" sz="1200" dirty="0"/>
          </a:p>
        </p:txBody>
      </p:sp>
      <p:sp>
        <p:nvSpPr>
          <p:cNvPr id="103" name="Shape 101"/>
          <p:cNvSpPr/>
          <p:nvPr/>
        </p:nvSpPr>
        <p:spPr>
          <a:xfrm>
            <a:off x="548640" y="4800600"/>
            <a:ext cx="3108960" cy="411480"/>
          </a:xfrm>
          <a:prstGeom prst="rect">
            <a:avLst/>
          </a:prstGeom>
          <a:solidFill>
            <a:srgbClr val="FFF8F5"/>
          </a:solidFill>
          <a:ln w="6350">
            <a:solidFill>
              <a:srgbClr val="E1E6EF"/>
            </a:solidFill>
            <a:prstDash val="solid"/>
          </a:ln>
        </p:spPr>
        <p:txBody>
          <a:bodyPr/>
          <a:lstStyle/>
          <a:p>
            <a:endParaRPr lang="en-ZA"/>
          </a:p>
        </p:txBody>
      </p:sp>
      <p:sp>
        <p:nvSpPr>
          <p:cNvPr id="104" name="Text 102"/>
          <p:cNvSpPr/>
          <p:nvPr/>
        </p:nvSpPr>
        <p:spPr>
          <a:xfrm>
            <a:off x="548640" y="4800600"/>
            <a:ext cx="3108960" cy="411480"/>
          </a:xfrm>
          <a:prstGeom prst="rect">
            <a:avLst/>
          </a:prstGeom>
          <a:noFill/>
          <a:ln/>
        </p:spPr>
        <p:txBody>
          <a:bodyPr wrap="square" lIns="76200" tIns="76200" rIns="76200" bIns="76200" rtlCol="0" anchor="ctr"/>
          <a:lstStyle/>
          <a:p>
            <a:pPr marL="0" indent="0" algn="l">
              <a:buNone/>
            </a:pPr>
            <a:r>
              <a:rPr lang="en-US" sz="1100" b="1" dirty="0">
                <a:solidFill>
                  <a:srgbClr val="091F2C"/>
                </a:solidFill>
                <a:latin typeface="Segoe UI" pitchFamily="34" charset="0"/>
                <a:ea typeface="Segoe UI" pitchFamily="34" charset="-122"/>
                <a:cs typeface="Segoe UI" pitchFamily="34" charset="-120"/>
              </a:rPr>
              <a:t>Partner lifecycle &amp; MDF</a:t>
            </a:r>
            <a:endParaRPr lang="en-US" sz="1100" dirty="0"/>
          </a:p>
        </p:txBody>
      </p:sp>
      <p:sp>
        <p:nvSpPr>
          <p:cNvPr id="105" name="Shape 103"/>
          <p:cNvSpPr/>
          <p:nvPr/>
        </p:nvSpPr>
        <p:spPr>
          <a:xfrm>
            <a:off x="3657600" y="4800600"/>
            <a:ext cx="914400" cy="411480"/>
          </a:xfrm>
          <a:prstGeom prst="rect">
            <a:avLst/>
          </a:prstGeom>
          <a:solidFill>
            <a:srgbClr val="FFF8F5"/>
          </a:solidFill>
          <a:ln w="6350">
            <a:solidFill>
              <a:srgbClr val="E1E6EF"/>
            </a:solidFill>
            <a:prstDash val="solid"/>
          </a:ln>
        </p:spPr>
        <p:txBody>
          <a:bodyPr/>
          <a:lstStyle/>
          <a:p>
            <a:endParaRPr lang="en-ZA"/>
          </a:p>
        </p:txBody>
      </p:sp>
      <p:sp>
        <p:nvSpPr>
          <p:cNvPr id="106" name="Text 104"/>
          <p:cNvSpPr/>
          <p:nvPr/>
        </p:nvSpPr>
        <p:spPr>
          <a:xfrm>
            <a:off x="3657600" y="4800600"/>
            <a:ext cx="91440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C</a:t>
            </a:r>
            <a:endParaRPr lang="en-US" sz="1200" dirty="0"/>
          </a:p>
        </p:txBody>
      </p:sp>
      <p:sp>
        <p:nvSpPr>
          <p:cNvPr id="107" name="Shape 105"/>
          <p:cNvSpPr/>
          <p:nvPr/>
        </p:nvSpPr>
        <p:spPr>
          <a:xfrm>
            <a:off x="4572000" y="4800600"/>
            <a:ext cx="914400" cy="411480"/>
          </a:xfrm>
          <a:prstGeom prst="rect">
            <a:avLst/>
          </a:prstGeom>
          <a:solidFill>
            <a:srgbClr val="FFF8F5"/>
          </a:solidFill>
          <a:ln w="6350">
            <a:solidFill>
              <a:srgbClr val="E1E6EF"/>
            </a:solidFill>
            <a:prstDash val="solid"/>
          </a:ln>
        </p:spPr>
        <p:txBody>
          <a:bodyPr/>
          <a:lstStyle/>
          <a:p>
            <a:endParaRPr lang="en-ZA"/>
          </a:p>
        </p:txBody>
      </p:sp>
      <p:sp>
        <p:nvSpPr>
          <p:cNvPr id="108" name="Text 106"/>
          <p:cNvSpPr/>
          <p:nvPr/>
        </p:nvSpPr>
        <p:spPr>
          <a:xfrm>
            <a:off x="4572000" y="4800600"/>
            <a:ext cx="91440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I</a:t>
            </a:r>
            <a:endParaRPr lang="en-US" sz="1200" dirty="0"/>
          </a:p>
        </p:txBody>
      </p:sp>
      <p:sp>
        <p:nvSpPr>
          <p:cNvPr id="109" name="Shape 107"/>
          <p:cNvSpPr/>
          <p:nvPr/>
        </p:nvSpPr>
        <p:spPr>
          <a:xfrm>
            <a:off x="5486400" y="4800600"/>
            <a:ext cx="1737360" cy="411480"/>
          </a:xfrm>
          <a:prstGeom prst="rect">
            <a:avLst/>
          </a:prstGeom>
          <a:solidFill>
            <a:srgbClr val="FFF8F5"/>
          </a:solidFill>
          <a:ln w="6350">
            <a:solidFill>
              <a:srgbClr val="E1E6EF"/>
            </a:solidFill>
            <a:prstDash val="solid"/>
          </a:ln>
        </p:spPr>
        <p:txBody>
          <a:bodyPr/>
          <a:lstStyle/>
          <a:p>
            <a:endParaRPr lang="en-ZA"/>
          </a:p>
        </p:txBody>
      </p:sp>
      <p:sp>
        <p:nvSpPr>
          <p:cNvPr id="110" name="Text 108"/>
          <p:cNvSpPr/>
          <p:nvPr/>
        </p:nvSpPr>
        <p:spPr>
          <a:xfrm>
            <a:off x="5486400" y="4800600"/>
            <a:ext cx="173736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I</a:t>
            </a:r>
            <a:endParaRPr lang="en-US" sz="1200" dirty="0"/>
          </a:p>
        </p:txBody>
      </p:sp>
      <p:sp>
        <p:nvSpPr>
          <p:cNvPr id="111" name="Shape 109"/>
          <p:cNvSpPr/>
          <p:nvPr/>
        </p:nvSpPr>
        <p:spPr>
          <a:xfrm>
            <a:off x="7223760" y="4800600"/>
            <a:ext cx="1005840" cy="411480"/>
          </a:xfrm>
          <a:prstGeom prst="rect">
            <a:avLst/>
          </a:prstGeom>
          <a:solidFill>
            <a:srgbClr val="FFF8F5"/>
          </a:solidFill>
          <a:ln w="6350">
            <a:solidFill>
              <a:srgbClr val="E1E6EF"/>
            </a:solidFill>
            <a:prstDash val="solid"/>
          </a:ln>
        </p:spPr>
        <p:txBody>
          <a:bodyPr/>
          <a:lstStyle/>
          <a:p>
            <a:endParaRPr lang="en-ZA"/>
          </a:p>
        </p:txBody>
      </p:sp>
      <p:sp>
        <p:nvSpPr>
          <p:cNvPr id="112" name="Text 110"/>
          <p:cNvSpPr/>
          <p:nvPr/>
        </p:nvSpPr>
        <p:spPr>
          <a:xfrm>
            <a:off x="7223760" y="4800600"/>
            <a:ext cx="100584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I</a:t>
            </a:r>
            <a:endParaRPr lang="en-US" sz="1200" dirty="0"/>
          </a:p>
        </p:txBody>
      </p:sp>
      <p:sp>
        <p:nvSpPr>
          <p:cNvPr id="113" name="Shape 111"/>
          <p:cNvSpPr/>
          <p:nvPr/>
        </p:nvSpPr>
        <p:spPr>
          <a:xfrm>
            <a:off x="8229600" y="4800600"/>
            <a:ext cx="1097280" cy="411480"/>
          </a:xfrm>
          <a:prstGeom prst="rect">
            <a:avLst/>
          </a:prstGeom>
          <a:solidFill>
            <a:srgbClr val="FFF8F5"/>
          </a:solidFill>
          <a:ln w="6350">
            <a:solidFill>
              <a:srgbClr val="E1E6EF"/>
            </a:solidFill>
            <a:prstDash val="solid"/>
          </a:ln>
        </p:spPr>
        <p:txBody>
          <a:bodyPr/>
          <a:lstStyle/>
          <a:p>
            <a:endParaRPr lang="en-ZA"/>
          </a:p>
        </p:txBody>
      </p:sp>
      <p:sp>
        <p:nvSpPr>
          <p:cNvPr id="114" name="Text 112"/>
          <p:cNvSpPr/>
          <p:nvPr/>
        </p:nvSpPr>
        <p:spPr>
          <a:xfrm>
            <a:off x="8229600" y="4800600"/>
            <a:ext cx="1097280" cy="411480"/>
          </a:xfrm>
          <a:prstGeom prst="rect">
            <a:avLst/>
          </a:prstGeom>
          <a:noFill/>
          <a:ln/>
        </p:spPr>
        <p:txBody>
          <a:bodyPr wrap="square" lIns="76200" tIns="76200" rIns="76200" bIns="76200" rtlCol="0" anchor="ctr"/>
          <a:lstStyle/>
          <a:p>
            <a:pPr marL="0" indent="0" algn="ctr">
              <a:buNone/>
            </a:pPr>
            <a:r>
              <a:rPr lang="en-US" sz="1200" b="1" dirty="0">
                <a:solidFill>
                  <a:srgbClr val="0078D4"/>
                </a:solidFill>
                <a:latin typeface="Segoe UI" pitchFamily="34" charset="0"/>
                <a:ea typeface="Segoe UI" pitchFamily="34" charset="-122"/>
                <a:cs typeface="Segoe UI" pitchFamily="34" charset="-120"/>
              </a:rPr>
              <a:t>A/R</a:t>
            </a:r>
            <a:endParaRPr lang="en-US" sz="1200" dirty="0"/>
          </a:p>
        </p:txBody>
      </p:sp>
      <p:sp>
        <p:nvSpPr>
          <p:cNvPr id="115" name="Shape 113"/>
          <p:cNvSpPr/>
          <p:nvPr/>
        </p:nvSpPr>
        <p:spPr>
          <a:xfrm>
            <a:off x="9326880" y="4800600"/>
            <a:ext cx="1188720" cy="411480"/>
          </a:xfrm>
          <a:prstGeom prst="rect">
            <a:avLst/>
          </a:prstGeom>
          <a:solidFill>
            <a:srgbClr val="FFF8F5"/>
          </a:solidFill>
          <a:ln w="6350">
            <a:solidFill>
              <a:srgbClr val="E1E6EF"/>
            </a:solidFill>
            <a:prstDash val="solid"/>
          </a:ln>
        </p:spPr>
        <p:txBody>
          <a:bodyPr/>
          <a:lstStyle/>
          <a:p>
            <a:endParaRPr lang="en-ZA"/>
          </a:p>
        </p:txBody>
      </p:sp>
      <p:sp>
        <p:nvSpPr>
          <p:cNvPr id="116" name="Text 114"/>
          <p:cNvSpPr/>
          <p:nvPr/>
        </p:nvSpPr>
        <p:spPr>
          <a:xfrm>
            <a:off x="9326880" y="4800600"/>
            <a:ext cx="118872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R</a:t>
            </a:r>
            <a:endParaRPr lang="en-US" sz="1200" dirty="0"/>
          </a:p>
        </p:txBody>
      </p:sp>
      <p:sp>
        <p:nvSpPr>
          <p:cNvPr id="117" name="Shape 115"/>
          <p:cNvSpPr/>
          <p:nvPr/>
        </p:nvSpPr>
        <p:spPr>
          <a:xfrm>
            <a:off x="548640" y="5212080"/>
            <a:ext cx="3108960" cy="411480"/>
          </a:xfrm>
          <a:prstGeom prst="rect">
            <a:avLst/>
          </a:prstGeom>
          <a:solidFill>
            <a:srgbClr val="FFFFFF"/>
          </a:solidFill>
          <a:ln w="6350">
            <a:solidFill>
              <a:srgbClr val="E1E6EF"/>
            </a:solidFill>
            <a:prstDash val="solid"/>
          </a:ln>
        </p:spPr>
        <p:txBody>
          <a:bodyPr/>
          <a:lstStyle/>
          <a:p>
            <a:endParaRPr lang="en-ZA"/>
          </a:p>
        </p:txBody>
      </p:sp>
      <p:sp>
        <p:nvSpPr>
          <p:cNvPr id="118" name="Text 116"/>
          <p:cNvSpPr/>
          <p:nvPr/>
        </p:nvSpPr>
        <p:spPr>
          <a:xfrm>
            <a:off x="548640" y="5212080"/>
            <a:ext cx="3108960" cy="411480"/>
          </a:xfrm>
          <a:prstGeom prst="rect">
            <a:avLst/>
          </a:prstGeom>
          <a:noFill/>
          <a:ln/>
        </p:spPr>
        <p:txBody>
          <a:bodyPr wrap="square" lIns="76200" tIns="76200" rIns="76200" bIns="76200" rtlCol="0" anchor="ctr"/>
          <a:lstStyle/>
          <a:p>
            <a:pPr marL="0" indent="0" algn="l">
              <a:buNone/>
            </a:pPr>
            <a:r>
              <a:rPr lang="en-US" sz="1100" b="1" dirty="0">
                <a:solidFill>
                  <a:srgbClr val="091F2C"/>
                </a:solidFill>
                <a:latin typeface="Segoe UI" pitchFamily="34" charset="0"/>
                <a:ea typeface="Segoe UI" pitchFamily="34" charset="-122"/>
                <a:cs typeface="Segoe UI" pitchFamily="34" charset="-120"/>
              </a:rPr>
              <a:t>Expansion &amp; renewal</a:t>
            </a:r>
            <a:endParaRPr lang="en-US" sz="1100" dirty="0"/>
          </a:p>
        </p:txBody>
      </p:sp>
      <p:sp>
        <p:nvSpPr>
          <p:cNvPr id="119" name="Shape 117"/>
          <p:cNvSpPr/>
          <p:nvPr/>
        </p:nvSpPr>
        <p:spPr>
          <a:xfrm>
            <a:off x="3657600" y="5212080"/>
            <a:ext cx="914400" cy="411480"/>
          </a:xfrm>
          <a:prstGeom prst="rect">
            <a:avLst/>
          </a:prstGeom>
          <a:solidFill>
            <a:srgbClr val="FFFFFF"/>
          </a:solidFill>
          <a:ln w="6350">
            <a:solidFill>
              <a:srgbClr val="E1E6EF"/>
            </a:solidFill>
            <a:prstDash val="solid"/>
          </a:ln>
        </p:spPr>
        <p:txBody>
          <a:bodyPr/>
          <a:lstStyle/>
          <a:p>
            <a:endParaRPr lang="en-ZA"/>
          </a:p>
        </p:txBody>
      </p:sp>
      <p:sp>
        <p:nvSpPr>
          <p:cNvPr id="120" name="Text 118"/>
          <p:cNvSpPr/>
          <p:nvPr/>
        </p:nvSpPr>
        <p:spPr>
          <a:xfrm>
            <a:off x="3657600" y="5212080"/>
            <a:ext cx="914400" cy="411480"/>
          </a:xfrm>
          <a:prstGeom prst="rect">
            <a:avLst/>
          </a:prstGeom>
          <a:noFill/>
          <a:ln/>
        </p:spPr>
        <p:txBody>
          <a:bodyPr wrap="square" lIns="76200" tIns="76200" rIns="76200" bIns="76200" rtlCol="0" anchor="ctr"/>
          <a:lstStyle/>
          <a:p>
            <a:pPr marL="0" indent="0" algn="ctr">
              <a:buNone/>
            </a:pPr>
            <a:r>
              <a:rPr lang="en-US" sz="1200" b="1" dirty="0">
                <a:solidFill>
                  <a:srgbClr val="0078D4"/>
                </a:solidFill>
                <a:latin typeface="Segoe UI" pitchFamily="34" charset="0"/>
                <a:ea typeface="Segoe UI" pitchFamily="34" charset="-122"/>
                <a:cs typeface="Segoe UI" pitchFamily="34" charset="-120"/>
              </a:rPr>
              <a:t>A/R</a:t>
            </a:r>
            <a:endParaRPr lang="en-US" sz="1200" dirty="0"/>
          </a:p>
        </p:txBody>
      </p:sp>
      <p:sp>
        <p:nvSpPr>
          <p:cNvPr id="121" name="Shape 119"/>
          <p:cNvSpPr/>
          <p:nvPr/>
        </p:nvSpPr>
        <p:spPr>
          <a:xfrm>
            <a:off x="4572000" y="5212080"/>
            <a:ext cx="914400" cy="411480"/>
          </a:xfrm>
          <a:prstGeom prst="rect">
            <a:avLst/>
          </a:prstGeom>
          <a:solidFill>
            <a:srgbClr val="FFFFFF"/>
          </a:solidFill>
          <a:ln w="6350">
            <a:solidFill>
              <a:srgbClr val="E1E6EF"/>
            </a:solidFill>
            <a:prstDash val="solid"/>
          </a:ln>
        </p:spPr>
        <p:txBody>
          <a:bodyPr/>
          <a:lstStyle/>
          <a:p>
            <a:endParaRPr lang="en-ZA"/>
          </a:p>
        </p:txBody>
      </p:sp>
      <p:sp>
        <p:nvSpPr>
          <p:cNvPr id="122" name="Text 120"/>
          <p:cNvSpPr/>
          <p:nvPr/>
        </p:nvSpPr>
        <p:spPr>
          <a:xfrm>
            <a:off x="4572000" y="5212080"/>
            <a:ext cx="91440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R</a:t>
            </a:r>
            <a:endParaRPr lang="en-US" sz="1200" dirty="0"/>
          </a:p>
        </p:txBody>
      </p:sp>
      <p:sp>
        <p:nvSpPr>
          <p:cNvPr id="123" name="Shape 121"/>
          <p:cNvSpPr/>
          <p:nvPr/>
        </p:nvSpPr>
        <p:spPr>
          <a:xfrm>
            <a:off x="5486400" y="5212080"/>
            <a:ext cx="1737360" cy="411480"/>
          </a:xfrm>
          <a:prstGeom prst="rect">
            <a:avLst/>
          </a:prstGeom>
          <a:solidFill>
            <a:srgbClr val="FFFFFF"/>
          </a:solidFill>
          <a:ln w="6350">
            <a:solidFill>
              <a:srgbClr val="E1E6EF"/>
            </a:solidFill>
            <a:prstDash val="solid"/>
          </a:ln>
        </p:spPr>
        <p:txBody>
          <a:bodyPr/>
          <a:lstStyle/>
          <a:p>
            <a:endParaRPr lang="en-ZA"/>
          </a:p>
        </p:txBody>
      </p:sp>
      <p:sp>
        <p:nvSpPr>
          <p:cNvPr id="124" name="Text 122"/>
          <p:cNvSpPr/>
          <p:nvPr/>
        </p:nvSpPr>
        <p:spPr>
          <a:xfrm>
            <a:off x="5486400" y="5212080"/>
            <a:ext cx="173736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R</a:t>
            </a:r>
            <a:endParaRPr lang="en-US" sz="1200" dirty="0"/>
          </a:p>
        </p:txBody>
      </p:sp>
      <p:sp>
        <p:nvSpPr>
          <p:cNvPr id="125" name="Shape 123"/>
          <p:cNvSpPr/>
          <p:nvPr/>
        </p:nvSpPr>
        <p:spPr>
          <a:xfrm>
            <a:off x="7223760" y="5212080"/>
            <a:ext cx="1005840" cy="411480"/>
          </a:xfrm>
          <a:prstGeom prst="rect">
            <a:avLst/>
          </a:prstGeom>
          <a:solidFill>
            <a:srgbClr val="FFFFFF"/>
          </a:solidFill>
          <a:ln w="6350">
            <a:solidFill>
              <a:srgbClr val="E1E6EF"/>
            </a:solidFill>
            <a:prstDash val="solid"/>
          </a:ln>
        </p:spPr>
        <p:txBody>
          <a:bodyPr/>
          <a:lstStyle/>
          <a:p>
            <a:endParaRPr lang="en-ZA"/>
          </a:p>
        </p:txBody>
      </p:sp>
      <p:sp>
        <p:nvSpPr>
          <p:cNvPr id="126" name="Text 124"/>
          <p:cNvSpPr/>
          <p:nvPr/>
        </p:nvSpPr>
        <p:spPr>
          <a:xfrm>
            <a:off x="7223760" y="5212080"/>
            <a:ext cx="100584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I</a:t>
            </a:r>
            <a:endParaRPr lang="en-US" sz="1200" dirty="0"/>
          </a:p>
        </p:txBody>
      </p:sp>
      <p:sp>
        <p:nvSpPr>
          <p:cNvPr id="127" name="Shape 125"/>
          <p:cNvSpPr/>
          <p:nvPr/>
        </p:nvSpPr>
        <p:spPr>
          <a:xfrm>
            <a:off x="8229600" y="5212080"/>
            <a:ext cx="1097280" cy="411480"/>
          </a:xfrm>
          <a:prstGeom prst="rect">
            <a:avLst/>
          </a:prstGeom>
          <a:solidFill>
            <a:srgbClr val="FFFFFF"/>
          </a:solidFill>
          <a:ln w="6350">
            <a:solidFill>
              <a:srgbClr val="E1E6EF"/>
            </a:solidFill>
            <a:prstDash val="solid"/>
          </a:ln>
        </p:spPr>
        <p:txBody>
          <a:bodyPr/>
          <a:lstStyle/>
          <a:p>
            <a:endParaRPr lang="en-ZA"/>
          </a:p>
        </p:txBody>
      </p:sp>
      <p:sp>
        <p:nvSpPr>
          <p:cNvPr id="128" name="Text 126"/>
          <p:cNvSpPr/>
          <p:nvPr/>
        </p:nvSpPr>
        <p:spPr>
          <a:xfrm>
            <a:off x="8229600" y="5212080"/>
            <a:ext cx="109728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C</a:t>
            </a:r>
            <a:endParaRPr lang="en-US" sz="1200" dirty="0"/>
          </a:p>
        </p:txBody>
      </p:sp>
      <p:sp>
        <p:nvSpPr>
          <p:cNvPr id="129" name="Shape 127"/>
          <p:cNvSpPr/>
          <p:nvPr/>
        </p:nvSpPr>
        <p:spPr>
          <a:xfrm>
            <a:off x="9326880" y="5212080"/>
            <a:ext cx="1188720" cy="411480"/>
          </a:xfrm>
          <a:prstGeom prst="rect">
            <a:avLst/>
          </a:prstGeom>
          <a:solidFill>
            <a:srgbClr val="FFFFFF"/>
          </a:solidFill>
          <a:ln w="6350">
            <a:solidFill>
              <a:srgbClr val="E1E6EF"/>
            </a:solidFill>
            <a:prstDash val="solid"/>
          </a:ln>
        </p:spPr>
        <p:txBody>
          <a:bodyPr/>
          <a:lstStyle/>
          <a:p>
            <a:endParaRPr lang="en-ZA"/>
          </a:p>
        </p:txBody>
      </p:sp>
      <p:sp>
        <p:nvSpPr>
          <p:cNvPr id="130" name="Text 128"/>
          <p:cNvSpPr/>
          <p:nvPr/>
        </p:nvSpPr>
        <p:spPr>
          <a:xfrm>
            <a:off x="9326880" y="5212080"/>
            <a:ext cx="1188720" cy="411480"/>
          </a:xfrm>
          <a:prstGeom prst="rect">
            <a:avLst/>
          </a:prstGeom>
          <a:noFill/>
          <a:ln/>
        </p:spPr>
        <p:txBody>
          <a:bodyPr wrap="square" lIns="76200" tIns="76200" rIns="76200" bIns="76200"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C</a:t>
            </a:r>
            <a:endParaRPr lang="en-US" sz="1200" dirty="0"/>
          </a:p>
        </p:txBody>
      </p:sp>
      <p:sp>
        <p:nvSpPr>
          <p:cNvPr id="131" name="Text 129"/>
          <p:cNvSpPr/>
          <p:nvPr/>
        </p:nvSpPr>
        <p:spPr>
          <a:xfrm>
            <a:off x="548640" y="5669280"/>
            <a:ext cx="10972800" cy="274320"/>
          </a:xfrm>
          <a:prstGeom prst="rect">
            <a:avLst/>
          </a:prstGeom>
          <a:noFill/>
          <a:ln/>
        </p:spPr>
        <p:txBody>
          <a:bodyPr wrap="square" rtlCol="0" anchor="ctr"/>
          <a:lstStyle/>
          <a:p>
            <a:pPr marL="0" indent="0">
              <a:buNone/>
            </a:pPr>
            <a:r>
              <a:rPr lang="en-US" sz="1000" i="1" dirty="0">
                <a:solidFill>
                  <a:srgbClr val="8A94A6"/>
                </a:solidFill>
                <a:latin typeface="Segoe UI" pitchFamily="34" charset="0"/>
                <a:ea typeface="Segoe UI" pitchFamily="34" charset="-122"/>
                <a:cs typeface="Segoe UI" pitchFamily="34" charset="-120"/>
              </a:rPr>
              <a:t>A = Accountable · R = Responsible · C = Consulted · I = Informed</a:t>
            </a:r>
            <a:endParaRPr lang="en-US" sz="1000" dirty="0"/>
          </a:p>
        </p:txBody>
      </p:sp>
      <p:sp>
        <p:nvSpPr>
          <p:cNvPr id="132" name="Text 130"/>
          <p:cNvSpPr/>
          <p:nvPr/>
        </p:nvSpPr>
        <p:spPr>
          <a:xfrm>
            <a:off x="548640" y="5989320"/>
            <a:ext cx="11155680" cy="365760"/>
          </a:xfrm>
          <a:prstGeom prst="rect">
            <a:avLst/>
          </a:prstGeom>
          <a:noFill/>
          <a:ln/>
        </p:spPr>
        <p:txBody>
          <a:bodyPr wrap="square" rtlCol="0" anchor="ctr"/>
          <a:lstStyle/>
          <a:p>
            <a:pPr marL="0" indent="0">
              <a:buNone/>
            </a:pPr>
            <a:r>
              <a:rPr lang="en-US" sz="1300" b="1" dirty="0">
                <a:solidFill>
                  <a:srgbClr val="0078D4"/>
                </a:solidFill>
                <a:latin typeface="Segoe UI" pitchFamily="34" charset="0"/>
                <a:ea typeface="Segoe UI" pitchFamily="34" charset="-122"/>
                <a:cs typeface="Segoe UI" pitchFamily="34" charset="-120"/>
              </a:rPr>
              <a:t>CSU CSAs carry the customer through Realize Value — where ACR compounds and expansion is earned.</a:t>
            </a:r>
            <a:endParaRPr lang="en-US" sz="1300" dirty="0"/>
          </a:p>
        </p:txBody>
      </p:sp>
      <p:pic>
        <p:nvPicPr>
          <p:cNvPr id="133"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134" name="Text 131"/>
          <p:cNvSpPr/>
          <p:nvPr/>
        </p:nvSpPr>
        <p:spPr>
          <a:xfrm>
            <a:off x="640080" y="6492240"/>
            <a:ext cx="73152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 2026 Microsoft Corporation</a:t>
            </a:r>
            <a:endParaRPr lang="en-US" sz="900" dirty="0"/>
          </a:p>
        </p:txBody>
      </p:sp>
      <p:sp>
        <p:nvSpPr>
          <p:cNvPr id="135" name="Text 132"/>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9 / 19</a:t>
            </a:r>
            <a:endParaRPr lang="en-US" sz="900" dirty="0"/>
          </a:p>
        </p:txBody>
      </p:sp>
      <p:sp>
        <p:nvSpPr>
          <p:cNvPr id="136" name="AICOE_GEO_ACCENT_Right Triangle 135"/>
          <p:cNvSpPr/>
          <p:nvPr/>
        </p:nvSpPr>
        <p:spPr>
          <a:xfrm rot="5400000">
            <a:off x="11762232"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AICOE_GEO_ACCENT_Right Triangle 136"/>
          <p:cNvSpPr/>
          <p:nvPr/>
        </p:nvSpPr>
        <p:spPr>
          <a:xfrm rot="5400000">
            <a:off x="11874246"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8F5"/>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91440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STREAM 2 · PARTNERS</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200" b="1" dirty="0">
                <a:solidFill>
                  <a:srgbClr val="091F2C"/>
                </a:solidFill>
                <a:latin typeface="Segoe UI" pitchFamily="34" charset="0"/>
                <a:ea typeface="Segoe UI" pitchFamily="34" charset="-122"/>
                <a:cs typeface="Segoe UI" pitchFamily="34" charset="-120"/>
              </a:rPr>
              <a:t>Four Anchor Partner Archetypes</a:t>
            </a:r>
            <a:endParaRPr lang="en-US" sz="3200" dirty="0"/>
          </a:p>
        </p:txBody>
      </p:sp>
      <p:sp>
        <p:nvSpPr>
          <p:cNvPr id="5" name="Shape 3"/>
          <p:cNvSpPr/>
          <p:nvPr/>
        </p:nvSpPr>
        <p:spPr>
          <a:xfrm>
            <a:off x="548640" y="1828800"/>
            <a:ext cx="5440680" cy="1920240"/>
          </a:xfrm>
          <a:prstGeom prst="roundRect">
            <a:avLst>
              <a:gd name="adj" fmla="val 4762"/>
            </a:avLst>
          </a:prstGeom>
          <a:solidFill>
            <a:srgbClr val="FFFFFF"/>
          </a:solidFill>
          <a:ln w="12700">
            <a:solidFill>
              <a:srgbClr val="E1E6EF"/>
            </a:solidFill>
            <a:prstDash val="solid"/>
          </a:ln>
        </p:spPr>
        <p:txBody>
          <a:bodyPr/>
          <a:lstStyle/>
          <a:p>
            <a:endParaRPr lang="en-ZA"/>
          </a:p>
        </p:txBody>
      </p:sp>
      <p:sp>
        <p:nvSpPr>
          <p:cNvPr id="6" name="Shape 4"/>
          <p:cNvSpPr/>
          <p:nvPr/>
        </p:nvSpPr>
        <p:spPr>
          <a:xfrm>
            <a:off x="548640" y="1828800"/>
            <a:ext cx="137160" cy="1920240"/>
          </a:xfrm>
          <a:prstGeom prst="rect">
            <a:avLst/>
          </a:prstGeom>
          <a:solidFill>
            <a:srgbClr val="0078D4"/>
          </a:solidFill>
          <a:ln w="12700">
            <a:solidFill>
              <a:srgbClr val="0078D4"/>
            </a:solidFill>
            <a:prstDash val="solid"/>
          </a:ln>
        </p:spPr>
        <p:txBody>
          <a:bodyPr/>
          <a:lstStyle/>
          <a:p>
            <a:endParaRPr lang="en-ZA"/>
          </a:p>
        </p:txBody>
      </p:sp>
      <p:sp>
        <p:nvSpPr>
          <p:cNvPr id="7" name="Text 5"/>
          <p:cNvSpPr/>
          <p:nvPr/>
        </p:nvSpPr>
        <p:spPr>
          <a:xfrm>
            <a:off x="868680" y="1965960"/>
            <a:ext cx="4983480" cy="320040"/>
          </a:xfrm>
          <a:prstGeom prst="rect">
            <a:avLst/>
          </a:prstGeom>
          <a:noFill/>
          <a:ln/>
        </p:spPr>
        <p:txBody>
          <a:bodyPr wrap="square" rtlCol="0" anchor="ctr"/>
          <a:lstStyle/>
          <a:p>
            <a:pPr marL="0" indent="0">
              <a:buNone/>
            </a:pPr>
            <a:r>
              <a:rPr lang="en-US" sz="1300" b="1" kern="0" spc="300" dirty="0">
                <a:solidFill>
                  <a:srgbClr val="0078D4"/>
                </a:solidFill>
                <a:latin typeface="Segoe UI" pitchFamily="34" charset="0"/>
                <a:ea typeface="Segoe UI" pitchFamily="34" charset="-122"/>
                <a:cs typeface="Segoe UI" pitchFamily="34" charset="-120"/>
              </a:rPr>
              <a:t>STRATEGIC SI</a:t>
            </a:r>
            <a:endParaRPr lang="en-US" sz="1300" dirty="0"/>
          </a:p>
        </p:txBody>
      </p:sp>
      <p:sp>
        <p:nvSpPr>
          <p:cNvPr id="8" name="Text 6"/>
          <p:cNvSpPr/>
          <p:nvPr/>
        </p:nvSpPr>
        <p:spPr>
          <a:xfrm>
            <a:off x="868680" y="2331720"/>
            <a:ext cx="4983480" cy="548640"/>
          </a:xfrm>
          <a:prstGeom prst="rect">
            <a:avLst/>
          </a:prstGeom>
          <a:noFill/>
          <a:ln/>
        </p:spPr>
        <p:txBody>
          <a:bodyPr wrap="square" rtlCol="0" anchor="ctr"/>
          <a:lstStyle/>
          <a:p>
            <a:pPr marL="0" indent="0">
              <a:buNone/>
            </a:pPr>
            <a:r>
              <a:rPr lang="en-US" sz="1400" b="1" dirty="0">
                <a:solidFill>
                  <a:srgbClr val="091F2C"/>
                </a:solidFill>
                <a:latin typeface="Segoe UI" pitchFamily="34" charset="0"/>
                <a:ea typeface="Segoe UI" pitchFamily="34" charset="-122"/>
                <a:cs typeface="Segoe UI" pitchFamily="34" charset="-120"/>
              </a:rPr>
              <a:t>Global SIs — Capgemini, NTT DATA, Accenture, Deloitte</a:t>
            </a:r>
            <a:endParaRPr lang="en-US" sz="1400" dirty="0"/>
          </a:p>
        </p:txBody>
      </p:sp>
      <p:sp>
        <p:nvSpPr>
          <p:cNvPr id="9" name="Text 7"/>
          <p:cNvSpPr/>
          <p:nvPr/>
        </p:nvSpPr>
        <p:spPr>
          <a:xfrm>
            <a:off x="868680" y="2926080"/>
            <a:ext cx="4983480" cy="731520"/>
          </a:xfrm>
          <a:prstGeom prst="rect">
            <a:avLst/>
          </a:prstGeom>
          <a:noFill/>
          <a:ln/>
        </p:spPr>
        <p:txBody>
          <a:bodyPr wrap="square" rtlCol="0" anchor="ctr"/>
          <a:lstStyle/>
          <a:p>
            <a:pPr marL="0" indent="0">
              <a:buNone/>
            </a:pPr>
            <a:r>
              <a:rPr lang="en-US" sz="1200" dirty="0">
                <a:solidFill>
                  <a:srgbClr val="4B5563"/>
                </a:solidFill>
                <a:latin typeface="Segoe UI" pitchFamily="34" charset="0"/>
                <a:ea typeface="Segoe UI" pitchFamily="34" charset="-122"/>
                <a:cs typeface="Segoe UI" pitchFamily="34" charset="-120"/>
              </a:rPr>
              <a:t>End-to-end CoE design + multi-year transformation</a:t>
            </a:r>
            <a:endParaRPr lang="en-US" sz="1200" dirty="0"/>
          </a:p>
        </p:txBody>
      </p:sp>
      <p:sp>
        <p:nvSpPr>
          <p:cNvPr id="10" name="Shape 8"/>
          <p:cNvSpPr/>
          <p:nvPr/>
        </p:nvSpPr>
        <p:spPr>
          <a:xfrm>
            <a:off x="6217920" y="1828800"/>
            <a:ext cx="5440680" cy="1920240"/>
          </a:xfrm>
          <a:prstGeom prst="roundRect">
            <a:avLst>
              <a:gd name="adj" fmla="val 4762"/>
            </a:avLst>
          </a:prstGeom>
          <a:solidFill>
            <a:srgbClr val="FFFFFF"/>
          </a:solidFill>
          <a:ln w="12700">
            <a:solidFill>
              <a:srgbClr val="E1E6EF"/>
            </a:solidFill>
            <a:prstDash val="solid"/>
          </a:ln>
        </p:spPr>
        <p:txBody>
          <a:bodyPr/>
          <a:lstStyle/>
          <a:p>
            <a:endParaRPr lang="en-ZA"/>
          </a:p>
        </p:txBody>
      </p:sp>
      <p:sp>
        <p:nvSpPr>
          <p:cNvPr id="11" name="Shape 9"/>
          <p:cNvSpPr/>
          <p:nvPr/>
        </p:nvSpPr>
        <p:spPr>
          <a:xfrm>
            <a:off x="6217920" y="1828800"/>
            <a:ext cx="137160" cy="1920240"/>
          </a:xfrm>
          <a:prstGeom prst="rect">
            <a:avLst/>
          </a:prstGeom>
          <a:solidFill>
            <a:srgbClr val="0057B8"/>
          </a:solidFill>
          <a:ln w="12700">
            <a:solidFill>
              <a:srgbClr val="0057B8"/>
            </a:solidFill>
            <a:prstDash val="solid"/>
          </a:ln>
        </p:spPr>
        <p:txBody>
          <a:bodyPr/>
          <a:lstStyle/>
          <a:p>
            <a:endParaRPr lang="en-ZA"/>
          </a:p>
        </p:txBody>
      </p:sp>
      <p:sp>
        <p:nvSpPr>
          <p:cNvPr id="12" name="Text 10"/>
          <p:cNvSpPr/>
          <p:nvPr/>
        </p:nvSpPr>
        <p:spPr>
          <a:xfrm>
            <a:off x="6537960" y="1965960"/>
            <a:ext cx="4983480" cy="320040"/>
          </a:xfrm>
          <a:prstGeom prst="rect">
            <a:avLst/>
          </a:prstGeom>
          <a:noFill/>
          <a:ln/>
        </p:spPr>
        <p:txBody>
          <a:bodyPr wrap="square" rtlCol="0" anchor="ctr"/>
          <a:lstStyle/>
          <a:p>
            <a:pPr marL="0" indent="0">
              <a:buNone/>
            </a:pPr>
            <a:r>
              <a:rPr lang="en-US" sz="1300" b="1" kern="0" spc="300" dirty="0">
                <a:solidFill>
                  <a:srgbClr val="0057B8"/>
                </a:solidFill>
                <a:latin typeface="Segoe UI" pitchFamily="34" charset="0"/>
                <a:ea typeface="Segoe UI" pitchFamily="34" charset="-122"/>
                <a:cs typeface="Segoe UI" pitchFamily="34" charset="-120"/>
              </a:rPr>
              <a:t>REGIONAL SI</a:t>
            </a:r>
            <a:endParaRPr lang="en-US" sz="1300" dirty="0"/>
          </a:p>
        </p:txBody>
      </p:sp>
      <p:sp>
        <p:nvSpPr>
          <p:cNvPr id="13" name="Text 11"/>
          <p:cNvSpPr/>
          <p:nvPr/>
        </p:nvSpPr>
        <p:spPr>
          <a:xfrm>
            <a:off x="6537960" y="2331720"/>
            <a:ext cx="4983480" cy="548640"/>
          </a:xfrm>
          <a:prstGeom prst="rect">
            <a:avLst/>
          </a:prstGeom>
          <a:noFill/>
          <a:ln/>
        </p:spPr>
        <p:txBody>
          <a:bodyPr wrap="square" rtlCol="0" anchor="ctr"/>
          <a:lstStyle/>
          <a:p>
            <a:pPr marL="0" indent="0">
              <a:buNone/>
            </a:pPr>
            <a:r>
              <a:rPr lang="en-US" sz="1400" b="1" dirty="0">
                <a:solidFill>
                  <a:srgbClr val="091F2C"/>
                </a:solidFill>
                <a:latin typeface="Segoe UI" pitchFamily="34" charset="0"/>
                <a:ea typeface="Segoe UI" pitchFamily="34" charset="-122"/>
                <a:cs typeface="Segoe UI" pitchFamily="34" charset="-120"/>
              </a:rPr>
              <a:t>Mid-market SIs with deep industry vertical depth</a:t>
            </a:r>
            <a:endParaRPr lang="en-US" sz="1400" dirty="0"/>
          </a:p>
        </p:txBody>
      </p:sp>
      <p:sp>
        <p:nvSpPr>
          <p:cNvPr id="14" name="Text 12"/>
          <p:cNvSpPr/>
          <p:nvPr/>
        </p:nvSpPr>
        <p:spPr>
          <a:xfrm>
            <a:off x="6537960" y="2926080"/>
            <a:ext cx="4983480" cy="731520"/>
          </a:xfrm>
          <a:prstGeom prst="rect">
            <a:avLst/>
          </a:prstGeom>
          <a:noFill/>
          <a:ln/>
        </p:spPr>
        <p:txBody>
          <a:bodyPr wrap="square" rtlCol="0" anchor="ctr"/>
          <a:lstStyle/>
          <a:p>
            <a:pPr marL="0" indent="0">
              <a:buNone/>
            </a:pPr>
            <a:r>
              <a:rPr lang="en-US" sz="1200" dirty="0">
                <a:solidFill>
                  <a:srgbClr val="4B5563"/>
                </a:solidFill>
                <a:latin typeface="Segoe UI" pitchFamily="34" charset="0"/>
                <a:ea typeface="Segoe UI" pitchFamily="34" charset="-122"/>
                <a:cs typeface="Segoe UI" pitchFamily="34" charset="-120"/>
              </a:rPr>
              <a:t>Industry-specific CoE blueprints and first-wave pilots</a:t>
            </a:r>
            <a:endParaRPr lang="en-US" sz="1200" dirty="0"/>
          </a:p>
        </p:txBody>
      </p:sp>
      <p:sp>
        <p:nvSpPr>
          <p:cNvPr id="15" name="Shape 13"/>
          <p:cNvSpPr/>
          <p:nvPr/>
        </p:nvSpPr>
        <p:spPr>
          <a:xfrm>
            <a:off x="548640" y="4023360"/>
            <a:ext cx="5440680" cy="1920240"/>
          </a:xfrm>
          <a:prstGeom prst="roundRect">
            <a:avLst>
              <a:gd name="adj" fmla="val 4762"/>
            </a:avLst>
          </a:prstGeom>
          <a:solidFill>
            <a:srgbClr val="FFFFFF"/>
          </a:solidFill>
          <a:ln w="12700">
            <a:solidFill>
              <a:srgbClr val="E1E6EF"/>
            </a:solidFill>
            <a:prstDash val="solid"/>
          </a:ln>
        </p:spPr>
        <p:txBody>
          <a:bodyPr/>
          <a:lstStyle/>
          <a:p>
            <a:endParaRPr lang="en-ZA"/>
          </a:p>
        </p:txBody>
      </p:sp>
      <p:sp>
        <p:nvSpPr>
          <p:cNvPr id="16" name="Shape 14"/>
          <p:cNvSpPr/>
          <p:nvPr/>
        </p:nvSpPr>
        <p:spPr>
          <a:xfrm>
            <a:off x="548640" y="4023360"/>
            <a:ext cx="137160" cy="1920240"/>
          </a:xfrm>
          <a:prstGeom prst="rect">
            <a:avLst/>
          </a:prstGeom>
          <a:solidFill>
            <a:srgbClr val="C03BC4"/>
          </a:solidFill>
          <a:ln w="12700">
            <a:solidFill>
              <a:srgbClr val="C03BC4"/>
            </a:solidFill>
            <a:prstDash val="solid"/>
          </a:ln>
        </p:spPr>
        <p:txBody>
          <a:bodyPr/>
          <a:lstStyle/>
          <a:p>
            <a:endParaRPr lang="en-ZA"/>
          </a:p>
        </p:txBody>
      </p:sp>
      <p:sp>
        <p:nvSpPr>
          <p:cNvPr id="17" name="Text 15"/>
          <p:cNvSpPr/>
          <p:nvPr/>
        </p:nvSpPr>
        <p:spPr>
          <a:xfrm>
            <a:off x="868680" y="4160520"/>
            <a:ext cx="4983480" cy="320040"/>
          </a:xfrm>
          <a:prstGeom prst="rect">
            <a:avLst/>
          </a:prstGeom>
          <a:noFill/>
          <a:ln/>
        </p:spPr>
        <p:txBody>
          <a:bodyPr wrap="square" rtlCol="0" anchor="ctr"/>
          <a:lstStyle/>
          <a:p>
            <a:pPr marL="0" indent="0">
              <a:buNone/>
            </a:pPr>
            <a:r>
              <a:rPr lang="en-US" sz="1300" b="1" kern="0" spc="300" dirty="0">
                <a:solidFill>
                  <a:srgbClr val="C03BC4"/>
                </a:solidFill>
                <a:latin typeface="Segoe UI" pitchFamily="34" charset="0"/>
                <a:ea typeface="Segoe UI" pitchFamily="34" charset="-122"/>
                <a:cs typeface="Segoe UI" pitchFamily="34" charset="-120"/>
              </a:rPr>
              <a:t>ISV · SOLUTION</a:t>
            </a:r>
            <a:endParaRPr lang="en-US" sz="1300" dirty="0"/>
          </a:p>
        </p:txBody>
      </p:sp>
      <p:sp>
        <p:nvSpPr>
          <p:cNvPr id="18" name="Text 16"/>
          <p:cNvSpPr/>
          <p:nvPr/>
        </p:nvSpPr>
        <p:spPr>
          <a:xfrm>
            <a:off x="868680" y="4526280"/>
            <a:ext cx="4983480" cy="548640"/>
          </a:xfrm>
          <a:prstGeom prst="rect">
            <a:avLst/>
          </a:prstGeom>
          <a:noFill/>
          <a:ln/>
        </p:spPr>
        <p:txBody>
          <a:bodyPr wrap="square" rtlCol="0" anchor="ctr"/>
          <a:lstStyle/>
          <a:p>
            <a:pPr marL="0" indent="0">
              <a:buNone/>
            </a:pPr>
            <a:r>
              <a:rPr lang="en-US" sz="1400" b="1" dirty="0">
                <a:solidFill>
                  <a:srgbClr val="091F2C"/>
                </a:solidFill>
                <a:latin typeface="Segoe UI" pitchFamily="34" charset="0"/>
                <a:ea typeface="Segoe UI" pitchFamily="34" charset="-122"/>
                <a:cs typeface="Segoe UI" pitchFamily="34" charset="-120"/>
              </a:rPr>
              <a:t>ISVs with IP on Foundry, Copilot Studio, Fabric</a:t>
            </a:r>
            <a:endParaRPr lang="en-US" sz="1400" dirty="0"/>
          </a:p>
        </p:txBody>
      </p:sp>
      <p:sp>
        <p:nvSpPr>
          <p:cNvPr id="19" name="Text 17"/>
          <p:cNvSpPr/>
          <p:nvPr/>
        </p:nvSpPr>
        <p:spPr>
          <a:xfrm>
            <a:off x="868680" y="5120640"/>
            <a:ext cx="4983480" cy="731520"/>
          </a:xfrm>
          <a:prstGeom prst="rect">
            <a:avLst/>
          </a:prstGeom>
          <a:noFill/>
          <a:ln/>
        </p:spPr>
        <p:txBody>
          <a:bodyPr wrap="square" rtlCol="0" anchor="ctr"/>
          <a:lstStyle/>
          <a:p>
            <a:pPr marL="0" indent="0">
              <a:buNone/>
            </a:pPr>
            <a:r>
              <a:rPr lang="en-US" sz="1200" dirty="0">
                <a:solidFill>
                  <a:srgbClr val="4B5563"/>
                </a:solidFill>
                <a:latin typeface="Segoe UI" pitchFamily="34" charset="0"/>
                <a:ea typeface="Segoe UI" pitchFamily="34" charset="-122"/>
                <a:cs typeface="Segoe UI" pitchFamily="34" charset="-120"/>
              </a:rPr>
              <a:t>Embed their IP inside the customer CoE as accelerators</a:t>
            </a:r>
            <a:endParaRPr lang="en-US" sz="1200" dirty="0"/>
          </a:p>
        </p:txBody>
      </p:sp>
      <p:sp>
        <p:nvSpPr>
          <p:cNvPr id="20" name="Shape 18"/>
          <p:cNvSpPr/>
          <p:nvPr/>
        </p:nvSpPr>
        <p:spPr>
          <a:xfrm>
            <a:off x="6217920" y="4023360"/>
            <a:ext cx="5440680" cy="1920240"/>
          </a:xfrm>
          <a:prstGeom prst="roundRect">
            <a:avLst>
              <a:gd name="adj" fmla="val 4762"/>
            </a:avLst>
          </a:prstGeom>
          <a:solidFill>
            <a:srgbClr val="FFFFFF"/>
          </a:solidFill>
          <a:ln w="12700">
            <a:solidFill>
              <a:srgbClr val="E1E6EF"/>
            </a:solidFill>
            <a:prstDash val="solid"/>
          </a:ln>
        </p:spPr>
        <p:txBody>
          <a:bodyPr/>
          <a:lstStyle/>
          <a:p>
            <a:endParaRPr lang="en-ZA"/>
          </a:p>
        </p:txBody>
      </p:sp>
      <p:sp>
        <p:nvSpPr>
          <p:cNvPr id="21" name="Shape 19"/>
          <p:cNvSpPr/>
          <p:nvPr/>
        </p:nvSpPr>
        <p:spPr>
          <a:xfrm>
            <a:off x="6217920" y="4023360"/>
            <a:ext cx="137160" cy="1920240"/>
          </a:xfrm>
          <a:prstGeom prst="rect">
            <a:avLst/>
          </a:prstGeom>
          <a:solidFill>
            <a:srgbClr val="225B62"/>
          </a:solidFill>
          <a:ln w="12700">
            <a:solidFill>
              <a:srgbClr val="225B62"/>
            </a:solidFill>
            <a:prstDash val="solid"/>
          </a:ln>
        </p:spPr>
        <p:txBody>
          <a:bodyPr/>
          <a:lstStyle/>
          <a:p>
            <a:endParaRPr lang="en-ZA"/>
          </a:p>
        </p:txBody>
      </p:sp>
      <p:sp>
        <p:nvSpPr>
          <p:cNvPr id="22" name="Text 20"/>
          <p:cNvSpPr/>
          <p:nvPr/>
        </p:nvSpPr>
        <p:spPr>
          <a:xfrm>
            <a:off x="6537960" y="4160520"/>
            <a:ext cx="4983480" cy="320040"/>
          </a:xfrm>
          <a:prstGeom prst="rect">
            <a:avLst/>
          </a:prstGeom>
          <a:noFill/>
          <a:ln/>
        </p:spPr>
        <p:txBody>
          <a:bodyPr wrap="square" rtlCol="0" anchor="ctr"/>
          <a:lstStyle/>
          <a:p>
            <a:pPr marL="0" indent="0">
              <a:buNone/>
            </a:pPr>
            <a:r>
              <a:rPr lang="en-US" sz="1300" b="1" kern="0" spc="300" dirty="0">
                <a:solidFill>
                  <a:srgbClr val="225B62"/>
                </a:solidFill>
                <a:latin typeface="Segoe UI" pitchFamily="34" charset="0"/>
                <a:ea typeface="Segoe UI" pitchFamily="34" charset="-122"/>
                <a:cs typeface="Segoe UI" pitchFamily="34" charset="-120"/>
              </a:rPr>
              <a:t>MANAGED SERVICE</a:t>
            </a:r>
            <a:endParaRPr lang="en-US" sz="1300" dirty="0"/>
          </a:p>
        </p:txBody>
      </p:sp>
      <p:sp>
        <p:nvSpPr>
          <p:cNvPr id="23" name="Text 21"/>
          <p:cNvSpPr/>
          <p:nvPr/>
        </p:nvSpPr>
        <p:spPr>
          <a:xfrm>
            <a:off x="6537960" y="4526280"/>
            <a:ext cx="4983480" cy="548640"/>
          </a:xfrm>
          <a:prstGeom prst="rect">
            <a:avLst/>
          </a:prstGeom>
          <a:noFill/>
          <a:ln/>
        </p:spPr>
        <p:txBody>
          <a:bodyPr wrap="square" rtlCol="0" anchor="ctr"/>
          <a:lstStyle/>
          <a:p>
            <a:pPr marL="0" indent="0">
              <a:buNone/>
            </a:pPr>
            <a:r>
              <a:rPr lang="en-US" sz="1400" b="1" dirty="0">
                <a:solidFill>
                  <a:srgbClr val="091F2C"/>
                </a:solidFill>
                <a:latin typeface="Segoe UI" pitchFamily="34" charset="0"/>
                <a:ea typeface="Segoe UI" pitchFamily="34" charset="-122"/>
                <a:cs typeface="Segoe UI" pitchFamily="34" charset="-120"/>
              </a:rPr>
              <a:t>CSP-H · Expert MSP · Azure Expert MSP</a:t>
            </a:r>
            <a:endParaRPr lang="en-US" sz="1400" dirty="0"/>
          </a:p>
        </p:txBody>
      </p:sp>
      <p:sp>
        <p:nvSpPr>
          <p:cNvPr id="24" name="Text 22"/>
          <p:cNvSpPr/>
          <p:nvPr/>
        </p:nvSpPr>
        <p:spPr>
          <a:xfrm>
            <a:off x="6537960" y="5120640"/>
            <a:ext cx="4983480" cy="731520"/>
          </a:xfrm>
          <a:prstGeom prst="rect">
            <a:avLst/>
          </a:prstGeom>
          <a:noFill/>
          <a:ln/>
        </p:spPr>
        <p:txBody>
          <a:bodyPr wrap="square" rtlCol="0" anchor="ctr"/>
          <a:lstStyle/>
          <a:p>
            <a:pPr marL="0" indent="0">
              <a:buNone/>
            </a:pPr>
            <a:r>
              <a:rPr lang="en-US" sz="1200" dirty="0">
                <a:solidFill>
                  <a:srgbClr val="4B5563"/>
                </a:solidFill>
                <a:latin typeface="Segoe UI" pitchFamily="34" charset="0"/>
                <a:ea typeface="Segoe UI" pitchFamily="34" charset="-122"/>
                <a:cs typeface="Segoe UI" pitchFamily="34" charset="-120"/>
              </a:rPr>
              <a:t>Run the CoE post-stand-up · FinOps · ongoing governance</a:t>
            </a:r>
            <a:endParaRPr lang="en-US" sz="1200" dirty="0"/>
          </a:p>
        </p:txBody>
      </p:sp>
      <p:sp>
        <p:nvSpPr>
          <p:cNvPr id="25" name="Text 23"/>
          <p:cNvSpPr/>
          <p:nvPr/>
        </p:nvSpPr>
        <p:spPr>
          <a:xfrm>
            <a:off x="548640" y="6126480"/>
            <a:ext cx="11155680" cy="320040"/>
          </a:xfrm>
          <a:prstGeom prst="rect">
            <a:avLst/>
          </a:prstGeom>
          <a:noFill/>
          <a:ln/>
        </p:spPr>
        <p:txBody>
          <a:bodyPr wrap="square" rtlCol="0" anchor="ctr"/>
          <a:lstStyle/>
          <a:p>
            <a:pPr marL="0" indent="0">
              <a:buNone/>
            </a:pPr>
            <a:r>
              <a:rPr lang="en-US" sz="1200" i="1" dirty="0">
                <a:solidFill>
                  <a:srgbClr val="091F2C"/>
                </a:solidFill>
                <a:latin typeface="Segoe UI" pitchFamily="34" charset="0"/>
                <a:ea typeface="Segoe UI" pitchFamily="34" charset="-122"/>
                <a:cs typeface="Segoe UI" pitchFamily="34" charset="-120"/>
              </a:rPr>
              <a:t>Match archetype to customer maturity — Strategic SI for greenfield; ISV to accelerate; MSP to run.</a:t>
            </a:r>
            <a:endParaRPr lang="en-US" sz="1200" dirty="0"/>
          </a:p>
        </p:txBody>
      </p:sp>
      <p:pic>
        <p:nvPicPr>
          <p:cNvPr id="26"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27" name="Text 24"/>
          <p:cNvSpPr/>
          <p:nvPr/>
        </p:nvSpPr>
        <p:spPr>
          <a:xfrm>
            <a:off x="640080" y="6492240"/>
            <a:ext cx="73152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 2026 Microsoft Corporation</a:t>
            </a:r>
            <a:endParaRPr lang="en-US" sz="900" dirty="0"/>
          </a:p>
        </p:txBody>
      </p:sp>
      <p:sp>
        <p:nvSpPr>
          <p:cNvPr id="28" name="Text 25"/>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10 / 19</a:t>
            </a:r>
            <a:endParaRPr lang="en-US" sz="900" dirty="0"/>
          </a:p>
        </p:txBody>
      </p:sp>
      <p:sp>
        <p:nvSpPr>
          <p:cNvPr id="29" name="AICOE_GEO_ACCENT_Right Triangle 28"/>
          <p:cNvSpPr/>
          <p:nvPr/>
        </p:nvSpPr>
        <p:spPr>
          <a:xfrm rot="5400000">
            <a:off x="11762232"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AICOE_GEO_ACCENT_Right Triangle 29"/>
          <p:cNvSpPr/>
          <p:nvPr/>
        </p:nvSpPr>
        <p:spPr>
          <a:xfrm rot="5400000">
            <a:off x="11874246"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91440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PARTNER MOTION</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200" b="1" dirty="0">
                <a:solidFill>
                  <a:srgbClr val="091F2C"/>
                </a:solidFill>
                <a:latin typeface="Segoe UI" pitchFamily="34" charset="0"/>
                <a:ea typeface="Segoe UI" pitchFamily="34" charset="-122"/>
                <a:cs typeface="Segoe UI" pitchFamily="34" charset="-120"/>
              </a:rPr>
              <a:t>3-Tier Engagement Ladder</a:t>
            </a:r>
            <a:endParaRPr lang="en-US" sz="3200" dirty="0"/>
          </a:p>
        </p:txBody>
      </p:sp>
      <p:sp>
        <p:nvSpPr>
          <p:cNvPr id="5" name="Shape 3"/>
          <p:cNvSpPr/>
          <p:nvPr/>
        </p:nvSpPr>
        <p:spPr>
          <a:xfrm>
            <a:off x="548640" y="1920240"/>
            <a:ext cx="1645920" cy="1188720"/>
          </a:xfrm>
          <a:prstGeom prst="rect">
            <a:avLst/>
          </a:prstGeom>
          <a:solidFill>
            <a:srgbClr val="C03BC4"/>
          </a:solidFill>
          <a:ln w="12700">
            <a:solidFill>
              <a:srgbClr val="C03BC4"/>
            </a:solidFill>
            <a:prstDash val="solid"/>
          </a:ln>
        </p:spPr>
        <p:txBody>
          <a:bodyPr/>
          <a:lstStyle/>
          <a:p>
            <a:endParaRPr lang="en-ZA"/>
          </a:p>
        </p:txBody>
      </p:sp>
      <p:sp>
        <p:nvSpPr>
          <p:cNvPr id="6" name="Text 4"/>
          <p:cNvSpPr/>
          <p:nvPr/>
        </p:nvSpPr>
        <p:spPr>
          <a:xfrm>
            <a:off x="548640" y="2011680"/>
            <a:ext cx="1645920" cy="320040"/>
          </a:xfrm>
          <a:prstGeom prst="rect">
            <a:avLst/>
          </a:prstGeom>
          <a:noFill/>
          <a:ln/>
        </p:spPr>
        <p:txBody>
          <a:bodyPr wrap="square" rtlCol="0" anchor="ctr"/>
          <a:lstStyle/>
          <a:p>
            <a:pPr marL="0" indent="0" algn="ctr">
              <a:buNone/>
            </a:pPr>
            <a:r>
              <a:rPr lang="en-US" sz="1200" b="1" kern="0" spc="400" dirty="0">
                <a:solidFill>
                  <a:srgbClr val="FFFFFF"/>
                </a:solidFill>
                <a:latin typeface="Segoe UI" pitchFamily="34" charset="0"/>
                <a:ea typeface="Segoe UI" pitchFamily="34" charset="-122"/>
                <a:cs typeface="Segoe UI" pitchFamily="34" charset="-120"/>
              </a:rPr>
              <a:t>TIER 1</a:t>
            </a:r>
            <a:endParaRPr lang="en-US" sz="1200" dirty="0"/>
          </a:p>
        </p:txBody>
      </p:sp>
      <p:sp>
        <p:nvSpPr>
          <p:cNvPr id="7" name="Text 5"/>
          <p:cNvSpPr/>
          <p:nvPr/>
        </p:nvSpPr>
        <p:spPr>
          <a:xfrm>
            <a:off x="548640" y="2377440"/>
            <a:ext cx="1645920" cy="640080"/>
          </a:xfrm>
          <a:prstGeom prst="rect">
            <a:avLst/>
          </a:prstGeom>
          <a:noFill/>
          <a:ln/>
        </p:spPr>
        <p:txBody>
          <a:bodyPr wrap="square" rtlCol="0" anchor="ctr"/>
          <a:lstStyle/>
          <a:p>
            <a:pPr marL="0" indent="0" algn="ctr">
              <a:buNone/>
            </a:pPr>
            <a:r>
              <a:rPr lang="en-US" sz="1700" b="1" dirty="0">
                <a:solidFill>
                  <a:srgbClr val="FFFFFF"/>
                </a:solidFill>
                <a:latin typeface="Segoe UI" pitchFamily="34" charset="0"/>
                <a:ea typeface="Segoe UI" pitchFamily="34" charset="-122"/>
                <a:cs typeface="Segoe UI" pitchFamily="34" charset="-120"/>
              </a:rPr>
              <a:t>2–6 weeks</a:t>
            </a:r>
            <a:endParaRPr lang="en-US" sz="1700" dirty="0"/>
          </a:p>
        </p:txBody>
      </p:sp>
      <p:sp>
        <p:nvSpPr>
          <p:cNvPr id="8" name="Shape 6"/>
          <p:cNvSpPr/>
          <p:nvPr/>
        </p:nvSpPr>
        <p:spPr>
          <a:xfrm>
            <a:off x="2194560" y="1920240"/>
            <a:ext cx="9464040" cy="1188720"/>
          </a:xfrm>
          <a:prstGeom prst="rect">
            <a:avLst/>
          </a:prstGeom>
          <a:solidFill>
            <a:srgbClr val="FFF8F5"/>
          </a:solidFill>
          <a:ln w="12700">
            <a:solidFill>
              <a:srgbClr val="E1E6EF"/>
            </a:solidFill>
            <a:prstDash val="solid"/>
          </a:ln>
        </p:spPr>
        <p:txBody>
          <a:bodyPr/>
          <a:lstStyle/>
          <a:p>
            <a:endParaRPr lang="en-ZA"/>
          </a:p>
        </p:txBody>
      </p:sp>
      <p:sp>
        <p:nvSpPr>
          <p:cNvPr id="9" name="Text 7"/>
          <p:cNvSpPr/>
          <p:nvPr/>
        </p:nvSpPr>
        <p:spPr>
          <a:xfrm>
            <a:off x="2377440" y="2011680"/>
            <a:ext cx="9144000" cy="411480"/>
          </a:xfrm>
          <a:prstGeom prst="rect">
            <a:avLst/>
          </a:prstGeom>
          <a:noFill/>
          <a:ln/>
        </p:spPr>
        <p:txBody>
          <a:bodyPr wrap="square" rtlCol="0" anchor="ctr"/>
          <a:lstStyle/>
          <a:p>
            <a:pPr marL="0" indent="0">
              <a:buNone/>
            </a:pPr>
            <a:r>
              <a:rPr lang="en-US" sz="1800" b="1" dirty="0">
                <a:solidFill>
                  <a:srgbClr val="091F2C"/>
                </a:solidFill>
                <a:latin typeface="Segoe UI" pitchFamily="34" charset="0"/>
                <a:ea typeface="Segoe UI" pitchFamily="34" charset="-122"/>
                <a:cs typeface="Segoe UI" pitchFamily="34" charset="-120"/>
              </a:rPr>
              <a:t>CoE Envisioning &amp; Blueprint</a:t>
            </a:r>
            <a:endParaRPr lang="en-US" sz="1800" dirty="0"/>
          </a:p>
        </p:txBody>
      </p:sp>
      <p:sp>
        <p:nvSpPr>
          <p:cNvPr id="10" name="Text 8"/>
          <p:cNvSpPr/>
          <p:nvPr/>
        </p:nvSpPr>
        <p:spPr>
          <a:xfrm>
            <a:off x="2377440" y="2423160"/>
            <a:ext cx="6858000" cy="365760"/>
          </a:xfrm>
          <a:prstGeom prst="rect">
            <a:avLst/>
          </a:prstGeom>
          <a:noFill/>
          <a:ln/>
        </p:spPr>
        <p:txBody>
          <a:bodyPr wrap="square" rtlCol="0" anchor="ctr"/>
          <a:lstStyle/>
          <a:p>
            <a:pPr marL="0" indent="0">
              <a:buNone/>
            </a:pPr>
            <a:r>
              <a:rPr lang="en-US" sz="1200" dirty="0">
                <a:solidFill>
                  <a:srgbClr val="4B5563"/>
                </a:solidFill>
                <a:latin typeface="Segoe UI" pitchFamily="34" charset="0"/>
                <a:ea typeface="Segoe UI" pitchFamily="34" charset="-122"/>
                <a:cs typeface="Segoe UI" pitchFamily="34" charset="-120"/>
              </a:rPr>
              <a:t>Maturity assessment · Charter · Use-case prioritisation</a:t>
            </a:r>
            <a:endParaRPr lang="en-US" sz="1200" dirty="0"/>
          </a:p>
        </p:txBody>
      </p:sp>
      <p:sp>
        <p:nvSpPr>
          <p:cNvPr id="11" name="Text 9"/>
          <p:cNvSpPr/>
          <p:nvPr/>
        </p:nvSpPr>
        <p:spPr>
          <a:xfrm>
            <a:off x="2377440" y="2743200"/>
            <a:ext cx="6858000" cy="320040"/>
          </a:xfrm>
          <a:prstGeom prst="rect">
            <a:avLst/>
          </a:prstGeom>
          <a:noFill/>
          <a:ln/>
        </p:spPr>
        <p:txBody>
          <a:bodyPr wrap="square" rtlCol="0" anchor="ctr"/>
          <a:lstStyle/>
          <a:p>
            <a:pPr marL="0" indent="0">
              <a:buNone/>
            </a:pPr>
            <a:r>
              <a:rPr lang="en-US" sz="1100" i="1" dirty="0">
                <a:solidFill>
                  <a:srgbClr val="0078D4"/>
                </a:solidFill>
                <a:latin typeface="Segoe UI" pitchFamily="34" charset="0"/>
                <a:ea typeface="Segoe UI" pitchFamily="34" charset="-122"/>
                <a:cs typeface="Segoe UI" pitchFamily="34" charset="-120"/>
              </a:rPr>
              <a:t>Fixed-price · T-shirt sized</a:t>
            </a:r>
            <a:endParaRPr lang="en-US" sz="1100" dirty="0"/>
          </a:p>
        </p:txBody>
      </p:sp>
      <p:sp>
        <p:nvSpPr>
          <p:cNvPr id="12" name="Text 10"/>
          <p:cNvSpPr/>
          <p:nvPr/>
        </p:nvSpPr>
        <p:spPr>
          <a:xfrm>
            <a:off x="10881360" y="2194560"/>
            <a:ext cx="731520" cy="640080"/>
          </a:xfrm>
          <a:prstGeom prst="rect">
            <a:avLst/>
          </a:prstGeom>
          <a:noFill/>
          <a:ln/>
        </p:spPr>
        <p:txBody>
          <a:bodyPr wrap="square" rtlCol="0" anchor="ctr"/>
          <a:lstStyle/>
          <a:p>
            <a:pPr marL="0" indent="0" algn="ctr">
              <a:buNone/>
            </a:pPr>
            <a:r>
              <a:rPr lang="en-US" sz="3200" b="1" dirty="0">
                <a:solidFill>
                  <a:srgbClr val="C03BC4"/>
                </a:solidFill>
                <a:latin typeface="Segoe UI" pitchFamily="34" charset="0"/>
                <a:ea typeface="Segoe UI" pitchFamily="34" charset="-122"/>
                <a:cs typeface="Segoe UI" pitchFamily="34" charset="-120"/>
              </a:rPr>
              <a:t>→</a:t>
            </a:r>
            <a:endParaRPr lang="en-US" sz="3200" dirty="0"/>
          </a:p>
        </p:txBody>
      </p:sp>
      <p:sp>
        <p:nvSpPr>
          <p:cNvPr id="13" name="Shape 11"/>
          <p:cNvSpPr/>
          <p:nvPr/>
        </p:nvSpPr>
        <p:spPr>
          <a:xfrm>
            <a:off x="548640" y="3246120"/>
            <a:ext cx="1645920" cy="1188720"/>
          </a:xfrm>
          <a:prstGeom prst="rect">
            <a:avLst/>
          </a:prstGeom>
          <a:solidFill>
            <a:srgbClr val="0078D4"/>
          </a:solidFill>
          <a:ln w="12700">
            <a:solidFill>
              <a:srgbClr val="0078D4"/>
            </a:solidFill>
            <a:prstDash val="solid"/>
          </a:ln>
        </p:spPr>
        <p:txBody>
          <a:bodyPr/>
          <a:lstStyle/>
          <a:p>
            <a:endParaRPr lang="en-ZA"/>
          </a:p>
        </p:txBody>
      </p:sp>
      <p:sp>
        <p:nvSpPr>
          <p:cNvPr id="14" name="Text 12"/>
          <p:cNvSpPr/>
          <p:nvPr/>
        </p:nvSpPr>
        <p:spPr>
          <a:xfrm>
            <a:off x="548640" y="3337560"/>
            <a:ext cx="1645920" cy="320040"/>
          </a:xfrm>
          <a:prstGeom prst="rect">
            <a:avLst/>
          </a:prstGeom>
          <a:noFill/>
          <a:ln/>
        </p:spPr>
        <p:txBody>
          <a:bodyPr wrap="square" rtlCol="0" anchor="ctr"/>
          <a:lstStyle/>
          <a:p>
            <a:pPr marL="0" indent="0" algn="ctr">
              <a:buNone/>
            </a:pPr>
            <a:r>
              <a:rPr lang="en-US" sz="1200" b="1" kern="0" spc="400" dirty="0">
                <a:solidFill>
                  <a:srgbClr val="FFFFFF"/>
                </a:solidFill>
                <a:latin typeface="Segoe UI" pitchFamily="34" charset="0"/>
                <a:ea typeface="Segoe UI" pitchFamily="34" charset="-122"/>
                <a:cs typeface="Segoe UI" pitchFamily="34" charset="-120"/>
              </a:rPr>
              <a:t>TIER 2</a:t>
            </a:r>
            <a:endParaRPr lang="en-US" sz="1200" dirty="0"/>
          </a:p>
        </p:txBody>
      </p:sp>
      <p:sp>
        <p:nvSpPr>
          <p:cNvPr id="15" name="Text 13"/>
          <p:cNvSpPr/>
          <p:nvPr/>
        </p:nvSpPr>
        <p:spPr>
          <a:xfrm>
            <a:off x="548640" y="3703320"/>
            <a:ext cx="1645920" cy="640080"/>
          </a:xfrm>
          <a:prstGeom prst="rect">
            <a:avLst/>
          </a:prstGeom>
          <a:noFill/>
          <a:ln/>
        </p:spPr>
        <p:txBody>
          <a:bodyPr wrap="square" rtlCol="0" anchor="ctr"/>
          <a:lstStyle/>
          <a:p>
            <a:pPr marL="0" indent="0" algn="ctr">
              <a:buNone/>
            </a:pPr>
            <a:r>
              <a:rPr lang="en-US" sz="1700" b="1" dirty="0">
                <a:solidFill>
                  <a:srgbClr val="FFFFFF"/>
                </a:solidFill>
                <a:latin typeface="Segoe UI" pitchFamily="34" charset="0"/>
                <a:ea typeface="Segoe UI" pitchFamily="34" charset="-122"/>
                <a:cs typeface="Segoe UI" pitchFamily="34" charset="-120"/>
              </a:rPr>
              <a:t>3–9 months</a:t>
            </a:r>
            <a:endParaRPr lang="en-US" sz="1700" dirty="0"/>
          </a:p>
        </p:txBody>
      </p:sp>
      <p:sp>
        <p:nvSpPr>
          <p:cNvPr id="16" name="Shape 14"/>
          <p:cNvSpPr/>
          <p:nvPr/>
        </p:nvSpPr>
        <p:spPr>
          <a:xfrm>
            <a:off x="2194560" y="3246120"/>
            <a:ext cx="9464040" cy="1188720"/>
          </a:xfrm>
          <a:prstGeom prst="rect">
            <a:avLst/>
          </a:prstGeom>
          <a:solidFill>
            <a:srgbClr val="FFF8F5"/>
          </a:solidFill>
          <a:ln w="12700">
            <a:solidFill>
              <a:srgbClr val="E1E6EF"/>
            </a:solidFill>
            <a:prstDash val="solid"/>
          </a:ln>
        </p:spPr>
        <p:txBody>
          <a:bodyPr/>
          <a:lstStyle/>
          <a:p>
            <a:endParaRPr lang="en-ZA"/>
          </a:p>
        </p:txBody>
      </p:sp>
      <p:sp>
        <p:nvSpPr>
          <p:cNvPr id="17" name="Text 15"/>
          <p:cNvSpPr/>
          <p:nvPr/>
        </p:nvSpPr>
        <p:spPr>
          <a:xfrm>
            <a:off x="2377440" y="3337560"/>
            <a:ext cx="9144000" cy="411480"/>
          </a:xfrm>
          <a:prstGeom prst="rect">
            <a:avLst/>
          </a:prstGeom>
          <a:noFill/>
          <a:ln/>
        </p:spPr>
        <p:txBody>
          <a:bodyPr wrap="square" rtlCol="0" anchor="ctr"/>
          <a:lstStyle/>
          <a:p>
            <a:pPr marL="0" indent="0">
              <a:buNone/>
            </a:pPr>
            <a:r>
              <a:rPr lang="en-US" sz="1800" b="1" dirty="0">
                <a:solidFill>
                  <a:srgbClr val="091F2C"/>
                </a:solidFill>
                <a:latin typeface="Segoe UI" pitchFamily="34" charset="0"/>
                <a:ea typeface="Segoe UI" pitchFamily="34" charset="-122"/>
                <a:cs typeface="Segoe UI" pitchFamily="34" charset="-120"/>
              </a:rPr>
              <a:t>CoE Build &amp; First Wave</a:t>
            </a:r>
            <a:endParaRPr lang="en-US" sz="1800" dirty="0"/>
          </a:p>
        </p:txBody>
      </p:sp>
      <p:sp>
        <p:nvSpPr>
          <p:cNvPr id="18" name="Text 16"/>
          <p:cNvSpPr/>
          <p:nvPr/>
        </p:nvSpPr>
        <p:spPr>
          <a:xfrm>
            <a:off x="2377440" y="3749040"/>
            <a:ext cx="6858000" cy="365760"/>
          </a:xfrm>
          <a:prstGeom prst="rect">
            <a:avLst/>
          </a:prstGeom>
          <a:noFill/>
          <a:ln/>
        </p:spPr>
        <p:txBody>
          <a:bodyPr wrap="square" rtlCol="0" anchor="ctr"/>
          <a:lstStyle/>
          <a:p>
            <a:pPr marL="0" indent="0">
              <a:buNone/>
            </a:pPr>
            <a:r>
              <a:rPr lang="en-US" sz="1200" dirty="0">
                <a:solidFill>
                  <a:srgbClr val="4B5563"/>
                </a:solidFill>
                <a:latin typeface="Segoe UI" pitchFamily="34" charset="0"/>
                <a:ea typeface="Segoe UI" pitchFamily="34" charset="-122"/>
                <a:cs typeface="Segoe UI" pitchFamily="34" charset="-120"/>
              </a:rPr>
              <a:t>Governance stand-up · Landing zone · 2–3 pilots to prod</a:t>
            </a:r>
            <a:endParaRPr lang="en-US" sz="1200" dirty="0"/>
          </a:p>
        </p:txBody>
      </p:sp>
      <p:sp>
        <p:nvSpPr>
          <p:cNvPr id="19" name="Text 17"/>
          <p:cNvSpPr/>
          <p:nvPr/>
        </p:nvSpPr>
        <p:spPr>
          <a:xfrm>
            <a:off x="2377440" y="4069080"/>
            <a:ext cx="6858000" cy="320040"/>
          </a:xfrm>
          <a:prstGeom prst="rect">
            <a:avLst/>
          </a:prstGeom>
          <a:noFill/>
          <a:ln/>
        </p:spPr>
        <p:txBody>
          <a:bodyPr wrap="square" rtlCol="0" anchor="ctr"/>
          <a:lstStyle/>
          <a:p>
            <a:pPr marL="0" indent="0">
              <a:buNone/>
            </a:pPr>
            <a:r>
              <a:rPr lang="en-US" sz="1100" i="1" dirty="0">
                <a:solidFill>
                  <a:srgbClr val="0078D4"/>
                </a:solidFill>
                <a:latin typeface="Segoe UI" pitchFamily="34" charset="0"/>
                <a:ea typeface="Segoe UI" pitchFamily="34" charset="-122"/>
                <a:cs typeface="Segoe UI" pitchFamily="34" charset="-120"/>
              </a:rPr>
              <a:t>SOW + Azure ACR + partner co-invest</a:t>
            </a:r>
            <a:endParaRPr lang="en-US" sz="1100" dirty="0"/>
          </a:p>
        </p:txBody>
      </p:sp>
      <p:sp>
        <p:nvSpPr>
          <p:cNvPr id="20" name="Text 18"/>
          <p:cNvSpPr/>
          <p:nvPr/>
        </p:nvSpPr>
        <p:spPr>
          <a:xfrm>
            <a:off x="10881360" y="3520440"/>
            <a:ext cx="731520" cy="640080"/>
          </a:xfrm>
          <a:prstGeom prst="rect">
            <a:avLst/>
          </a:prstGeom>
          <a:noFill/>
          <a:ln/>
        </p:spPr>
        <p:txBody>
          <a:bodyPr wrap="square" rtlCol="0" anchor="ctr"/>
          <a:lstStyle/>
          <a:p>
            <a:pPr marL="0" indent="0" algn="ctr">
              <a:buNone/>
            </a:pPr>
            <a:r>
              <a:rPr lang="en-US" sz="3200" b="1" dirty="0">
                <a:solidFill>
                  <a:srgbClr val="0078D4"/>
                </a:solidFill>
                <a:latin typeface="Segoe UI" pitchFamily="34" charset="0"/>
                <a:ea typeface="Segoe UI" pitchFamily="34" charset="-122"/>
                <a:cs typeface="Segoe UI" pitchFamily="34" charset="-120"/>
              </a:rPr>
              <a:t>→</a:t>
            </a:r>
            <a:endParaRPr lang="en-US" sz="3200" dirty="0"/>
          </a:p>
        </p:txBody>
      </p:sp>
      <p:sp>
        <p:nvSpPr>
          <p:cNvPr id="21" name="Shape 19"/>
          <p:cNvSpPr/>
          <p:nvPr/>
        </p:nvSpPr>
        <p:spPr>
          <a:xfrm>
            <a:off x="548640" y="4572000"/>
            <a:ext cx="1645920" cy="1188720"/>
          </a:xfrm>
          <a:prstGeom prst="rect">
            <a:avLst/>
          </a:prstGeom>
          <a:solidFill>
            <a:srgbClr val="0057B8"/>
          </a:solidFill>
          <a:ln w="12700">
            <a:solidFill>
              <a:srgbClr val="0057B8"/>
            </a:solidFill>
            <a:prstDash val="solid"/>
          </a:ln>
        </p:spPr>
        <p:txBody>
          <a:bodyPr/>
          <a:lstStyle/>
          <a:p>
            <a:endParaRPr lang="en-ZA"/>
          </a:p>
        </p:txBody>
      </p:sp>
      <p:sp>
        <p:nvSpPr>
          <p:cNvPr id="22" name="Text 20"/>
          <p:cNvSpPr/>
          <p:nvPr/>
        </p:nvSpPr>
        <p:spPr>
          <a:xfrm>
            <a:off x="548640" y="4663440"/>
            <a:ext cx="1645920" cy="320040"/>
          </a:xfrm>
          <a:prstGeom prst="rect">
            <a:avLst/>
          </a:prstGeom>
          <a:noFill/>
          <a:ln/>
        </p:spPr>
        <p:txBody>
          <a:bodyPr wrap="square" rtlCol="0" anchor="ctr"/>
          <a:lstStyle/>
          <a:p>
            <a:pPr marL="0" indent="0" algn="ctr">
              <a:buNone/>
            </a:pPr>
            <a:r>
              <a:rPr lang="en-US" sz="1200" b="1" kern="0" spc="400" dirty="0">
                <a:solidFill>
                  <a:srgbClr val="FFFFFF"/>
                </a:solidFill>
                <a:latin typeface="Segoe UI" pitchFamily="34" charset="0"/>
                <a:ea typeface="Segoe UI" pitchFamily="34" charset="-122"/>
                <a:cs typeface="Segoe UI" pitchFamily="34" charset="-120"/>
              </a:rPr>
              <a:t>TIER 3</a:t>
            </a:r>
            <a:endParaRPr lang="en-US" sz="1200" dirty="0"/>
          </a:p>
        </p:txBody>
      </p:sp>
      <p:sp>
        <p:nvSpPr>
          <p:cNvPr id="23" name="Text 21"/>
          <p:cNvSpPr/>
          <p:nvPr/>
        </p:nvSpPr>
        <p:spPr>
          <a:xfrm>
            <a:off x="548640" y="5029200"/>
            <a:ext cx="1645920" cy="640080"/>
          </a:xfrm>
          <a:prstGeom prst="rect">
            <a:avLst/>
          </a:prstGeom>
          <a:noFill/>
          <a:ln/>
        </p:spPr>
        <p:txBody>
          <a:bodyPr wrap="square" rtlCol="0" anchor="ctr"/>
          <a:lstStyle/>
          <a:p>
            <a:pPr marL="0" indent="0" algn="ctr">
              <a:buNone/>
            </a:pPr>
            <a:r>
              <a:rPr lang="en-US" sz="1700" b="1" dirty="0">
                <a:solidFill>
                  <a:srgbClr val="FFFFFF"/>
                </a:solidFill>
                <a:latin typeface="Segoe UI" pitchFamily="34" charset="0"/>
                <a:ea typeface="Segoe UI" pitchFamily="34" charset="-122"/>
                <a:cs typeface="Segoe UI" pitchFamily="34" charset="-120"/>
              </a:rPr>
              <a:t>12–36 months</a:t>
            </a:r>
            <a:endParaRPr lang="en-US" sz="1700" dirty="0"/>
          </a:p>
        </p:txBody>
      </p:sp>
      <p:sp>
        <p:nvSpPr>
          <p:cNvPr id="24" name="Shape 22"/>
          <p:cNvSpPr/>
          <p:nvPr/>
        </p:nvSpPr>
        <p:spPr>
          <a:xfrm>
            <a:off x="2194560" y="4572000"/>
            <a:ext cx="9464040" cy="1188720"/>
          </a:xfrm>
          <a:prstGeom prst="rect">
            <a:avLst/>
          </a:prstGeom>
          <a:solidFill>
            <a:srgbClr val="FFF8F5"/>
          </a:solidFill>
          <a:ln w="12700">
            <a:solidFill>
              <a:srgbClr val="E1E6EF"/>
            </a:solidFill>
            <a:prstDash val="solid"/>
          </a:ln>
        </p:spPr>
        <p:txBody>
          <a:bodyPr/>
          <a:lstStyle/>
          <a:p>
            <a:endParaRPr lang="en-ZA"/>
          </a:p>
        </p:txBody>
      </p:sp>
      <p:sp>
        <p:nvSpPr>
          <p:cNvPr id="25" name="Text 23"/>
          <p:cNvSpPr/>
          <p:nvPr/>
        </p:nvSpPr>
        <p:spPr>
          <a:xfrm>
            <a:off x="2377440" y="4663440"/>
            <a:ext cx="9144000" cy="411480"/>
          </a:xfrm>
          <a:prstGeom prst="rect">
            <a:avLst/>
          </a:prstGeom>
          <a:noFill/>
          <a:ln/>
        </p:spPr>
        <p:txBody>
          <a:bodyPr wrap="square" rtlCol="0" anchor="ctr"/>
          <a:lstStyle/>
          <a:p>
            <a:pPr marL="0" indent="0">
              <a:buNone/>
            </a:pPr>
            <a:r>
              <a:rPr lang="en-US" sz="1800" b="1" dirty="0">
                <a:solidFill>
                  <a:srgbClr val="091F2C"/>
                </a:solidFill>
                <a:latin typeface="Segoe UI" pitchFamily="34" charset="0"/>
                <a:ea typeface="Segoe UI" pitchFamily="34" charset="-122"/>
                <a:cs typeface="Segoe UI" pitchFamily="34" charset="-120"/>
              </a:rPr>
              <a:t>CoE-as-a-Managed-Service</a:t>
            </a:r>
            <a:endParaRPr lang="en-US" sz="1800" dirty="0"/>
          </a:p>
        </p:txBody>
      </p:sp>
      <p:sp>
        <p:nvSpPr>
          <p:cNvPr id="26" name="Text 24"/>
          <p:cNvSpPr/>
          <p:nvPr/>
        </p:nvSpPr>
        <p:spPr>
          <a:xfrm>
            <a:off x="2377440" y="5074920"/>
            <a:ext cx="6858000" cy="365760"/>
          </a:xfrm>
          <a:prstGeom prst="rect">
            <a:avLst/>
          </a:prstGeom>
          <a:noFill/>
          <a:ln/>
        </p:spPr>
        <p:txBody>
          <a:bodyPr wrap="square" rtlCol="0" anchor="ctr"/>
          <a:lstStyle/>
          <a:p>
            <a:pPr marL="0" indent="0">
              <a:buNone/>
            </a:pPr>
            <a:r>
              <a:rPr lang="en-US" sz="1200" dirty="0">
                <a:solidFill>
                  <a:srgbClr val="4B5563"/>
                </a:solidFill>
                <a:latin typeface="Segoe UI" pitchFamily="34" charset="0"/>
                <a:ea typeface="Segoe UI" pitchFamily="34" charset="-122"/>
                <a:cs typeface="Segoe UI" pitchFamily="34" charset="-120"/>
              </a:rPr>
              <a:t>Ongoing governance · FinOps · Use-case factory · Renewal</a:t>
            </a:r>
            <a:endParaRPr lang="en-US" sz="1200" dirty="0"/>
          </a:p>
        </p:txBody>
      </p:sp>
      <p:sp>
        <p:nvSpPr>
          <p:cNvPr id="27" name="Text 25"/>
          <p:cNvSpPr/>
          <p:nvPr/>
        </p:nvSpPr>
        <p:spPr>
          <a:xfrm>
            <a:off x="2377440" y="5394960"/>
            <a:ext cx="6858000" cy="320040"/>
          </a:xfrm>
          <a:prstGeom prst="rect">
            <a:avLst/>
          </a:prstGeom>
          <a:noFill/>
          <a:ln/>
        </p:spPr>
        <p:txBody>
          <a:bodyPr wrap="square" rtlCol="0" anchor="ctr"/>
          <a:lstStyle/>
          <a:p>
            <a:pPr marL="0" indent="0">
              <a:buNone/>
            </a:pPr>
            <a:r>
              <a:rPr lang="en-US" sz="1100" i="1" dirty="0">
                <a:solidFill>
                  <a:srgbClr val="0078D4"/>
                </a:solidFill>
                <a:latin typeface="Segoe UI" pitchFamily="34" charset="0"/>
                <a:ea typeface="Segoe UI" pitchFamily="34" charset="-122"/>
                <a:cs typeface="Segoe UI" pitchFamily="34" charset="-120"/>
              </a:rPr>
              <a:t>Recurring MSP fee + consumption-linked incentives</a:t>
            </a:r>
            <a:endParaRPr lang="en-US" sz="1100" dirty="0"/>
          </a:p>
        </p:txBody>
      </p:sp>
      <p:sp>
        <p:nvSpPr>
          <p:cNvPr id="28" name="Text 26"/>
          <p:cNvSpPr/>
          <p:nvPr/>
        </p:nvSpPr>
        <p:spPr>
          <a:xfrm>
            <a:off x="10881360" y="4846320"/>
            <a:ext cx="731520" cy="640080"/>
          </a:xfrm>
          <a:prstGeom prst="rect">
            <a:avLst/>
          </a:prstGeom>
          <a:noFill/>
          <a:ln/>
        </p:spPr>
        <p:txBody>
          <a:bodyPr wrap="square" rtlCol="0" anchor="ctr"/>
          <a:lstStyle/>
          <a:p>
            <a:pPr marL="0" indent="0" algn="ctr">
              <a:buNone/>
            </a:pPr>
            <a:r>
              <a:rPr lang="en-US" sz="3200" b="1" dirty="0">
                <a:solidFill>
                  <a:srgbClr val="0057B8"/>
                </a:solidFill>
                <a:latin typeface="Segoe UI" pitchFamily="34" charset="0"/>
                <a:ea typeface="Segoe UI" pitchFamily="34" charset="-122"/>
                <a:cs typeface="Segoe UI" pitchFamily="34" charset="-120"/>
              </a:rPr>
              <a:t>→</a:t>
            </a:r>
            <a:endParaRPr lang="en-US" sz="3200" dirty="0"/>
          </a:p>
        </p:txBody>
      </p:sp>
      <p:sp>
        <p:nvSpPr>
          <p:cNvPr id="29" name="Text 27"/>
          <p:cNvSpPr/>
          <p:nvPr/>
        </p:nvSpPr>
        <p:spPr>
          <a:xfrm>
            <a:off x="548640" y="6126480"/>
            <a:ext cx="11155680" cy="320040"/>
          </a:xfrm>
          <a:prstGeom prst="rect">
            <a:avLst/>
          </a:prstGeom>
          <a:noFill/>
          <a:ln/>
        </p:spPr>
        <p:txBody>
          <a:bodyPr wrap="square" rtlCol="0" anchor="ctr"/>
          <a:lstStyle/>
          <a:p>
            <a:pPr marL="0" indent="0">
              <a:buNone/>
            </a:pPr>
            <a:r>
              <a:rPr lang="en-US" sz="1200" i="1" dirty="0">
                <a:solidFill>
                  <a:srgbClr val="091F2C"/>
                </a:solidFill>
                <a:latin typeface="Segoe UI" pitchFamily="34" charset="0"/>
                <a:ea typeface="Segoe UI" pitchFamily="34" charset="-122"/>
                <a:cs typeface="Segoe UI" pitchFamily="34" charset="-120"/>
              </a:rPr>
              <a:t>Partners can enter at any tier — and upsell the next as trust compounds.</a:t>
            </a:r>
            <a:endParaRPr lang="en-US" sz="1200" dirty="0"/>
          </a:p>
        </p:txBody>
      </p:sp>
      <p:pic>
        <p:nvPicPr>
          <p:cNvPr id="30"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31" name="Text 28"/>
          <p:cNvSpPr/>
          <p:nvPr/>
        </p:nvSpPr>
        <p:spPr>
          <a:xfrm>
            <a:off x="640080" y="6492240"/>
            <a:ext cx="73152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 2026 Microsoft Corporation</a:t>
            </a:r>
            <a:endParaRPr lang="en-US" sz="900" dirty="0"/>
          </a:p>
        </p:txBody>
      </p:sp>
      <p:sp>
        <p:nvSpPr>
          <p:cNvPr id="32" name="Text 29"/>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11 / 19</a:t>
            </a:r>
            <a:endParaRPr lang="en-US" sz="900" dirty="0"/>
          </a:p>
        </p:txBody>
      </p:sp>
      <p:sp>
        <p:nvSpPr>
          <p:cNvPr id="33" name="AICOE_GEO_ACCENT_Right Triangle 32"/>
          <p:cNvSpPr/>
          <p:nvPr/>
        </p:nvSpPr>
        <p:spPr>
          <a:xfrm rot="5400000">
            <a:off x="11762232"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AICOE_GEO_ACCENT_Right Triangle 33"/>
          <p:cNvSpPr/>
          <p:nvPr/>
        </p:nvSpPr>
        <p:spPr>
          <a:xfrm rot="5400000">
            <a:off x="11874246"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8F5"/>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91440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ECONOMICS</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200" b="1" dirty="0">
                <a:solidFill>
                  <a:srgbClr val="091F2C"/>
                </a:solidFill>
                <a:latin typeface="Segoe UI" pitchFamily="34" charset="0"/>
                <a:ea typeface="Segoe UI" pitchFamily="34" charset="-122"/>
                <a:cs typeface="Segoe UI" pitchFamily="34" charset="-120"/>
              </a:rPr>
              <a:t>How Microsoft and Partner both win</a:t>
            </a:r>
            <a:endParaRPr lang="en-US" sz="3200" dirty="0"/>
          </a:p>
        </p:txBody>
      </p:sp>
      <p:sp>
        <p:nvSpPr>
          <p:cNvPr id="5" name="Shape 3"/>
          <p:cNvSpPr/>
          <p:nvPr/>
        </p:nvSpPr>
        <p:spPr>
          <a:xfrm>
            <a:off x="548640" y="1828800"/>
            <a:ext cx="4754880" cy="4206240"/>
          </a:xfrm>
          <a:prstGeom prst="roundRect">
            <a:avLst>
              <a:gd name="adj" fmla="val 2609"/>
            </a:avLst>
          </a:prstGeom>
          <a:solidFill>
            <a:srgbClr val="091F2C"/>
          </a:solidFill>
          <a:ln w="12700">
            <a:solidFill>
              <a:srgbClr val="091F2C"/>
            </a:solidFill>
            <a:prstDash val="solid"/>
          </a:ln>
        </p:spPr>
        <p:txBody>
          <a:bodyPr/>
          <a:lstStyle/>
          <a:p>
            <a:endParaRPr lang="en-ZA"/>
          </a:p>
        </p:txBody>
      </p:sp>
      <p:sp>
        <p:nvSpPr>
          <p:cNvPr id="6" name="Text 4"/>
          <p:cNvSpPr/>
          <p:nvPr/>
        </p:nvSpPr>
        <p:spPr>
          <a:xfrm>
            <a:off x="731520" y="2194560"/>
            <a:ext cx="4389120" cy="1463040"/>
          </a:xfrm>
          <a:prstGeom prst="rect">
            <a:avLst/>
          </a:prstGeom>
          <a:noFill/>
          <a:ln/>
        </p:spPr>
        <p:txBody>
          <a:bodyPr wrap="square" rtlCol="0" anchor="ctr"/>
          <a:lstStyle/>
          <a:p>
            <a:pPr marL="0" indent="0" algn="ctr">
              <a:buNone/>
            </a:pPr>
            <a:r>
              <a:rPr lang="en-US" sz="5400" b="1" dirty="0">
                <a:solidFill>
                  <a:srgbClr val="C03BC4"/>
                </a:solidFill>
                <a:latin typeface="Segoe UI" pitchFamily="34" charset="0"/>
                <a:ea typeface="Segoe UI" pitchFamily="34" charset="-122"/>
                <a:cs typeface="Segoe UI" pitchFamily="34" charset="-120"/>
              </a:rPr>
              <a:t>$1 : $3–5</a:t>
            </a:r>
            <a:endParaRPr lang="en-US" sz="5400" dirty="0"/>
          </a:p>
        </p:txBody>
      </p:sp>
      <p:sp>
        <p:nvSpPr>
          <p:cNvPr id="7" name="Text 5"/>
          <p:cNvSpPr/>
          <p:nvPr/>
        </p:nvSpPr>
        <p:spPr>
          <a:xfrm>
            <a:off x="731520" y="3794760"/>
            <a:ext cx="4389120" cy="457200"/>
          </a:xfrm>
          <a:prstGeom prst="rect">
            <a:avLst/>
          </a:prstGeom>
          <a:noFill/>
          <a:ln/>
        </p:spPr>
        <p:txBody>
          <a:bodyPr wrap="square"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Partner services → Azure consumption</a:t>
            </a:r>
            <a:endParaRPr lang="en-US" sz="1500" dirty="0"/>
          </a:p>
        </p:txBody>
      </p:sp>
      <p:sp>
        <p:nvSpPr>
          <p:cNvPr id="8" name="Text 6"/>
          <p:cNvSpPr/>
          <p:nvPr/>
        </p:nvSpPr>
        <p:spPr>
          <a:xfrm>
            <a:off x="822960" y="4343400"/>
            <a:ext cx="4206240" cy="1463040"/>
          </a:xfrm>
          <a:prstGeom prst="rect">
            <a:avLst/>
          </a:prstGeom>
          <a:noFill/>
          <a:ln/>
        </p:spPr>
        <p:txBody>
          <a:bodyPr wrap="square" rtlCol="0" anchor="ctr"/>
          <a:lstStyle/>
          <a:p>
            <a:pPr marL="0" indent="0" algn="ctr">
              <a:buNone/>
            </a:pPr>
            <a:r>
              <a:rPr lang="en-US" sz="1200" dirty="0">
                <a:solidFill>
                  <a:srgbClr val="F5E6F0"/>
                </a:solidFill>
                <a:latin typeface="Segoe UI" pitchFamily="34" charset="0"/>
                <a:ea typeface="Segoe UI" pitchFamily="34" charset="-122"/>
                <a:cs typeface="Segoe UI" pitchFamily="34" charset="-120"/>
              </a:rPr>
              <a:t>Every $1 of partner services anchored in a CoE typically pulls through $3–5 of Azure ACR — the multiplier that funds co-investment.</a:t>
            </a:r>
            <a:endParaRPr lang="en-US" sz="1200" dirty="0"/>
          </a:p>
        </p:txBody>
      </p:sp>
      <p:sp>
        <p:nvSpPr>
          <p:cNvPr id="9" name="Shape 7"/>
          <p:cNvSpPr/>
          <p:nvPr/>
        </p:nvSpPr>
        <p:spPr>
          <a:xfrm>
            <a:off x="5532120" y="1828800"/>
            <a:ext cx="2468880" cy="457200"/>
          </a:xfrm>
          <a:prstGeom prst="rect">
            <a:avLst/>
          </a:prstGeom>
          <a:solidFill>
            <a:srgbClr val="0078D4"/>
          </a:solidFill>
          <a:ln w="12700">
            <a:solidFill>
              <a:srgbClr val="0078D4"/>
            </a:solidFill>
            <a:prstDash val="solid"/>
          </a:ln>
        </p:spPr>
        <p:txBody>
          <a:bodyPr/>
          <a:lstStyle/>
          <a:p>
            <a:endParaRPr lang="en-ZA"/>
          </a:p>
        </p:txBody>
      </p:sp>
      <p:sp>
        <p:nvSpPr>
          <p:cNvPr id="10" name="Text 8"/>
          <p:cNvSpPr/>
          <p:nvPr/>
        </p:nvSpPr>
        <p:spPr>
          <a:xfrm>
            <a:off x="5532120" y="1828800"/>
            <a:ext cx="2468880" cy="457200"/>
          </a:xfrm>
          <a:prstGeom prst="rect">
            <a:avLst/>
          </a:prstGeom>
          <a:noFill/>
          <a:ln/>
        </p:spPr>
        <p:txBody>
          <a:bodyPr wrap="square" lIns="76200" tIns="76200" rIns="76200" bIns="76200" rtlCol="0" anchor="ctr"/>
          <a:lstStyle/>
          <a:p>
            <a:pPr marL="0" indent="0" algn="l">
              <a:buNone/>
            </a:pPr>
            <a:r>
              <a:rPr lang="en-US" sz="1100" b="1" dirty="0">
                <a:solidFill>
                  <a:srgbClr val="FFFFFF"/>
                </a:solidFill>
                <a:latin typeface="Segoe UI" pitchFamily="34" charset="0"/>
                <a:ea typeface="Segoe UI" pitchFamily="34" charset="-122"/>
                <a:cs typeface="Segoe UI" pitchFamily="34" charset="-120"/>
              </a:rPr>
              <a:t>Revenue Stream</a:t>
            </a:r>
            <a:endParaRPr lang="en-US" sz="1100" dirty="0"/>
          </a:p>
        </p:txBody>
      </p:sp>
      <p:sp>
        <p:nvSpPr>
          <p:cNvPr id="11" name="Shape 9"/>
          <p:cNvSpPr/>
          <p:nvPr/>
        </p:nvSpPr>
        <p:spPr>
          <a:xfrm>
            <a:off x="8001000" y="1828800"/>
            <a:ext cx="1965960" cy="457200"/>
          </a:xfrm>
          <a:prstGeom prst="rect">
            <a:avLst/>
          </a:prstGeom>
          <a:solidFill>
            <a:srgbClr val="0078D4"/>
          </a:solidFill>
          <a:ln w="12700">
            <a:solidFill>
              <a:srgbClr val="0078D4"/>
            </a:solidFill>
            <a:prstDash val="solid"/>
          </a:ln>
        </p:spPr>
        <p:txBody>
          <a:bodyPr/>
          <a:lstStyle/>
          <a:p>
            <a:endParaRPr lang="en-ZA"/>
          </a:p>
        </p:txBody>
      </p:sp>
      <p:sp>
        <p:nvSpPr>
          <p:cNvPr id="12" name="Text 10"/>
          <p:cNvSpPr/>
          <p:nvPr/>
        </p:nvSpPr>
        <p:spPr>
          <a:xfrm>
            <a:off x="8001000" y="1828800"/>
            <a:ext cx="1965960" cy="457200"/>
          </a:xfrm>
          <a:prstGeom prst="rect">
            <a:avLst/>
          </a:prstGeom>
          <a:noFill/>
          <a:ln/>
        </p:spPr>
        <p:txBody>
          <a:bodyPr wrap="square" lIns="76200" tIns="76200" rIns="76200" bIns="76200" rtlCol="0" anchor="ctr"/>
          <a:lstStyle/>
          <a:p>
            <a:pPr marL="0" indent="0" algn="l">
              <a:buNone/>
            </a:pPr>
            <a:r>
              <a:rPr lang="en-US" sz="1100" b="1" dirty="0">
                <a:solidFill>
                  <a:srgbClr val="FFFFFF"/>
                </a:solidFill>
                <a:latin typeface="Segoe UI" pitchFamily="34" charset="0"/>
                <a:ea typeface="Segoe UI" pitchFamily="34" charset="-122"/>
                <a:cs typeface="Segoe UI" pitchFamily="34" charset="-120"/>
              </a:rPr>
              <a:t>Partner Captures</a:t>
            </a:r>
            <a:endParaRPr lang="en-US" sz="1100" dirty="0"/>
          </a:p>
        </p:txBody>
      </p:sp>
      <p:sp>
        <p:nvSpPr>
          <p:cNvPr id="13" name="Shape 11"/>
          <p:cNvSpPr/>
          <p:nvPr/>
        </p:nvSpPr>
        <p:spPr>
          <a:xfrm>
            <a:off x="9966960" y="1828800"/>
            <a:ext cx="1691640" cy="457200"/>
          </a:xfrm>
          <a:prstGeom prst="rect">
            <a:avLst/>
          </a:prstGeom>
          <a:solidFill>
            <a:srgbClr val="0078D4"/>
          </a:solidFill>
          <a:ln w="12700">
            <a:solidFill>
              <a:srgbClr val="0078D4"/>
            </a:solidFill>
            <a:prstDash val="solid"/>
          </a:ln>
        </p:spPr>
        <p:txBody>
          <a:bodyPr/>
          <a:lstStyle/>
          <a:p>
            <a:endParaRPr lang="en-ZA"/>
          </a:p>
        </p:txBody>
      </p:sp>
      <p:sp>
        <p:nvSpPr>
          <p:cNvPr id="14" name="Text 12"/>
          <p:cNvSpPr/>
          <p:nvPr/>
        </p:nvSpPr>
        <p:spPr>
          <a:xfrm>
            <a:off x="9966960" y="1828800"/>
            <a:ext cx="1691640" cy="457200"/>
          </a:xfrm>
          <a:prstGeom prst="rect">
            <a:avLst/>
          </a:prstGeom>
          <a:noFill/>
          <a:ln/>
        </p:spPr>
        <p:txBody>
          <a:bodyPr wrap="square" lIns="76200" tIns="76200" rIns="76200" bIns="76200" rtlCol="0" anchor="ctr"/>
          <a:lstStyle/>
          <a:p>
            <a:pPr marL="0" indent="0" algn="l">
              <a:buNone/>
            </a:pPr>
            <a:r>
              <a:rPr lang="en-US" sz="1100" b="1" dirty="0">
                <a:solidFill>
                  <a:srgbClr val="FFFFFF"/>
                </a:solidFill>
                <a:latin typeface="Segoe UI" pitchFamily="34" charset="0"/>
                <a:ea typeface="Segoe UI" pitchFamily="34" charset="-122"/>
                <a:cs typeface="Segoe UI" pitchFamily="34" charset="-120"/>
              </a:rPr>
              <a:t>Microsoft Captures</a:t>
            </a:r>
            <a:endParaRPr lang="en-US" sz="1100" dirty="0"/>
          </a:p>
        </p:txBody>
      </p:sp>
      <p:sp>
        <p:nvSpPr>
          <p:cNvPr id="15" name="Shape 13"/>
          <p:cNvSpPr/>
          <p:nvPr/>
        </p:nvSpPr>
        <p:spPr>
          <a:xfrm>
            <a:off x="5532120" y="2286000"/>
            <a:ext cx="2468880" cy="914400"/>
          </a:xfrm>
          <a:prstGeom prst="rect">
            <a:avLst/>
          </a:prstGeom>
          <a:solidFill>
            <a:srgbClr val="FFFFFF"/>
          </a:solidFill>
          <a:ln w="6350">
            <a:solidFill>
              <a:srgbClr val="E1E6EF"/>
            </a:solidFill>
            <a:prstDash val="solid"/>
          </a:ln>
        </p:spPr>
        <p:txBody>
          <a:bodyPr/>
          <a:lstStyle/>
          <a:p>
            <a:endParaRPr lang="en-ZA"/>
          </a:p>
        </p:txBody>
      </p:sp>
      <p:sp>
        <p:nvSpPr>
          <p:cNvPr id="16" name="Text 14"/>
          <p:cNvSpPr/>
          <p:nvPr/>
        </p:nvSpPr>
        <p:spPr>
          <a:xfrm>
            <a:off x="5532120" y="2286000"/>
            <a:ext cx="2468880" cy="914400"/>
          </a:xfrm>
          <a:prstGeom prst="rect">
            <a:avLst/>
          </a:prstGeom>
          <a:noFill/>
          <a:ln/>
        </p:spPr>
        <p:txBody>
          <a:bodyPr wrap="square" lIns="76200" tIns="76200" rIns="76200" bIns="76200" rtlCol="0" anchor="ctr"/>
          <a:lstStyle/>
          <a:p>
            <a:pPr marL="0" indent="0" algn="l">
              <a:buNone/>
            </a:pPr>
            <a:r>
              <a:rPr lang="en-US" sz="1100" b="1" dirty="0">
                <a:solidFill>
                  <a:srgbClr val="091F2C"/>
                </a:solidFill>
                <a:latin typeface="Segoe UI" pitchFamily="34" charset="0"/>
                <a:ea typeface="Segoe UI" pitchFamily="34" charset="-122"/>
                <a:cs typeface="Segoe UI" pitchFamily="34" charset="-120"/>
              </a:rPr>
              <a:t>CoE advisory (Tier 1)</a:t>
            </a:r>
            <a:endParaRPr lang="en-US" sz="1100" dirty="0"/>
          </a:p>
        </p:txBody>
      </p:sp>
      <p:sp>
        <p:nvSpPr>
          <p:cNvPr id="17" name="Shape 15"/>
          <p:cNvSpPr/>
          <p:nvPr/>
        </p:nvSpPr>
        <p:spPr>
          <a:xfrm>
            <a:off x="8001000" y="2286000"/>
            <a:ext cx="1965960" cy="914400"/>
          </a:xfrm>
          <a:prstGeom prst="rect">
            <a:avLst/>
          </a:prstGeom>
          <a:solidFill>
            <a:srgbClr val="FFFFFF"/>
          </a:solidFill>
          <a:ln w="6350">
            <a:solidFill>
              <a:srgbClr val="E1E6EF"/>
            </a:solidFill>
            <a:prstDash val="solid"/>
          </a:ln>
        </p:spPr>
        <p:txBody>
          <a:bodyPr/>
          <a:lstStyle/>
          <a:p>
            <a:endParaRPr lang="en-ZA"/>
          </a:p>
        </p:txBody>
      </p:sp>
      <p:sp>
        <p:nvSpPr>
          <p:cNvPr id="18" name="Text 16"/>
          <p:cNvSpPr/>
          <p:nvPr/>
        </p:nvSpPr>
        <p:spPr>
          <a:xfrm>
            <a:off x="8001000" y="2286000"/>
            <a:ext cx="1965960" cy="914400"/>
          </a:xfrm>
          <a:prstGeom prst="rect">
            <a:avLst/>
          </a:prstGeom>
          <a:noFill/>
          <a:ln/>
        </p:spPr>
        <p:txBody>
          <a:bodyPr wrap="square" lIns="76200" tIns="76200" rIns="76200" bIns="76200" rtlCol="0" anchor="ctr"/>
          <a:lstStyle/>
          <a:p>
            <a:pPr marL="0" indent="0" algn="l">
              <a:buNone/>
            </a:pPr>
            <a:r>
              <a:rPr lang="en-US" sz="1100" dirty="0">
                <a:solidFill>
                  <a:srgbClr val="091F2C"/>
                </a:solidFill>
                <a:latin typeface="Segoe UI" pitchFamily="34" charset="0"/>
                <a:ea typeface="Segoe UI" pitchFamily="34" charset="-122"/>
                <a:cs typeface="Segoe UI" pitchFamily="34" charset="-120"/>
              </a:rPr>
              <a:t>100% services margin</a:t>
            </a:r>
            <a:endParaRPr lang="en-US" sz="1100" dirty="0"/>
          </a:p>
        </p:txBody>
      </p:sp>
      <p:sp>
        <p:nvSpPr>
          <p:cNvPr id="19" name="Shape 17"/>
          <p:cNvSpPr/>
          <p:nvPr/>
        </p:nvSpPr>
        <p:spPr>
          <a:xfrm>
            <a:off x="9966960" y="2286000"/>
            <a:ext cx="1691640" cy="914400"/>
          </a:xfrm>
          <a:prstGeom prst="rect">
            <a:avLst/>
          </a:prstGeom>
          <a:solidFill>
            <a:srgbClr val="FFFFFF"/>
          </a:solidFill>
          <a:ln w="6350">
            <a:solidFill>
              <a:srgbClr val="E1E6EF"/>
            </a:solidFill>
            <a:prstDash val="solid"/>
          </a:ln>
        </p:spPr>
        <p:txBody>
          <a:bodyPr/>
          <a:lstStyle/>
          <a:p>
            <a:endParaRPr lang="en-ZA"/>
          </a:p>
        </p:txBody>
      </p:sp>
      <p:sp>
        <p:nvSpPr>
          <p:cNvPr id="20" name="Text 18"/>
          <p:cNvSpPr/>
          <p:nvPr/>
        </p:nvSpPr>
        <p:spPr>
          <a:xfrm>
            <a:off x="9966960" y="2286000"/>
            <a:ext cx="1691640" cy="914400"/>
          </a:xfrm>
          <a:prstGeom prst="rect">
            <a:avLst/>
          </a:prstGeom>
          <a:noFill/>
          <a:ln/>
        </p:spPr>
        <p:txBody>
          <a:bodyPr wrap="square" lIns="76200" tIns="76200" rIns="76200" bIns="76200" rtlCol="0" anchor="ctr"/>
          <a:lstStyle/>
          <a:p>
            <a:pPr marL="0" indent="0" algn="l">
              <a:buNone/>
            </a:pPr>
            <a:r>
              <a:rPr lang="en-US" sz="1100" dirty="0">
                <a:solidFill>
                  <a:srgbClr val="091F2C"/>
                </a:solidFill>
                <a:latin typeface="Segoe UI" pitchFamily="34" charset="0"/>
                <a:ea typeface="Segoe UI" pitchFamily="34" charset="-122"/>
                <a:cs typeface="Segoe UI" pitchFamily="34" charset="-120"/>
              </a:rPr>
              <a:t>Pipeline · MCEM Stages 1–2</a:t>
            </a:r>
            <a:endParaRPr lang="en-US" sz="1100" dirty="0"/>
          </a:p>
        </p:txBody>
      </p:sp>
      <p:sp>
        <p:nvSpPr>
          <p:cNvPr id="21" name="Shape 19"/>
          <p:cNvSpPr/>
          <p:nvPr/>
        </p:nvSpPr>
        <p:spPr>
          <a:xfrm>
            <a:off x="5532120" y="3200400"/>
            <a:ext cx="2468880" cy="914400"/>
          </a:xfrm>
          <a:prstGeom prst="rect">
            <a:avLst/>
          </a:prstGeom>
          <a:solidFill>
            <a:srgbClr val="FFFFFF"/>
          </a:solidFill>
          <a:ln w="6350">
            <a:solidFill>
              <a:srgbClr val="E1E6EF"/>
            </a:solidFill>
            <a:prstDash val="solid"/>
          </a:ln>
        </p:spPr>
        <p:txBody>
          <a:bodyPr/>
          <a:lstStyle/>
          <a:p>
            <a:endParaRPr lang="en-ZA"/>
          </a:p>
        </p:txBody>
      </p:sp>
      <p:sp>
        <p:nvSpPr>
          <p:cNvPr id="22" name="Text 20"/>
          <p:cNvSpPr/>
          <p:nvPr/>
        </p:nvSpPr>
        <p:spPr>
          <a:xfrm>
            <a:off x="5532120" y="3200400"/>
            <a:ext cx="2468880" cy="914400"/>
          </a:xfrm>
          <a:prstGeom prst="rect">
            <a:avLst/>
          </a:prstGeom>
          <a:noFill/>
          <a:ln/>
        </p:spPr>
        <p:txBody>
          <a:bodyPr wrap="square" lIns="76200" tIns="76200" rIns="76200" bIns="76200" rtlCol="0" anchor="ctr"/>
          <a:lstStyle/>
          <a:p>
            <a:pPr marL="0" indent="0" algn="l">
              <a:buNone/>
            </a:pPr>
            <a:r>
              <a:rPr lang="en-US" sz="1100" b="1" dirty="0">
                <a:solidFill>
                  <a:srgbClr val="091F2C"/>
                </a:solidFill>
                <a:latin typeface="Segoe UI" pitchFamily="34" charset="0"/>
                <a:ea typeface="Segoe UI" pitchFamily="34" charset="-122"/>
                <a:cs typeface="Segoe UI" pitchFamily="34" charset="-120"/>
              </a:rPr>
              <a:t>CoE build (Tier 2)</a:t>
            </a:r>
            <a:endParaRPr lang="en-US" sz="1100" dirty="0"/>
          </a:p>
        </p:txBody>
      </p:sp>
      <p:sp>
        <p:nvSpPr>
          <p:cNvPr id="23" name="Shape 21"/>
          <p:cNvSpPr/>
          <p:nvPr/>
        </p:nvSpPr>
        <p:spPr>
          <a:xfrm>
            <a:off x="8001000" y="3200400"/>
            <a:ext cx="1965960" cy="914400"/>
          </a:xfrm>
          <a:prstGeom prst="rect">
            <a:avLst/>
          </a:prstGeom>
          <a:solidFill>
            <a:srgbClr val="FFFFFF"/>
          </a:solidFill>
          <a:ln w="6350">
            <a:solidFill>
              <a:srgbClr val="E1E6EF"/>
            </a:solidFill>
            <a:prstDash val="solid"/>
          </a:ln>
        </p:spPr>
        <p:txBody>
          <a:bodyPr/>
          <a:lstStyle/>
          <a:p>
            <a:endParaRPr lang="en-ZA"/>
          </a:p>
        </p:txBody>
      </p:sp>
      <p:sp>
        <p:nvSpPr>
          <p:cNvPr id="24" name="Text 22"/>
          <p:cNvSpPr/>
          <p:nvPr/>
        </p:nvSpPr>
        <p:spPr>
          <a:xfrm>
            <a:off x="8001000" y="3200400"/>
            <a:ext cx="1965960" cy="914400"/>
          </a:xfrm>
          <a:prstGeom prst="rect">
            <a:avLst/>
          </a:prstGeom>
          <a:noFill/>
          <a:ln/>
        </p:spPr>
        <p:txBody>
          <a:bodyPr wrap="square" lIns="76200" tIns="76200" rIns="76200" bIns="76200" rtlCol="0" anchor="ctr"/>
          <a:lstStyle/>
          <a:p>
            <a:pPr marL="0" indent="0" algn="l">
              <a:buNone/>
            </a:pPr>
            <a:r>
              <a:rPr lang="en-US" sz="1100" dirty="0">
                <a:solidFill>
                  <a:srgbClr val="091F2C"/>
                </a:solidFill>
                <a:latin typeface="Segoe UI" pitchFamily="34" charset="0"/>
                <a:ea typeface="Segoe UI" pitchFamily="34" charset="-122"/>
                <a:cs typeface="Segoe UI" pitchFamily="34" charset="-120"/>
              </a:rPr>
              <a:t>Services + CSP margin on Azure</a:t>
            </a:r>
            <a:endParaRPr lang="en-US" sz="1100" dirty="0"/>
          </a:p>
        </p:txBody>
      </p:sp>
      <p:sp>
        <p:nvSpPr>
          <p:cNvPr id="25" name="Shape 23"/>
          <p:cNvSpPr/>
          <p:nvPr/>
        </p:nvSpPr>
        <p:spPr>
          <a:xfrm>
            <a:off x="9966960" y="3200400"/>
            <a:ext cx="1691640" cy="914400"/>
          </a:xfrm>
          <a:prstGeom prst="rect">
            <a:avLst/>
          </a:prstGeom>
          <a:solidFill>
            <a:srgbClr val="FFFFFF"/>
          </a:solidFill>
          <a:ln w="6350">
            <a:solidFill>
              <a:srgbClr val="E1E6EF"/>
            </a:solidFill>
            <a:prstDash val="solid"/>
          </a:ln>
        </p:spPr>
        <p:txBody>
          <a:bodyPr/>
          <a:lstStyle/>
          <a:p>
            <a:endParaRPr lang="en-ZA"/>
          </a:p>
        </p:txBody>
      </p:sp>
      <p:sp>
        <p:nvSpPr>
          <p:cNvPr id="26" name="Text 24"/>
          <p:cNvSpPr/>
          <p:nvPr/>
        </p:nvSpPr>
        <p:spPr>
          <a:xfrm>
            <a:off x="9966960" y="3200400"/>
            <a:ext cx="1691640" cy="914400"/>
          </a:xfrm>
          <a:prstGeom prst="rect">
            <a:avLst/>
          </a:prstGeom>
          <a:noFill/>
          <a:ln/>
        </p:spPr>
        <p:txBody>
          <a:bodyPr wrap="square" lIns="76200" tIns="76200" rIns="76200" bIns="76200" rtlCol="0" anchor="ctr"/>
          <a:lstStyle/>
          <a:p>
            <a:pPr marL="0" indent="0" algn="l">
              <a:buNone/>
            </a:pPr>
            <a:r>
              <a:rPr lang="en-US" sz="1100" dirty="0">
                <a:solidFill>
                  <a:srgbClr val="091F2C"/>
                </a:solidFill>
                <a:latin typeface="Segoe UI" pitchFamily="34" charset="0"/>
                <a:ea typeface="Segoe UI" pitchFamily="34" charset="-122"/>
                <a:cs typeface="Segoe UI" pitchFamily="34" charset="-120"/>
              </a:rPr>
              <a:t>ACR · MACC signing · Copilot seats</a:t>
            </a:r>
            <a:endParaRPr lang="en-US" sz="1100" dirty="0"/>
          </a:p>
        </p:txBody>
      </p:sp>
      <p:sp>
        <p:nvSpPr>
          <p:cNvPr id="27" name="Shape 25"/>
          <p:cNvSpPr/>
          <p:nvPr/>
        </p:nvSpPr>
        <p:spPr>
          <a:xfrm>
            <a:off x="5532120" y="4114800"/>
            <a:ext cx="2468880" cy="914400"/>
          </a:xfrm>
          <a:prstGeom prst="rect">
            <a:avLst/>
          </a:prstGeom>
          <a:solidFill>
            <a:srgbClr val="FFFFFF"/>
          </a:solidFill>
          <a:ln w="6350">
            <a:solidFill>
              <a:srgbClr val="E1E6EF"/>
            </a:solidFill>
            <a:prstDash val="solid"/>
          </a:ln>
        </p:spPr>
        <p:txBody>
          <a:bodyPr/>
          <a:lstStyle/>
          <a:p>
            <a:endParaRPr lang="en-ZA"/>
          </a:p>
        </p:txBody>
      </p:sp>
      <p:sp>
        <p:nvSpPr>
          <p:cNvPr id="28" name="Text 26"/>
          <p:cNvSpPr/>
          <p:nvPr/>
        </p:nvSpPr>
        <p:spPr>
          <a:xfrm>
            <a:off x="5532120" y="4114800"/>
            <a:ext cx="2468880" cy="914400"/>
          </a:xfrm>
          <a:prstGeom prst="rect">
            <a:avLst/>
          </a:prstGeom>
          <a:noFill/>
          <a:ln/>
        </p:spPr>
        <p:txBody>
          <a:bodyPr wrap="square" lIns="76200" tIns="76200" rIns="76200" bIns="76200" rtlCol="0" anchor="ctr"/>
          <a:lstStyle/>
          <a:p>
            <a:pPr marL="0" indent="0" algn="l">
              <a:buNone/>
            </a:pPr>
            <a:r>
              <a:rPr lang="en-US" sz="1100" b="1" dirty="0">
                <a:solidFill>
                  <a:srgbClr val="091F2C"/>
                </a:solidFill>
                <a:latin typeface="Segoe UI" pitchFamily="34" charset="0"/>
                <a:ea typeface="Segoe UI" pitchFamily="34" charset="-122"/>
                <a:cs typeface="Segoe UI" pitchFamily="34" charset="-120"/>
              </a:rPr>
              <a:t>CoE managed run (Tier 3)</a:t>
            </a:r>
            <a:endParaRPr lang="en-US" sz="1100" dirty="0"/>
          </a:p>
        </p:txBody>
      </p:sp>
      <p:sp>
        <p:nvSpPr>
          <p:cNvPr id="29" name="Shape 27"/>
          <p:cNvSpPr/>
          <p:nvPr/>
        </p:nvSpPr>
        <p:spPr>
          <a:xfrm>
            <a:off x="8001000" y="4114800"/>
            <a:ext cx="1965960" cy="914400"/>
          </a:xfrm>
          <a:prstGeom prst="rect">
            <a:avLst/>
          </a:prstGeom>
          <a:solidFill>
            <a:srgbClr val="FFFFFF"/>
          </a:solidFill>
          <a:ln w="6350">
            <a:solidFill>
              <a:srgbClr val="E1E6EF"/>
            </a:solidFill>
            <a:prstDash val="solid"/>
          </a:ln>
        </p:spPr>
        <p:txBody>
          <a:bodyPr/>
          <a:lstStyle/>
          <a:p>
            <a:endParaRPr lang="en-ZA"/>
          </a:p>
        </p:txBody>
      </p:sp>
      <p:sp>
        <p:nvSpPr>
          <p:cNvPr id="30" name="Text 28"/>
          <p:cNvSpPr/>
          <p:nvPr/>
        </p:nvSpPr>
        <p:spPr>
          <a:xfrm>
            <a:off x="8001000" y="4114800"/>
            <a:ext cx="1965960" cy="914400"/>
          </a:xfrm>
          <a:prstGeom prst="rect">
            <a:avLst/>
          </a:prstGeom>
          <a:noFill/>
          <a:ln/>
        </p:spPr>
        <p:txBody>
          <a:bodyPr wrap="square" lIns="76200" tIns="76200" rIns="76200" bIns="76200" rtlCol="0" anchor="ctr"/>
          <a:lstStyle/>
          <a:p>
            <a:pPr marL="0" indent="0" algn="l">
              <a:buNone/>
            </a:pPr>
            <a:r>
              <a:rPr lang="en-US" sz="1100" dirty="0">
                <a:solidFill>
                  <a:srgbClr val="091F2C"/>
                </a:solidFill>
                <a:latin typeface="Segoe UI" pitchFamily="34" charset="0"/>
                <a:ea typeface="Segoe UI" pitchFamily="34" charset="-122"/>
                <a:cs typeface="Segoe UI" pitchFamily="34" charset="-120"/>
              </a:rPr>
              <a:t>Recurring MSP fee</a:t>
            </a:r>
            <a:endParaRPr lang="en-US" sz="1100" dirty="0"/>
          </a:p>
        </p:txBody>
      </p:sp>
      <p:sp>
        <p:nvSpPr>
          <p:cNvPr id="31" name="Shape 29"/>
          <p:cNvSpPr/>
          <p:nvPr/>
        </p:nvSpPr>
        <p:spPr>
          <a:xfrm>
            <a:off x="9966960" y="4114800"/>
            <a:ext cx="1691640" cy="914400"/>
          </a:xfrm>
          <a:prstGeom prst="rect">
            <a:avLst/>
          </a:prstGeom>
          <a:solidFill>
            <a:srgbClr val="FFFFFF"/>
          </a:solidFill>
          <a:ln w="6350">
            <a:solidFill>
              <a:srgbClr val="E1E6EF"/>
            </a:solidFill>
            <a:prstDash val="solid"/>
          </a:ln>
        </p:spPr>
        <p:txBody>
          <a:bodyPr/>
          <a:lstStyle/>
          <a:p>
            <a:endParaRPr lang="en-ZA"/>
          </a:p>
        </p:txBody>
      </p:sp>
      <p:sp>
        <p:nvSpPr>
          <p:cNvPr id="32" name="Text 30"/>
          <p:cNvSpPr/>
          <p:nvPr/>
        </p:nvSpPr>
        <p:spPr>
          <a:xfrm>
            <a:off x="9966960" y="4114800"/>
            <a:ext cx="1691640" cy="914400"/>
          </a:xfrm>
          <a:prstGeom prst="rect">
            <a:avLst/>
          </a:prstGeom>
          <a:noFill/>
          <a:ln/>
        </p:spPr>
        <p:txBody>
          <a:bodyPr wrap="square" lIns="76200" tIns="76200" rIns="76200" bIns="76200" rtlCol="0" anchor="ctr"/>
          <a:lstStyle/>
          <a:p>
            <a:pPr marL="0" indent="0" algn="l">
              <a:buNone/>
            </a:pPr>
            <a:r>
              <a:rPr lang="en-US" sz="1100" dirty="0">
                <a:solidFill>
                  <a:srgbClr val="091F2C"/>
                </a:solidFill>
                <a:latin typeface="Segoe UI" pitchFamily="34" charset="0"/>
                <a:ea typeface="Segoe UI" pitchFamily="34" charset="-122"/>
                <a:cs typeface="Segoe UI" pitchFamily="34" charset="-120"/>
              </a:rPr>
              <a:t>Multi-year ACR · renewal</a:t>
            </a:r>
            <a:endParaRPr lang="en-US" sz="1100" dirty="0"/>
          </a:p>
        </p:txBody>
      </p:sp>
      <p:sp>
        <p:nvSpPr>
          <p:cNvPr id="33" name="Shape 31"/>
          <p:cNvSpPr/>
          <p:nvPr/>
        </p:nvSpPr>
        <p:spPr>
          <a:xfrm>
            <a:off x="5532120" y="5029200"/>
            <a:ext cx="2468880" cy="914400"/>
          </a:xfrm>
          <a:prstGeom prst="rect">
            <a:avLst/>
          </a:prstGeom>
          <a:solidFill>
            <a:srgbClr val="FFFFFF"/>
          </a:solidFill>
          <a:ln w="6350">
            <a:solidFill>
              <a:srgbClr val="E1E6EF"/>
            </a:solidFill>
            <a:prstDash val="solid"/>
          </a:ln>
        </p:spPr>
        <p:txBody>
          <a:bodyPr/>
          <a:lstStyle/>
          <a:p>
            <a:endParaRPr lang="en-ZA"/>
          </a:p>
        </p:txBody>
      </p:sp>
      <p:sp>
        <p:nvSpPr>
          <p:cNvPr id="34" name="Text 32"/>
          <p:cNvSpPr/>
          <p:nvPr/>
        </p:nvSpPr>
        <p:spPr>
          <a:xfrm>
            <a:off x="5532120" y="5029200"/>
            <a:ext cx="2468880" cy="914400"/>
          </a:xfrm>
          <a:prstGeom prst="rect">
            <a:avLst/>
          </a:prstGeom>
          <a:noFill/>
          <a:ln/>
        </p:spPr>
        <p:txBody>
          <a:bodyPr wrap="square" lIns="76200" tIns="76200" rIns="76200" bIns="76200" rtlCol="0" anchor="ctr"/>
          <a:lstStyle/>
          <a:p>
            <a:pPr marL="0" indent="0" algn="l">
              <a:buNone/>
            </a:pPr>
            <a:r>
              <a:rPr lang="en-US" sz="1100" b="1" dirty="0">
                <a:solidFill>
                  <a:srgbClr val="091F2C"/>
                </a:solidFill>
                <a:latin typeface="Segoe UI" pitchFamily="34" charset="0"/>
                <a:ea typeface="Segoe UI" pitchFamily="34" charset="-122"/>
                <a:cs typeface="Segoe UI" pitchFamily="34" charset="-120"/>
              </a:rPr>
              <a:t>ISV IP embedded</a:t>
            </a:r>
            <a:endParaRPr lang="en-US" sz="1100" dirty="0"/>
          </a:p>
        </p:txBody>
      </p:sp>
      <p:sp>
        <p:nvSpPr>
          <p:cNvPr id="35" name="Shape 33"/>
          <p:cNvSpPr/>
          <p:nvPr/>
        </p:nvSpPr>
        <p:spPr>
          <a:xfrm>
            <a:off x="8001000" y="5029200"/>
            <a:ext cx="1965960" cy="914400"/>
          </a:xfrm>
          <a:prstGeom prst="rect">
            <a:avLst/>
          </a:prstGeom>
          <a:solidFill>
            <a:srgbClr val="FFFFFF"/>
          </a:solidFill>
          <a:ln w="6350">
            <a:solidFill>
              <a:srgbClr val="E1E6EF"/>
            </a:solidFill>
            <a:prstDash val="solid"/>
          </a:ln>
        </p:spPr>
        <p:txBody>
          <a:bodyPr/>
          <a:lstStyle/>
          <a:p>
            <a:endParaRPr lang="en-ZA"/>
          </a:p>
        </p:txBody>
      </p:sp>
      <p:sp>
        <p:nvSpPr>
          <p:cNvPr id="36" name="Text 34"/>
          <p:cNvSpPr/>
          <p:nvPr/>
        </p:nvSpPr>
        <p:spPr>
          <a:xfrm>
            <a:off x="8001000" y="5029200"/>
            <a:ext cx="1965960" cy="914400"/>
          </a:xfrm>
          <a:prstGeom prst="rect">
            <a:avLst/>
          </a:prstGeom>
          <a:noFill/>
          <a:ln/>
        </p:spPr>
        <p:txBody>
          <a:bodyPr wrap="square" lIns="76200" tIns="76200" rIns="76200" bIns="76200" rtlCol="0" anchor="ctr"/>
          <a:lstStyle/>
          <a:p>
            <a:pPr marL="0" indent="0" algn="l">
              <a:buNone/>
            </a:pPr>
            <a:r>
              <a:rPr lang="en-US" sz="1100" dirty="0">
                <a:solidFill>
                  <a:srgbClr val="091F2C"/>
                </a:solidFill>
                <a:latin typeface="Segoe UI" pitchFamily="34" charset="0"/>
                <a:ea typeface="Segoe UI" pitchFamily="34" charset="-122"/>
                <a:cs typeface="Segoe UI" pitchFamily="34" charset="-120"/>
              </a:rPr>
              <a:t>Software margin + Marketplace</a:t>
            </a:r>
            <a:endParaRPr lang="en-US" sz="1100" dirty="0"/>
          </a:p>
        </p:txBody>
      </p:sp>
      <p:sp>
        <p:nvSpPr>
          <p:cNvPr id="37" name="Shape 35"/>
          <p:cNvSpPr/>
          <p:nvPr/>
        </p:nvSpPr>
        <p:spPr>
          <a:xfrm>
            <a:off x="9966960" y="5029200"/>
            <a:ext cx="1691640" cy="914400"/>
          </a:xfrm>
          <a:prstGeom prst="rect">
            <a:avLst/>
          </a:prstGeom>
          <a:solidFill>
            <a:srgbClr val="FFFFFF"/>
          </a:solidFill>
          <a:ln w="6350">
            <a:solidFill>
              <a:srgbClr val="E1E6EF"/>
            </a:solidFill>
            <a:prstDash val="solid"/>
          </a:ln>
        </p:spPr>
        <p:txBody>
          <a:bodyPr/>
          <a:lstStyle/>
          <a:p>
            <a:endParaRPr lang="en-ZA"/>
          </a:p>
        </p:txBody>
      </p:sp>
      <p:sp>
        <p:nvSpPr>
          <p:cNvPr id="38" name="Text 36"/>
          <p:cNvSpPr/>
          <p:nvPr/>
        </p:nvSpPr>
        <p:spPr>
          <a:xfrm>
            <a:off x="9966960" y="5029200"/>
            <a:ext cx="1691640" cy="914400"/>
          </a:xfrm>
          <a:prstGeom prst="rect">
            <a:avLst/>
          </a:prstGeom>
          <a:noFill/>
          <a:ln/>
        </p:spPr>
        <p:txBody>
          <a:bodyPr wrap="square" lIns="76200" tIns="76200" rIns="76200" bIns="76200" rtlCol="0" anchor="ctr"/>
          <a:lstStyle/>
          <a:p>
            <a:pPr marL="0" indent="0" algn="l">
              <a:buNone/>
            </a:pPr>
            <a:r>
              <a:rPr lang="en-US" sz="1100" dirty="0">
                <a:solidFill>
                  <a:srgbClr val="091F2C"/>
                </a:solidFill>
                <a:latin typeface="Segoe UI" pitchFamily="34" charset="0"/>
                <a:ea typeface="Segoe UI" pitchFamily="34" charset="-122"/>
                <a:cs typeface="Segoe UI" pitchFamily="34" charset="-120"/>
              </a:rPr>
              <a:t>Transactable + ACR pull-through</a:t>
            </a:r>
            <a:endParaRPr lang="en-US" sz="1100" dirty="0"/>
          </a:p>
        </p:txBody>
      </p:sp>
      <p:sp>
        <p:nvSpPr>
          <p:cNvPr id="39" name="Shape 37"/>
          <p:cNvSpPr/>
          <p:nvPr/>
        </p:nvSpPr>
        <p:spPr>
          <a:xfrm>
            <a:off x="5532120" y="6080760"/>
            <a:ext cx="6126480" cy="457200"/>
          </a:xfrm>
          <a:prstGeom prst="roundRect">
            <a:avLst>
              <a:gd name="adj" fmla="val 12000"/>
            </a:avLst>
          </a:prstGeom>
          <a:solidFill>
            <a:srgbClr val="0057B8"/>
          </a:solidFill>
          <a:ln w="12700">
            <a:solidFill>
              <a:srgbClr val="0057B8"/>
            </a:solidFill>
            <a:prstDash val="solid"/>
          </a:ln>
        </p:spPr>
        <p:txBody>
          <a:bodyPr/>
          <a:lstStyle/>
          <a:p>
            <a:endParaRPr lang="en-ZA"/>
          </a:p>
        </p:txBody>
      </p:sp>
      <p:sp>
        <p:nvSpPr>
          <p:cNvPr id="40" name="Text 38"/>
          <p:cNvSpPr/>
          <p:nvPr/>
        </p:nvSpPr>
        <p:spPr>
          <a:xfrm>
            <a:off x="5669280" y="6080760"/>
            <a:ext cx="5852160" cy="457200"/>
          </a:xfrm>
          <a:prstGeom prst="rect">
            <a:avLst/>
          </a:prstGeom>
          <a:noFill/>
          <a:ln/>
        </p:spPr>
        <p:txBody>
          <a:bodyPr wrap="square" rtlCol="0" anchor="ctr"/>
          <a:lstStyle/>
          <a:p>
            <a:pPr marL="0" indent="0">
              <a:buNone/>
            </a:pPr>
            <a:r>
              <a:rPr lang="en-US" sz="1050" b="1" dirty="0">
                <a:solidFill>
                  <a:srgbClr val="FFFFFF"/>
                </a:solidFill>
                <a:latin typeface="Segoe UI" pitchFamily="34" charset="0"/>
                <a:ea typeface="Segoe UI" pitchFamily="34" charset="-122"/>
                <a:cs typeface="Segoe UI" pitchFamily="34" charset="-120"/>
              </a:rPr>
              <a:t>+ Factory (Stream 2) absorbs F1/F2 foundation at $0 — partner SOW shifts to higher-value scope</a:t>
            </a:r>
            <a:endParaRPr lang="en-US" sz="1050" dirty="0"/>
          </a:p>
        </p:txBody>
      </p:sp>
      <p:pic>
        <p:nvPicPr>
          <p:cNvPr id="41"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42" name="Text 39"/>
          <p:cNvSpPr/>
          <p:nvPr/>
        </p:nvSpPr>
        <p:spPr>
          <a:xfrm>
            <a:off x="640080" y="6492240"/>
            <a:ext cx="73152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 2026 Microsoft Corporation</a:t>
            </a:r>
            <a:endParaRPr lang="en-US" sz="900" dirty="0"/>
          </a:p>
        </p:txBody>
      </p:sp>
      <p:sp>
        <p:nvSpPr>
          <p:cNvPr id="43" name="Text 40"/>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12 / 19</a:t>
            </a:r>
            <a:endParaRPr lang="en-US" sz="900" dirty="0"/>
          </a:p>
        </p:txBody>
      </p:sp>
      <p:sp>
        <p:nvSpPr>
          <p:cNvPr id="44" name="AICOE_GEO_ACCENT_Right Triangle 43"/>
          <p:cNvSpPr/>
          <p:nvPr/>
        </p:nvSpPr>
        <p:spPr>
          <a:xfrm rot="5400000">
            <a:off x="11762232"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AICOE_GEO_ACCENT_Right Triangle 44"/>
          <p:cNvSpPr/>
          <p:nvPr/>
        </p:nvSpPr>
        <p:spPr>
          <a:xfrm rot="5400000">
            <a:off x="11874246"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91440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WHY MICROSOFT WINS</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200" b="1" dirty="0">
                <a:solidFill>
                  <a:srgbClr val="091F2C"/>
                </a:solidFill>
                <a:latin typeface="Segoe UI" pitchFamily="34" charset="0"/>
                <a:ea typeface="Segoe UI" pitchFamily="34" charset="-122"/>
                <a:cs typeface="Segoe UI" pitchFamily="34" charset="-120"/>
              </a:rPr>
              <a:t>Our differentiation vs. every alternative</a:t>
            </a:r>
            <a:endParaRPr lang="en-US" sz="3200" dirty="0"/>
          </a:p>
        </p:txBody>
      </p:sp>
      <p:sp>
        <p:nvSpPr>
          <p:cNvPr id="5" name="Shape 3"/>
          <p:cNvSpPr/>
          <p:nvPr/>
        </p:nvSpPr>
        <p:spPr>
          <a:xfrm>
            <a:off x="548640" y="1828800"/>
            <a:ext cx="3611880" cy="1783080"/>
          </a:xfrm>
          <a:prstGeom prst="roundRect">
            <a:avLst>
              <a:gd name="adj" fmla="val 5128"/>
            </a:avLst>
          </a:prstGeom>
          <a:solidFill>
            <a:srgbClr val="FFF8F5"/>
          </a:solidFill>
          <a:ln w="12700">
            <a:solidFill>
              <a:srgbClr val="E1E6EF"/>
            </a:solidFill>
            <a:prstDash val="solid"/>
          </a:ln>
        </p:spPr>
        <p:txBody>
          <a:bodyPr/>
          <a:lstStyle/>
          <a:p>
            <a:endParaRPr lang="en-ZA"/>
          </a:p>
        </p:txBody>
      </p:sp>
      <p:sp>
        <p:nvSpPr>
          <p:cNvPr id="6" name="Shape 4"/>
          <p:cNvSpPr/>
          <p:nvPr/>
        </p:nvSpPr>
        <p:spPr>
          <a:xfrm>
            <a:off x="548640" y="1828800"/>
            <a:ext cx="3611880" cy="54864"/>
          </a:xfrm>
          <a:prstGeom prst="rect">
            <a:avLst/>
          </a:prstGeom>
          <a:solidFill>
            <a:srgbClr val="0078D4"/>
          </a:solidFill>
          <a:ln w="12700">
            <a:solidFill>
              <a:srgbClr val="0078D4"/>
            </a:solidFill>
            <a:prstDash val="solid"/>
          </a:ln>
        </p:spPr>
        <p:txBody>
          <a:bodyPr/>
          <a:lstStyle/>
          <a:p>
            <a:endParaRPr lang="en-ZA"/>
          </a:p>
        </p:txBody>
      </p:sp>
      <p:sp>
        <p:nvSpPr>
          <p:cNvPr id="7" name="Text 5"/>
          <p:cNvSpPr/>
          <p:nvPr/>
        </p:nvSpPr>
        <p:spPr>
          <a:xfrm>
            <a:off x="731520" y="2011680"/>
            <a:ext cx="3246120" cy="457200"/>
          </a:xfrm>
          <a:prstGeom prst="rect">
            <a:avLst/>
          </a:prstGeom>
          <a:noFill/>
          <a:ln/>
        </p:spPr>
        <p:txBody>
          <a:bodyPr wrap="square" rtlCol="0" anchor="ctr"/>
          <a:lstStyle/>
          <a:p>
            <a:pPr marL="0" indent="0">
              <a:buNone/>
            </a:pPr>
            <a:r>
              <a:rPr lang="en-US" sz="1600" b="1" dirty="0">
                <a:solidFill>
                  <a:srgbClr val="091F2C"/>
                </a:solidFill>
                <a:latin typeface="Segoe UI" pitchFamily="34" charset="0"/>
                <a:ea typeface="Segoe UI" pitchFamily="34" charset="-122"/>
                <a:cs typeface="Segoe UI" pitchFamily="34" charset="-120"/>
              </a:rPr>
              <a:t>We run our own CoE</a:t>
            </a:r>
            <a:endParaRPr lang="en-US" sz="1600" dirty="0"/>
          </a:p>
        </p:txBody>
      </p:sp>
      <p:sp>
        <p:nvSpPr>
          <p:cNvPr id="8" name="Text 6"/>
          <p:cNvSpPr/>
          <p:nvPr/>
        </p:nvSpPr>
        <p:spPr>
          <a:xfrm>
            <a:off x="731520" y="2514600"/>
            <a:ext cx="3246120" cy="100584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Microsoft Digital's AI CoE, live since 2023 — a working reference architecture</a:t>
            </a:r>
            <a:endParaRPr lang="en-US" sz="1100" dirty="0"/>
          </a:p>
        </p:txBody>
      </p:sp>
      <p:sp>
        <p:nvSpPr>
          <p:cNvPr id="9" name="Shape 7"/>
          <p:cNvSpPr/>
          <p:nvPr/>
        </p:nvSpPr>
        <p:spPr>
          <a:xfrm>
            <a:off x="4297680" y="1828800"/>
            <a:ext cx="3611880" cy="1783080"/>
          </a:xfrm>
          <a:prstGeom prst="roundRect">
            <a:avLst>
              <a:gd name="adj" fmla="val 5128"/>
            </a:avLst>
          </a:prstGeom>
          <a:solidFill>
            <a:srgbClr val="FFF8F5"/>
          </a:solidFill>
          <a:ln w="12700">
            <a:solidFill>
              <a:srgbClr val="E1E6EF"/>
            </a:solidFill>
            <a:prstDash val="solid"/>
          </a:ln>
        </p:spPr>
        <p:txBody>
          <a:bodyPr/>
          <a:lstStyle/>
          <a:p>
            <a:endParaRPr lang="en-ZA"/>
          </a:p>
        </p:txBody>
      </p:sp>
      <p:sp>
        <p:nvSpPr>
          <p:cNvPr id="10" name="Shape 8"/>
          <p:cNvSpPr/>
          <p:nvPr/>
        </p:nvSpPr>
        <p:spPr>
          <a:xfrm>
            <a:off x="4297680" y="1828800"/>
            <a:ext cx="3611880" cy="54864"/>
          </a:xfrm>
          <a:prstGeom prst="rect">
            <a:avLst/>
          </a:prstGeom>
          <a:solidFill>
            <a:srgbClr val="0057B8"/>
          </a:solidFill>
          <a:ln w="12700">
            <a:solidFill>
              <a:srgbClr val="0057B8"/>
            </a:solidFill>
            <a:prstDash val="solid"/>
          </a:ln>
        </p:spPr>
        <p:txBody>
          <a:bodyPr/>
          <a:lstStyle/>
          <a:p>
            <a:endParaRPr lang="en-ZA"/>
          </a:p>
        </p:txBody>
      </p:sp>
      <p:sp>
        <p:nvSpPr>
          <p:cNvPr id="11" name="Text 9"/>
          <p:cNvSpPr/>
          <p:nvPr/>
        </p:nvSpPr>
        <p:spPr>
          <a:xfrm>
            <a:off x="4480560" y="2011680"/>
            <a:ext cx="3246120" cy="457200"/>
          </a:xfrm>
          <a:prstGeom prst="rect">
            <a:avLst/>
          </a:prstGeom>
          <a:noFill/>
          <a:ln/>
        </p:spPr>
        <p:txBody>
          <a:bodyPr wrap="square" rtlCol="0" anchor="ctr"/>
          <a:lstStyle/>
          <a:p>
            <a:pPr marL="0" indent="0">
              <a:buNone/>
            </a:pPr>
            <a:r>
              <a:rPr lang="en-US" sz="1600" b="1" dirty="0">
                <a:solidFill>
                  <a:srgbClr val="091F2C"/>
                </a:solidFill>
                <a:latin typeface="Segoe UI" pitchFamily="34" charset="0"/>
                <a:ea typeface="Segoe UI" pitchFamily="34" charset="-122"/>
                <a:cs typeface="Segoe UI" pitchFamily="34" charset="-120"/>
              </a:rPr>
              <a:t>Prescriptive published guidance</a:t>
            </a:r>
            <a:endParaRPr lang="en-US" sz="1600" dirty="0"/>
          </a:p>
        </p:txBody>
      </p:sp>
      <p:sp>
        <p:nvSpPr>
          <p:cNvPr id="12" name="Text 10"/>
          <p:cNvSpPr/>
          <p:nvPr/>
        </p:nvSpPr>
        <p:spPr>
          <a:xfrm>
            <a:off x="4480560" y="2514600"/>
            <a:ext cx="3246120" cy="100584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Azure Essentials · CAF · WAF · Responsible AI Standard — viewed 160,000+ times</a:t>
            </a:r>
            <a:endParaRPr lang="en-US" sz="1100" dirty="0"/>
          </a:p>
        </p:txBody>
      </p:sp>
      <p:sp>
        <p:nvSpPr>
          <p:cNvPr id="13" name="Shape 11"/>
          <p:cNvSpPr/>
          <p:nvPr/>
        </p:nvSpPr>
        <p:spPr>
          <a:xfrm>
            <a:off x="8046720" y="1828800"/>
            <a:ext cx="3611880" cy="1783080"/>
          </a:xfrm>
          <a:prstGeom prst="roundRect">
            <a:avLst>
              <a:gd name="adj" fmla="val 5128"/>
            </a:avLst>
          </a:prstGeom>
          <a:solidFill>
            <a:srgbClr val="FFF8F5"/>
          </a:solidFill>
          <a:ln w="12700">
            <a:solidFill>
              <a:srgbClr val="E1E6EF"/>
            </a:solidFill>
            <a:prstDash val="solid"/>
          </a:ln>
        </p:spPr>
        <p:txBody>
          <a:bodyPr/>
          <a:lstStyle/>
          <a:p>
            <a:endParaRPr lang="en-ZA"/>
          </a:p>
        </p:txBody>
      </p:sp>
      <p:sp>
        <p:nvSpPr>
          <p:cNvPr id="14" name="Shape 12"/>
          <p:cNvSpPr/>
          <p:nvPr/>
        </p:nvSpPr>
        <p:spPr>
          <a:xfrm>
            <a:off x="8046720" y="1828800"/>
            <a:ext cx="3611880" cy="54864"/>
          </a:xfrm>
          <a:prstGeom prst="rect">
            <a:avLst/>
          </a:prstGeom>
          <a:solidFill>
            <a:srgbClr val="C03BC4"/>
          </a:solidFill>
          <a:ln w="12700">
            <a:solidFill>
              <a:srgbClr val="C03BC4"/>
            </a:solidFill>
            <a:prstDash val="solid"/>
          </a:ln>
        </p:spPr>
        <p:txBody>
          <a:bodyPr/>
          <a:lstStyle/>
          <a:p>
            <a:endParaRPr lang="en-ZA"/>
          </a:p>
        </p:txBody>
      </p:sp>
      <p:sp>
        <p:nvSpPr>
          <p:cNvPr id="15" name="Text 13"/>
          <p:cNvSpPr/>
          <p:nvPr/>
        </p:nvSpPr>
        <p:spPr>
          <a:xfrm>
            <a:off x="8229600" y="2011680"/>
            <a:ext cx="3246120" cy="457200"/>
          </a:xfrm>
          <a:prstGeom prst="rect">
            <a:avLst/>
          </a:prstGeom>
          <a:noFill/>
          <a:ln/>
        </p:spPr>
        <p:txBody>
          <a:bodyPr wrap="square" rtlCol="0" anchor="ctr"/>
          <a:lstStyle/>
          <a:p>
            <a:pPr marL="0" indent="0">
              <a:buNone/>
            </a:pPr>
            <a:r>
              <a:rPr lang="en-US" sz="1600" b="1" dirty="0">
                <a:solidFill>
                  <a:srgbClr val="091F2C"/>
                </a:solidFill>
                <a:latin typeface="Segoe UI" pitchFamily="34" charset="0"/>
                <a:ea typeface="Segoe UI" pitchFamily="34" charset="-122"/>
                <a:cs typeface="Segoe UI" pitchFamily="34" charset="-120"/>
              </a:rPr>
              <a:t>Full-stack depth</a:t>
            </a:r>
            <a:endParaRPr lang="en-US" sz="1600" dirty="0"/>
          </a:p>
        </p:txBody>
      </p:sp>
      <p:sp>
        <p:nvSpPr>
          <p:cNvPr id="16" name="Text 14"/>
          <p:cNvSpPr/>
          <p:nvPr/>
        </p:nvSpPr>
        <p:spPr>
          <a:xfrm>
            <a:off x="8229600" y="2514600"/>
            <a:ext cx="3246120" cy="100584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Azure + Fabric + Copilot + Security/Purview — one vendor, one governance plane</a:t>
            </a:r>
            <a:endParaRPr lang="en-US" sz="1100" dirty="0"/>
          </a:p>
        </p:txBody>
      </p:sp>
      <p:sp>
        <p:nvSpPr>
          <p:cNvPr id="17" name="Shape 15"/>
          <p:cNvSpPr/>
          <p:nvPr/>
        </p:nvSpPr>
        <p:spPr>
          <a:xfrm>
            <a:off x="548640" y="3794760"/>
            <a:ext cx="3611880" cy="1783080"/>
          </a:xfrm>
          <a:prstGeom prst="roundRect">
            <a:avLst>
              <a:gd name="adj" fmla="val 5128"/>
            </a:avLst>
          </a:prstGeom>
          <a:solidFill>
            <a:srgbClr val="FFF8F5"/>
          </a:solidFill>
          <a:ln w="12700">
            <a:solidFill>
              <a:srgbClr val="E1E6EF"/>
            </a:solidFill>
            <a:prstDash val="solid"/>
          </a:ln>
        </p:spPr>
        <p:txBody>
          <a:bodyPr/>
          <a:lstStyle/>
          <a:p>
            <a:endParaRPr lang="en-ZA"/>
          </a:p>
        </p:txBody>
      </p:sp>
      <p:sp>
        <p:nvSpPr>
          <p:cNvPr id="18" name="Shape 16"/>
          <p:cNvSpPr/>
          <p:nvPr/>
        </p:nvSpPr>
        <p:spPr>
          <a:xfrm>
            <a:off x="548640" y="3794760"/>
            <a:ext cx="3611880" cy="54864"/>
          </a:xfrm>
          <a:prstGeom prst="rect">
            <a:avLst/>
          </a:prstGeom>
          <a:solidFill>
            <a:srgbClr val="225B62"/>
          </a:solidFill>
          <a:ln w="12700">
            <a:solidFill>
              <a:srgbClr val="225B62"/>
            </a:solidFill>
            <a:prstDash val="solid"/>
          </a:ln>
        </p:spPr>
        <p:txBody>
          <a:bodyPr/>
          <a:lstStyle/>
          <a:p>
            <a:endParaRPr lang="en-ZA"/>
          </a:p>
        </p:txBody>
      </p:sp>
      <p:sp>
        <p:nvSpPr>
          <p:cNvPr id="19" name="Text 17"/>
          <p:cNvSpPr/>
          <p:nvPr/>
        </p:nvSpPr>
        <p:spPr>
          <a:xfrm>
            <a:off x="731520" y="3977640"/>
            <a:ext cx="3246120" cy="457200"/>
          </a:xfrm>
          <a:prstGeom prst="rect">
            <a:avLst/>
          </a:prstGeom>
          <a:noFill/>
          <a:ln/>
        </p:spPr>
        <p:txBody>
          <a:bodyPr wrap="square" rtlCol="0" anchor="ctr"/>
          <a:lstStyle/>
          <a:p>
            <a:pPr marL="0" indent="0">
              <a:buNone/>
            </a:pPr>
            <a:r>
              <a:rPr lang="en-US" sz="1600" b="1" dirty="0">
                <a:solidFill>
                  <a:srgbClr val="091F2C"/>
                </a:solidFill>
                <a:latin typeface="Segoe UI" pitchFamily="34" charset="0"/>
                <a:ea typeface="Segoe UI" pitchFamily="34" charset="-122"/>
                <a:cs typeface="Segoe UI" pitchFamily="34" charset="-120"/>
              </a:rPr>
              <a:t>Partner ecosystem built-in</a:t>
            </a:r>
            <a:endParaRPr lang="en-US" sz="1600" dirty="0"/>
          </a:p>
        </p:txBody>
      </p:sp>
      <p:sp>
        <p:nvSpPr>
          <p:cNvPr id="20" name="Text 18"/>
          <p:cNvSpPr/>
          <p:nvPr/>
        </p:nvSpPr>
        <p:spPr>
          <a:xfrm>
            <a:off x="731520" y="4480560"/>
            <a:ext cx="3246120" cy="100584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MAICPP + Frontier CoE assets + MCEM-for-Partners — not bolted-on</a:t>
            </a:r>
            <a:endParaRPr lang="en-US" sz="1100" dirty="0"/>
          </a:p>
        </p:txBody>
      </p:sp>
      <p:sp>
        <p:nvSpPr>
          <p:cNvPr id="21" name="Shape 19"/>
          <p:cNvSpPr/>
          <p:nvPr/>
        </p:nvSpPr>
        <p:spPr>
          <a:xfrm>
            <a:off x="4297680" y="3794760"/>
            <a:ext cx="3611880" cy="1783080"/>
          </a:xfrm>
          <a:prstGeom prst="roundRect">
            <a:avLst>
              <a:gd name="adj" fmla="val 5128"/>
            </a:avLst>
          </a:prstGeom>
          <a:solidFill>
            <a:srgbClr val="FFF8F5"/>
          </a:solidFill>
          <a:ln w="12700">
            <a:solidFill>
              <a:srgbClr val="E1E6EF"/>
            </a:solidFill>
            <a:prstDash val="solid"/>
          </a:ln>
        </p:spPr>
        <p:txBody>
          <a:bodyPr/>
          <a:lstStyle/>
          <a:p>
            <a:endParaRPr lang="en-ZA"/>
          </a:p>
        </p:txBody>
      </p:sp>
      <p:sp>
        <p:nvSpPr>
          <p:cNvPr id="22" name="Shape 20"/>
          <p:cNvSpPr/>
          <p:nvPr/>
        </p:nvSpPr>
        <p:spPr>
          <a:xfrm>
            <a:off x="4297680" y="3794760"/>
            <a:ext cx="3611880" cy="54864"/>
          </a:xfrm>
          <a:prstGeom prst="rect">
            <a:avLst/>
          </a:prstGeom>
          <a:solidFill>
            <a:srgbClr val="FFB900"/>
          </a:solidFill>
          <a:ln w="12700">
            <a:solidFill>
              <a:srgbClr val="FFB900"/>
            </a:solidFill>
            <a:prstDash val="solid"/>
          </a:ln>
        </p:spPr>
        <p:txBody>
          <a:bodyPr/>
          <a:lstStyle/>
          <a:p>
            <a:endParaRPr lang="en-ZA"/>
          </a:p>
        </p:txBody>
      </p:sp>
      <p:sp>
        <p:nvSpPr>
          <p:cNvPr id="23" name="Text 21"/>
          <p:cNvSpPr/>
          <p:nvPr/>
        </p:nvSpPr>
        <p:spPr>
          <a:xfrm>
            <a:off x="4480560" y="3977640"/>
            <a:ext cx="3246120" cy="457200"/>
          </a:xfrm>
          <a:prstGeom prst="rect">
            <a:avLst/>
          </a:prstGeom>
          <a:noFill/>
          <a:ln/>
        </p:spPr>
        <p:txBody>
          <a:bodyPr wrap="square" rtlCol="0" anchor="ctr"/>
          <a:lstStyle/>
          <a:p>
            <a:pPr marL="0" indent="0">
              <a:buNone/>
            </a:pPr>
            <a:r>
              <a:rPr lang="en-US" sz="1600" b="1" dirty="0">
                <a:solidFill>
                  <a:srgbClr val="091F2C"/>
                </a:solidFill>
                <a:latin typeface="Segoe UI" pitchFamily="34" charset="0"/>
                <a:ea typeface="Segoe UI" pitchFamily="34" charset="-122"/>
                <a:cs typeface="Segoe UI" pitchFamily="34" charset="-120"/>
              </a:rPr>
              <a:t>Responsible AI as a pillar</a:t>
            </a:r>
            <a:endParaRPr lang="en-US" sz="1600" dirty="0"/>
          </a:p>
        </p:txBody>
      </p:sp>
      <p:sp>
        <p:nvSpPr>
          <p:cNvPr id="24" name="Text 22"/>
          <p:cNvSpPr/>
          <p:nvPr/>
        </p:nvSpPr>
        <p:spPr>
          <a:xfrm>
            <a:off x="4480560" y="4480560"/>
            <a:ext cx="3246120" cy="100584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Regulatory-grade governance, not a marketing slide</a:t>
            </a:r>
            <a:endParaRPr lang="en-US" sz="1100" dirty="0"/>
          </a:p>
        </p:txBody>
      </p:sp>
      <p:sp>
        <p:nvSpPr>
          <p:cNvPr id="25" name="Shape 23"/>
          <p:cNvSpPr/>
          <p:nvPr/>
        </p:nvSpPr>
        <p:spPr>
          <a:xfrm>
            <a:off x="8046720" y="3794760"/>
            <a:ext cx="3611880" cy="1783080"/>
          </a:xfrm>
          <a:prstGeom prst="roundRect">
            <a:avLst>
              <a:gd name="adj" fmla="val 5128"/>
            </a:avLst>
          </a:prstGeom>
          <a:solidFill>
            <a:srgbClr val="FFF8F5"/>
          </a:solidFill>
          <a:ln w="12700">
            <a:solidFill>
              <a:srgbClr val="E1E6EF"/>
            </a:solidFill>
            <a:prstDash val="solid"/>
          </a:ln>
        </p:spPr>
        <p:txBody>
          <a:bodyPr/>
          <a:lstStyle/>
          <a:p>
            <a:endParaRPr lang="en-ZA"/>
          </a:p>
        </p:txBody>
      </p:sp>
      <p:sp>
        <p:nvSpPr>
          <p:cNvPr id="26" name="Shape 24"/>
          <p:cNvSpPr/>
          <p:nvPr/>
        </p:nvSpPr>
        <p:spPr>
          <a:xfrm>
            <a:off x="8046720" y="3794760"/>
            <a:ext cx="3611880" cy="54864"/>
          </a:xfrm>
          <a:prstGeom prst="rect">
            <a:avLst/>
          </a:prstGeom>
          <a:solidFill>
            <a:srgbClr val="FF5C39"/>
          </a:solidFill>
          <a:ln w="12700">
            <a:solidFill>
              <a:srgbClr val="FF5C39"/>
            </a:solidFill>
            <a:prstDash val="solid"/>
          </a:ln>
        </p:spPr>
        <p:txBody>
          <a:bodyPr/>
          <a:lstStyle/>
          <a:p>
            <a:endParaRPr lang="en-ZA"/>
          </a:p>
        </p:txBody>
      </p:sp>
      <p:sp>
        <p:nvSpPr>
          <p:cNvPr id="27" name="Text 25"/>
          <p:cNvSpPr/>
          <p:nvPr/>
        </p:nvSpPr>
        <p:spPr>
          <a:xfrm>
            <a:off x="8229600" y="3977640"/>
            <a:ext cx="3246120" cy="457200"/>
          </a:xfrm>
          <a:prstGeom prst="rect">
            <a:avLst/>
          </a:prstGeom>
          <a:noFill/>
          <a:ln/>
        </p:spPr>
        <p:txBody>
          <a:bodyPr wrap="square" rtlCol="0" anchor="ctr"/>
          <a:lstStyle/>
          <a:p>
            <a:pPr marL="0" indent="0">
              <a:buNone/>
            </a:pPr>
            <a:r>
              <a:rPr lang="en-US" sz="1600" b="1" dirty="0">
                <a:solidFill>
                  <a:srgbClr val="091F2C"/>
                </a:solidFill>
                <a:latin typeface="Segoe UI" pitchFamily="34" charset="0"/>
                <a:ea typeface="Segoe UI" pitchFamily="34" charset="-122"/>
                <a:cs typeface="Segoe UI" pitchFamily="34" charset="-120"/>
              </a:rPr>
              <a:t>Pull-through economics</a:t>
            </a:r>
            <a:endParaRPr lang="en-US" sz="1600" dirty="0"/>
          </a:p>
        </p:txBody>
      </p:sp>
      <p:sp>
        <p:nvSpPr>
          <p:cNvPr id="28" name="Text 26"/>
          <p:cNvSpPr/>
          <p:nvPr/>
        </p:nvSpPr>
        <p:spPr>
          <a:xfrm>
            <a:off x="8229600" y="4480560"/>
            <a:ext cx="3246120" cy="100584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$1 services → $3–5 ACR · BCG: future-built firms see 5× revenue lift and 3× cost reduction from AI</a:t>
            </a:r>
            <a:endParaRPr lang="en-US" sz="1100" dirty="0"/>
          </a:p>
        </p:txBody>
      </p:sp>
      <p:pic>
        <p:nvPicPr>
          <p:cNvPr id="29"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30" name="Text 27"/>
          <p:cNvSpPr/>
          <p:nvPr/>
        </p:nvSpPr>
        <p:spPr>
          <a:xfrm>
            <a:off x="640080" y="6492240"/>
            <a:ext cx="73152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 2026 Microsoft Corporation</a:t>
            </a:r>
            <a:endParaRPr lang="en-US" sz="900" dirty="0"/>
          </a:p>
        </p:txBody>
      </p:sp>
      <p:sp>
        <p:nvSpPr>
          <p:cNvPr id="31" name="Text 28"/>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13 / 19</a:t>
            </a:r>
            <a:endParaRPr lang="en-US" sz="900" dirty="0"/>
          </a:p>
        </p:txBody>
      </p:sp>
      <p:sp>
        <p:nvSpPr>
          <p:cNvPr id="32" name="AICOE_GEO_ACCENT_Right Triangle 31"/>
          <p:cNvSpPr/>
          <p:nvPr/>
        </p:nvSpPr>
        <p:spPr>
          <a:xfrm rot="5400000">
            <a:off x="11762232"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ICOE_GEO_ACCENT_Right Triangle 32"/>
          <p:cNvSpPr/>
          <p:nvPr/>
        </p:nvSpPr>
        <p:spPr>
          <a:xfrm rot="5400000">
            <a:off x="11874246"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8F5"/>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91440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PROOF</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200" b="1" dirty="0">
                <a:solidFill>
                  <a:srgbClr val="091F2C"/>
                </a:solidFill>
                <a:latin typeface="Segoe UI" pitchFamily="34" charset="0"/>
                <a:ea typeface="Segoe UI" pitchFamily="34" charset="-122"/>
                <a:cs typeface="Segoe UI" pitchFamily="34" charset="-120"/>
              </a:rPr>
              <a:t>Partners already building CoEs on our framework</a:t>
            </a:r>
            <a:endParaRPr lang="en-US" sz="3200" dirty="0"/>
          </a:p>
        </p:txBody>
      </p:sp>
      <p:sp>
        <p:nvSpPr>
          <p:cNvPr id="5" name="Shape 3"/>
          <p:cNvSpPr/>
          <p:nvPr/>
        </p:nvSpPr>
        <p:spPr>
          <a:xfrm>
            <a:off x="548640" y="1828800"/>
            <a:ext cx="5486400" cy="4297680"/>
          </a:xfrm>
          <a:prstGeom prst="roundRect">
            <a:avLst>
              <a:gd name="adj" fmla="val 2553"/>
            </a:avLst>
          </a:prstGeom>
          <a:solidFill>
            <a:srgbClr val="FFFFFF"/>
          </a:solidFill>
          <a:ln w="12700">
            <a:solidFill>
              <a:srgbClr val="E1E6EF"/>
            </a:solidFill>
            <a:prstDash val="solid"/>
          </a:ln>
        </p:spPr>
        <p:txBody>
          <a:bodyPr/>
          <a:lstStyle/>
          <a:p>
            <a:endParaRPr lang="en-ZA"/>
          </a:p>
        </p:txBody>
      </p:sp>
      <p:sp>
        <p:nvSpPr>
          <p:cNvPr id="6" name="Shape 4"/>
          <p:cNvSpPr/>
          <p:nvPr/>
        </p:nvSpPr>
        <p:spPr>
          <a:xfrm>
            <a:off x="548640" y="1828800"/>
            <a:ext cx="5486400" cy="548640"/>
          </a:xfrm>
          <a:prstGeom prst="rect">
            <a:avLst/>
          </a:prstGeom>
          <a:solidFill>
            <a:srgbClr val="091F2C"/>
          </a:solidFill>
          <a:ln w="12700">
            <a:solidFill>
              <a:srgbClr val="091F2C"/>
            </a:solidFill>
            <a:prstDash val="solid"/>
          </a:ln>
        </p:spPr>
        <p:txBody>
          <a:bodyPr/>
          <a:lstStyle/>
          <a:p>
            <a:endParaRPr lang="en-ZA"/>
          </a:p>
        </p:txBody>
      </p:sp>
      <p:sp>
        <p:nvSpPr>
          <p:cNvPr id="7" name="Text 5"/>
          <p:cNvSpPr/>
          <p:nvPr/>
        </p:nvSpPr>
        <p:spPr>
          <a:xfrm>
            <a:off x="822960" y="1828800"/>
            <a:ext cx="4937760" cy="548640"/>
          </a:xfrm>
          <a:prstGeom prst="rect">
            <a:avLst/>
          </a:prstGeom>
          <a:noFill/>
          <a:ln/>
        </p:spPr>
        <p:txBody>
          <a:bodyPr wrap="square" rtlCol="0" anchor="ctr"/>
          <a:lstStyle/>
          <a:p>
            <a:pPr marL="0" indent="0">
              <a:buNone/>
            </a:pPr>
            <a:r>
              <a:rPr lang="en-US" sz="1800" b="1" dirty="0">
                <a:solidFill>
                  <a:srgbClr val="FFFFFF"/>
                </a:solidFill>
                <a:latin typeface="Segoe UI" pitchFamily="34" charset="0"/>
                <a:ea typeface="Segoe UI" pitchFamily="34" charset="-122"/>
                <a:cs typeface="Segoe UI" pitchFamily="34" charset="-120"/>
              </a:rPr>
              <a:t>NTT DATA</a:t>
            </a:r>
            <a:endParaRPr lang="en-US" sz="1800" dirty="0"/>
          </a:p>
        </p:txBody>
      </p:sp>
      <p:sp>
        <p:nvSpPr>
          <p:cNvPr id="8" name="Text 6"/>
          <p:cNvSpPr/>
          <p:nvPr/>
        </p:nvSpPr>
        <p:spPr>
          <a:xfrm>
            <a:off x="822960" y="2514600"/>
            <a:ext cx="4937760" cy="365760"/>
          </a:xfrm>
          <a:prstGeom prst="rect">
            <a:avLst/>
          </a:prstGeom>
          <a:noFill/>
          <a:ln/>
        </p:spPr>
        <p:txBody>
          <a:bodyPr wrap="square" rtlCol="0" anchor="ctr"/>
          <a:lstStyle/>
          <a:p>
            <a:pPr marL="0" indent="0">
              <a:buNone/>
            </a:pPr>
            <a:r>
              <a:rPr lang="en-US" sz="1200" i="1" dirty="0">
                <a:solidFill>
                  <a:srgbClr val="0078D4"/>
                </a:solidFill>
                <a:latin typeface="Segoe UI" pitchFamily="34" charset="0"/>
                <a:ea typeface="Segoe UI" pitchFamily="34" charset="-122"/>
                <a:cs typeface="Segoe UI" pitchFamily="34" charset="-120"/>
              </a:rPr>
              <a:t>Agentic AI Services for Hyperscaler AI Technologies</a:t>
            </a:r>
            <a:endParaRPr lang="en-US" sz="1200" dirty="0"/>
          </a:p>
        </p:txBody>
      </p:sp>
      <p:sp>
        <p:nvSpPr>
          <p:cNvPr id="9" name="Text 7"/>
          <p:cNvSpPr/>
          <p:nvPr/>
        </p:nvSpPr>
        <p:spPr>
          <a:xfrm>
            <a:off x="777240" y="2743200"/>
            <a:ext cx="1097280" cy="1280160"/>
          </a:xfrm>
          <a:prstGeom prst="rect">
            <a:avLst/>
          </a:prstGeom>
          <a:noFill/>
          <a:ln/>
        </p:spPr>
        <p:txBody>
          <a:bodyPr wrap="square" rtlCol="0" anchor="t"/>
          <a:lstStyle/>
          <a:p>
            <a:pPr marL="0" indent="0">
              <a:buNone/>
            </a:pPr>
            <a:r>
              <a:rPr lang="en-US" sz="9600" b="1" dirty="0">
                <a:solidFill>
                  <a:srgbClr val="C03BC4"/>
                </a:solidFill>
                <a:latin typeface="Segoe UI" pitchFamily="34" charset="0"/>
                <a:ea typeface="Segoe UI" pitchFamily="34" charset="-122"/>
                <a:cs typeface="Segoe UI" pitchFamily="34" charset="-120"/>
              </a:rPr>
              <a:t>“</a:t>
            </a:r>
            <a:endParaRPr lang="en-US" sz="9600" dirty="0"/>
          </a:p>
        </p:txBody>
      </p:sp>
      <p:sp>
        <p:nvSpPr>
          <p:cNvPr id="10" name="Text 8"/>
          <p:cNvSpPr/>
          <p:nvPr/>
        </p:nvSpPr>
        <p:spPr>
          <a:xfrm>
            <a:off x="822960" y="3200400"/>
            <a:ext cx="4937760" cy="2103120"/>
          </a:xfrm>
          <a:prstGeom prst="rect">
            <a:avLst/>
          </a:prstGeom>
          <a:noFill/>
          <a:ln/>
        </p:spPr>
        <p:txBody>
          <a:bodyPr wrap="square" rtlCol="0" anchor="ctr"/>
          <a:lstStyle/>
          <a:p>
            <a:pPr marL="0" indent="0">
              <a:buNone/>
            </a:pPr>
            <a:r>
              <a:rPr lang="en-US" sz="1400" i="1" dirty="0">
                <a:solidFill>
                  <a:srgbClr val="091F2C"/>
                </a:solidFill>
                <a:latin typeface="Segoe UI" pitchFamily="34" charset="0"/>
                <a:ea typeface="Segoe UI" pitchFamily="34" charset="-122"/>
                <a:cs typeface="Segoe UI" pitchFamily="34" charset="-120"/>
              </a:rPr>
              <a:t>Through close collaboration with Microsoft experts and guidance from Microsoft's AI Centre of Excellence, we're helping clients unlock the full potential of agentic AI.</a:t>
            </a:r>
            <a:endParaRPr lang="en-US" sz="1400" dirty="0"/>
          </a:p>
        </p:txBody>
      </p:sp>
      <p:sp>
        <p:nvSpPr>
          <p:cNvPr id="11" name="Text 9"/>
          <p:cNvSpPr/>
          <p:nvPr/>
        </p:nvSpPr>
        <p:spPr>
          <a:xfrm>
            <a:off x="822960" y="5486400"/>
            <a:ext cx="4937760" cy="365760"/>
          </a:xfrm>
          <a:prstGeom prst="rect">
            <a:avLst/>
          </a:prstGeom>
          <a:noFill/>
          <a:ln/>
        </p:spPr>
        <p:txBody>
          <a:bodyPr wrap="square" rtlCol="0" anchor="ctr"/>
          <a:lstStyle/>
          <a:p>
            <a:pPr marL="0" indent="0">
              <a:buNone/>
            </a:pPr>
            <a:r>
              <a:rPr lang="en-US" sz="1100" b="1" dirty="0">
                <a:solidFill>
                  <a:srgbClr val="8A94A6"/>
                </a:solidFill>
                <a:latin typeface="Segoe UI" pitchFamily="34" charset="0"/>
                <a:ea typeface="Segoe UI" pitchFamily="34" charset="-122"/>
                <a:cs typeface="Segoe UI" pitchFamily="34" charset="-120"/>
              </a:rPr>
              <a:t>— Charlie Doubek, VP, NTT DATA</a:t>
            </a:r>
            <a:endParaRPr lang="en-US" sz="1100" dirty="0"/>
          </a:p>
        </p:txBody>
      </p:sp>
      <p:sp>
        <p:nvSpPr>
          <p:cNvPr id="12" name="Shape 10"/>
          <p:cNvSpPr/>
          <p:nvPr/>
        </p:nvSpPr>
        <p:spPr>
          <a:xfrm>
            <a:off x="6217920" y="1828800"/>
            <a:ext cx="5486400" cy="4297680"/>
          </a:xfrm>
          <a:prstGeom prst="roundRect">
            <a:avLst>
              <a:gd name="adj" fmla="val 2553"/>
            </a:avLst>
          </a:prstGeom>
          <a:solidFill>
            <a:srgbClr val="FFFFFF"/>
          </a:solidFill>
          <a:ln w="12700">
            <a:solidFill>
              <a:srgbClr val="E1E6EF"/>
            </a:solidFill>
            <a:prstDash val="solid"/>
          </a:ln>
        </p:spPr>
        <p:txBody>
          <a:bodyPr/>
          <a:lstStyle/>
          <a:p>
            <a:endParaRPr lang="en-ZA"/>
          </a:p>
        </p:txBody>
      </p:sp>
      <p:sp>
        <p:nvSpPr>
          <p:cNvPr id="13" name="Shape 11"/>
          <p:cNvSpPr/>
          <p:nvPr/>
        </p:nvSpPr>
        <p:spPr>
          <a:xfrm>
            <a:off x="6217920" y="1828800"/>
            <a:ext cx="5486400" cy="548640"/>
          </a:xfrm>
          <a:prstGeom prst="rect">
            <a:avLst/>
          </a:prstGeom>
          <a:solidFill>
            <a:srgbClr val="091F2C"/>
          </a:solidFill>
          <a:ln w="12700">
            <a:solidFill>
              <a:srgbClr val="091F2C"/>
            </a:solidFill>
            <a:prstDash val="solid"/>
          </a:ln>
        </p:spPr>
        <p:txBody>
          <a:bodyPr/>
          <a:lstStyle/>
          <a:p>
            <a:endParaRPr lang="en-ZA"/>
          </a:p>
        </p:txBody>
      </p:sp>
      <p:sp>
        <p:nvSpPr>
          <p:cNvPr id="14" name="Text 12"/>
          <p:cNvSpPr/>
          <p:nvPr/>
        </p:nvSpPr>
        <p:spPr>
          <a:xfrm>
            <a:off x="6492240" y="1828800"/>
            <a:ext cx="4937760" cy="548640"/>
          </a:xfrm>
          <a:prstGeom prst="rect">
            <a:avLst/>
          </a:prstGeom>
          <a:noFill/>
          <a:ln/>
        </p:spPr>
        <p:txBody>
          <a:bodyPr wrap="square" rtlCol="0" anchor="ctr"/>
          <a:lstStyle/>
          <a:p>
            <a:pPr marL="0" indent="0">
              <a:buNone/>
            </a:pPr>
            <a:r>
              <a:rPr lang="en-US" sz="1800" b="1" dirty="0">
                <a:solidFill>
                  <a:srgbClr val="FFFFFF"/>
                </a:solidFill>
                <a:latin typeface="Segoe UI" pitchFamily="34" charset="0"/>
                <a:ea typeface="Segoe UI" pitchFamily="34" charset="-122"/>
                <a:cs typeface="Segoe UI" pitchFamily="34" charset="-120"/>
              </a:rPr>
              <a:t>Capgemini</a:t>
            </a:r>
            <a:endParaRPr lang="en-US" sz="1800" dirty="0"/>
          </a:p>
        </p:txBody>
      </p:sp>
      <p:sp>
        <p:nvSpPr>
          <p:cNvPr id="15" name="Text 13"/>
          <p:cNvSpPr/>
          <p:nvPr/>
        </p:nvSpPr>
        <p:spPr>
          <a:xfrm>
            <a:off x="6492240" y="2514600"/>
            <a:ext cx="4937760" cy="365760"/>
          </a:xfrm>
          <a:prstGeom prst="rect">
            <a:avLst/>
          </a:prstGeom>
          <a:noFill/>
          <a:ln/>
        </p:spPr>
        <p:txBody>
          <a:bodyPr wrap="square" rtlCol="0" anchor="ctr"/>
          <a:lstStyle/>
          <a:p>
            <a:pPr marL="0" indent="0">
              <a:buNone/>
            </a:pPr>
            <a:r>
              <a:rPr lang="en-US" sz="1200" i="1" dirty="0">
                <a:solidFill>
                  <a:srgbClr val="0078D4"/>
                </a:solidFill>
                <a:latin typeface="Segoe UI" pitchFamily="34" charset="0"/>
                <a:ea typeface="Segoe UI" pitchFamily="34" charset="-122"/>
                <a:cs typeface="Segoe UI" pitchFamily="34" charset="-120"/>
              </a:rPr>
              <a:t>25+ years Microsoft partnership</a:t>
            </a:r>
            <a:endParaRPr lang="en-US" sz="1200" dirty="0"/>
          </a:p>
        </p:txBody>
      </p:sp>
      <p:sp>
        <p:nvSpPr>
          <p:cNvPr id="16" name="Text 14"/>
          <p:cNvSpPr/>
          <p:nvPr/>
        </p:nvSpPr>
        <p:spPr>
          <a:xfrm>
            <a:off x="6446520" y="2743200"/>
            <a:ext cx="1097280" cy="1280160"/>
          </a:xfrm>
          <a:prstGeom prst="rect">
            <a:avLst/>
          </a:prstGeom>
          <a:noFill/>
          <a:ln/>
        </p:spPr>
        <p:txBody>
          <a:bodyPr wrap="square" rtlCol="0" anchor="t"/>
          <a:lstStyle/>
          <a:p>
            <a:pPr marL="0" indent="0">
              <a:buNone/>
            </a:pPr>
            <a:r>
              <a:rPr lang="en-US" sz="9600" b="1" dirty="0">
                <a:solidFill>
                  <a:srgbClr val="C03BC4"/>
                </a:solidFill>
                <a:latin typeface="Segoe UI" pitchFamily="34" charset="0"/>
                <a:ea typeface="Segoe UI" pitchFamily="34" charset="-122"/>
                <a:cs typeface="Segoe UI" pitchFamily="34" charset="-120"/>
              </a:rPr>
              <a:t>“</a:t>
            </a:r>
            <a:endParaRPr lang="en-US" sz="9600" dirty="0"/>
          </a:p>
        </p:txBody>
      </p:sp>
      <p:sp>
        <p:nvSpPr>
          <p:cNvPr id="17" name="Text 15"/>
          <p:cNvSpPr/>
          <p:nvPr/>
        </p:nvSpPr>
        <p:spPr>
          <a:xfrm>
            <a:off x="6492240" y="3200400"/>
            <a:ext cx="4937760" cy="2103120"/>
          </a:xfrm>
          <a:prstGeom prst="rect">
            <a:avLst/>
          </a:prstGeom>
          <a:noFill/>
          <a:ln/>
        </p:spPr>
        <p:txBody>
          <a:bodyPr wrap="square" rtlCol="0" anchor="ctr"/>
          <a:lstStyle/>
          <a:p>
            <a:pPr marL="0" indent="0">
              <a:buNone/>
            </a:pPr>
            <a:r>
              <a:rPr lang="en-US" sz="1400" i="1" dirty="0">
                <a:solidFill>
                  <a:srgbClr val="091F2C"/>
                </a:solidFill>
                <a:latin typeface="Segoe UI" pitchFamily="34" charset="0"/>
                <a:ea typeface="Segoe UI" pitchFamily="34" charset="-122"/>
                <a:cs typeface="Segoe UI" pitchFamily="34" charset="-120"/>
              </a:rPr>
              <a:t>We have never been more excited than we are today to support clients through their AI transformations, powered by Microsoft's AI Centre of Excellence approach.</a:t>
            </a:r>
            <a:endParaRPr lang="en-US" sz="1400" dirty="0"/>
          </a:p>
        </p:txBody>
      </p:sp>
      <p:sp>
        <p:nvSpPr>
          <p:cNvPr id="18" name="Text 16"/>
          <p:cNvSpPr/>
          <p:nvPr/>
        </p:nvSpPr>
        <p:spPr>
          <a:xfrm>
            <a:off x="6492240" y="5486400"/>
            <a:ext cx="4937760" cy="365760"/>
          </a:xfrm>
          <a:prstGeom prst="rect">
            <a:avLst/>
          </a:prstGeom>
          <a:noFill/>
          <a:ln/>
        </p:spPr>
        <p:txBody>
          <a:bodyPr wrap="square" rtlCol="0" anchor="ctr"/>
          <a:lstStyle/>
          <a:p>
            <a:pPr marL="0" indent="0">
              <a:buNone/>
            </a:pPr>
            <a:r>
              <a:rPr lang="en-US" sz="1100" b="1" dirty="0">
                <a:solidFill>
                  <a:srgbClr val="8A94A6"/>
                </a:solidFill>
                <a:latin typeface="Segoe UI" pitchFamily="34" charset="0"/>
                <a:ea typeface="Segoe UI" pitchFamily="34" charset="-122"/>
                <a:cs typeface="Segoe UI" pitchFamily="34" charset="-120"/>
              </a:rPr>
              <a:t>— Capgemini leadership</a:t>
            </a:r>
            <a:endParaRPr lang="en-US" sz="1100" dirty="0"/>
          </a:p>
        </p:txBody>
      </p:sp>
      <p:pic>
        <p:nvPicPr>
          <p:cNvPr id="19"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20" name="Text 17"/>
          <p:cNvSpPr/>
          <p:nvPr/>
        </p:nvSpPr>
        <p:spPr>
          <a:xfrm>
            <a:off x="640080" y="6492240"/>
            <a:ext cx="73152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 2026 Microsoft Corporation</a:t>
            </a:r>
            <a:endParaRPr lang="en-US" sz="900" dirty="0"/>
          </a:p>
        </p:txBody>
      </p:sp>
      <p:sp>
        <p:nvSpPr>
          <p:cNvPr id="21" name="Text 18"/>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14 / 19</a:t>
            </a:r>
            <a:endParaRPr lang="en-US" sz="900" dirty="0"/>
          </a:p>
        </p:txBody>
      </p:sp>
      <p:sp>
        <p:nvSpPr>
          <p:cNvPr id="22" name="AICOE_GEO_ACCENT_Right Triangle 21"/>
          <p:cNvSpPr/>
          <p:nvPr/>
        </p:nvSpPr>
        <p:spPr>
          <a:xfrm rot="5400000">
            <a:off x="11762232"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ICOE_GEO_ACCENT_Right Triangle 22"/>
          <p:cNvSpPr/>
          <p:nvPr/>
        </p:nvSpPr>
        <p:spPr>
          <a:xfrm rot="5400000">
            <a:off x="11874246"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91440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MEASUREMENT</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200" b="1" dirty="0">
                <a:solidFill>
                  <a:srgbClr val="091F2C"/>
                </a:solidFill>
                <a:latin typeface="Segoe UI" pitchFamily="34" charset="0"/>
                <a:ea typeface="Segoe UI" pitchFamily="34" charset="-122"/>
                <a:cs typeface="Segoe UI" pitchFamily="34" charset="-120"/>
              </a:rPr>
              <a:t>What we track — and what we get paid on</a:t>
            </a:r>
            <a:endParaRPr lang="en-US" sz="3200" dirty="0"/>
          </a:p>
        </p:txBody>
      </p:sp>
      <p:sp>
        <p:nvSpPr>
          <p:cNvPr id="5" name="Shape 3"/>
          <p:cNvSpPr/>
          <p:nvPr/>
        </p:nvSpPr>
        <p:spPr>
          <a:xfrm>
            <a:off x="548640" y="1828800"/>
            <a:ext cx="5486400" cy="4297680"/>
          </a:xfrm>
          <a:prstGeom prst="roundRect">
            <a:avLst>
              <a:gd name="adj" fmla="val 2553"/>
            </a:avLst>
          </a:prstGeom>
          <a:solidFill>
            <a:srgbClr val="FFF8F5"/>
          </a:solidFill>
          <a:ln w="12700">
            <a:solidFill>
              <a:srgbClr val="E1E6EF"/>
            </a:solidFill>
            <a:prstDash val="solid"/>
          </a:ln>
        </p:spPr>
        <p:txBody>
          <a:bodyPr/>
          <a:lstStyle/>
          <a:p>
            <a:endParaRPr lang="en-ZA"/>
          </a:p>
        </p:txBody>
      </p:sp>
      <p:sp>
        <p:nvSpPr>
          <p:cNvPr id="6" name="Text 4"/>
          <p:cNvSpPr/>
          <p:nvPr/>
        </p:nvSpPr>
        <p:spPr>
          <a:xfrm>
            <a:off x="777240" y="2011680"/>
            <a:ext cx="5029200" cy="32004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LEADING · CoE Health</a:t>
            </a:r>
            <a:endParaRPr lang="en-US" sz="1200" dirty="0"/>
          </a:p>
        </p:txBody>
      </p:sp>
      <p:sp>
        <p:nvSpPr>
          <p:cNvPr id="7" name="Shape 5"/>
          <p:cNvSpPr/>
          <p:nvPr/>
        </p:nvSpPr>
        <p:spPr>
          <a:xfrm>
            <a:off x="868680" y="2606040"/>
            <a:ext cx="146304" cy="146304"/>
          </a:xfrm>
          <a:prstGeom prst="ellipse">
            <a:avLst/>
          </a:prstGeom>
          <a:solidFill>
            <a:srgbClr val="0078D4"/>
          </a:solidFill>
          <a:ln w="12700">
            <a:solidFill>
              <a:srgbClr val="0078D4"/>
            </a:solidFill>
            <a:prstDash val="solid"/>
          </a:ln>
        </p:spPr>
        <p:txBody>
          <a:bodyPr/>
          <a:lstStyle/>
          <a:p>
            <a:endParaRPr lang="en-ZA"/>
          </a:p>
        </p:txBody>
      </p:sp>
      <p:sp>
        <p:nvSpPr>
          <p:cNvPr id="8" name="Text 6"/>
          <p:cNvSpPr/>
          <p:nvPr/>
        </p:nvSpPr>
        <p:spPr>
          <a:xfrm>
            <a:off x="1143000" y="2514600"/>
            <a:ext cx="4663440" cy="411480"/>
          </a:xfrm>
          <a:prstGeom prst="rect">
            <a:avLst/>
          </a:prstGeom>
          <a:noFill/>
          <a:ln/>
        </p:spPr>
        <p:txBody>
          <a:bodyPr wrap="square" rtlCol="0" anchor="ctr"/>
          <a:lstStyle/>
          <a:p>
            <a:pPr marL="0" indent="0">
              <a:buNone/>
            </a:pPr>
            <a:r>
              <a:rPr lang="en-US" sz="1300" dirty="0">
                <a:solidFill>
                  <a:srgbClr val="091F2C"/>
                </a:solidFill>
                <a:latin typeface="Segoe UI" pitchFamily="34" charset="0"/>
                <a:ea typeface="Segoe UI" pitchFamily="34" charset="-122"/>
                <a:cs typeface="Segoe UI" pitchFamily="34" charset="-120"/>
              </a:rPr>
              <a:t>CoE council meeting cadence</a:t>
            </a:r>
            <a:endParaRPr lang="en-US" sz="1300" dirty="0"/>
          </a:p>
        </p:txBody>
      </p:sp>
      <p:sp>
        <p:nvSpPr>
          <p:cNvPr id="9" name="Shape 7"/>
          <p:cNvSpPr/>
          <p:nvPr/>
        </p:nvSpPr>
        <p:spPr>
          <a:xfrm>
            <a:off x="868680" y="3200400"/>
            <a:ext cx="146304" cy="146304"/>
          </a:xfrm>
          <a:prstGeom prst="ellipse">
            <a:avLst/>
          </a:prstGeom>
          <a:solidFill>
            <a:srgbClr val="0078D4"/>
          </a:solidFill>
          <a:ln w="12700">
            <a:solidFill>
              <a:srgbClr val="0078D4"/>
            </a:solidFill>
            <a:prstDash val="solid"/>
          </a:ln>
        </p:spPr>
        <p:txBody>
          <a:bodyPr/>
          <a:lstStyle/>
          <a:p>
            <a:endParaRPr lang="en-ZA"/>
          </a:p>
        </p:txBody>
      </p:sp>
      <p:sp>
        <p:nvSpPr>
          <p:cNvPr id="10" name="Text 8"/>
          <p:cNvSpPr/>
          <p:nvPr/>
        </p:nvSpPr>
        <p:spPr>
          <a:xfrm>
            <a:off x="1143000" y="3108960"/>
            <a:ext cx="4663440" cy="411480"/>
          </a:xfrm>
          <a:prstGeom prst="rect">
            <a:avLst/>
          </a:prstGeom>
          <a:noFill/>
          <a:ln/>
        </p:spPr>
        <p:txBody>
          <a:bodyPr wrap="square" rtlCol="0" anchor="ctr"/>
          <a:lstStyle/>
          <a:p>
            <a:pPr marL="0" indent="0">
              <a:buNone/>
            </a:pPr>
            <a:r>
              <a:rPr lang="en-US" sz="1300" dirty="0">
                <a:solidFill>
                  <a:srgbClr val="091F2C"/>
                </a:solidFill>
                <a:latin typeface="Segoe UI" pitchFamily="34" charset="0"/>
                <a:ea typeface="Segoe UI" pitchFamily="34" charset="-122"/>
                <a:cs typeface="Segoe UI" pitchFamily="34" charset="-120"/>
              </a:rPr>
              <a:t># of ratified governance standards</a:t>
            </a:r>
            <a:endParaRPr lang="en-US" sz="1300" dirty="0"/>
          </a:p>
        </p:txBody>
      </p:sp>
      <p:sp>
        <p:nvSpPr>
          <p:cNvPr id="11" name="Shape 9"/>
          <p:cNvSpPr/>
          <p:nvPr/>
        </p:nvSpPr>
        <p:spPr>
          <a:xfrm>
            <a:off x="868680" y="3794760"/>
            <a:ext cx="146304" cy="146304"/>
          </a:xfrm>
          <a:prstGeom prst="ellipse">
            <a:avLst/>
          </a:prstGeom>
          <a:solidFill>
            <a:srgbClr val="0078D4"/>
          </a:solidFill>
          <a:ln w="12700">
            <a:solidFill>
              <a:srgbClr val="0078D4"/>
            </a:solidFill>
            <a:prstDash val="solid"/>
          </a:ln>
        </p:spPr>
        <p:txBody>
          <a:bodyPr/>
          <a:lstStyle/>
          <a:p>
            <a:endParaRPr lang="en-ZA"/>
          </a:p>
        </p:txBody>
      </p:sp>
      <p:sp>
        <p:nvSpPr>
          <p:cNvPr id="12" name="Text 10"/>
          <p:cNvSpPr/>
          <p:nvPr/>
        </p:nvSpPr>
        <p:spPr>
          <a:xfrm>
            <a:off x="1143000" y="3703320"/>
            <a:ext cx="4663440" cy="411480"/>
          </a:xfrm>
          <a:prstGeom prst="rect">
            <a:avLst/>
          </a:prstGeom>
          <a:noFill/>
          <a:ln/>
        </p:spPr>
        <p:txBody>
          <a:bodyPr wrap="square" rtlCol="0" anchor="ctr"/>
          <a:lstStyle/>
          <a:p>
            <a:pPr marL="0" indent="0">
              <a:buNone/>
            </a:pPr>
            <a:r>
              <a:rPr lang="en-US" sz="1300" dirty="0">
                <a:solidFill>
                  <a:srgbClr val="091F2C"/>
                </a:solidFill>
                <a:latin typeface="Segoe UI" pitchFamily="34" charset="0"/>
                <a:ea typeface="Segoe UI" pitchFamily="34" charset="-122"/>
                <a:cs typeface="Segoe UI" pitchFamily="34" charset="-120"/>
              </a:rPr>
              <a:t>Skilling completions (AI-102, AI Engineer)</a:t>
            </a:r>
            <a:endParaRPr lang="en-US" sz="1300" dirty="0"/>
          </a:p>
        </p:txBody>
      </p:sp>
      <p:sp>
        <p:nvSpPr>
          <p:cNvPr id="13" name="Shape 11"/>
          <p:cNvSpPr/>
          <p:nvPr/>
        </p:nvSpPr>
        <p:spPr>
          <a:xfrm>
            <a:off x="868680" y="4389120"/>
            <a:ext cx="146304" cy="146304"/>
          </a:xfrm>
          <a:prstGeom prst="ellipse">
            <a:avLst/>
          </a:prstGeom>
          <a:solidFill>
            <a:srgbClr val="0078D4"/>
          </a:solidFill>
          <a:ln w="12700">
            <a:solidFill>
              <a:srgbClr val="0078D4"/>
            </a:solidFill>
            <a:prstDash val="solid"/>
          </a:ln>
        </p:spPr>
        <p:txBody>
          <a:bodyPr/>
          <a:lstStyle/>
          <a:p>
            <a:endParaRPr lang="en-ZA"/>
          </a:p>
        </p:txBody>
      </p:sp>
      <p:sp>
        <p:nvSpPr>
          <p:cNvPr id="14" name="Text 12"/>
          <p:cNvSpPr/>
          <p:nvPr/>
        </p:nvSpPr>
        <p:spPr>
          <a:xfrm>
            <a:off x="1143000" y="4297680"/>
            <a:ext cx="4663440" cy="411480"/>
          </a:xfrm>
          <a:prstGeom prst="rect">
            <a:avLst/>
          </a:prstGeom>
          <a:noFill/>
          <a:ln/>
        </p:spPr>
        <p:txBody>
          <a:bodyPr wrap="square" rtlCol="0" anchor="ctr"/>
          <a:lstStyle/>
          <a:p>
            <a:pPr marL="0" indent="0">
              <a:buNone/>
            </a:pPr>
            <a:r>
              <a:rPr lang="en-US" sz="1300" dirty="0">
                <a:solidFill>
                  <a:srgbClr val="091F2C"/>
                </a:solidFill>
                <a:latin typeface="Segoe UI" pitchFamily="34" charset="0"/>
                <a:ea typeface="Segoe UI" pitchFamily="34" charset="-122"/>
                <a:cs typeface="Segoe UI" pitchFamily="34" charset="-120"/>
              </a:rPr>
              <a:t># of use cases in pipeline per pillar</a:t>
            </a:r>
            <a:endParaRPr lang="en-US" sz="1300" dirty="0"/>
          </a:p>
        </p:txBody>
      </p:sp>
      <p:sp>
        <p:nvSpPr>
          <p:cNvPr id="15" name="Shape 13"/>
          <p:cNvSpPr/>
          <p:nvPr/>
        </p:nvSpPr>
        <p:spPr>
          <a:xfrm>
            <a:off x="868680" y="4983480"/>
            <a:ext cx="146304" cy="146304"/>
          </a:xfrm>
          <a:prstGeom prst="ellipse">
            <a:avLst/>
          </a:prstGeom>
          <a:solidFill>
            <a:srgbClr val="0078D4"/>
          </a:solidFill>
          <a:ln w="12700">
            <a:solidFill>
              <a:srgbClr val="0078D4"/>
            </a:solidFill>
            <a:prstDash val="solid"/>
          </a:ln>
        </p:spPr>
        <p:txBody>
          <a:bodyPr/>
          <a:lstStyle/>
          <a:p>
            <a:endParaRPr lang="en-ZA"/>
          </a:p>
        </p:txBody>
      </p:sp>
      <p:sp>
        <p:nvSpPr>
          <p:cNvPr id="16" name="Text 14"/>
          <p:cNvSpPr/>
          <p:nvPr/>
        </p:nvSpPr>
        <p:spPr>
          <a:xfrm>
            <a:off x="1143000" y="4892040"/>
            <a:ext cx="4663440" cy="411480"/>
          </a:xfrm>
          <a:prstGeom prst="rect">
            <a:avLst/>
          </a:prstGeom>
          <a:noFill/>
          <a:ln/>
        </p:spPr>
        <p:txBody>
          <a:bodyPr wrap="square" rtlCol="0" anchor="ctr"/>
          <a:lstStyle/>
          <a:p>
            <a:pPr marL="0" indent="0">
              <a:buNone/>
            </a:pPr>
            <a:r>
              <a:rPr lang="en-US" sz="1300" dirty="0">
                <a:solidFill>
                  <a:srgbClr val="091F2C"/>
                </a:solidFill>
                <a:latin typeface="Segoe UI" pitchFamily="34" charset="0"/>
                <a:ea typeface="Segoe UI" pitchFamily="34" charset="-122"/>
                <a:cs typeface="Segoe UI" pitchFamily="34" charset="-120"/>
              </a:rPr>
              <a:t>Responsible AI policy adoption</a:t>
            </a:r>
            <a:endParaRPr lang="en-US" sz="1300" dirty="0"/>
          </a:p>
        </p:txBody>
      </p:sp>
      <p:sp>
        <p:nvSpPr>
          <p:cNvPr id="17" name="Shape 15"/>
          <p:cNvSpPr/>
          <p:nvPr/>
        </p:nvSpPr>
        <p:spPr>
          <a:xfrm>
            <a:off x="6172200" y="1828800"/>
            <a:ext cx="5486400" cy="4297680"/>
          </a:xfrm>
          <a:prstGeom prst="roundRect">
            <a:avLst>
              <a:gd name="adj" fmla="val 2553"/>
            </a:avLst>
          </a:prstGeom>
          <a:solidFill>
            <a:srgbClr val="091F2C"/>
          </a:solidFill>
          <a:ln w="12700">
            <a:solidFill>
              <a:srgbClr val="091F2C"/>
            </a:solidFill>
            <a:prstDash val="solid"/>
          </a:ln>
        </p:spPr>
        <p:txBody>
          <a:bodyPr/>
          <a:lstStyle/>
          <a:p>
            <a:endParaRPr lang="en-ZA"/>
          </a:p>
        </p:txBody>
      </p:sp>
      <p:sp>
        <p:nvSpPr>
          <p:cNvPr id="18" name="Text 16"/>
          <p:cNvSpPr/>
          <p:nvPr/>
        </p:nvSpPr>
        <p:spPr>
          <a:xfrm>
            <a:off x="6400800" y="2011680"/>
            <a:ext cx="5029200" cy="320040"/>
          </a:xfrm>
          <a:prstGeom prst="rect">
            <a:avLst/>
          </a:prstGeom>
          <a:noFill/>
          <a:ln/>
        </p:spPr>
        <p:txBody>
          <a:bodyPr wrap="square" rtlCol="0" anchor="ctr"/>
          <a:lstStyle/>
          <a:p>
            <a:pPr marL="0" indent="0">
              <a:buNone/>
            </a:pPr>
            <a:r>
              <a:rPr lang="en-US" sz="1200" b="1" kern="0" spc="300" dirty="0">
                <a:solidFill>
                  <a:srgbClr val="FFB900"/>
                </a:solidFill>
                <a:latin typeface="Segoe UI" pitchFamily="34" charset="0"/>
                <a:ea typeface="Segoe UI" pitchFamily="34" charset="-122"/>
                <a:cs typeface="Segoe UI" pitchFamily="34" charset="-120"/>
              </a:rPr>
              <a:t>LAGGING · Business Impact</a:t>
            </a:r>
            <a:endParaRPr lang="en-US" sz="1200" dirty="0"/>
          </a:p>
        </p:txBody>
      </p:sp>
      <p:sp>
        <p:nvSpPr>
          <p:cNvPr id="19" name="Shape 17"/>
          <p:cNvSpPr/>
          <p:nvPr/>
        </p:nvSpPr>
        <p:spPr>
          <a:xfrm>
            <a:off x="6492240" y="2606040"/>
            <a:ext cx="146304" cy="146304"/>
          </a:xfrm>
          <a:prstGeom prst="ellipse">
            <a:avLst/>
          </a:prstGeom>
          <a:solidFill>
            <a:srgbClr val="FFB900"/>
          </a:solidFill>
          <a:ln w="12700">
            <a:solidFill>
              <a:srgbClr val="FFB900"/>
            </a:solidFill>
            <a:prstDash val="solid"/>
          </a:ln>
        </p:spPr>
        <p:txBody>
          <a:bodyPr/>
          <a:lstStyle/>
          <a:p>
            <a:endParaRPr lang="en-ZA"/>
          </a:p>
        </p:txBody>
      </p:sp>
      <p:sp>
        <p:nvSpPr>
          <p:cNvPr id="20" name="Text 18"/>
          <p:cNvSpPr/>
          <p:nvPr/>
        </p:nvSpPr>
        <p:spPr>
          <a:xfrm>
            <a:off x="6766560" y="2514600"/>
            <a:ext cx="4663440" cy="411480"/>
          </a:xfrm>
          <a:prstGeom prst="rect">
            <a:avLst/>
          </a:prstGeom>
          <a:noFill/>
          <a:ln/>
        </p:spPr>
        <p:txBody>
          <a:bodyPr wrap="square" rtlCol="0" anchor="ctr"/>
          <a:lstStyle/>
          <a:p>
            <a:pPr marL="0" indent="0">
              <a:buNone/>
            </a:pPr>
            <a:r>
              <a:rPr lang="en-US" sz="1300" dirty="0">
                <a:solidFill>
                  <a:srgbClr val="FFFFFF"/>
                </a:solidFill>
                <a:latin typeface="Segoe UI" pitchFamily="34" charset="0"/>
                <a:ea typeface="Segoe UI" pitchFamily="34" charset="-122"/>
                <a:cs typeface="Segoe UI" pitchFamily="34" charset="-120"/>
              </a:rPr>
              <a:t>Azure consumption (ACR) growth QoQ</a:t>
            </a:r>
            <a:endParaRPr lang="en-US" sz="1300" dirty="0"/>
          </a:p>
        </p:txBody>
      </p:sp>
      <p:sp>
        <p:nvSpPr>
          <p:cNvPr id="21" name="Shape 19"/>
          <p:cNvSpPr/>
          <p:nvPr/>
        </p:nvSpPr>
        <p:spPr>
          <a:xfrm>
            <a:off x="6492240" y="3200400"/>
            <a:ext cx="146304" cy="146304"/>
          </a:xfrm>
          <a:prstGeom prst="ellipse">
            <a:avLst/>
          </a:prstGeom>
          <a:solidFill>
            <a:srgbClr val="FFB900"/>
          </a:solidFill>
          <a:ln w="12700">
            <a:solidFill>
              <a:srgbClr val="FFB900"/>
            </a:solidFill>
            <a:prstDash val="solid"/>
          </a:ln>
        </p:spPr>
        <p:txBody>
          <a:bodyPr/>
          <a:lstStyle/>
          <a:p>
            <a:endParaRPr lang="en-ZA"/>
          </a:p>
        </p:txBody>
      </p:sp>
      <p:sp>
        <p:nvSpPr>
          <p:cNvPr id="22" name="Text 20"/>
          <p:cNvSpPr/>
          <p:nvPr/>
        </p:nvSpPr>
        <p:spPr>
          <a:xfrm>
            <a:off x="6766560" y="3108960"/>
            <a:ext cx="4663440" cy="411480"/>
          </a:xfrm>
          <a:prstGeom prst="rect">
            <a:avLst/>
          </a:prstGeom>
          <a:noFill/>
          <a:ln/>
        </p:spPr>
        <p:txBody>
          <a:bodyPr wrap="square" rtlCol="0" anchor="ctr"/>
          <a:lstStyle/>
          <a:p>
            <a:pPr marL="0" indent="0">
              <a:buNone/>
            </a:pPr>
            <a:r>
              <a:rPr lang="en-US" sz="1300" dirty="0">
                <a:solidFill>
                  <a:srgbClr val="FFFFFF"/>
                </a:solidFill>
                <a:latin typeface="Segoe UI" pitchFamily="34" charset="0"/>
                <a:ea typeface="Segoe UI" pitchFamily="34" charset="-122"/>
                <a:cs typeface="Segoe UI" pitchFamily="34" charset="-120"/>
              </a:rPr>
              <a:t># of production AI workloads per customer</a:t>
            </a:r>
            <a:endParaRPr lang="en-US" sz="1300" dirty="0"/>
          </a:p>
        </p:txBody>
      </p:sp>
      <p:sp>
        <p:nvSpPr>
          <p:cNvPr id="23" name="Shape 21"/>
          <p:cNvSpPr/>
          <p:nvPr/>
        </p:nvSpPr>
        <p:spPr>
          <a:xfrm>
            <a:off x="6492240" y="3794760"/>
            <a:ext cx="146304" cy="146304"/>
          </a:xfrm>
          <a:prstGeom prst="ellipse">
            <a:avLst/>
          </a:prstGeom>
          <a:solidFill>
            <a:srgbClr val="FFB900"/>
          </a:solidFill>
          <a:ln w="12700">
            <a:solidFill>
              <a:srgbClr val="FFB900"/>
            </a:solidFill>
            <a:prstDash val="solid"/>
          </a:ln>
        </p:spPr>
        <p:txBody>
          <a:bodyPr/>
          <a:lstStyle/>
          <a:p>
            <a:endParaRPr lang="en-ZA"/>
          </a:p>
        </p:txBody>
      </p:sp>
      <p:sp>
        <p:nvSpPr>
          <p:cNvPr id="24" name="Text 22"/>
          <p:cNvSpPr/>
          <p:nvPr/>
        </p:nvSpPr>
        <p:spPr>
          <a:xfrm>
            <a:off x="6766560" y="3703320"/>
            <a:ext cx="4663440" cy="411480"/>
          </a:xfrm>
          <a:prstGeom prst="rect">
            <a:avLst/>
          </a:prstGeom>
          <a:noFill/>
          <a:ln/>
        </p:spPr>
        <p:txBody>
          <a:bodyPr wrap="square" rtlCol="0" anchor="ctr"/>
          <a:lstStyle/>
          <a:p>
            <a:pPr marL="0" indent="0">
              <a:buNone/>
            </a:pPr>
            <a:r>
              <a:rPr lang="en-US" sz="1300" dirty="0">
                <a:solidFill>
                  <a:srgbClr val="FFFFFF"/>
                </a:solidFill>
                <a:latin typeface="Segoe UI" pitchFamily="34" charset="0"/>
                <a:ea typeface="Segoe UI" pitchFamily="34" charset="-122"/>
                <a:cs typeface="Segoe UI" pitchFamily="34" charset="-120"/>
              </a:rPr>
              <a:t>Copilot seats · Fabric capacity · MACC attainment</a:t>
            </a:r>
            <a:endParaRPr lang="en-US" sz="1300" dirty="0"/>
          </a:p>
        </p:txBody>
      </p:sp>
      <p:sp>
        <p:nvSpPr>
          <p:cNvPr id="25" name="Shape 23"/>
          <p:cNvSpPr/>
          <p:nvPr/>
        </p:nvSpPr>
        <p:spPr>
          <a:xfrm>
            <a:off x="6492240" y="4389120"/>
            <a:ext cx="146304" cy="146304"/>
          </a:xfrm>
          <a:prstGeom prst="ellipse">
            <a:avLst/>
          </a:prstGeom>
          <a:solidFill>
            <a:srgbClr val="FFB900"/>
          </a:solidFill>
          <a:ln w="12700">
            <a:solidFill>
              <a:srgbClr val="FFB900"/>
            </a:solidFill>
            <a:prstDash val="solid"/>
          </a:ln>
        </p:spPr>
        <p:txBody>
          <a:bodyPr/>
          <a:lstStyle/>
          <a:p>
            <a:endParaRPr lang="en-ZA"/>
          </a:p>
        </p:txBody>
      </p:sp>
      <p:sp>
        <p:nvSpPr>
          <p:cNvPr id="26" name="Text 24"/>
          <p:cNvSpPr/>
          <p:nvPr/>
        </p:nvSpPr>
        <p:spPr>
          <a:xfrm>
            <a:off x="6766560" y="4297680"/>
            <a:ext cx="4663440" cy="411480"/>
          </a:xfrm>
          <a:prstGeom prst="rect">
            <a:avLst/>
          </a:prstGeom>
          <a:noFill/>
          <a:ln/>
        </p:spPr>
        <p:txBody>
          <a:bodyPr wrap="square" rtlCol="0" anchor="ctr"/>
          <a:lstStyle/>
          <a:p>
            <a:pPr marL="0" indent="0">
              <a:buNone/>
            </a:pPr>
            <a:r>
              <a:rPr lang="en-US" sz="1300" dirty="0">
                <a:solidFill>
                  <a:srgbClr val="FFFFFF"/>
                </a:solidFill>
                <a:latin typeface="Segoe UI" pitchFamily="34" charset="0"/>
                <a:ea typeface="Segoe UI" pitchFamily="34" charset="-122"/>
                <a:cs typeface="Segoe UI" pitchFamily="34" charset="-120"/>
              </a:rPr>
              <a:t># of Anchor Partners activated in MEA</a:t>
            </a:r>
            <a:endParaRPr lang="en-US" sz="1300" dirty="0"/>
          </a:p>
        </p:txBody>
      </p:sp>
      <p:sp>
        <p:nvSpPr>
          <p:cNvPr id="27" name="Shape 25"/>
          <p:cNvSpPr/>
          <p:nvPr/>
        </p:nvSpPr>
        <p:spPr>
          <a:xfrm>
            <a:off x="6492240" y="4983480"/>
            <a:ext cx="146304" cy="146304"/>
          </a:xfrm>
          <a:prstGeom prst="ellipse">
            <a:avLst/>
          </a:prstGeom>
          <a:solidFill>
            <a:srgbClr val="FFB900"/>
          </a:solidFill>
          <a:ln w="12700">
            <a:solidFill>
              <a:srgbClr val="FFB900"/>
            </a:solidFill>
            <a:prstDash val="solid"/>
          </a:ln>
        </p:spPr>
        <p:txBody>
          <a:bodyPr/>
          <a:lstStyle/>
          <a:p>
            <a:endParaRPr lang="en-ZA"/>
          </a:p>
        </p:txBody>
      </p:sp>
      <p:sp>
        <p:nvSpPr>
          <p:cNvPr id="28" name="Text 26"/>
          <p:cNvSpPr/>
          <p:nvPr/>
        </p:nvSpPr>
        <p:spPr>
          <a:xfrm>
            <a:off x="6766560" y="4892040"/>
            <a:ext cx="4663440" cy="411480"/>
          </a:xfrm>
          <a:prstGeom prst="rect">
            <a:avLst/>
          </a:prstGeom>
          <a:noFill/>
          <a:ln/>
        </p:spPr>
        <p:txBody>
          <a:bodyPr wrap="square" rtlCol="0" anchor="ctr"/>
          <a:lstStyle/>
          <a:p>
            <a:pPr marL="0" indent="0">
              <a:buNone/>
            </a:pPr>
            <a:r>
              <a:rPr lang="en-US" sz="1300" dirty="0">
                <a:solidFill>
                  <a:srgbClr val="FFFFFF"/>
                </a:solidFill>
                <a:latin typeface="Segoe UI" pitchFamily="34" charset="0"/>
                <a:ea typeface="Segoe UI" pitchFamily="34" charset="-122"/>
                <a:cs typeface="Segoe UI" pitchFamily="34" charset="-120"/>
              </a:rPr>
              <a:t>Customer NSAT and reference-ability</a:t>
            </a:r>
            <a:endParaRPr lang="en-US" sz="1300" dirty="0"/>
          </a:p>
        </p:txBody>
      </p:sp>
      <p:pic>
        <p:nvPicPr>
          <p:cNvPr id="29"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30" name="Text 27"/>
          <p:cNvSpPr/>
          <p:nvPr/>
        </p:nvSpPr>
        <p:spPr>
          <a:xfrm>
            <a:off x="640080" y="6492240"/>
            <a:ext cx="73152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 2026 Microsoft Corporation</a:t>
            </a:r>
            <a:endParaRPr lang="en-US" sz="900" dirty="0"/>
          </a:p>
        </p:txBody>
      </p:sp>
      <p:sp>
        <p:nvSpPr>
          <p:cNvPr id="31" name="Text 28"/>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15 / 19</a:t>
            </a:r>
            <a:endParaRPr lang="en-US" sz="900" dirty="0"/>
          </a:p>
        </p:txBody>
      </p:sp>
      <p:sp>
        <p:nvSpPr>
          <p:cNvPr id="32" name="AICOE_GEO_ACCENT_Right Triangle 31"/>
          <p:cNvSpPr/>
          <p:nvPr/>
        </p:nvSpPr>
        <p:spPr>
          <a:xfrm rot="5400000">
            <a:off x="11762232"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ICOE_GEO_ACCENT_Right Triangle 32"/>
          <p:cNvSpPr/>
          <p:nvPr/>
        </p:nvSpPr>
        <p:spPr>
          <a:xfrm rot="5400000">
            <a:off x="11874246"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8F5"/>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91440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RULES OF ENGAGEMENT</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200" b="1" dirty="0">
                <a:solidFill>
                  <a:srgbClr val="091F2C"/>
                </a:solidFill>
                <a:latin typeface="Segoe UI" pitchFamily="34" charset="0"/>
                <a:ea typeface="Segoe UI" pitchFamily="34" charset="-122"/>
                <a:cs typeface="Segoe UI" pitchFamily="34" charset="-120"/>
              </a:rPr>
              <a:t>How Microsoft and Partners stay aligned</a:t>
            </a:r>
            <a:endParaRPr lang="en-US" sz="3200" dirty="0"/>
          </a:p>
        </p:txBody>
      </p:sp>
      <p:sp>
        <p:nvSpPr>
          <p:cNvPr id="5" name="Shape 3"/>
          <p:cNvSpPr/>
          <p:nvPr/>
        </p:nvSpPr>
        <p:spPr>
          <a:xfrm>
            <a:off x="548640" y="1920240"/>
            <a:ext cx="11064240" cy="914400"/>
          </a:xfrm>
          <a:prstGeom prst="roundRect">
            <a:avLst>
              <a:gd name="adj" fmla="val 8000"/>
            </a:avLst>
          </a:prstGeom>
          <a:solidFill>
            <a:srgbClr val="FFFFFF"/>
          </a:solidFill>
          <a:ln w="12700">
            <a:solidFill>
              <a:srgbClr val="E1E6EF"/>
            </a:solidFill>
            <a:prstDash val="solid"/>
          </a:ln>
        </p:spPr>
        <p:txBody>
          <a:bodyPr/>
          <a:lstStyle/>
          <a:p>
            <a:endParaRPr lang="en-ZA"/>
          </a:p>
        </p:txBody>
      </p:sp>
      <p:sp>
        <p:nvSpPr>
          <p:cNvPr id="6" name="Shape 4"/>
          <p:cNvSpPr/>
          <p:nvPr/>
        </p:nvSpPr>
        <p:spPr>
          <a:xfrm>
            <a:off x="731520" y="2103120"/>
            <a:ext cx="548640" cy="548640"/>
          </a:xfrm>
          <a:prstGeom prst="ellipse">
            <a:avLst/>
          </a:prstGeom>
          <a:solidFill>
            <a:srgbClr val="0078D4"/>
          </a:solidFill>
          <a:ln w="12700">
            <a:solidFill>
              <a:srgbClr val="0078D4"/>
            </a:solidFill>
            <a:prstDash val="solid"/>
          </a:ln>
        </p:spPr>
        <p:txBody>
          <a:bodyPr/>
          <a:lstStyle/>
          <a:p>
            <a:endParaRPr lang="en-ZA"/>
          </a:p>
        </p:txBody>
      </p:sp>
      <p:sp>
        <p:nvSpPr>
          <p:cNvPr id="7" name="Text 5"/>
          <p:cNvSpPr/>
          <p:nvPr/>
        </p:nvSpPr>
        <p:spPr>
          <a:xfrm>
            <a:off x="731520" y="2103120"/>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1</a:t>
            </a:r>
            <a:endParaRPr lang="en-US" sz="2000" dirty="0"/>
          </a:p>
        </p:txBody>
      </p:sp>
      <p:sp>
        <p:nvSpPr>
          <p:cNvPr id="8" name="Text 6"/>
          <p:cNvSpPr/>
          <p:nvPr/>
        </p:nvSpPr>
        <p:spPr>
          <a:xfrm>
            <a:off x="1463040" y="2011680"/>
            <a:ext cx="9875520" cy="411480"/>
          </a:xfrm>
          <a:prstGeom prst="rect">
            <a:avLst/>
          </a:prstGeom>
          <a:noFill/>
          <a:ln/>
        </p:spPr>
        <p:txBody>
          <a:bodyPr wrap="square" rtlCol="0" anchor="ctr"/>
          <a:lstStyle/>
          <a:p>
            <a:pPr marL="0" indent="0">
              <a:buNone/>
            </a:pPr>
            <a:r>
              <a:rPr lang="en-US" sz="1600" b="1" dirty="0">
                <a:solidFill>
                  <a:srgbClr val="091F2C"/>
                </a:solidFill>
                <a:latin typeface="Segoe UI" pitchFamily="34" charset="0"/>
                <a:ea typeface="Segoe UI" pitchFamily="34" charset="-122"/>
                <a:cs typeface="Segoe UI" pitchFamily="34" charset="-120"/>
              </a:rPr>
              <a:t>Microsoft enables · Factory accelerates · Partner delivers</a:t>
            </a:r>
            <a:endParaRPr lang="en-US" sz="1600" dirty="0"/>
          </a:p>
        </p:txBody>
      </p:sp>
      <p:sp>
        <p:nvSpPr>
          <p:cNvPr id="9" name="Text 7"/>
          <p:cNvSpPr/>
          <p:nvPr/>
        </p:nvSpPr>
        <p:spPr>
          <a:xfrm>
            <a:off x="1463040" y="2377440"/>
            <a:ext cx="9875520" cy="411480"/>
          </a:xfrm>
          <a:prstGeom prst="rect">
            <a:avLst/>
          </a:prstGeom>
          <a:noFill/>
          <a:ln/>
        </p:spPr>
        <p:txBody>
          <a:bodyPr wrap="square" rtlCol="0" anchor="ctr"/>
          <a:lstStyle/>
          <a:p>
            <a:pPr marL="0" indent="0">
              <a:buNone/>
            </a:pPr>
            <a:r>
              <a:rPr lang="en-US" sz="1200" dirty="0">
                <a:solidFill>
                  <a:srgbClr val="4B5563"/>
                </a:solidFill>
                <a:latin typeface="Segoe UI" pitchFamily="34" charset="0"/>
                <a:ea typeface="Segoe UI" pitchFamily="34" charset="-122"/>
                <a:cs typeface="Segoe UI" pitchFamily="34" charset="-120"/>
              </a:rPr>
              <a:t>MCAPS architects and governs. Cloud Accelerate Factory absorbs predictable foundation work at zero cost (F1 GenAI MVP, F2 Landing Zone, etc). Partners execute the differentiated build and managed run.</a:t>
            </a:r>
            <a:endParaRPr lang="en-US" sz="1200" dirty="0"/>
          </a:p>
        </p:txBody>
      </p:sp>
      <p:sp>
        <p:nvSpPr>
          <p:cNvPr id="10" name="Shape 8"/>
          <p:cNvSpPr/>
          <p:nvPr/>
        </p:nvSpPr>
        <p:spPr>
          <a:xfrm>
            <a:off x="548640" y="2971800"/>
            <a:ext cx="11064240" cy="914400"/>
          </a:xfrm>
          <a:prstGeom prst="roundRect">
            <a:avLst>
              <a:gd name="adj" fmla="val 8000"/>
            </a:avLst>
          </a:prstGeom>
          <a:solidFill>
            <a:srgbClr val="FFFFFF"/>
          </a:solidFill>
          <a:ln w="12700">
            <a:solidFill>
              <a:srgbClr val="E1E6EF"/>
            </a:solidFill>
            <a:prstDash val="solid"/>
          </a:ln>
        </p:spPr>
        <p:txBody>
          <a:bodyPr/>
          <a:lstStyle/>
          <a:p>
            <a:endParaRPr lang="en-ZA"/>
          </a:p>
        </p:txBody>
      </p:sp>
      <p:sp>
        <p:nvSpPr>
          <p:cNvPr id="11" name="Shape 9"/>
          <p:cNvSpPr/>
          <p:nvPr/>
        </p:nvSpPr>
        <p:spPr>
          <a:xfrm>
            <a:off x="731520" y="3154680"/>
            <a:ext cx="548640" cy="548640"/>
          </a:xfrm>
          <a:prstGeom prst="ellipse">
            <a:avLst/>
          </a:prstGeom>
          <a:solidFill>
            <a:srgbClr val="0078D4"/>
          </a:solidFill>
          <a:ln w="12700">
            <a:solidFill>
              <a:srgbClr val="0078D4"/>
            </a:solidFill>
            <a:prstDash val="solid"/>
          </a:ln>
        </p:spPr>
        <p:txBody>
          <a:bodyPr/>
          <a:lstStyle/>
          <a:p>
            <a:endParaRPr lang="en-ZA"/>
          </a:p>
        </p:txBody>
      </p:sp>
      <p:sp>
        <p:nvSpPr>
          <p:cNvPr id="12" name="Text 10"/>
          <p:cNvSpPr/>
          <p:nvPr/>
        </p:nvSpPr>
        <p:spPr>
          <a:xfrm>
            <a:off x="731520" y="3154680"/>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2</a:t>
            </a:r>
            <a:endParaRPr lang="en-US" sz="2000" dirty="0"/>
          </a:p>
        </p:txBody>
      </p:sp>
      <p:sp>
        <p:nvSpPr>
          <p:cNvPr id="13" name="Text 11"/>
          <p:cNvSpPr/>
          <p:nvPr/>
        </p:nvSpPr>
        <p:spPr>
          <a:xfrm>
            <a:off x="1463040" y="3063240"/>
            <a:ext cx="9875520" cy="411480"/>
          </a:xfrm>
          <a:prstGeom prst="rect">
            <a:avLst/>
          </a:prstGeom>
          <a:noFill/>
          <a:ln/>
        </p:spPr>
        <p:txBody>
          <a:bodyPr wrap="square" rtlCol="0" anchor="ctr"/>
          <a:lstStyle/>
          <a:p>
            <a:pPr marL="0" indent="0">
              <a:buNone/>
            </a:pPr>
            <a:r>
              <a:rPr lang="en-US" sz="1600" b="1" dirty="0">
                <a:solidFill>
                  <a:srgbClr val="091F2C"/>
                </a:solidFill>
                <a:latin typeface="Segoe UI" pitchFamily="34" charset="0"/>
                <a:ea typeface="Segoe UI" pitchFamily="34" charset="-122"/>
                <a:cs typeface="Segoe UI" pitchFamily="34" charset="-120"/>
              </a:rPr>
              <a:t>Partners don't own Azure commercial</a:t>
            </a:r>
            <a:endParaRPr lang="en-US" sz="1600" dirty="0"/>
          </a:p>
        </p:txBody>
      </p:sp>
      <p:sp>
        <p:nvSpPr>
          <p:cNvPr id="14" name="Text 12"/>
          <p:cNvSpPr/>
          <p:nvPr/>
        </p:nvSpPr>
        <p:spPr>
          <a:xfrm>
            <a:off x="1463040" y="3429000"/>
            <a:ext cx="9875520" cy="411480"/>
          </a:xfrm>
          <a:prstGeom prst="rect">
            <a:avLst/>
          </a:prstGeom>
          <a:noFill/>
          <a:ln/>
        </p:spPr>
        <p:txBody>
          <a:bodyPr wrap="square" rtlCol="0" anchor="ctr"/>
          <a:lstStyle/>
          <a:p>
            <a:pPr marL="0" indent="0">
              <a:buNone/>
            </a:pPr>
            <a:r>
              <a:rPr lang="en-US" sz="1200" dirty="0">
                <a:solidFill>
                  <a:srgbClr val="4B5563"/>
                </a:solidFill>
                <a:latin typeface="Segoe UI" pitchFamily="34" charset="0"/>
                <a:ea typeface="Segoe UI" pitchFamily="34" charset="-122"/>
                <a:cs typeface="Segoe UI" pitchFamily="34" charset="-120"/>
              </a:rPr>
              <a:t>MACC, ACR, and Copilot seat procurement remain Microsoft-primed.</a:t>
            </a:r>
            <a:endParaRPr lang="en-US" sz="1200" dirty="0"/>
          </a:p>
        </p:txBody>
      </p:sp>
      <p:sp>
        <p:nvSpPr>
          <p:cNvPr id="15" name="Shape 13"/>
          <p:cNvSpPr/>
          <p:nvPr/>
        </p:nvSpPr>
        <p:spPr>
          <a:xfrm>
            <a:off x="548640" y="4023360"/>
            <a:ext cx="11064240" cy="914400"/>
          </a:xfrm>
          <a:prstGeom prst="roundRect">
            <a:avLst>
              <a:gd name="adj" fmla="val 8000"/>
            </a:avLst>
          </a:prstGeom>
          <a:solidFill>
            <a:srgbClr val="FFFFFF"/>
          </a:solidFill>
          <a:ln w="12700">
            <a:solidFill>
              <a:srgbClr val="E1E6EF"/>
            </a:solidFill>
            <a:prstDash val="solid"/>
          </a:ln>
        </p:spPr>
        <p:txBody>
          <a:bodyPr/>
          <a:lstStyle/>
          <a:p>
            <a:endParaRPr lang="en-ZA"/>
          </a:p>
        </p:txBody>
      </p:sp>
      <p:sp>
        <p:nvSpPr>
          <p:cNvPr id="16" name="Shape 14"/>
          <p:cNvSpPr/>
          <p:nvPr/>
        </p:nvSpPr>
        <p:spPr>
          <a:xfrm>
            <a:off x="731520" y="4206240"/>
            <a:ext cx="548640" cy="548640"/>
          </a:xfrm>
          <a:prstGeom prst="ellipse">
            <a:avLst/>
          </a:prstGeom>
          <a:solidFill>
            <a:srgbClr val="0078D4"/>
          </a:solidFill>
          <a:ln w="12700">
            <a:solidFill>
              <a:srgbClr val="0078D4"/>
            </a:solidFill>
            <a:prstDash val="solid"/>
          </a:ln>
        </p:spPr>
        <p:txBody>
          <a:bodyPr/>
          <a:lstStyle/>
          <a:p>
            <a:endParaRPr lang="en-ZA"/>
          </a:p>
        </p:txBody>
      </p:sp>
      <p:sp>
        <p:nvSpPr>
          <p:cNvPr id="17" name="Text 15"/>
          <p:cNvSpPr/>
          <p:nvPr/>
        </p:nvSpPr>
        <p:spPr>
          <a:xfrm>
            <a:off x="731520" y="4206240"/>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3</a:t>
            </a:r>
            <a:endParaRPr lang="en-US" sz="2000" dirty="0"/>
          </a:p>
        </p:txBody>
      </p:sp>
      <p:sp>
        <p:nvSpPr>
          <p:cNvPr id="18" name="Text 16"/>
          <p:cNvSpPr/>
          <p:nvPr/>
        </p:nvSpPr>
        <p:spPr>
          <a:xfrm>
            <a:off x="1463040" y="4114800"/>
            <a:ext cx="9875520" cy="411480"/>
          </a:xfrm>
          <a:prstGeom prst="rect">
            <a:avLst/>
          </a:prstGeom>
          <a:noFill/>
          <a:ln/>
        </p:spPr>
        <p:txBody>
          <a:bodyPr wrap="square" rtlCol="0" anchor="ctr"/>
          <a:lstStyle/>
          <a:p>
            <a:pPr marL="0" indent="0">
              <a:buNone/>
            </a:pPr>
            <a:r>
              <a:rPr lang="en-US" sz="1600" b="1" dirty="0">
                <a:solidFill>
                  <a:srgbClr val="091F2C"/>
                </a:solidFill>
                <a:latin typeface="Segoe UI" pitchFamily="34" charset="0"/>
                <a:ea typeface="Segoe UI" pitchFamily="34" charset="-122"/>
                <a:cs typeface="Segoe UI" pitchFamily="34" charset="-120"/>
              </a:rPr>
              <a:t>Responsible AI is jointly owned</a:t>
            </a:r>
            <a:endParaRPr lang="en-US" sz="1600" dirty="0"/>
          </a:p>
        </p:txBody>
      </p:sp>
      <p:sp>
        <p:nvSpPr>
          <p:cNvPr id="19" name="Text 17"/>
          <p:cNvSpPr/>
          <p:nvPr/>
        </p:nvSpPr>
        <p:spPr>
          <a:xfrm>
            <a:off x="1463040" y="4480560"/>
            <a:ext cx="9875520" cy="411480"/>
          </a:xfrm>
          <a:prstGeom prst="rect">
            <a:avLst/>
          </a:prstGeom>
          <a:noFill/>
          <a:ln/>
        </p:spPr>
        <p:txBody>
          <a:bodyPr wrap="square" rtlCol="0" anchor="ctr"/>
          <a:lstStyle/>
          <a:p>
            <a:pPr marL="0" indent="0">
              <a:buNone/>
            </a:pPr>
            <a:r>
              <a:rPr lang="en-US" sz="1200" dirty="0">
                <a:solidFill>
                  <a:srgbClr val="4B5563"/>
                </a:solidFill>
                <a:latin typeface="Segoe UI" pitchFamily="34" charset="0"/>
                <a:ea typeface="Segoe UI" pitchFamily="34" charset="-122"/>
                <a:cs typeface="Segoe UI" pitchFamily="34" charset="-120"/>
              </a:rPr>
              <a:t>Non-negotiable. Both sides enforce governance across every pilot and production workload.</a:t>
            </a:r>
            <a:endParaRPr lang="en-US" sz="1200" dirty="0"/>
          </a:p>
        </p:txBody>
      </p:sp>
      <p:sp>
        <p:nvSpPr>
          <p:cNvPr id="20" name="Shape 18"/>
          <p:cNvSpPr/>
          <p:nvPr/>
        </p:nvSpPr>
        <p:spPr>
          <a:xfrm>
            <a:off x="548640" y="5074920"/>
            <a:ext cx="11064240" cy="914400"/>
          </a:xfrm>
          <a:prstGeom prst="roundRect">
            <a:avLst>
              <a:gd name="adj" fmla="val 8000"/>
            </a:avLst>
          </a:prstGeom>
          <a:solidFill>
            <a:srgbClr val="FFFFFF"/>
          </a:solidFill>
          <a:ln w="12700">
            <a:solidFill>
              <a:srgbClr val="E1E6EF"/>
            </a:solidFill>
            <a:prstDash val="solid"/>
          </a:ln>
        </p:spPr>
        <p:txBody>
          <a:bodyPr/>
          <a:lstStyle/>
          <a:p>
            <a:endParaRPr lang="en-ZA"/>
          </a:p>
        </p:txBody>
      </p:sp>
      <p:sp>
        <p:nvSpPr>
          <p:cNvPr id="21" name="Shape 19"/>
          <p:cNvSpPr/>
          <p:nvPr/>
        </p:nvSpPr>
        <p:spPr>
          <a:xfrm>
            <a:off x="731520" y="5257800"/>
            <a:ext cx="548640" cy="548640"/>
          </a:xfrm>
          <a:prstGeom prst="ellipse">
            <a:avLst/>
          </a:prstGeom>
          <a:solidFill>
            <a:srgbClr val="0078D4"/>
          </a:solidFill>
          <a:ln w="12700">
            <a:solidFill>
              <a:srgbClr val="0078D4"/>
            </a:solidFill>
            <a:prstDash val="solid"/>
          </a:ln>
        </p:spPr>
        <p:txBody>
          <a:bodyPr/>
          <a:lstStyle/>
          <a:p>
            <a:endParaRPr lang="en-ZA"/>
          </a:p>
        </p:txBody>
      </p:sp>
      <p:sp>
        <p:nvSpPr>
          <p:cNvPr id="22" name="Text 20"/>
          <p:cNvSpPr/>
          <p:nvPr/>
        </p:nvSpPr>
        <p:spPr>
          <a:xfrm>
            <a:off x="731520" y="5257800"/>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4</a:t>
            </a:r>
            <a:endParaRPr lang="en-US" sz="2000" dirty="0"/>
          </a:p>
        </p:txBody>
      </p:sp>
      <p:sp>
        <p:nvSpPr>
          <p:cNvPr id="23" name="Text 21"/>
          <p:cNvSpPr/>
          <p:nvPr/>
        </p:nvSpPr>
        <p:spPr>
          <a:xfrm>
            <a:off x="1463040" y="5166360"/>
            <a:ext cx="9875520" cy="411480"/>
          </a:xfrm>
          <a:prstGeom prst="rect">
            <a:avLst/>
          </a:prstGeom>
          <a:noFill/>
          <a:ln/>
        </p:spPr>
        <p:txBody>
          <a:bodyPr wrap="square" rtlCol="0" anchor="ctr"/>
          <a:lstStyle/>
          <a:p>
            <a:pPr marL="0" indent="0">
              <a:buNone/>
            </a:pPr>
            <a:r>
              <a:rPr lang="en-US" sz="1600" b="1" dirty="0">
                <a:solidFill>
                  <a:srgbClr val="091F2C"/>
                </a:solidFill>
                <a:latin typeface="Segoe UI" pitchFamily="34" charset="0"/>
                <a:ea typeface="Segoe UI" pitchFamily="34" charset="-122"/>
                <a:cs typeface="Segoe UI" pitchFamily="34" charset="-120"/>
              </a:rPr>
              <a:t>One face to the customer</a:t>
            </a:r>
            <a:endParaRPr lang="en-US" sz="1600" dirty="0"/>
          </a:p>
        </p:txBody>
      </p:sp>
      <p:sp>
        <p:nvSpPr>
          <p:cNvPr id="24" name="Text 22"/>
          <p:cNvSpPr/>
          <p:nvPr/>
        </p:nvSpPr>
        <p:spPr>
          <a:xfrm>
            <a:off x="1463040" y="5532120"/>
            <a:ext cx="9875520" cy="411480"/>
          </a:xfrm>
          <a:prstGeom prst="rect">
            <a:avLst/>
          </a:prstGeom>
          <a:noFill/>
          <a:ln/>
        </p:spPr>
        <p:txBody>
          <a:bodyPr wrap="square" rtlCol="0" anchor="ctr"/>
          <a:lstStyle/>
          <a:p>
            <a:pPr marL="0" indent="0">
              <a:buNone/>
            </a:pPr>
            <a:r>
              <a:rPr lang="en-US" sz="1200" dirty="0">
                <a:solidFill>
                  <a:srgbClr val="4B5563"/>
                </a:solidFill>
                <a:latin typeface="Segoe UI" pitchFamily="34" charset="0"/>
                <a:ea typeface="Segoe UI" pitchFamily="34" charset="-122"/>
                <a:cs typeface="Segoe UI" pitchFamily="34" charset="-120"/>
              </a:rPr>
              <a:t>Joint account plan, joint steerco, zero surprises. No duplicate discovery, no conflicting designs.</a:t>
            </a:r>
            <a:endParaRPr lang="en-US" sz="1200" dirty="0"/>
          </a:p>
        </p:txBody>
      </p:sp>
      <p:pic>
        <p:nvPicPr>
          <p:cNvPr id="25"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26" name="Text 23"/>
          <p:cNvSpPr/>
          <p:nvPr/>
        </p:nvSpPr>
        <p:spPr>
          <a:xfrm>
            <a:off x="640080" y="6492240"/>
            <a:ext cx="73152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 2026 Microsoft Corporation</a:t>
            </a:r>
            <a:endParaRPr lang="en-US" sz="900" dirty="0"/>
          </a:p>
        </p:txBody>
      </p:sp>
      <p:sp>
        <p:nvSpPr>
          <p:cNvPr id="27" name="Text 24"/>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16 / 19</a:t>
            </a:r>
            <a:endParaRPr lang="en-US" sz="900" dirty="0"/>
          </a:p>
        </p:txBody>
      </p:sp>
      <p:sp>
        <p:nvSpPr>
          <p:cNvPr id="28" name="AICOE_GEO_ACCENT_Right Triangle 27"/>
          <p:cNvSpPr/>
          <p:nvPr/>
        </p:nvSpPr>
        <p:spPr>
          <a:xfrm rot="5400000">
            <a:off x="11762232"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AICOE_GEO_ACCENT_Right Triangle 28"/>
          <p:cNvSpPr/>
          <p:nvPr/>
        </p:nvSpPr>
        <p:spPr>
          <a:xfrm rot="5400000">
            <a:off x="11874246"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8F5"/>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FF5C39"/>
          </a:solidFill>
          <a:ln/>
        </p:spPr>
        <p:txBody>
          <a:bodyPr/>
          <a:lstStyle/>
          <a:p>
            <a:endParaRPr lang="en-ZA"/>
          </a:p>
        </p:txBody>
      </p:sp>
      <p:sp>
        <p:nvSpPr>
          <p:cNvPr id="3" name="Text 1"/>
          <p:cNvSpPr/>
          <p:nvPr/>
        </p:nvSpPr>
        <p:spPr>
          <a:xfrm>
            <a:off x="548640" y="457200"/>
            <a:ext cx="9144000" cy="274320"/>
          </a:xfrm>
          <a:prstGeom prst="rect">
            <a:avLst/>
          </a:prstGeom>
          <a:noFill/>
          <a:ln/>
        </p:spPr>
        <p:txBody>
          <a:bodyPr wrap="square" rtlCol="0" anchor="ctr"/>
          <a:lstStyle/>
          <a:p>
            <a:pPr marL="0" indent="0">
              <a:buNone/>
            </a:pPr>
            <a:r>
              <a:rPr lang="en-US" sz="1200" b="1" kern="0" spc="300" dirty="0">
                <a:solidFill>
                  <a:srgbClr val="FF5C39"/>
                </a:solidFill>
                <a:latin typeface="Segoe UI" pitchFamily="34" charset="0"/>
                <a:ea typeface="Segoe UI" pitchFamily="34" charset="-122"/>
                <a:cs typeface="Segoe UI" pitchFamily="34" charset="-120"/>
              </a:rPr>
              <a:t>AI TRANSFORMATION OFFER</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200" b="1" dirty="0">
                <a:solidFill>
                  <a:srgbClr val="091F2C"/>
                </a:solidFill>
                <a:latin typeface="Segoe UI" pitchFamily="34" charset="0"/>
                <a:ea typeface="Segoe UI" pitchFamily="34" charset="-122"/>
                <a:cs typeface="Segoe UI" pitchFamily="34" charset="-120"/>
              </a:rPr>
              <a:t>The funded Microsoft delivery engine inside the CoE</a:t>
            </a:r>
            <a:endParaRPr lang="en-US" sz="3200" dirty="0"/>
          </a:p>
        </p:txBody>
      </p:sp>
      <p:sp>
        <p:nvSpPr>
          <p:cNvPr id="5" name="Shape 3"/>
          <p:cNvSpPr/>
          <p:nvPr/>
        </p:nvSpPr>
        <p:spPr>
          <a:xfrm>
            <a:off x="548640" y="1691640"/>
            <a:ext cx="11064240" cy="777240"/>
          </a:xfrm>
          <a:prstGeom prst="roundRect">
            <a:avLst>
              <a:gd name="adj" fmla="val 9412"/>
            </a:avLst>
          </a:prstGeom>
          <a:solidFill>
            <a:srgbClr val="091F2C"/>
          </a:solidFill>
          <a:ln w="12700">
            <a:solidFill>
              <a:srgbClr val="091F2C"/>
            </a:solidFill>
            <a:prstDash val="solid"/>
          </a:ln>
        </p:spPr>
        <p:txBody>
          <a:bodyPr/>
          <a:lstStyle/>
          <a:p>
            <a:endParaRPr lang="en-ZA"/>
          </a:p>
        </p:txBody>
      </p:sp>
      <p:sp>
        <p:nvSpPr>
          <p:cNvPr id="6" name="Text 4"/>
          <p:cNvSpPr/>
          <p:nvPr/>
        </p:nvSpPr>
        <p:spPr>
          <a:xfrm>
            <a:off x="777240" y="1737360"/>
            <a:ext cx="1463040" cy="685800"/>
          </a:xfrm>
          <a:prstGeom prst="rect">
            <a:avLst/>
          </a:prstGeom>
          <a:noFill/>
          <a:ln/>
        </p:spPr>
        <p:txBody>
          <a:bodyPr wrap="square" rtlCol="0" anchor="ctr"/>
          <a:lstStyle/>
          <a:p>
            <a:pPr marL="0" indent="0">
              <a:buNone/>
            </a:pPr>
            <a:r>
              <a:rPr lang="en-US" sz="3400" b="1" dirty="0">
                <a:solidFill>
                  <a:srgbClr val="C03BC4"/>
                </a:solidFill>
                <a:latin typeface="Segoe UI" pitchFamily="34" charset="0"/>
                <a:ea typeface="Segoe UI" pitchFamily="34" charset="-122"/>
                <a:cs typeface="Segoe UI" pitchFamily="34" charset="-120"/>
              </a:rPr>
              <a:t>100+</a:t>
            </a:r>
            <a:endParaRPr lang="en-US" sz="3400" dirty="0"/>
          </a:p>
        </p:txBody>
      </p:sp>
      <p:sp>
        <p:nvSpPr>
          <p:cNvPr id="7" name="Text 5"/>
          <p:cNvSpPr/>
          <p:nvPr/>
        </p:nvSpPr>
        <p:spPr>
          <a:xfrm>
            <a:off x="2240280" y="1737360"/>
            <a:ext cx="4937760" cy="685800"/>
          </a:xfrm>
          <a:prstGeom prst="rect">
            <a:avLst/>
          </a:prstGeom>
          <a:noFill/>
          <a:ln/>
        </p:spPr>
        <p:txBody>
          <a:bodyPr wrap="square" rtlCol="0" anchor="ctr"/>
          <a:lstStyle/>
          <a:p>
            <a:pPr marL="0" indent="0">
              <a:buNone/>
            </a:pPr>
            <a:r>
              <a:rPr lang="en-US" sz="1300" dirty="0">
                <a:solidFill>
                  <a:srgbClr val="F5E6F0"/>
                </a:solidFill>
                <a:latin typeface="Segoe UI" pitchFamily="34" charset="0"/>
                <a:ea typeface="Segoe UI" pitchFamily="34" charset="-122"/>
                <a:cs typeface="Segoe UI" pitchFamily="34" charset="-120"/>
              </a:rPr>
              <a:t>accounts already running ATO see</a:t>
            </a:r>
            <a:endParaRPr lang="en-US" sz="1300" dirty="0"/>
          </a:p>
        </p:txBody>
      </p:sp>
      <p:sp>
        <p:nvSpPr>
          <p:cNvPr id="8" name="Text 6"/>
          <p:cNvSpPr/>
          <p:nvPr/>
        </p:nvSpPr>
        <p:spPr>
          <a:xfrm>
            <a:off x="7223760" y="1737360"/>
            <a:ext cx="2011680" cy="685800"/>
          </a:xfrm>
          <a:prstGeom prst="rect">
            <a:avLst/>
          </a:prstGeom>
          <a:noFill/>
          <a:ln/>
        </p:spPr>
        <p:txBody>
          <a:bodyPr wrap="square" rtlCol="0" anchor="ctr"/>
          <a:lstStyle/>
          <a:p>
            <a:pPr marL="0" indent="0">
              <a:buNone/>
            </a:pPr>
            <a:r>
              <a:rPr lang="en-US" sz="2200" b="1" dirty="0">
                <a:solidFill>
                  <a:srgbClr val="FFB900"/>
                </a:solidFill>
                <a:latin typeface="Segoe UI" pitchFamily="34" charset="0"/>
                <a:ea typeface="Segoe UI" pitchFamily="34" charset="-122"/>
                <a:cs typeface="Segoe UI" pitchFamily="34" charset="-120"/>
              </a:rPr>
              <a:t>15% higher</a:t>
            </a:r>
            <a:endParaRPr lang="en-US" sz="2200" dirty="0"/>
          </a:p>
        </p:txBody>
      </p:sp>
      <p:sp>
        <p:nvSpPr>
          <p:cNvPr id="9" name="Text 7"/>
          <p:cNvSpPr/>
          <p:nvPr/>
        </p:nvSpPr>
        <p:spPr>
          <a:xfrm>
            <a:off x="9098280" y="1737360"/>
            <a:ext cx="2514600" cy="685800"/>
          </a:xfrm>
          <a:prstGeom prst="rect">
            <a:avLst/>
          </a:prstGeom>
          <a:noFill/>
          <a:ln/>
        </p:spPr>
        <p:txBody>
          <a:bodyPr wrap="square" rtlCol="0" anchor="ctr"/>
          <a:lstStyle/>
          <a:p>
            <a:pPr marL="0" indent="0">
              <a:buNone/>
            </a:pPr>
            <a:r>
              <a:rPr lang="en-US" sz="1300" dirty="0">
                <a:solidFill>
                  <a:srgbClr val="F5E6F0"/>
                </a:solidFill>
                <a:latin typeface="Segoe UI" pitchFamily="34" charset="0"/>
                <a:ea typeface="Segoe UI" pitchFamily="34" charset="-122"/>
                <a:cs typeface="Segoe UI" pitchFamily="34" charset="-120"/>
              </a:rPr>
              <a:t>month-over-month AI ACR</a:t>
            </a:r>
            <a:endParaRPr lang="en-US" sz="1300" dirty="0"/>
          </a:p>
        </p:txBody>
      </p:sp>
      <p:sp>
        <p:nvSpPr>
          <p:cNvPr id="10" name="Shape 8"/>
          <p:cNvSpPr/>
          <p:nvPr/>
        </p:nvSpPr>
        <p:spPr>
          <a:xfrm>
            <a:off x="678028" y="2743200"/>
            <a:ext cx="3520440" cy="2011680"/>
          </a:xfrm>
          <a:prstGeom prst="roundRect">
            <a:avLst>
              <a:gd name="adj" fmla="val 3636"/>
            </a:avLst>
          </a:prstGeom>
          <a:solidFill>
            <a:srgbClr val="FFFFFF"/>
          </a:solidFill>
          <a:ln w="12700">
            <a:solidFill>
              <a:srgbClr val="E1E6EF"/>
            </a:solidFill>
            <a:prstDash val="solid"/>
          </a:ln>
        </p:spPr>
        <p:txBody>
          <a:bodyPr/>
          <a:lstStyle/>
          <a:p>
            <a:endParaRPr lang="en-ZA"/>
          </a:p>
        </p:txBody>
      </p:sp>
      <p:sp>
        <p:nvSpPr>
          <p:cNvPr id="11" name="Shape 9"/>
          <p:cNvSpPr/>
          <p:nvPr/>
        </p:nvSpPr>
        <p:spPr>
          <a:xfrm>
            <a:off x="860908" y="2926080"/>
            <a:ext cx="594360" cy="594360"/>
          </a:xfrm>
          <a:prstGeom prst="ellipse">
            <a:avLst/>
          </a:prstGeom>
          <a:solidFill>
            <a:srgbClr val="0078D4"/>
          </a:solidFill>
          <a:ln w="12700">
            <a:solidFill>
              <a:srgbClr val="0078D4"/>
            </a:solidFill>
            <a:prstDash val="solid"/>
          </a:ln>
        </p:spPr>
        <p:txBody>
          <a:bodyPr/>
          <a:lstStyle/>
          <a:p>
            <a:endParaRPr lang="en-ZA"/>
          </a:p>
        </p:txBody>
      </p:sp>
      <p:sp>
        <p:nvSpPr>
          <p:cNvPr id="12" name="Text 10"/>
          <p:cNvSpPr/>
          <p:nvPr/>
        </p:nvSpPr>
        <p:spPr>
          <a:xfrm>
            <a:off x="860908" y="2926080"/>
            <a:ext cx="594360" cy="59436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C1</a:t>
            </a:r>
            <a:endParaRPr lang="en-US" sz="1400" dirty="0"/>
          </a:p>
        </p:txBody>
      </p:sp>
      <p:sp>
        <p:nvSpPr>
          <p:cNvPr id="13" name="Text 11"/>
          <p:cNvSpPr/>
          <p:nvPr/>
        </p:nvSpPr>
        <p:spPr>
          <a:xfrm>
            <a:off x="1546708" y="2926080"/>
            <a:ext cx="2514600" cy="365760"/>
          </a:xfrm>
          <a:prstGeom prst="rect">
            <a:avLst/>
          </a:prstGeom>
          <a:noFill/>
          <a:ln/>
        </p:spPr>
        <p:txBody>
          <a:bodyPr wrap="square" rtlCol="0" anchor="ctr"/>
          <a:lstStyle/>
          <a:p>
            <a:pPr marL="0" indent="0">
              <a:buNone/>
            </a:pPr>
            <a:r>
              <a:rPr lang="en-US" sz="1400" b="1" dirty="0">
                <a:solidFill>
                  <a:srgbClr val="091F2C"/>
                </a:solidFill>
                <a:latin typeface="Segoe UI" pitchFamily="34" charset="0"/>
                <a:ea typeface="Segoe UI" pitchFamily="34" charset="-122"/>
                <a:cs typeface="Segoe UI" pitchFamily="34" charset="-120"/>
              </a:rPr>
              <a:t>Business &amp; AI Journey to Value</a:t>
            </a:r>
            <a:endParaRPr lang="en-US" sz="1400" dirty="0"/>
          </a:p>
        </p:txBody>
      </p:sp>
      <p:sp>
        <p:nvSpPr>
          <p:cNvPr id="14" name="Text 12"/>
          <p:cNvSpPr/>
          <p:nvPr/>
        </p:nvSpPr>
        <p:spPr>
          <a:xfrm>
            <a:off x="906628" y="3611880"/>
            <a:ext cx="3063240" cy="100584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AI CoE Presentation · Process Envisioning · Rapid Prototyping</a:t>
            </a:r>
            <a:endParaRPr lang="en-US" sz="1100" dirty="0"/>
          </a:p>
        </p:txBody>
      </p:sp>
      <p:sp>
        <p:nvSpPr>
          <p:cNvPr id="15" name="Text 13"/>
          <p:cNvSpPr/>
          <p:nvPr/>
        </p:nvSpPr>
        <p:spPr>
          <a:xfrm>
            <a:off x="906628" y="4572000"/>
            <a:ext cx="3063240" cy="274320"/>
          </a:xfrm>
          <a:prstGeom prst="rect">
            <a:avLst/>
          </a:prstGeom>
          <a:noFill/>
          <a:ln/>
        </p:spPr>
        <p:txBody>
          <a:bodyPr wrap="square" rtlCol="0" anchor="ctr"/>
          <a:lstStyle/>
          <a:p>
            <a:pPr marL="0" indent="0">
              <a:buNone/>
            </a:pPr>
            <a:r>
              <a:rPr lang="en-US" sz="1000" b="1" i="1" dirty="0">
                <a:solidFill>
                  <a:srgbClr val="0078D4"/>
                </a:solidFill>
                <a:latin typeface="Segoe UI" pitchFamily="34" charset="0"/>
                <a:ea typeface="Segoe UI" pitchFamily="34" charset="-122"/>
                <a:cs typeface="Segoe UI" pitchFamily="34" charset="-120"/>
              </a:rPr>
              <a:t>1–2 weeks</a:t>
            </a:r>
            <a:endParaRPr lang="en-US" sz="1000" dirty="0"/>
          </a:p>
        </p:txBody>
      </p:sp>
      <p:sp>
        <p:nvSpPr>
          <p:cNvPr id="16" name="Shape 14"/>
          <p:cNvSpPr/>
          <p:nvPr/>
        </p:nvSpPr>
        <p:spPr>
          <a:xfrm>
            <a:off x="4335628" y="2743200"/>
            <a:ext cx="3520440" cy="2011680"/>
          </a:xfrm>
          <a:prstGeom prst="roundRect">
            <a:avLst>
              <a:gd name="adj" fmla="val 3636"/>
            </a:avLst>
          </a:prstGeom>
          <a:solidFill>
            <a:srgbClr val="FFFFFF"/>
          </a:solidFill>
          <a:ln w="12700">
            <a:solidFill>
              <a:srgbClr val="E1E6EF"/>
            </a:solidFill>
            <a:prstDash val="solid"/>
          </a:ln>
        </p:spPr>
        <p:txBody>
          <a:bodyPr/>
          <a:lstStyle/>
          <a:p>
            <a:endParaRPr lang="en-ZA"/>
          </a:p>
        </p:txBody>
      </p:sp>
      <p:sp>
        <p:nvSpPr>
          <p:cNvPr id="17" name="Shape 15"/>
          <p:cNvSpPr/>
          <p:nvPr/>
        </p:nvSpPr>
        <p:spPr>
          <a:xfrm>
            <a:off x="4518508" y="2926080"/>
            <a:ext cx="594360" cy="594360"/>
          </a:xfrm>
          <a:prstGeom prst="ellipse">
            <a:avLst/>
          </a:prstGeom>
          <a:solidFill>
            <a:srgbClr val="0078D4"/>
          </a:solidFill>
          <a:ln w="12700">
            <a:solidFill>
              <a:srgbClr val="0078D4"/>
            </a:solidFill>
            <a:prstDash val="solid"/>
          </a:ln>
        </p:spPr>
        <p:txBody>
          <a:bodyPr/>
          <a:lstStyle/>
          <a:p>
            <a:endParaRPr lang="en-ZA"/>
          </a:p>
        </p:txBody>
      </p:sp>
      <p:sp>
        <p:nvSpPr>
          <p:cNvPr id="18" name="Text 16"/>
          <p:cNvSpPr/>
          <p:nvPr/>
        </p:nvSpPr>
        <p:spPr>
          <a:xfrm>
            <a:off x="4518508" y="2926080"/>
            <a:ext cx="594360" cy="59436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C2</a:t>
            </a:r>
            <a:endParaRPr lang="en-US" sz="1400" dirty="0"/>
          </a:p>
        </p:txBody>
      </p:sp>
      <p:sp>
        <p:nvSpPr>
          <p:cNvPr id="19" name="Text 17"/>
          <p:cNvSpPr/>
          <p:nvPr/>
        </p:nvSpPr>
        <p:spPr>
          <a:xfrm>
            <a:off x="5204308" y="2926080"/>
            <a:ext cx="2514600" cy="365760"/>
          </a:xfrm>
          <a:prstGeom prst="rect">
            <a:avLst/>
          </a:prstGeom>
          <a:noFill/>
          <a:ln/>
        </p:spPr>
        <p:txBody>
          <a:bodyPr wrap="square" rtlCol="0" anchor="ctr"/>
          <a:lstStyle/>
          <a:p>
            <a:pPr marL="0" indent="0">
              <a:buNone/>
            </a:pPr>
            <a:r>
              <a:rPr lang="en-US" sz="1400" b="1" dirty="0">
                <a:solidFill>
                  <a:srgbClr val="091F2C"/>
                </a:solidFill>
                <a:latin typeface="Segoe UI" pitchFamily="34" charset="0"/>
                <a:ea typeface="Segoe UI" pitchFamily="34" charset="-122"/>
                <a:cs typeface="Segoe UI" pitchFamily="34" charset="-120"/>
              </a:rPr>
              <a:t>AI Foundation Architecture</a:t>
            </a:r>
            <a:endParaRPr lang="en-US" sz="1400" dirty="0"/>
          </a:p>
        </p:txBody>
      </p:sp>
      <p:sp>
        <p:nvSpPr>
          <p:cNvPr id="20" name="Text 18"/>
          <p:cNvSpPr/>
          <p:nvPr/>
        </p:nvSpPr>
        <p:spPr>
          <a:xfrm>
            <a:off x="4564228" y="3611880"/>
            <a:ext cx="3063240" cy="100584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GenAI Building Blocks · Intro Landing Zone · Agentic AI Landing Zone Implementation</a:t>
            </a:r>
            <a:endParaRPr lang="en-US" sz="1100" dirty="0"/>
          </a:p>
        </p:txBody>
      </p:sp>
      <p:sp>
        <p:nvSpPr>
          <p:cNvPr id="21" name="Text 19"/>
          <p:cNvSpPr/>
          <p:nvPr/>
        </p:nvSpPr>
        <p:spPr>
          <a:xfrm>
            <a:off x="4564228" y="4572000"/>
            <a:ext cx="3063240" cy="274320"/>
          </a:xfrm>
          <a:prstGeom prst="rect">
            <a:avLst/>
          </a:prstGeom>
          <a:noFill/>
          <a:ln/>
        </p:spPr>
        <p:txBody>
          <a:bodyPr wrap="square" rtlCol="0" anchor="ctr"/>
          <a:lstStyle/>
          <a:p>
            <a:pPr marL="0" indent="0">
              <a:buNone/>
            </a:pPr>
            <a:r>
              <a:rPr lang="en-US" sz="1000" b="1" i="1" dirty="0">
                <a:solidFill>
                  <a:srgbClr val="0078D4"/>
                </a:solidFill>
                <a:latin typeface="Segoe UI" pitchFamily="34" charset="0"/>
                <a:ea typeface="Segoe UI" pitchFamily="34" charset="-122"/>
                <a:cs typeface="Segoe UI" pitchFamily="34" charset="-120"/>
              </a:rPr>
              <a:t>2–4 weeks</a:t>
            </a:r>
            <a:endParaRPr lang="en-US" sz="1000" dirty="0"/>
          </a:p>
        </p:txBody>
      </p:sp>
      <p:sp>
        <p:nvSpPr>
          <p:cNvPr id="22" name="Shape 20"/>
          <p:cNvSpPr/>
          <p:nvPr/>
        </p:nvSpPr>
        <p:spPr>
          <a:xfrm>
            <a:off x="7993228" y="2743200"/>
            <a:ext cx="3520440" cy="2011680"/>
          </a:xfrm>
          <a:prstGeom prst="roundRect">
            <a:avLst>
              <a:gd name="adj" fmla="val 3636"/>
            </a:avLst>
          </a:prstGeom>
          <a:solidFill>
            <a:srgbClr val="FFFFFF"/>
          </a:solidFill>
          <a:ln w="12700">
            <a:solidFill>
              <a:srgbClr val="E1E6EF"/>
            </a:solidFill>
            <a:prstDash val="solid"/>
          </a:ln>
        </p:spPr>
        <p:txBody>
          <a:bodyPr/>
          <a:lstStyle/>
          <a:p>
            <a:endParaRPr lang="en-ZA"/>
          </a:p>
        </p:txBody>
      </p:sp>
      <p:sp>
        <p:nvSpPr>
          <p:cNvPr id="23" name="Shape 21"/>
          <p:cNvSpPr/>
          <p:nvPr/>
        </p:nvSpPr>
        <p:spPr>
          <a:xfrm>
            <a:off x="8176108" y="2926080"/>
            <a:ext cx="594360" cy="594360"/>
          </a:xfrm>
          <a:prstGeom prst="ellipse">
            <a:avLst/>
          </a:prstGeom>
          <a:solidFill>
            <a:srgbClr val="FF5C39"/>
          </a:solidFill>
          <a:ln w="12700">
            <a:solidFill>
              <a:srgbClr val="FF5C39"/>
            </a:solidFill>
            <a:prstDash val="solid"/>
          </a:ln>
        </p:spPr>
        <p:txBody>
          <a:bodyPr/>
          <a:lstStyle/>
          <a:p>
            <a:endParaRPr lang="en-ZA"/>
          </a:p>
        </p:txBody>
      </p:sp>
      <p:sp>
        <p:nvSpPr>
          <p:cNvPr id="24" name="Text 22"/>
          <p:cNvSpPr/>
          <p:nvPr/>
        </p:nvSpPr>
        <p:spPr>
          <a:xfrm>
            <a:off x="8176108" y="2926080"/>
            <a:ext cx="594360" cy="59436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C3</a:t>
            </a:r>
            <a:endParaRPr lang="en-US" sz="1400" dirty="0"/>
          </a:p>
        </p:txBody>
      </p:sp>
      <p:sp>
        <p:nvSpPr>
          <p:cNvPr id="25" name="Text 23"/>
          <p:cNvSpPr/>
          <p:nvPr/>
        </p:nvSpPr>
        <p:spPr>
          <a:xfrm>
            <a:off x="8861908" y="2926080"/>
            <a:ext cx="2514600" cy="365760"/>
          </a:xfrm>
          <a:prstGeom prst="rect">
            <a:avLst/>
          </a:prstGeom>
          <a:noFill/>
          <a:ln/>
        </p:spPr>
        <p:txBody>
          <a:bodyPr wrap="square" rtlCol="0" anchor="ctr"/>
          <a:lstStyle/>
          <a:p>
            <a:pPr marL="0" indent="0">
              <a:buNone/>
            </a:pPr>
            <a:r>
              <a:rPr lang="en-US" sz="1400" b="1" dirty="0">
                <a:solidFill>
                  <a:srgbClr val="091F2C"/>
                </a:solidFill>
                <a:latin typeface="Segoe UI" pitchFamily="34" charset="0"/>
                <a:ea typeface="Segoe UI" pitchFamily="34" charset="-122"/>
                <a:cs typeface="Segoe UI" pitchFamily="34" charset="-120"/>
              </a:rPr>
              <a:t>Agent Factory</a:t>
            </a:r>
            <a:endParaRPr lang="en-US" sz="1400" dirty="0"/>
          </a:p>
        </p:txBody>
      </p:sp>
      <p:sp>
        <p:nvSpPr>
          <p:cNvPr id="26" name="Text 24"/>
          <p:cNvSpPr/>
          <p:nvPr/>
        </p:nvSpPr>
        <p:spPr>
          <a:xfrm>
            <a:off x="8221828" y="3611880"/>
            <a:ext cx="3063240" cy="100584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GenAIOps Maturity · Agentic Solution Co-Build · Solution Optimization</a:t>
            </a:r>
            <a:endParaRPr lang="en-US" sz="1100" dirty="0"/>
          </a:p>
        </p:txBody>
      </p:sp>
      <p:sp>
        <p:nvSpPr>
          <p:cNvPr id="27" name="Text 25"/>
          <p:cNvSpPr/>
          <p:nvPr/>
        </p:nvSpPr>
        <p:spPr>
          <a:xfrm>
            <a:off x="8221828" y="4572000"/>
            <a:ext cx="3063240" cy="274320"/>
          </a:xfrm>
          <a:prstGeom prst="rect">
            <a:avLst/>
          </a:prstGeom>
          <a:noFill/>
          <a:ln/>
        </p:spPr>
        <p:txBody>
          <a:bodyPr wrap="square" rtlCol="0" anchor="ctr"/>
          <a:lstStyle/>
          <a:p>
            <a:pPr marL="0" indent="0">
              <a:buNone/>
            </a:pPr>
            <a:r>
              <a:rPr lang="en-US" sz="1000" b="1" i="1" dirty="0">
                <a:solidFill>
                  <a:srgbClr val="0078D4"/>
                </a:solidFill>
                <a:latin typeface="Segoe UI" pitchFamily="34" charset="0"/>
                <a:ea typeface="Segoe UI" pitchFamily="34" charset="-122"/>
                <a:cs typeface="Segoe UI" pitchFamily="34" charset="-120"/>
              </a:rPr>
              <a:t>7–9 weeks</a:t>
            </a:r>
            <a:endParaRPr lang="en-US" sz="1000" dirty="0"/>
          </a:p>
        </p:txBody>
      </p:sp>
      <p:sp>
        <p:nvSpPr>
          <p:cNvPr id="28" name="Shape 26"/>
          <p:cNvSpPr/>
          <p:nvPr/>
        </p:nvSpPr>
        <p:spPr>
          <a:xfrm>
            <a:off x="548640" y="4983480"/>
            <a:ext cx="11064240" cy="1234440"/>
          </a:xfrm>
          <a:prstGeom prst="roundRect">
            <a:avLst>
              <a:gd name="adj" fmla="val 5926"/>
            </a:avLst>
          </a:prstGeom>
          <a:solidFill>
            <a:srgbClr val="FEF6EC"/>
          </a:solidFill>
          <a:ln w="12700">
            <a:solidFill>
              <a:srgbClr val="FFB900"/>
            </a:solidFill>
            <a:prstDash val="solid"/>
          </a:ln>
        </p:spPr>
        <p:txBody>
          <a:bodyPr/>
          <a:lstStyle/>
          <a:p>
            <a:endParaRPr lang="en-ZA"/>
          </a:p>
        </p:txBody>
      </p:sp>
      <p:sp>
        <p:nvSpPr>
          <p:cNvPr id="29" name="Text 27"/>
          <p:cNvSpPr/>
          <p:nvPr/>
        </p:nvSpPr>
        <p:spPr>
          <a:xfrm>
            <a:off x="777240" y="5074920"/>
            <a:ext cx="3657600" cy="274320"/>
          </a:xfrm>
          <a:prstGeom prst="rect">
            <a:avLst/>
          </a:prstGeom>
          <a:noFill/>
          <a:ln/>
        </p:spPr>
        <p:txBody>
          <a:bodyPr wrap="square" rtlCol="0" anchor="ctr"/>
          <a:lstStyle/>
          <a:p>
            <a:pPr marL="0" indent="0">
              <a:buNone/>
            </a:pPr>
            <a:r>
              <a:rPr lang="en-US" sz="1000" b="1" kern="0" spc="300" dirty="0">
                <a:solidFill>
                  <a:srgbClr val="8A6500"/>
                </a:solidFill>
                <a:latin typeface="Segoe UI" pitchFamily="34" charset="0"/>
                <a:ea typeface="Segoe UI" pitchFamily="34" charset="-122"/>
                <a:cs typeface="Segoe UI" pitchFamily="34" charset="-120"/>
              </a:rPr>
              <a:t>COMMERCIAL ENVELOPE</a:t>
            </a:r>
            <a:endParaRPr lang="en-US" sz="1000" dirty="0"/>
          </a:p>
        </p:txBody>
      </p:sp>
      <p:sp>
        <p:nvSpPr>
          <p:cNvPr id="30" name="Text 28"/>
          <p:cNvSpPr/>
          <p:nvPr/>
        </p:nvSpPr>
        <p:spPr>
          <a:xfrm>
            <a:off x="777240" y="5349240"/>
            <a:ext cx="1463040" cy="274320"/>
          </a:xfrm>
          <a:prstGeom prst="rect">
            <a:avLst/>
          </a:prstGeom>
          <a:noFill/>
          <a:ln/>
        </p:spPr>
        <p:txBody>
          <a:bodyPr wrap="square" rtlCol="0" anchor="ctr"/>
          <a:lstStyle/>
          <a:p>
            <a:pPr marL="0" indent="0">
              <a:buNone/>
            </a:pPr>
            <a:r>
              <a:rPr lang="en-US" sz="1200" b="1" dirty="0">
                <a:solidFill>
                  <a:srgbClr val="091F2C"/>
                </a:solidFill>
                <a:latin typeface="Segoe UI" pitchFamily="34" charset="0"/>
                <a:ea typeface="Segoe UI" pitchFamily="34" charset="-122"/>
                <a:cs typeface="Segoe UI" pitchFamily="34" charset="-120"/>
              </a:rPr>
              <a:t>Pre-sales</a:t>
            </a:r>
            <a:endParaRPr lang="en-US" sz="1200" dirty="0"/>
          </a:p>
        </p:txBody>
      </p:sp>
      <p:sp>
        <p:nvSpPr>
          <p:cNvPr id="31" name="Text 29"/>
          <p:cNvSpPr/>
          <p:nvPr/>
        </p:nvSpPr>
        <p:spPr>
          <a:xfrm>
            <a:off x="777240" y="5623560"/>
            <a:ext cx="3657600" cy="27432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Up to $50k ECIF · 1:5 ROI</a:t>
            </a:r>
            <a:endParaRPr lang="en-US" sz="1100" dirty="0"/>
          </a:p>
        </p:txBody>
      </p:sp>
      <p:sp>
        <p:nvSpPr>
          <p:cNvPr id="32" name="Text 30"/>
          <p:cNvSpPr/>
          <p:nvPr/>
        </p:nvSpPr>
        <p:spPr>
          <a:xfrm>
            <a:off x="777240" y="5897880"/>
            <a:ext cx="3657600" cy="228600"/>
          </a:xfrm>
          <a:prstGeom prst="rect">
            <a:avLst/>
          </a:prstGeom>
          <a:noFill/>
          <a:ln/>
        </p:spPr>
        <p:txBody>
          <a:bodyPr wrap="square" rtlCol="0" anchor="ctr"/>
          <a:lstStyle/>
          <a:p>
            <a:pPr marL="0" indent="0">
              <a:buNone/>
            </a:pPr>
            <a:r>
              <a:rPr lang="en-US" sz="900" i="1" dirty="0">
                <a:solidFill>
                  <a:srgbClr val="8A94A6"/>
                </a:solidFill>
                <a:latin typeface="Segoe UI" pitchFamily="34" charset="0"/>
                <a:ea typeface="Segoe UI" pitchFamily="34" charset="-122"/>
                <a:cs typeface="Segoe UI" pitchFamily="34" charset="-120"/>
              </a:rPr>
              <a:t>(Component 1 · any Y1 ACR &gt; $1)</a:t>
            </a:r>
            <a:endParaRPr lang="en-US" sz="900" dirty="0"/>
          </a:p>
        </p:txBody>
      </p:sp>
      <p:sp>
        <p:nvSpPr>
          <p:cNvPr id="33" name="Shape 31"/>
          <p:cNvSpPr/>
          <p:nvPr/>
        </p:nvSpPr>
        <p:spPr>
          <a:xfrm>
            <a:off x="4846320" y="5349240"/>
            <a:ext cx="18288" cy="731520"/>
          </a:xfrm>
          <a:prstGeom prst="rect">
            <a:avLst/>
          </a:prstGeom>
          <a:solidFill>
            <a:srgbClr val="D0B078"/>
          </a:solidFill>
          <a:ln/>
        </p:spPr>
        <p:txBody>
          <a:bodyPr/>
          <a:lstStyle/>
          <a:p>
            <a:endParaRPr lang="en-ZA"/>
          </a:p>
        </p:txBody>
      </p:sp>
      <p:sp>
        <p:nvSpPr>
          <p:cNvPr id="34" name="Text 32"/>
          <p:cNvSpPr/>
          <p:nvPr/>
        </p:nvSpPr>
        <p:spPr>
          <a:xfrm>
            <a:off x="5074920" y="5349240"/>
            <a:ext cx="1828800" cy="274320"/>
          </a:xfrm>
          <a:prstGeom prst="rect">
            <a:avLst/>
          </a:prstGeom>
          <a:noFill/>
          <a:ln/>
        </p:spPr>
        <p:txBody>
          <a:bodyPr wrap="square" rtlCol="0" anchor="ctr"/>
          <a:lstStyle/>
          <a:p>
            <a:pPr marL="0" indent="0">
              <a:buNone/>
            </a:pPr>
            <a:r>
              <a:rPr lang="en-US" sz="1200" b="1" dirty="0">
                <a:solidFill>
                  <a:srgbClr val="091F2C"/>
                </a:solidFill>
                <a:latin typeface="Segoe UI" pitchFamily="34" charset="0"/>
                <a:ea typeface="Segoe UI" pitchFamily="34" charset="-122"/>
                <a:cs typeface="Segoe UI" pitchFamily="34" charset="-120"/>
              </a:rPr>
              <a:t>Post-sales</a:t>
            </a:r>
            <a:endParaRPr lang="en-US" sz="1200" dirty="0"/>
          </a:p>
        </p:txBody>
      </p:sp>
      <p:sp>
        <p:nvSpPr>
          <p:cNvPr id="35" name="Text 33"/>
          <p:cNvSpPr/>
          <p:nvPr/>
        </p:nvSpPr>
        <p:spPr>
          <a:xfrm>
            <a:off x="5074920" y="5623560"/>
            <a:ext cx="6400800" cy="27432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Up to $1M · $500k ECIF + $500k ACO · 1:2 each</a:t>
            </a:r>
            <a:endParaRPr lang="en-US" sz="1100" dirty="0"/>
          </a:p>
        </p:txBody>
      </p:sp>
      <p:sp>
        <p:nvSpPr>
          <p:cNvPr id="36" name="Text 34"/>
          <p:cNvSpPr/>
          <p:nvPr/>
        </p:nvSpPr>
        <p:spPr>
          <a:xfrm>
            <a:off x="5074920" y="5897880"/>
            <a:ext cx="6400800" cy="228600"/>
          </a:xfrm>
          <a:prstGeom prst="rect">
            <a:avLst/>
          </a:prstGeom>
          <a:noFill/>
          <a:ln/>
        </p:spPr>
        <p:txBody>
          <a:bodyPr wrap="square" rtlCol="0" anchor="ctr"/>
          <a:lstStyle/>
          <a:p>
            <a:pPr marL="0" indent="0">
              <a:buNone/>
            </a:pPr>
            <a:r>
              <a:rPr lang="en-US" sz="900" i="1" dirty="0">
                <a:solidFill>
                  <a:srgbClr val="8A94A6"/>
                </a:solidFill>
                <a:latin typeface="Segoe UI" pitchFamily="34" charset="0"/>
                <a:ea typeface="Segoe UI" pitchFamily="34" charset="-122"/>
                <a:cs typeface="Segoe UI" pitchFamily="34" charset="-120"/>
              </a:rPr>
              <a:t>(Components 2 + 3 · gated on AI Foundry + Fabric/Databases attach)</a:t>
            </a:r>
            <a:endParaRPr lang="en-US" sz="900" dirty="0"/>
          </a:p>
        </p:txBody>
      </p:sp>
      <p:pic>
        <p:nvPicPr>
          <p:cNvPr id="37"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38" name="Text 35"/>
          <p:cNvSpPr/>
          <p:nvPr/>
        </p:nvSpPr>
        <p:spPr>
          <a:xfrm>
            <a:off x="640080" y="6492240"/>
            <a:ext cx="73152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 2026 Microsoft Corporation</a:t>
            </a:r>
            <a:endParaRPr lang="en-US" sz="900" dirty="0"/>
          </a:p>
        </p:txBody>
      </p:sp>
      <p:sp>
        <p:nvSpPr>
          <p:cNvPr id="39" name="Text 36"/>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17 / 19</a:t>
            </a:r>
            <a:endParaRPr lang="en-US" sz="900" dirty="0"/>
          </a:p>
        </p:txBody>
      </p:sp>
      <p:sp>
        <p:nvSpPr>
          <p:cNvPr id="40" name="AICOE_GEO_ACCENT_Right Triangle 39"/>
          <p:cNvSpPr/>
          <p:nvPr/>
        </p:nvSpPr>
        <p:spPr>
          <a:xfrm rot="5400000">
            <a:off x="11762232"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ICOE_GEO_ACCENT_Right Triangle 40"/>
          <p:cNvSpPr/>
          <p:nvPr/>
        </p:nvSpPr>
        <p:spPr>
          <a:xfrm rot="5400000">
            <a:off x="11874246"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8F5"/>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57B8"/>
          </a:solidFill>
          <a:ln/>
        </p:spPr>
        <p:txBody>
          <a:bodyPr/>
          <a:lstStyle/>
          <a:p>
            <a:endParaRPr lang="en-ZA"/>
          </a:p>
        </p:txBody>
      </p:sp>
      <p:sp>
        <p:nvSpPr>
          <p:cNvPr id="3" name="Text 1"/>
          <p:cNvSpPr/>
          <p:nvPr/>
        </p:nvSpPr>
        <p:spPr>
          <a:xfrm>
            <a:off x="548640" y="457200"/>
            <a:ext cx="9144000" cy="274320"/>
          </a:xfrm>
          <a:prstGeom prst="rect">
            <a:avLst/>
          </a:prstGeom>
          <a:noFill/>
          <a:ln/>
        </p:spPr>
        <p:txBody>
          <a:bodyPr wrap="square" rtlCol="0" anchor="ctr"/>
          <a:lstStyle/>
          <a:p>
            <a:pPr marL="0" indent="0">
              <a:buNone/>
            </a:pPr>
            <a:r>
              <a:rPr lang="en-US" sz="1200" b="1" kern="0" spc="300" dirty="0">
                <a:solidFill>
                  <a:srgbClr val="0057B8"/>
                </a:solidFill>
                <a:latin typeface="Segoe UI" pitchFamily="34" charset="0"/>
                <a:ea typeface="Segoe UI" pitchFamily="34" charset="-122"/>
                <a:cs typeface="Segoe UI" pitchFamily="34" charset="-120"/>
              </a:rPr>
              <a:t>OPTIONAL · WHEN MICROSOFT DELIVERS</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200" b="1" dirty="0">
                <a:solidFill>
                  <a:srgbClr val="091F2C"/>
                </a:solidFill>
                <a:latin typeface="Segoe UI" pitchFamily="34" charset="0"/>
                <a:ea typeface="Segoe UI" pitchFamily="34" charset="-122"/>
                <a:cs typeface="Segoe UI" pitchFamily="34" charset="-120"/>
              </a:rPr>
              <a:t>ISD as the paid delivery arm inside the CoE</a:t>
            </a:r>
            <a:endParaRPr lang="en-US" sz="3200" dirty="0"/>
          </a:p>
        </p:txBody>
      </p:sp>
      <p:sp>
        <p:nvSpPr>
          <p:cNvPr id="5" name="Shape 3"/>
          <p:cNvSpPr/>
          <p:nvPr/>
        </p:nvSpPr>
        <p:spPr>
          <a:xfrm>
            <a:off x="548640" y="1691640"/>
            <a:ext cx="11064240" cy="685800"/>
          </a:xfrm>
          <a:prstGeom prst="roundRect">
            <a:avLst>
              <a:gd name="adj" fmla="val 10667"/>
            </a:avLst>
          </a:prstGeom>
          <a:solidFill>
            <a:srgbClr val="091F2C"/>
          </a:solidFill>
          <a:ln w="12700">
            <a:solidFill>
              <a:srgbClr val="091F2C"/>
            </a:solidFill>
            <a:prstDash val="solid"/>
          </a:ln>
        </p:spPr>
        <p:txBody>
          <a:bodyPr/>
          <a:lstStyle/>
          <a:p>
            <a:endParaRPr lang="en-ZA"/>
          </a:p>
        </p:txBody>
      </p:sp>
      <p:sp>
        <p:nvSpPr>
          <p:cNvPr id="6" name="Text 4"/>
          <p:cNvSpPr/>
          <p:nvPr/>
        </p:nvSpPr>
        <p:spPr>
          <a:xfrm>
            <a:off x="777240" y="1737360"/>
            <a:ext cx="3657600" cy="594360"/>
          </a:xfrm>
          <a:prstGeom prst="rect">
            <a:avLst/>
          </a:prstGeom>
          <a:noFill/>
          <a:ln/>
        </p:spPr>
        <p:txBody>
          <a:bodyPr wrap="square" rtlCol="0" anchor="ctr"/>
          <a:lstStyle/>
          <a:p>
            <a:pPr marL="0" indent="0">
              <a:buNone/>
            </a:pPr>
            <a:r>
              <a:rPr lang="en-US" sz="1400" b="1" dirty="0">
                <a:solidFill>
                  <a:srgbClr val="C03BC4"/>
                </a:solidFill>
                <a:latin typeface="Segoe UI" pitchFamily="34" charset="0"/>
                <a:ea typeface="Segoe UI" pitchFamily="34" charset="-122"/>
                <a:cs typeface="Segoe UI" pitchFamily="34" charset="-120"/>
              </a:rPr>
              <a:t>Optional — not alternative.</a:t>
            </a:r>
            <a:endParaRPr lang="en-US" sz="1400" dirty="0"/>
          </a:p>
        </p:txBody>
      </p:sp>
      <p:sp>
        <p:nvSpPr>
          <p:cNvPr id="7" name="Text 5"/>
          <p:cNvSpPr/>
          <p:nvPr/>
        </p:nvSpPr>
        <p:spPr>
          <a:xfrm>
            <a:off x="4434840" y="1737360"/>
            <a:ext cx="7132320" cy="594360"/>
          </a:xfrm>
          <a:prstGeom prst="rect">
            <a:avLst/>
          </a:prstGeom>
          <a:noFill/>
          <a:ln/>
        </p:spPr>
        <p:txBody>
          <a:bodyPr wrap="square" rtlCol="0" anchor="ctr"/>
          <a:lstStyle/>
          <a:p>
            <a:pPr marL="0" indent="0">
              <a:buNone/>
            </a:pPr>
            <a:r>
              <a:rPr lang="en-US" sz="1200" dirty="0">
                <a:solidFill>
                  <a:srgbClr val="F5E6F0"/>
                </a:solidFill>
                <a:latin typeface="Segoe UI" pitchFamily="34" charset="0"/>
                <a:ea typeface="Segoe UI" pitchFamily="34" charset="-122"/>
                <a:cs typeface="Segoe UI" pitchFamily="34" charset="-120"/>
              </a:rPr>
              <a:t>Layered onto the three-stream model when the customer, workload, or partner gap requires Microsoft-led delivery.</a:t>
            </a:r>
            <a:endParaRPr lang="en-US" sz="1200" dirty="0"/>
          </a:p>
        </p:txBody>
      </p:sp>
      <p:sp>
        <p:nvSpPr>
          <p:cNvPr id="8" name="Shape 6"/>
          <p:cNvSpPr/>
          <p:nvPr/>
        </p:nvSpPr>
        <p:spPr>
          <a:xfrm>
            <a:off x="678028" y="2606040"/>
            <a:ext cx="3520440" cy="2606040"/>
          </a:xfrm>
          <a:prstGeom prst="roundRect">
            <a:avLst>
              <a:gd name="adj" fmla="val 2807"/>
            </a:avLst>
          </a:prstGeom>
          <a:solidFill>
            <a:srgbClr val="FFFFFF"/>
          </a:solidFill>
          <a:ln w="12700">
            <a:solidFill>
              <a:srgbClr val="E1E6EF"/>
            </a:solidFill>
            <a:prstDash val="solid"/>
          </a:ln>
        </p:spPr>
        <p:txBody>
          <a:bodyPr/>
          <a:lstStyle/>
          <a:p>
            <a:endParaRPr lang="en-ZA"/>
          </a:p>
        </p:txBody>
      </p:sp>
      <p:sp>
        <p:nvSpPr>
          <p:cNvPr id="9" name="Shape 7"/>
          <p:cNvSpPr/>
          <p:nvPr/>
        </p:nvSpPr>
        <p:spPr>
          <a:xfrm>
            <a:off x="678028" y="2606040"/>
            <a:ext cx="3520440" cy="73152"/>
          </a:xfrm>
          <a:prstGeom prst="rect">
            <a:avLst/>
          </a:prstGeom>
          <a:solidFill>
            <a:srgbClr val="FF5C39"/>
          </a:solidFill>
          <a:ln/>
        </p:spPr>
        <p:txBody>
          <a:bodyPr/>
          <a:lstStyle/>
          <a:p>
            <a:endParaRPr lang="en-ZA"/>
          </a:p>
        </p:txBody>
      </p:sp>
      <p:sp>
        <p:nvSpPr>
          <p:cNvPr id="10" name="Shape 8"/>
          <p:cNvSpPr/>
          <p:nvPr/>
        </p:nvSpPr>
        <p:spPr>
          <a:xfrm>
            <a:off x="860908" y="2834640"/>
            <a:ext cx="594360" cy="594360"/>
          </a:xfrm>
          <a:prstGeom prst="ellipse">
            <a:avLst/>
          </a:prstGeom>
          <a:solidFill>
            <a:srgbClr val="FF5C39"/>
          </a:solidFill>
          <a:ln w="12700">
            <a:solidFill>
              <a:srgbClr val="FF5C39"/>
            </a:solidFill>
            <a:prstDash val="solid"/>
          </a:ln>
        </p:spPr>
        <p:txBody>
          <a:bodyPr/>
          <a:lstStyle/>
          <a:p>
            <a:endParaRPr lang="en-ZA"/>
          </a:p>
        </p:txBody>
      </p:sp>
      <p:sp>
        <p:nvSpPr>
          <p:cNvPr id="11" name="Text 9"/>
          <p:cNvSpPr/>
          <p:nvPr/>
        </p:nvSpPr>
        <p:spPr>
          <a:xfrm>
            <a:off x="860908" y="2834640"/>
            <a:ext cx="594360" cy="594360"/>
          </a:xfrm>
          <a:prstGeom prst="rect">
            <a:avLst/>
          </a:prstGeom>
          <a:noFill/>
          <a:ln/>
        </p:spPr>
        <p:txBody>
          <a:bodyPr wrap="square" rtlCol="0" anchor="ctr"/>
          <a:lstStyle/>
          <a:p>
            <a:pPr marL="0" indent="0" algn="ctr">
              <a:buNone/>
            </a:pPr>
            <a:r>
              <a:rPr lang="en-US" sz="1800" b="1" dirty="0">
                <a:solidFill>
                  <a:srgbClr val="FFFFFF"/>
                </a:solidFill>
                <a:latin typeface="Segoe UI" pitchFamily="34" charset="0"/>
                <a:ea typeface="Segoe UI" pitchFamily="34" charset="-122"/>
                <a:cs typeface="Segoe UI" pitchFamily="34" charset="-120"/>
              </a:rPr>
              <a:t>A</a:t>
            </a:r>
            <a:endParaRPr lang="en-US" sz="1800" dirty="0"/>
          </a:p>
        </p:txBody>
      </p:sp>
      <p:sp>
        <p:nvSpPr>
          <p:cNvPr id="12" name="Text 10"/>
          <p:cNvSpPr/>
          <p:nvPr/>
        </p:nvSpPr>
        <p:spPr>
          <a:xfrm>
            <a:off x="1546708" y="2834640"/>
            <a:ext cx="2514600" cy="457200"/>
          </a:xfrm>
          <a:prstGeom prst="rect">
            <a:avLst/>
          </a:prstGeom>
          <a:noFill/>
          <a:ln/>
        </p:spPr>
        <p:txBody>
          <a:bodyPr wrap="square" rtlCol="0" anchor="ctr"/>
          <a:lstStyle/>
          <a:p>
            <a:pPr marL="0" indent="0">
              <a:buNone/>
            </a:pPr>
            <a:r>
              <a:rPr lang="en-US" sz="1500" b="1" dirty="0">
                <a:solidFill>
                  <a:srgbClr val="091F2C"/>
                </a:solidFill>
                <a:latin typeface="Segoe UI" pitchFamily="34" charset="0"/>
                <a:ea typeface="Segoe UI" pitchFamily="34" charset="-122"/>
                <a:cs typeface="Segoe UI" pitchFamily="34" charset="-120"/>
              </a:rPr>
              <a:t>ISD-only</a:t>
            </a:r>
            <a:endParaRPr lang="en-US" sz="1500" dirty="0"/>
          </a:p>
        </p:txBody>
      </p:sp>
      <p:sp>
        <p:nvSpPr>
          <p:cNvPr id="13" name="Text 11"/>
          <p:cNvSpPr/>
          <p:nvPr/>
        </p:nvSpPr>
        <p:spPr>
          <a:xfrm>
            <a:off x="906628" y="3520440"/>
            <a:ext cx="3063240" cy="182880"/>
          </a:xfrm>
          <a:prstGeom prst="rect">
            <a:avLst/>
          </a:prstGeom>
          <a:noFill/>
          <a:ln/>
        </p:spPr>
        <p:txBody>
          <a:bodyPr wrap="square" rtlCol="0" anchor="ctr"/>
          <a:lstStyle/>
          <a:p>
            <a:pPr marL="0" indent="0">
              <a:buNone/>
            </a:pPr>
            <a:r>
              <a:rPr lang="en-US" sz="800" b="1" kern="0" spc="200" dirty="0">
                <a:solidFill>
                  <a:srgbClr val="8A94A6"/>
                </a:solidFill>
                <a:latin typeface="Segoe UI" pitchFamily="34" charset="0"/>
                <a:ea typeface="Segoe UI" pitchFamily="34" charset="-122"/>
                <a:cs typeface="Segoe UI" pitchFamily="34" charset="-120"/>
              </a:rPr>
              <a:t>WHO DOES WHAT</a:t>
            </a:r>
            <a:endParaRPr lang="en-US" sz="800" dirty="0"/>
          </a:p>
        </p:txBody>
      </p:sp>
      <p:sp>
        <p:nvSpPr>
          <p:cNvPr id="14" name="Text 12"/>
          <p:cNvSpPr/>
          <p:nvPr/>
        </p:nvSpPr>
        <p:spPr>
          <a:xfrm>
            <a:off x="906628" y="3703320"/>
            <a:ext cx="3063240" cy="777240"/>
          </a:xfrm>
          <a:prstGeom prst="rect">
            <a:avLst/>
          </a:prstGeom>
          <a:noFill/>
          <a:ln/>
        </p:spPr>
        <p:txBody>
          <a:bodyPr wrap="square" rtlCol="0" anchor="ctr"/>
          <a:lstStyle/>
          <a:p>
            <a:pPr marL="0" indent="0">
              <a:buNone/>
            </a:pPr>
            <a:r>
              <a:rPr lang="en-US" sz="1050" dirty="0">
                <a:solidFill>
                  <a:srgbClr val="2B2B2B"/>
                </a:solidFill>
                <a:latin typeface="Segoe UI" pitchFamily="34" charset="0"/>
                <a:ea typeface="Segoe UI" pitchFamily="34" charset="-122"/>
                <a:cs typeface="Segoe UI" pitchFamily="34" charset="-120"/>
              </a:rPr>
              <a:t>Microsoft delivers end-to-end. CSU advises on CAF / Responsible AI.</a:t>
            </a:r>
            <a:endParaRPr lang="en-US" sz="1050" dirty="0"/>
          </a:p>
        </p:txBody>
      </p:sp>
      <p:sp>
        <p:nvSpPr>
          <p:cNvPr id="15" name="Text 13"/>
          <p:cNvSpPr/>
          <p:nvPr/>
        </p:nvSpPr>
        <p:spPr>
          <a:xfrm>
            <a:off x="906628" y="4526280"/>
            <a:ext cx="3063240" cy="182880"/>
          </a:xfrm>
          <a:prstGeom prst="rect">
            <a:avLst/>
          </a:prstGeom>
          <a:noFill/>
          <a:ln/>
        </p:spPr>
        <p:txBody>
          <a:bodyPr wrap="square" rtlCol="0" anchor="ctr"/>
          <a:lstStyle/>
          <a:p>
            <a:pPr marL="0" indent="0">
              <a:buNone/>
            </a:pPr>
            <a:r>
              <a:rPr lang="en-US" sz="800" b="1" kern="0" spc="200" dirty="0">
                <a:solidFill>
                  <a:srgbClr val="8A94A6"/>
                </a:solidFill>
                <a:latin typeface="Segoe UI" pitchFamily="34" charset="0"/>
                <a:ea typeface="Segoe UI" pitchFamily="34" charset="-122"/>
                <a:cs typeface="Segoe UI" pitchFamily="34" charset="-120"/>
              </a:rPr>
              <a:t>WHEN TO PICK IT</a:t>
            </a:r>
            <a:endParaRPr lang="en-US" sz="800" dirty="0"/>
          </a:p>
        </p:txBody>
      </p:sp>
      <p:sp>
        <p:nvSpPr>
          <p:cNvPr id="16" name="Text 14"/>
          <p:cNvSpPr/>
          <p:nvPr/>
        </p:nvSpPr>
        <p:spPr>
          <a:xfrm>
            <a:off x="906628" y="4709160"/>
            <a:ext cx="3063240" cy="457200"/>
          </a:xfrm>
          <a:prstGeom prst="rect">
            <a:avLst/>
          </a:prstGeom>
          <a:noFill/>
          <a:ln/>
        </p:spPr>
        <p:txBody>
          <a:bodyPr wrap="square" rtlCol="0" anchor="ctr"/>
          <a:lstStyle/>
          <a:p>
            <a:pPr marL="0" indent="0">
              <a:buNone/>
            </a:pPr>
            <a:r>
              <a:rPr lang="en-US" sz="1050" i="1" dirty="0">
                <a:solidFill>
                  <a:srgbClr val="4B5563"/>
                </a:solidFill>
                <a:latin typeface="Segoe UI" pitchFamily="34" charset="0"/>
                <a:ea typeface="Segoe UI" pitchFamily="34" charset="-122"/>
                <a:cs typeface="Segoe UI" pitchFamily="34" charset="-120"/>
              </a:rPr>
              <a:t>Sovereign, regulated, or customer-demanded Microsoft-led delivery.</a:t>
            </a:r>
            <a:endParaRPr lang="en-US" sz="1050" dirty="0"/>
          </a:p>
        </p:txBody>
      </p:sp>
      <p:sp>
        <p:nvSpPr>
          <p:cNvPr id="17" name="Shape 15"/>
          <p:cNvSpPr/>
          <p:nvPr/>
        </p:nvSpPr>
        <p:spPr>
          <a:xfrm>
            <a:off x="4335628" y="2606040"/>
            <a:ext cx="3520440" cy="2606040"/>
          </a:xfrm>
          <a:prstGeom prst="roundRect">
            <a:avLst>
              <a:gd name="adj" fmla="val 2807"/>
            </a:avLst>
          </a:prstGeom>
          <a:solidFill>
            <a:srgbClr val="FFFFFF"/>
          </a:solidFill>
          <a:ln w="12700">
            <a:solidFill>
              <a:srgbClr val="E1E6EF"/>
            </a:solidFill>
            <a:prstDash val="solid"/>
          </a:ln>
        </p:spPr>
        <p:txBody>
          <a:bodyPr/>
          <a:lstStyle/>
          <a:p>
            <a:endParaRPr lang="en-ZA"/>
          </a:p>
        </p:txBody>
      </p:sp>
      <p:sp>
        <p:nvSpPr>
          <p:cNvPr id="18" name="Shape 16"/>
          <p:cNvSpPr/>
          <p:nvPr/>
        </p:nvSpPr>
        <p:spPr>
          <a:xfrm>
            <a:off x="4335628" y="2606040"/>
            <a:ext cx="3520440" cy="73152"/>
          </a:xfrm>
          <a:prstGeom prst="rect">
            <a:avLst/>
          </a:prstGeom>
          <a:solidFill>
            <a:srgbClr val="0078D4"/>
          </a:solidFill>
          <a:ln/>
        </p:spPr>
        <p:txBody>
          <a:bodyPr/>
          <a:lstStyle/>
          <a:p>
            <a:endParaRPr lang="en-ZA"/>
          </a:p>
        </p:txBody>
      </p:sp>
      <p:sp>
        <p:nvSpPr>
          <p:cNvPr id="19" name="Shape 17"/>
          <p:cNvSpPr/>
          <p:nvPr/>
        </p:nvSpPr>
        <p:spPr>
          <a:xfrm>
            <a:off x="4518508" y="2834640"/>
            <a:ext cx="594360" cy="594360"/>
          </a:xfrm>
          <a:prstGeom prst="ellipse">
            <a:avLst/>
          </a:prstGeom>
          <a:solidFill>
            <a:srgbClr val="0078D4"/>
          </a:solidFill>
          <a:ln w="12700">
            <a:solidFill>
              <a:srgbClr val="0078D4"/>
            </a:solidFill>
            <a:prstDash val="solid"/>
          </a:ln>
        </p:spPr>
        <p:txBody>
          <a:bodyPr/>
          <a:lstStyle/>
          <a:p>
            <a:endParaRPr lang="en-ZA"/>
          </a:p>
        </p:txBody>
      </p:sp>
      <p:sp>
        <p:nvSpPr>
          <p:cNvPr id="20" name="Text 18"/>
          <p:cNvSpPr/>
          <p:nvPr/>
        </p:nvSpPr>
        <p:spPr>
          <a:xfrm>
            <a:off x="4518508" y="2834640"/>
            <a:ext cx="594360" cy="594360"/>
          </a:xfrm>
          <a:prstGeom prst="rect">
            <a:avLst/>
          </a:prstGeom>
          <a:noFill/>
          <a:ln/>
        </p:spPr>
        <p:txBody>
          <a:bodyPr wrap="square" rtlCol="0" anchor="ctr"/>
          <a:lstStyle/>
          <a:p>
            <a:pPr marL="0" indent="0" algn="ctr">
              <a:buNone/>
            </a:pPr>
            <a:r>
              <a:rPr lang="en-US" sz="1800" b="1" dirty="0">
                <a:solidFill>
                  <a:srgbClr val="FFFFFF"/>
                </a:solidFill>
                <a:latin typeface="Segoe UI" pitchFamily="34" charset="0"/>
                <a:ea typeface="Segoe UI" pitchFamily="34" charset="-122"/>
                <a:cs typeface="Segoe UI" pitchFamily="34" charset="-120"/>
              </a:rPr>
              <a:t>B</a:t>
            </a:r>
            <a:endParaRPr lang="en-US" sz="1800" dirty="0"/>
          </a:p>
        </p:txBody>
      </p:sp>
      <p:sp>
        <p:nvSpPr>
          <p:cNvPr id="21" name="Text 19"/>
          <p:cNvSpPr/>
          <p:nvPr/>
        </p:nvSpPr>
        <p:spPr>
          <a:xfrm>
            <a:off x="5204308" y="2834640"/>
            <a:ext cx="2514600" cy="457200"/>
          </a:xfrm>
          <a:prstGeom prst="rect">
            <a:avLst/>
          </a:prstGeom>
          <a:noFill/>
          <a:ln/>
        </p:spPr>
        <p:txBody>
          <a:bodyPr wrap="square" rtlCol="0" anchor="ctr"/>
          <a:lstStyle/>
          <a:p>
            <a:pPr marL="0" indent="0">
              <a:buNone/>
            </a:pPr>
            <a:r>
              <a:rPr lang="en-US" sz="1500" b="1" dirty="0">
                <a:solidFill>
                  <a:srgbClr val="091F2C"/>
                </a:solidFill>
                <a:latin typeface="Segoe UI" pitchFamily="34" charset="0"/>
                <a:ea typeface="Segoe UI" pitchFamily="34" charset="-122"/>
                <a:cs typeface="Segoe UI" pitchFamily="34" charset="-120"/>
              </a:rPr>
              <a:t>ISD-led + Partner</a:t>
            </a:r>
            <a:endParaRPr lang="en-US" sz="1500" dirty="0"/>
          </a:p>
        </p:txBody>
      </p:sp>
      <p:sp>
        <p:nvSpPr>
          <p:cNvPr id="22" name="Text 20"/>
          <p:cNvSpPr/>
          <p:nvPr/>
        </p:nvSpPr>
        <p:spPr>
          <a:xfrm>
            <a:off x="4564228" y="3520440"/>
            <a:ext cx="3063240" cy="182880"/>
          </a:xfrm>
          <a:prstGeom prst="rect">
            <a:avLst/>
          </a:prstGeom>
          <a:noFill/>
          <a:ln/>
        </p:spPr>
        <p:txBody>
          <a:bodyPr wrap="square" rtlCol="0" anchor="ctr"/>
          <a:lstStyle/>
          <a:p>
            <a:pPr marL="0" indent="0">
              <a:buNone/>
            </a:pPr>
            <a:r>
              <a:rPr lang="en-US" sz="800" b="1" kern="0" spc="200" dirty="0">
                <a:solidFill>
                  <a:srgbClr val="8A94A6"/>
                </a:solidFill>
                <a:latin typeface="Segoe UI" pitchFamily="34" charset="0"/>
                <a:ea typeface="Segoe UI" pitchFamily="34" charset="-122"/>
                <a:cs typeface="Segoe UI" pitchFamily="34" charset="-120"/>
              </a:rPr>
              <a:t>WHO DOES WHAT</a:t>
            </a:r>
            <a:endParaRPr lang="en-US" sz="800" dirty="0"/>
          </a:p>
        </p:txBody>
      </p:sp>
      <p:sp>
        <p:nvSpPr>
          <p:cNvPr id="23" name="Text 21"/>
          <p:cNvSpPr/>
          <p:nvPr/>
        </p:nvSpPr>
        <p:spPr>
          <a:xfrm>
            <a:off x="4564228" y="3703320"/>
            <a:ext cx="3063240" cy="777240"/>
          </a:xfrm>
          <a:prstGeom prst="rect">
            <a:avLst/>
          </a:prstGeom>
          <a:noFill/>
          <a:ln/>
        </p:spPr>
        <p:txBody>
          <a:bodyPr wrap="square" rtlCol="0" anchor="ctr"/>
          <a:lstStyle/>
          <a:p>
            <a:pPr marL="0" indent="0">
              <a:buNone/>
            </a:pPr>
            <a:r>
              <a:rPr lang="en-US" sz="1050" dirty="0">
                <a:solidFill>
                  <a:srgbClr val="2B2B2B"/>
                </a:solidFill>
                <a:latin typeface="Segoe UI" pitchFamily="34" charset="0"/>
                <a:ea typeface="Segoe UI" pitchFamily="34" charset="-122"/>
                <a:cs typeface="Segoe UI" pitchFamily="34" charset="-120"/>
              </a:rPr>
              <a:t>ISD primes SoW. Anchor Partner subcontracted for vertical IP or scale.</a:t>
            </a:r>
            <a:endParaRPr lang="en-US" sz="1050" dirty="0"/>
          </a:p>
        </p:txBody>
      </p:sp>
      <p:sp>
        <p:nvSpPr>
          <p:cNvPr id="24" name="Text 22"/>
          <p:cNvSpPr/>
          <p:nvPr/>
        </p:nvSpPr>
        <p:spPr>
          <a:xfrm>
            <a:off x="4564228" y="4526280"/>
            <a:ext cx="3063240" cy="182880"/>
          </a:xfrm>
          <a:prstGeom prst="rect">
            <a:avLst/>
          </a:prstGeom>
          <a:noFill/>
          <a:ln/>
        </p:spPr>
        <p:txBody>
          <a:bodyPr wrap="square" rtlCol="0" anchor="ctr"/>
          <a:lstStyle/>
          <a:p>
            <a:pPr marL="0" indent="0">
              <a:buNone/>
            </a:pPr>
            <a:r>
              <a:rPr lang="en-US" sz="800" b="1" kern="0" spc="200" dirty="0">
                <a:solidFill>
                  <a:srgbClr val="8A94A6"/>
                </a:solidFill>
                <a:latin typeface="Segoe UI" pitchFamily="34" charset="0"/>
                <a:ea typeface="Segoe UI" pitchFamily="34" charset="-122"/>
                <a:cs typeface="Segoe UI" pitchFamily="34" charset="-120"/>
              </a:rPr>
              <a:t>WHEN TO PICK IT</a:t>
            </a:r>
            <a:endParaRPr lang="en-US" sz="800" dirty="0"/>
          </a:p>
        </p:txBody>
      </p:sp>
      <p:sp>
        <p:nvSpPr>
          <p:cNvPr id="25" name="Text 23"/>
          <p:cNvSpPr/>
          <p:nvPr/>
        </p:nvSpPr>
        <p:spPr>
          <a:xfrm>
            <a:off x="4564228" y="4709160"/>
            <a:ext cx="3063240" cy="457200"/>
          </a:xfrm>
          <a:prstGeom prst="rect">
            <a:avLst/>
          </a:prstGeom>
          <a:noFill/>
          <a:ln/>
        </p:spPr>
        <p:txBody>
          <a:bodyPr wrap="square" rtlCol="0" anchor="ctr"/>
          <a:lstStyle/>
          <a:p>
            <a:pPr marL="0" indent="0">
              <a:buNone/>
            </a:pPr>
            <a:r>
              <a:rPr lang="en-US" sz="1050" i="1" dirty="0">
                <a:solidFill>
                  <a:srgbClr val="4B5563"/>
                </a:solidFill>
                <a:latin typeface="Segoe UI" pitchFamily="34" charset="0"/>
                <a:ea typeface="Segoe UI" pitchFamily="34" charset="-122"/>
                <a:cs typeface="Segoe UI" pitchFamily="34" charset="-120"/>
              </a:rPr>
              <a:t>Complex transformation · partner has IP but not full-stack capacity.</a:t>
            </a:r>
            <a:endParaRPr lang="en-US" sz="1050" dirty="0"/>
          </a:p>
        </p:txBody>
      </p:sp>
      <p:sp>
        <p:nvSpPr>
          <p:cNvPr id="26" name="Shape 24"/>
          <p:cNvSpPr/>
          <p:nvPr/>
        </p:nvSpPr>
        <p:spPr>
          <a:xfrm>
            <a:off x="7993228" y="2606040"/>
            <a:ext cx="3520440" cy="2606040"/>
          </a:xfrm>
          <a:prstGeom prst="roundRect">
            <a:avLst>
              <a:gd name="adj" fmla="val 2807"/>
            </a:avLst>
          </a:prstGeom>
          <a:solidFill>
            <a:srgbClr val="FFFFFF"/>
          </a:solidFill>
          <a:ln w="12700">
            <a:solidFill>
              <a:srgbClr val="E1E6EF"/>
            </a:solidFill>
            <a:prstDash val="solid"/>
          </a:ln>
        </p:spPr>
        <p:txBody>
          <a:bodyPr/>
          <a:lstStyle/>
          <a:p>
            <a:endParaRPr lang="en-ZA"/>
          </a:p>
        </p:txBody>
      </p:sp>
      <p:sp>
        <p:nvSpPr>
          <p:cNvPr id="27" name="Shape 25"/>
          <p:cNvSpPr/>
          <p:nvPr/>
        </p:nvSpPr>
        <p:spPr>
          <a:xfrm>
            <a:off x="7993228" y="2606040"/>
            <a:ext cx="3520440" cy="73152"/>
          </a:xfrm>
          <a:prstGeom prst="rect">
            <a:avLst/>
          </a:prstGeom>
          <a:solidFill>
            <a:srgbClr val="FFB900"/>
          </a:solidFill>
          <a:ln/>
        </p:spPr>
        <p:txBody>
          <a:bodyPr/>
          <a:lstStyle/>
          <a:p>
            <a:endParaRPr lang="en-ZA"/>
          </a:p>
        </p:txBody>
      </p:sp>
      <p:sp>
        <p:nvSpPr>
          <p:cNvPr id="28" name="Shape 26"/>
          <p:cNvSpPr/>
          <p:nvPr/>
        </p:nvSpPr>
        <p:spPr>
          <a:xfrm>
            <a:off x="8176108" y="2834640"/>
            <a:ext cx="594360" cy="594360"/>
          </a:xfrm>
          <a:prstGeom prst="ellipse">
            <a:avLst/>
          </a:prstGeom>
          <a:solidFill>
            <a:srgbClr val="FFB900"/>
          </a:solidFill>
          <a:ln w="12700">
            <a:solidFill>
              <a:srgbClr val="FFB900"/>
            </a:solidFill>
            <a:prstDash val="solid"/>
          </a:ln>
        </p:spPr>
        <p:txBody>
          <a:bodyPr/>
          <a:lstStyle/>
          <a:p>
            <a:endParaRPr lang="en-ZA"/>
          </a:p>
        </p:txBody>
      </p:sp>
      <p:sp>
        <p:nvSpPr>
          <p:cNvPr id="29" name="Text 27"/>
          <p:cNvSpPr/>
          <p:nvPr/>
        </p:nvSpPr>
        <p:spPr>
          <a:xfrm>
            <a:off x="8176108" y="2834640"/>
            <a:ext cx="594360" cy="594360"/>
          </a:xfrm>
          <a:prstGeom prst="rect">
            <a:avLst/>
          </a:prstGeom>
          <a:noFill/>
          <a:ln/>
        </p:spPr>
        <p:txBody>
          <a:bodyPr wrap="square" rtlCol="0" anchor="ctr"/>
          <a:lstStyle/>
          <a:p>
            <a:pPr marL="0" indent="0" algn="ctr">
              <a:buNone/>
            </a:pPr>
            <a:r>
              <a:rPr lang="en-US" sz="1800" b="1" dirty="0">
                <a:solidFill>
                  <a:srgbClr val="FFFFFF"/>
                </a:solidFill>
                <a:latin typeface="Segoe UI" pitchFamily="34" charset="0"/>
                <a:ea typeface="Segoe UI" pitchFamily="34" charset="-122"/>
                <a:cs typeface="Segoe UI" pitchFamily="34" charset="-120"/>
              </a:rPr>
              <a:t>C</a:t>
            </a:r>
            <a:endParaRPr lang="en-US" sz="1800" dirty="0"/>
          </a:p>
        </p:txBody>
      </p:sp>
      <p:sp>
        <p:nvSpPr>
          <p:cNvPr id="30" name="Text 28"/>
          <p:cNvSpPr/>
          <p:nvPr/>
        </p:nvSpPr>
        <p:spPr>
          <a:xfrm>
            <a:off x="8861908" y="2834640"/>
            <a:ext cx="2514600" cy="457200"/>
          </a:xfrm>
          <a:prstGeom prst="rect">
            <a:avLst/>
          </a:prstGeom>
          <a:noFill/>
          <a:ln/>
        </p:spPr>
        <p:txBody>
          <a:bodyPr wrap="square" rtlCol="0" anchor="ctr"/>
          <a:lstStyle/>
          <a:p>
            <a:pPr marL="0" indent="0">
              <a:buNone/>
            </a:pPr>
            <a:r>
              <a:rPr lang="en-US" sz="1500" b="1" dirty="0">
                <a:solidFill>
                  <a:srgbClr val="091F2C"/>
                </a:solidFill>
                <a:latin typeface="Segoe UI" pitchFamily="34" charset="0"/>
                <a:ea typeface="Segoe UI" pitchFamily="34" charset="-122"/>
                <a:cs typeface="Segoe UI" pitchFamily="34" charset="-120"/>
              </a:rPr>
              <a:t>ISD + ICSU + Partner</a:t>
            </a:r>
            <a:endParaRPr lang="en-US" sz="1500" dirty="0"/>
          </a:p>
        </p:txBody>
      </p:sp>
      <p:sp>
        <p:nvSpPr>
          <p:cNvPr id="31" name="Text 29"/>
          <p:cNvSpPr/>
          <p:nvPr/>
        </p:nvSpPr>
        <p:spPr>
          <a:xfrm>
            <a:off x="8221828" y="3520440"/>
            <a:ext cx="3063240" cy="182880"/>
          </a:xfrm>
          <a:prstGeom prst="rect">
            <a:avLst/>
          </a:prstGeom>
          <a:noFill/>
          <a:ln/>
        </p:spPr>
        <p:txBody>
          <a:bodyPr wrap="square" rtlCol="0" anchor="ctr"/>
          <a:lstStyle/>
          <a:p>
            <a:pPr marL="0" indent="0">
              <a:buNone/>
            </a:pPr>
            <a:r>
              <a:rPr lang="en-US" sz="800" b="1" kern="0" spc="200" dirty="0">
                <a:solidFill>
                  <a:srgbClr val="8A94A6"/>
                </a:solidFill>
                <a:latin typeface="Segoe UI" pitchFamily="34" charset="0"/>
                <a:ea typeface="Segoe UI" pitchFamily="34" charset="-122"/>
                <a:cs typeface="Segoe UI" pitchFamily="34" charset="-120"/>
              </a:rPr>
              <a:t>WHO DOES WHAT</a:t>
            </a:r>
            <a:endParaRPr lang="en-US" sz="800" dirty="0"/>
          </a:p>
        </p:txBody>
      </p:sp>
      <p:sp>
        <p:nvSpPr>
          <p:cNvPr id="32" name="Text 30"/>
          <p:cNvSpPr/>
          <p:nvPr/>
        </p:nvSpPr>
        <p:spPr>
          <a:xfrm>
            <a:off x="8221828" y="3703320"/>
            <a:ext cx="3063240" cy="777240"/>
          </a:xfrm>
          <a:prstGeom prst="rect">
            <a:avLst/>
          </a:prstGeom>
          <a:noFill/>
          <a:ln/>
        </p:spPr>
        <p:txBody>
          <a:bodyPr wrap="square" rtlCol="0" anchor="ctr"/>
          <a:lstStyle/>
          <a:p>
            <a:pPr marL="0" indent="0">
              <a:buNone/>
            </a:pPr>
            <a:r>
              <a:rPr lang="en-US" sz="1050" dirty="0">
                <a:solidFill>
                  <a:srgbClr val="2B2B2B"/>
                </a:solidFill>
                <a:latin typeface="Segoe UI" pitchFamily="34" charset="0"/>
                <a:ea typeface="Segoe UI" pitchFamily="34" charset="-122"/>
                <a:cs typeface="Segoe UI" pitchFamily="34" charset="-120"/>
              </a:rPr>
              <a:t>ISD primes. ICSU adds industry depth. Partner extends delivery capacity.</a:t>
            </a:r>
            <a:endParaRPr lang="en-US" sz="1050" dirty="0"/>
          </a:p>
        </p:txBody>
      </p:sp>
      <p:sp>
        <p:nvSpPr>
          <p:cNvPr id="33" name="Text 31"/>
          <p:cNvSpPr/>
          <p:nvPr/>
        </p:nvSpPr>
        <p:spPr>
          <a:xfrm>
            <a:off x="8221828" y="4526280"/>
            <a:ext cx="3063240" cy="182880"/>
          </a:xfrm>
          <a:prstGeom prst="rect">
            <a:avLst/>
          </a:prstGeom>
          <a:noFill/>
          <a:ln/>
        </p:spPr>
        <p:txBody>
          <a:bodyPr wrap="square" rtlCol="0" anchor="ctr"/>
          <a:lstStyle/>
          <a:p>
            <a:pPr marL="0" indent="0">
              <a:buNone/>
            </a:pPr>
            <a:r>
              <a:rPr lang="en-US" sz="800" b="1" kern="0" spc="200" dirty="0">
                <a:solidFill>
                  <a:srgbClr val="8A94A6"/>
                </a:solidFill>
                <a:latin typeface="Segoe UI" pitchFamily="34" charset="0"/>
                <a:ea typeface="Segoe UI" pitchFamily="34" charset="-122"/>
                <a:cs typeface="Segoe UI" pitchFamily="34" charset="-120"/>
              </a:rPr>
              <a:t>WHEN TO PICK IT</a:t>
            </a:r>
            <a:endParaRPr lang="en-US" sz="800" dirty="0"/>
          </a:p>
        </p:txBody>
      </p:sp>
      <p:sp>
        <p:nvSpPr>
          <p:cNvPr id="34" name="Text 32"/>
          <p:cNvSpPr/>
          <p:nvPr/>
        </p:nvSpPr>
        <p:spPr>
          <a:xfrm>
            <a:off x="8221828" y="4709160"/>
            <a:ext cx="3063240" cy="457200"/>
          </a:xfrm>
          <a:prstGeom prst="rect">
            <a:avLst/>
          </a:prstGeom>
          <a:noFill/>
          <a:ln/>
        </p:spPr>
        <p:txBody>
          <a:bodyPr wrap="square" rtlCol="0" anchor="ctr"/>
          <a:lstStyle/>
          <a:p>
            <a:pPr marL="0" indent="0">
              <a:buNone/>
            </a:pPr>
            <a:r>
              <a:rPr lang="en-US" sz="1050" i="1" dirty="0">
                <a:solidFill>
                  <a:srgbClr val="4B5563"/>
                </a:solidFill>
                <a:latin typeface="Segoe UI" pitchFamily="34" charset="0"/>
                <a:ea typeface="Segoe UI" pitchFamily="34" charset="-122"/>
                <a:cs typeface="Segoe UI" pitchFamily="34" charset="-120"/>
              </a:rPr>
              <a:t>Flagship regulated pursuits — financial services, public sector, telco.</a:t>
            </a:r>
            <a:endParaRPr lang="en-US" sz="1050" dirty="0"/>
          </a:p>
        </p:txBody>
      </p:sp>
      <p:sp>
        <p:nvSpPr>
          <p:cNvPr id="35" name="Shape 33"/>
          <p:cNvSpPr/>
          <p:nvPr/>
        </p:nvSpPr>
        <p:spPr>
          <a:xfrm>
            <a:off x="548640" y="5440680"/>
            <a:ext cx="11064240" cy="1005840"/>
          </a:xfrm>
          <a:prstGeom prst="roundRect">
            <a:avLst>
              <a:gd name="adj" fmla="val 7273"/>
            </a:avLst>
          </a:prstGeom>
          <a:solidFill>
            <a:srgbClr val="EFF4FA"/>
          </a:solidFill>
          <a:ln w="12700">
            <a:solidFill>
              <a:srgbClr val="C9D6E6"/>
            </a:solidFill>
            <a:prstDash val="solid"/>
          </a:ln>
        </p:spPr>
        <p:txBody>
          <a:bodyPr/>
          <a:lstStyle/>
          <a:p>
            <a:endParaRPr lang="en-ZA"/>
          </a:p>
        </p:txBody>
      </p:sp>
      <p:sp>
        <p:nvSpPr>
          <p:cNvPr id="36" name="Text 34"/>
          <p:cNvSpPr/>
          <p:nvPr/>
        </p:nvSpPr>
        <p:spPr>
          <a:xfrm>
            <a:off x="777240" y="5532120"/>
            <a:ext cx="2743200" cy="228600"/>
          </a:xfrm>
          <a:prstGeom prst="rect">
            <a:avLst/>
          </a:prstGeom>
          <a:noFill/>
          <a:ln/>
        </p:spPr>
        <p:txBody>
          <a:bodyPr wrap="square" rtlCol="0" anchor="ctr"/>
          <a:lstStyle/>
          <a:p>
            <a:pPr marL="0" indent="0">
              <a:buNone/>
            </a:pPr>
            <a:r>
              <a:rPr lang="en-US" sz="1000" b="1" kern="0" spc="300" dirty="0">
                <a:solidFill>
                  <a:srgbClr val="091F2C"/>
                </a:solidFill>
                <a:latin typeface="Segoe UI" pitchFamily="34" charset="0"/>
                <a:ea typeface="Segoe UI" pitchFamily="34" charset="-122"/>
                <a:cs typeface="Segoe UI" pitchFamily="34" charset="-120"/>
              </a:rPr>
              <a:t>THE DISCIPLINE</a:t>
            </a:r>
            <a:endParaRPr lang="en-US" sz="1000" dirty="0"/>
          </a:p>
        </p:txBody>
      </p:sp>
      <p:sp>
        <p:nvSpPr>
          <p:cNvPr id="37" name="Text 35"/>
          <p:cNvSpPr/>
          <p:nvPr/>
        </p:nvSpPr>
        <p:spPr>
          <a:xfrm>
            <a:off x="777240" y="5779008"/>
            <a:ext cx="10607040" cy="640080"/>
          </a:xfrm>
          <a:prstGeom prst="rect">
            <a:avLst/>
          </a:prstGeom>
          <a:noFill/>
          <a:ln/>
        </p:spPr>
        <p:txBody>
          <a:bodyPr wrap="square" rtlCol="0" anchor="ctr"/>
          <a:lstStyle/>
          <a:p>
            <a:pPr marL="0" indent="0">
              <a:buNone/>
            </a:pPr>
            <a:r>
              <a:rPr lang="en-US" sz="1200" dirty="0">
                <a:solidFill>
                  <a:srgbClr val="091F2C"/>
                </a:solidFill>
                <a:latin typeface="Segoe UI" pitchFamily="34" charset="0"/>
                <a:ea typeface="Segoe UI" pitchFamily="34" charset="-122"/>
                <a:cs typeface="Segoe UI" pitchFamily="34" charset="-120"/>
              </a:rPr>
              <a:t>Model named in the account plan before Stage 3  ·  One ISD SoW — partner subcontract flows from it  ·  CSA remains Microsoft technical authority  ·  Partner PDM informed before the customer</a:t>
            </a:r>
            <a:endParaRPr lang="en-US" sz="1200" dirty="0"/>
          </a:p>
        </p:txBody>
      </p:sp>
      <p:pic>
        <p:nvPicPr>
          <p:cNvPr id="38"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39" name="Text 36"/>
          <p:cNvSpPr/>
          <p:nvPr/>
        </p:nvSpPr>
        <p:spPr>
          <a:xfrm>
            <a:off x="640080" y="6492240"/>
            <a:ext cx="73152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 2026 Microsoft Corporation</a:t>
            </a:r>
            <a:endParaRPr lang="en-US" sz="900" dirty="0"/>
          </a:p>
        </p:txBody>
      </p:sp>
      <p:sp>
        <p:nvSpPr>
          <p:cNvPr id="40" name="Text 37"/>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18 / 19</a:t>
            </a:r>
            <a:endParaRPr lang="en-US" sz="900" dirty="0"/>
          </a:p>
        </p:txBody>
      </p:sp>
      <p:sp>
        <p:nvSpPr>
          <p:cNvPr id="41" name="AICOE_GEO_ACCENT_Right Triangle 40"/>
          <p:cNvSpPr/>
          <p:nvPr/>
        </p:nvSpPr>
        <p:spPr>
          <a:xfrm rot="5400000">
            <a:off x="11762232"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AICOE_GEO_ACCENT_Right Triangle 41"/>
          <p:cNvSpPr/>
          <p:nvPr/>
        </p:nvSpPr>
        <p:spPr>
          <a:xfrm rot="5400000">
            <a:off x="11874246"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91F2C"/>
        </a:solidFill>
        <a:effectLst/>
      </p:bgPr>
    </p:bg>
    <p:spTree>
      <p:nvGrpSpPr>
        <p:cNvPr id="1" name=""/>
        <p:cNvGrpSpPr/>
        <p:nvPr/>
      </p:nvGrpSpPr>
      <p:grpSpPr>
        <a:xfrm>
          <a:off x="0" y="0"/>
          <a:ext cx="0" cy="0"/>
          <a:chOff x="0" y="0"/>
          <a:chExt cx="0" cy="0"/>
        </a:xfrm>
      </p:grpSpPr>
      <p:sp>
        <p:nvSpPr>
          <p:cNvPr id="2" name="Shape 0"/>
          <p:cNvSpPr/>
          <p:nvPr/>
        </p:nvSpPr>
        <p:spPr>
          <a:xfrm>
            <a:off x="0" y="1920240"/>
            <a:ext cx="12191695" cy="73152"/>
          </a:xfrm>
          <a:prstGeom prst="rect">
            <a:avLst/>
          </a:prstGeom>
          <a:solidFill>
            <a:srgbClr val="C03BC4"/>
          </a:solidFill>
          <a:ln/>
        </p:spPr>
        <p:txBody>
          <a:bodyPr/>
          <a:lstStyle/>
          <a:p>
            <a:endParaRPr lang="en-ZA"/>
          </a:p>
        </p:txBody>
      </p:sp>
      <p:sp>
        <p:nvSpPr>
          <p:cNvPr id="3" name="Shape 1"/>
          <p:cNvSpPr/>
          <p:nvPr/>
        </p:nvSpPr>
        <p:spPr>
          <a:xfrm>
            <a:off x="0" y="2057400"/>
            <a:ext cx="3047924" cy="27432"/>
          </a:xfrm>
          <a:prstGeom prst="rect">
            <a:avLst/>
          </a:prstGeom>
          <a:solidFill>
            <a:srgbClr val="FFB900"/>
          </a:solidFill>
          <a:ln/>
        </p:spPr>
        <p:txBody>
          <a:bodyPr/>
          <a:lstStyle/>
          <a:p>
            <a:endParaRPr lang="en-ZA"/>
          </a:p>
        </p:txBody>
      </p:sp>
      <p:sp>
        <p:nvSpPr>
          <p:cNvPr id="4" name="Text 2"/>
          <p:cNvSpPr/>
          <p:nvPr/>
        </p:nvSpPr>
        <p:spPr>
          <a:xfrm>
            <a:off x="822960" y="822960"/>
            <a:ext cx="9144000" cy="365760"/>
          </a:xfrm>
          <a:prstGeom prst="rect">
            <a:avLst/>
          </a:prstGeom>
          <a:noFill/>
          <a:ln/>
        </p:spPr>
        <p:txBody>
          <a:bodyPr wrap="square" rtlCol="0" anchor="ctr"/>
          <a:lstStyle/>
          <a:p>
            <a:pPr marL="0" indent="0">
              <a:buNone/>
            </a:pPr>
            <a:r>
              <a:rPr lang="en-US" sz="1200" b="1" kern="0" spc="600" dirty="0">
                <a:solidFill>
                  <a:srgbClr val="C03BC4"/>
                </a:solidFill>
                <a:latin typeface="Segoe UI" pitchFamily="34" charset="0"/>
                <a:ea typeface="Segoe UI" pitchFamily="34" charset="-122"/>
                <a:cs typeface="Segoe UI" pitchFamily="34" charset="-120"/>
              </a:rPr>
              <a:t>LET'S BUILD IT</a:t>
            </a:r>
            <a:endParaRPr lang="en-US" sz="1200" dirty="0"/>
          </a:p>
        </p:txBody>
      </p:sp>
      <p:sp>
        <p:nvSpPr>
          <p:cNvPr id="5" name="Text 3"/>
          <p:cNvSpPr/>
          <p:nvPr/>
        </p:nvSpPr>
        <p:spPr>
          <a:xfrm>
            <a:off x="822960" y="1188720"/>
            <a:ext cx="10058400" cy="822960"/>
          </a:xfrm>
          <a:prstGeom prst="rect">
            <a:avLst/>
          </a:prstGeom>
          <a:noFill/>
          <a:ln/>
        </p:spPr>
        <p:txBody>
          <a:bodyPr wrap="square" rtlCol="0" anchor="ctr"/>
          <a:lstStyle/>
          <a:p>
            <a:pPr marL="0" indent="0">
              <a:buNone/>
            </a:pPr>
            <a:r>
              <a:rPr lang="en-US" sz="4400" b="1" dirty="0">
                <a:solidFill>
                  <a:srgbClr val="FFFFFF"/>
                </a:solidFill>
                <a:latin typeface="Segoe UI" pitchFamily="34" charset="0"/>
                <a:ea typeface="Segoe UI" pitchFamily="34" charset="-122"/>
                <a:cs typeface="Segoe UI" pitchFamily="34" charset="-120"/>
              </a:rPr>
              <a:t>Next steps</a:t>
            </a:r>
            <a:endParaRPr lang="en-US" sz="4400" dirty="0"/>
          </a:p>
        </p:txBody>
      </p:sp>
      <p:sp>
        <p:nvSpPr>
          <p:cNvPr id="6" name="Text 4"/>
          <p:cNvSpPr/>
          <p:nvPr/>
        </p:nvSpPr>
        <p:spPr>
          <a:xfrm>
            <a:off x="403708" y="2377440"/>
            <a:ext cx="2743200" cy="548640"/>
          </a:xfrm>
          <a:prstGeom prst="rect">
            <a:avLst/>
          </a:prstGeom>
          <a:noFill/>
          <a:ln/>
        </p:spPr>
        <p:txBody>
          <a:bodyPr wrap="square" rtlCol="0" anchor="ctr"/>
          <a:lstStyle/>
          <a:p>
            <a:pPr marL="0" indent="0">
              <a:buNone/>
            </a:pPr>
            <a:r>
              <a:rPr lang="en-US" sz="3600" b="1" dirty="0">
                <a:solidFill>
                  <a:srgbClr val="C03BC4"/>
                </a:solidFill>
                <a:latin typeface="Segoe UI" pitchFamily="34" charset="0"/>
                <a:ea typeface="Segoe UI" pitchFamily="34" charset="-122"/>
                <a:cs typeface="Segoe UI" pitchFamily="34" charset="-120"/>
              </a:rPr>
              <a:t>01</a:t>
            </a:r>
            <a:endParaRPr lang="en-US" sz="3600" dirty="0"/>
          </a:p>
        </p:txBody>
      </p:sp>
      <p:sp>
        <p:nvSpPr>
          <p:cNvPr id="7" name="Text 5"/>
          <p:cNvSpPr/>
          <p:nvPr/>
        </p:nvSpPr>
        <p:spPr>
          <a:xfrm>
            <a:off x="403708" y="3017520"/>
            <a:ext cx="2743200" cy="457200"/>
          </a:xfrm>
          <a:prstGeom prst="rect">
            <a:avLst/>
          </a:prstGeom>
          <a:noFill/>
          <a:ln/>
        </p:spPr>
        <p:txBody>
          <a:bodyPr wrap="square" rtlCol="0" anchor="ctr"/>
          <a:lstStyle/>
          <a:p>
            <a:pPr marL="0" indent="0">
              <a:buNone/>
            </a:pPr>
            <a:r>
              <a:rPr lang="en-US" sz="1600" b="1" dirty="0">
                <a:solidFill>
                  <a:srgbClr val="FFFFFF"/>
                </a:solidFill>
                <a:latin typeface="Segoe UI" pitchFamily="34" charset="0"/>
                <a:ea typeface="Segoe UI" pitchFamily="34" charset="-122"/>
                <a:cs typeface="Segoe UI" pitchFamily="34" charset="-120"/>
              </a:rPr>
              <a:t>Endorse the offering</a:t>
            </a:r>
            <a:endParaRPr lang="en-US" sz="1600" dirty="0"/>
          </a:p>
        </p:txBody>
      </p:sp>
      <p:sp>
        <p:nvSpPr>
          <p:cNvPr id="8" name="Text 6"/>
          <p:cNvSpPr/>
          <p:nvPr/>
        </p:nvSpPr>
        <p:spPr>
          <a:xfrm>
            <a:off x="403708" y="3474720"/>
            <a:ext cx="2743200" cy="1371600"/>
          </a:xfrm>
          <a:prstGeom prst="rect">
            <a:avLst/>
          </a:prstGeom>
          <a:noFill/>
          <a:ln/>
        </p:spPr>
        <p:txBody>
          <a:bodyPr wrap="square" rtlCol="0" anchor="ctr"/>
          <a:lstStyle/>
          <a:p>
            <a:pPr marL="0" indent="0">
              <a:buNone/>
            </a:pPr>
            <a:r>
              <a:rPr lang="en-US" sz="1200" dirty="0">
                <a:solidFill>
                  <a:srgbClr val="F5E6F0"/>
                </a:solidFill>
                <a:latin typeface="Segoe UI" pitchFamily="34" charset="0"/>
                <a:ea typeface="Segoe UI" pitchFamily="34" charset="-122"/>
                <a:cs typeface="Segoe UI" pitchFamily="34" charset="-120"/>
              </a:rPr>
              <a:t>Sponsorship from CSU leadership and MCAPS RSA</a:t>
            </a:r>
            <a:endParaRPr lang="en-US" sz="1200" dirty="0"/>
          </a:p>
        </p:txBody>
      </p:sp>
      <p:sp>
        <p:nvSpPr>
          <p:cNvPr id="9" name="Text 7"/>
          <p:cNvSpPr/>
          <p:nvPr/>
        </p:nvSpPr>
        <p:spPr>
          <a:xfrm>
            <a:off x="3284068" y="2377440"/>
            <a:ext cx="2743200" cy="548640"/>
          </a:xfrm>
          <a:prstGeom prst="rect">
            <a:avLst/>
          </a:prstGeom>
          <a:noFill/>
          <a:ln/>
        </p:spPr>
        <p:txBody>
          <a:bodyPr wrap="square" rtlCol="0" anchor="ctr"/>
          <a:lstStyle/>
          <a:p>
            <a:pPr marL="0" indent="0">
              <a:buNone/>
            </a:pPr>
            <a:r>
              <a:rPr lang="en-US" sz="3600" b="1" dirty="0">
                <a:solidFill>
                  <a:srgbClr val="C03BC4"/>
                </a:solidFill>
                <a:latin typeface="Segoe UI" pitchFamily="34" charset="0"/>
                <a:ea typeface="Segoe UI" pitchFamily="34" charset="-122"/>
                <a:cs typeface="Segoe UI" pitchFamily="34" charset="-120"/>
              </a:rPr>
              <a:t>02</a:t>
            </a:r>
            <a:endParaRPr lang="en-US" sz="3600" dirty="0"/>
          </a:p>
        </p:txBody>
      </p:sp>
      <p:sp>
        <p:nvSpPr>
          <p:cNvPr id="10" name="Text 8"/>
          <p:cNvSpPr/>
          <p:nvPr/>
        </p:nvSpPr>
        <p:spPr>
          <a:xfrm>
            <a:off x="3284068" y="3017520"/>
            <a:ext cx="2743200" cy="457200"/>
          </a:xfrm>
          <a:prstGeom prst="rect">
            <a:avLst/>
          </a:prstGeom>
          <a:noFill/>
          <a:ln/>
        </p:spPr>
        <p:txBody>
          <a:bodyPr wrap="square" rtlCol="0" anchor="ctr"/>
          <a:lstStyle/>
          <a:p>
            <a:pPr marL="0" indent="0">
              <a:buNone/>
            </a:pPr>
            <a:r>
              <a:rPr lang="en-US" sz="1600" b="1" dirty="0">
                <a:solidFill>
                  <a:srgbClr val="FFFFFF"/>
                </a:solidFill>
                <a:latin typeface="Segoe UI" pitchFamily="34" charset="0"/>
                <a:ea typeface="Segoe UI" pitchFamily="34" charset="-122"/>
                <a:cs typeface="Segoe UI" pitchFamily="34" charset="-120"/>
              </a:rPr>
              <a:t>Recruit 4–6 Anchor Partners</a:t>
            </a:r>
            <a:endParaRPr lang="en-US" sz="1600" dirty="0"/>
          </a:p>
        </p:txBody>
      </p:sp>
      <p:sp>
        <p:nvSpPr>
          <p:cNvPr id="11" name="Text 9"/>
          <p:cNvSpPr/>
          <p:nvPr/>
        </p:nvSpPr>
        <p:spPr>
          <a:xfrm>
            <a:off x="3284068" y="3474720"/>
            <a:ext cx="2743200" cy="1371600"/>
          </a:xfrm>
          <a:prstGeom prst="rect">
            <a:avLst/>
          </a:prstGeom>
          <a:noFill/>
          <a:ln/>
        </p:spPr>
        <p:txBody>
          <a:bodyPr wrap="square" rtlCol="0" anchor="ctr"/>
          <a:lstStyle/>
          <a:p>
            <a:pPr marL="0" indent="0">
              <a:buNone/>
            </a:pPr>
            <a:r>
              <a:rPr lang="en-US" sz="1200" dirty="0">
                <a:solidFill>
                  <a:srgbClr val="F5E6F0"/>
                </a:solidFill>
                <a:latin typeface="Segoe UI" pitchFamily="34" charset="0"/>
                <a:ea typeface="Segoe UI" pitchFamily="34" charset="-122"/>
                <a:cs typeface="Segoe UI" pitchFamily="34" charset="-120"/>
              </a:rPr>
              <a:t>Tiered by archetype — SI, ISV, MSP</a:t>
            </a:r>
            <a:endParaRPr lang="en-US" sz="1200" dirty="0"/>
          </a:p>
        </p:txBody>
      </p:sp>
      <p:sp>
        <p:nvSpPr>
          <p:cNvPr id="12" name="Text 10"/>
          <p:cNvSpPr/>
          <p:nvPr/>
        </p:nvSpPr>
        <p:spPr>
          <a:xfrm>
            <a:off x="6164428" y="2377440"/>
            <a:ext cx="2743200" cy="548640"/>
          </a:xfrm>
          <a:prstGeom prst="rect">
            <a:avLst/>
          </a:prstGeom>
          <a:noFill/>
          <a:ln/>
        </p:spPr>
        <p:txBody>
          <a:bodyPr wrap="square" rtlCol="0" anchor="ctr"/>
          <a:lstStyle/>
          <a:p>
            <a:pPr marL="0" indent="0">
              <a:buNone/>
            </a:pPr>
            <a:r>
              <a:rPr lang="en-US" sz="3600" b="1" dirty="0">
                <a:solidFill>
                  <a:srgbClr val="C03BC4"/>
                </a:solidFill>
                <a:latin typeface="Segoe UI" pitchFamily="34" charset="0"/>
                <a:ea typeface="Segoe UI" pitchFamily="34" charset="-122"/>
                <a:cs typeface="Segoe UI" pitchFamily="34" charset="-120"/>
              </a:rPr>
              <a:t>03</a:t>
            </a:r>
            <a:endParaRPr lang="en-US" sz="3600" dirty="0"/>
          </a:p>
        </p:txBody>
      </p:sp>
      <p:sp>
        <p:nvSpPr>
          <p:cNvPr id="13" name="Text 11"/>
          <p:cNvSpPr/>
          <p:nvPr/>
        </p:nvSpPr>
        <p:spPr>
          <a:xfrm>
            <a:off x="6164428" y="3017520"/>
            <a:ext cx="2743200" cy="457200"/>
          </a:xfrm>
          <a:prstGeom prst="rect">
            <a:avLst/>
          </a:prstGeom>
          <a:noFill/>
          <a:ln/>
        </p:spPr>
        <p:txBody>
          <a:bodyPr wrap="square" rtlCol="0" anchor="ctr"/>
          <a:lstStyle/>
          <a:p>
            <a:pPr marL="0" indent="0">
              <a:buNone/>
            </a:pPr>
            <a:r>
              <a:rPr lang="en-US" sz="1600" b="1" dirty="0">
                <a:solidFill>
                  <a:srgbClr val="FFFFFF"/>
                </a:solidFill>
                <a:latin typeface="Segoe UI" pitchFamily="34" charset="0"/>
                <a:ea typeface="Segoe UI" pitchFamily="34" charset="-122"/>
                <a:cs typeface="Segoe UI" pitchFamily="34" charset="-120"/>
              </a:rPr>
              <a:t>Enable the CSA team</a:t>
            </a:r>
            <a:endParaRPr lang="en-US" sz="1600" dirty="0"/>
          </a:p>
        </p:txBody>
      </p:sp>
      <p:sp>
        <p:nvSpPr>
          <p:cNvPr id="14" name="Text 12"/>
          <p:cNvSpPr/>
          <p:nvPr/>
        </p:nvSpPr>
        <p:spPr>
          <a:xfrm>
            <a:off x="6164428" y="3474720"/>
            <a:ext cx="2743200" cy="1371600"/>
          </a:xfrm>
          <a:prstGeom prst="rect">
            <a:avLst/>
          </a:prstGeom>
          <a:noFill/>
          <a:ln/>
        </p:spPr>
        <p:txBody>
          <a:bodyPr wrap="square" rtlCol="0" anchor="ctr"/>
          <a:lstStyle/>
          <a:p>
            <a:pPr marL="0" indent="0">
              <a:buNone/>
            </a:pPr>
            <a:r>
              <a:rPr lang="en-US" sz="1200" dirty="0">
                <a:solidFill>
                  <a:srgbClr val="F5E6F0"/>
                </a:solidFill>
                <a:latin typeface="Segoe UI" pitchFamily="34" charset="0"/>
                <a:ea typeface="Segoe UI" pitchFamily="34" charset="-122"/>
                <a:cs typeface="Segoe UI" pitchFamily="34" charset="-120"/>
              </a:rPr>
              <a:t>CoE delivery training · Responsible AI bootcamp</a:t>
            </a:r>
            <a:endParaRPr lang="en-US" sz="1200" dirty="0"/>
          </a:p>
        </p:txBody>
      </p:sp>
      <p:sp>
        <p:nvSpPr>
          <p:cNvPr id="15" name="Text 13"/>
          <p:cNvSpPr/>
          <p:nvPr/>
        </p:nvSpPr>
        <p:spPr>
          <a:xfrm>
            <a:off x="9044788" y="2377440"/>
            <a:ext cx="2743200" cy="548640"/>
          </a:xfrm>
          <a:prstGeom prst="rect">
            <a:avLst/>
          </a:prstGeom>
          <a:noFill/>
          <a:ln/>
        </p:spPr>
        <p:txBody>
          <a:bodyPr wrap="square" rtlCol="0" anchor="ctr"/>
          <a:lstStyle/>
          <a:p>
            <a:pPr marL="0" indent="0">
              <a:buNone/>
            </a:pPr>
            <a:r>
              <a:rPr lang="en-US" sz="3600" b="1" dirty="0">
                <a:solidFill>
                  <a:srgbClr val="C03BC4"/>
                </a:solidFill>
                <a:latin typeface="Segoe UI" pitchFamily="34" charset="0"/>
                <a:ea typeface="Segoe UI" pitchFamily="34" charset="-122"/>
                <a:cs typeface="Segoe UI" pitchFamily="34" charset="-120"/>
              </a:rPr>
              <a:t>04</a:t>
            </a:r>
            <a:endParaRPr lang="en-US" sz="3600" dirty="0"/>
          </a:p>
        </p:txBody>
      </p:sp>
      <p:sp>
        <p:nvSpPr>
          <p:cNvPr id="16" name="Text 14"/>
          <p:cNvSpPr/>
          <p:nvPr/>
        </p:nvSpPr>
        <p:spPr>
          <a:xfrm>
            <a:off x="9044788" y="3017520"/>
            <a:ext cx="2743200" cy="457200"/>
          </a:xfrm>
          <a:prstGeom prst="rect">
            <a:avLst/>
          </a:prstGeom>
          <a:noFill/>
          <a:ln/>
        </p:spPr>
        <p:txBody>
          <a:bodyPr wrap="square" rtlCol="0" anchor="ctr"/>
          <a:lstStyle/>
          <a:p>
            <a:pPr marL="0" indent="0">
              <a:buNone/>
            </a:pPr>
            <a:r>
              <a:rPr lang="en-US" sz="1600" b="1" dirty="0">
                <a:solidFill>
                  <a:srgbClr val="FFFFFF"/>
                </a:solidFill>
                <a:latin typeface="Segoe UI" pitchFamily="34" charset="0"/>
                <a:ea typeface="Segoe UI" pitchFamily="34" charset="-122"/>
                <a:cs typeface="Segoe UI" pitchFamily="34" charset="-120"/>
              </a:rPr>
              <a:t>Launch 3 lighthouse customers</a:t>
            </a:r>
            <a:endParaRPr lang="en-US" sz="1600" dirty="0"/>
          </a:p>
        </p:txBody>
      </p:sp>
      <p:sp>
        <p:nvSpPr>
          <p:cNvPr id="17" name="Text 15"/>
          <p:cNvSpPr/>
          <p:nvPr/>
        </p:nvSpPr>
        <p:spPr>
          <a:xfrm>
            <a:off x="9044788" y="3474720"/>
            <a:ext cx="2743200" cy="1371600"/>
          </a:xfrm>
          <a:prstGeom prst="rect">
            <a:avLst/>
          </a:prstGeom>
          <a:noFill/>
          <a:ln/>
        </p:spPr>
        <p:txBody>
          <a:bodyPr wrap="square" rtlCol="0" anchor="ctr"/>
          <a:lstStyle/>
          <a:p>
            <a:pPr marL="0" indent="0">
              <a:buNone/>
            </a:pPr>
            <a:r>
              <a:rPr lang="en-US" sz="1200" dirty="0">
                <a:solidFill>
                  <a:srgbClr val="F5E6F0"/>
                </a:solidFill>
                <a:latin typeface="Segoe UI" pitchFamily="34" charset="0"/>
                <a:ea typeface="Segoe UI" pitchFamily="34" charset="-122"/>
                <a:cs typeface="Segoe UI" pitchFamily="34" charset="-120"/>
              </a:rPr>
              <a:t>One per industry · Full MCEM cycle · Tier 2 entry</a:t>
            </a:r>
            <a:endParaRPr lang="en-US" sz="1200" dirty="0"/>
          </a:p>
        </p:txBody>
      </p:sp>
      <p:sp>
        <p:nvSpPr>
          <p:cNvPr id="18" name="Shape 16"/>
          <p:cNvSpPr/>
          <p:nvPr/>
        </p:nvSpPr>
        <p:spPr>
          <a:xfrm>
            <a:off x="822960" y="5303520"/>
            <a:ext cx="10515600" cy="1051560"/>
          </a:xfrm>
          <a:prstGeom prst="roundRect">
            <a:avLst>
              <a:gd name="adj" fmla="val 8696"/>
            </a:avLst>
          </a:prstGeom>
          <a:solidFill>
            <a:srgbClr val="0057B8"/>
          </a:solidFill>
          <a:ln w="12700">
            <a:solidFill>
              <a:srgbClr val="0057B8"/>
            </a:solidFill>
            <a:prstDash val="solid"/>
          </a:ln>
        </p:spPr>
        <p:txBody>
          <a:bodyPr/>
          <a:lstStyle/>
          <a:p>
            <a:endParaRPr lang="en-ZA"/>
          </a:p>
        </p:txBody>
      </p:sp>
      <p:sp>
        <p:nvSpPr>
          <p:cNvPr id="19" name="Text 17"/>
          <p:cNvSpPr/>
          <p:nvPr/>
        </p:nvSpPr>
        <p:spPr>
          <a:xfrm>
            <a:off x="1097280" y="5440680"/>
            <a:ext cx="2743200" cy="274320"/>
          </a:xfrm>
          <a:prstGeom prst="rect">
            <a:avLst/>
          </a:prstGeom>
          <a:noFill/>
          <a:ln/>
        </p:spPr>
        <p:txBody>
          <a:bodyPr wrap="square" rtlCol="0" anchor="ctr"/>
          <a:lstStyle/>
          <a:p>
            <a:pPr marL="0" indent="0">
              <a:buNone/>
            </a:pPr>
            <a:r>
              <a:rPr lang="en-US" sz="1100" b="1" kern="0" spc="300" dirty="0">
                <a:solidFill>
                  <a:srgbClr val="C03BC4"/>
                </a:solidFill>
                <a:latin typeface="Segoe UI" pitchFamily="34" charset="0"/>
                <a:ea typeface="Segoe UI" pitchFamily="34" charset="-122"/>
                <a:cs typeface="Segoe UI" pitchFamily="34" charset="-120"/>
              </a:rPr>
              <a:t>Contact</a:t>
            </a:r>
            <a:endParaRPr lang="en-US" sz="1100" dirty="0"/>
          </a:p>
        </p:txBody>
      </p:sp>
      <p:sp>
        <p:nvSpPr>
          <p:cNvPr id="20" name="Text 18"/>
          <p:cNvSpPr/>
          <p:nvPr/>
        </p:nvSpPr>
        <p:spPr>
          <a:xfrm>
            <a:off x="1097280" y="5715000"/>
            <a:ext cx="10058400" cy="365760"/>
          </a:xfrm>
          <a:prstGeom prst="rect">
            <a:avLst/>
          </a:prstGeom>
          <a:noFill/>
          <a:ln/>
        </p:spPr>
        <p:txBody>
          <a:bodyPr wrap="square" rtlCol="0" anchor="ctr"/>
          <a:lstStyle/>
          <a:p>
            <a:pPr marL="0" indent="0">
              <a:buNone/>
            </a:pPr>
            <a:r>
              <a:rPr lang="en-US" sz="1700" b="1" dirty="0">
                <a:solidFill>
                  <a:srgbClr val="FFFFFF"/>
                </a:solidFill>
                <a:latin typeface="Segoe UI" pitchFamily="34" charset="0"/>
                <a:ea typeface="Segoe UI" pitchFamily="34" charset="-122"/>
                <a:cs typeface="Segoe UI" pitchFamily="34" charset="-120"/>
              </a:rPr>
              <a:t>Yuri Baijnath  ·  SR CSA Manager, RSA CSU</a:t>
            </a:r>
            <a:endParaRPr lang="en-US" sz="1700" dirty="0"/>
          </a:p>
        </p:txBody>
      </p:sp>
      <p:sp>
        <p:nvSpPr>
          <p:cNvPr id="21" name="Text 19"/>
          <p:cNvSpPr/>
          <p:nvPr/>
        </p:nvSpPr>
        <p:spPr>
          <a:xfrm>
            <a:off x="1097280" y="6035040"/>
            <a:ext cx="10058400" cy="274320"/>
          </a:xfrm>
          <a:prstGeom prst="rect">
            <a:avLst/>
          </a:prstGeom>
          <a:noFill/>
          <a:ln/>
        </p:spPr>
        <p:txBody>
          <a:bodyPr wrap="square" rtlCol="0" anchor="ctr"/>
          <a:lstStyle/>
          <a:p>
            <a:pPr marL="0" indent="0">
              <a:buNone/>
            </a:pPr>
            <a:r>
              <a:rPr lang="en-US" sz="1200" dirty="0">
                <a:solidFill>
                  <a:srgbClr val="F5E6F0"/>
                </a:solidFill>
                <a:latin typeface="Segoe UI" pitchFamily="34" charset="0"/>
                <a:ea typeface="Segoe UI" pitchFamily="34" charset="-122"/>
                <a:cs typeface="Segoe UI" pitchFamily="34" charset="-120"/>
              </a:rPr>
              <a:t>Yuri.Baijnath@microsoft.com  ·  Microsoft South Africa</a:t>
            </a:r>
            <a:endParaRPr lang="en-US" sz="1200" dirty="0"/>
          </a:p>
        </p:txBody>
      </p:sp>
      <p:pic>
        <p:nvPicPr>
          <p:cNvPr id="22"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23" name="Text 20"/>
          <p:cNvSpPr/>
          <p:nvPr/>
        </p:nvSpPr>
        <p:spPr>
          <a:xfrm>
            <a:off x="640080" y="6492240"/>
            <a:ext cx="73152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 2026 Microsoft Corporation</a:t>
            </a:r>
            <a:endParaRPr lang="en-US" sz="900" dirty="0"/>
          </a:p>
        </p:txBody>
      </p:sp>
      <p:sp>
        <p:nvSpPr>
          <p:cNvPr id="24" name="Text 21"/>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19 / 19</a:t>
            </a:r>
            <a:endParaRPr lang="en-US" sz="900" dirty="0"/>
          </a:p>
        </p:txBody>
      </p:sp>
      <p:sp>
        <p:nvSpPr>
          <p:cNvPr id="25" name="AICOE_GEO_ACCENT_Right Triangle 24"/>
          <p:cNvSpPr/>
          <p:nvPr/>
        </p:nvSpPr>
        <p:spPr>
          <a:xfrm rot="5400000">
            <a:off x="11762232"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ICOE_GEO_ACCENT_Right Triangle 25"/>
          <p:cNvSpPr/>
          <p:nvPr/>
        </p:nvSpPr>
        <p:spPr>
          <a:xfrm rot="5400000">
            <a:off x="11874246"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5048</Words>
  <Application>Microsoft Office PowerPoint</Application>
  <PresentationFormat>Widescreen</PresentationFormat>
  <Paragraphs>520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Centre of Excellence — MCAPS + Partner Offering</dc:title>
  <dc:subject>PptxGenJS Presentation</dc:subject>
  <dc:creator>Yuri Baijnath</dc:creator>
  <cp:lastModifiedBy>Yuri Baijnath</cp:lastModifiedBy>
  <cp:revision>2</cp:revision>
  <dcterms:created xsi:type="dcterms:W3CDTF">2026-05-12T06:09:45Z</dcterms:created>
  <dcterms:modified xsi:type="dcterms:W3CDTF">2026-05-12T07:15:23Z</dcterms:modified>
</cp:coreProperties>
</file>