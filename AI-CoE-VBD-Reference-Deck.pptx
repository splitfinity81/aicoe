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1 - Title / opener.</a:t>
            </a:r>
          </a:p>
          <a:p>
            <a:r>
              <a:t>Greet the room. Introduce yourself: Yuri Baijnath, Senior CSA Manager, RSA CSU, Microsoft South Africa.</a:t>
            </a:r>
          </a:p>
          <a:p>
            <a:r>
              <a:t>Set the deck's purpose in one line: a single, opinionated menu of every AI VBD a CSA can run, mapped to outcomes, CoE pillars, and MCEM stages.</a:t>
            </a:r>
          </a:p>
          <a:p>
            <a:r>
              <a:t>Frame the audience: CSAs, CSAMs, STUs, and partner sellers who need to translate VBD names into customer outcomes.</a:t>
            </a:r>
          </a:p>
          <a:p>
            <a:r>
              <a:t>Caveat up front: VERIFY-flagged items (marked with *) must be re-checked on the MCAPS Catalog before any customer commit - the catalog evolves quarterly.</a:t>
            </a:r>
          </a:p>
          <a:p>
            <a:r>
              <a:t>Source of truth: csu-ai-vbd-reference-report.md (the long-form companion to this deck).</a:t>
            </a:r>
          </a:p>
          <a:p>
            <a:r>
              <a:t>Time-box: this is a 25-slide dense reference - skim live, deep-read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2 - Agenda.</a:t>
            </a:r>
          </a:p>
          <a:p>
            <a:r>
              <a:t>Walk the eight blocks: 01 Why this deck; 02 The framing (5+1 pillars x 3 tiers x MCEM 1-5); 03 Family A - M365 Copilot (MW), 8 VBDs (A1-A8); 04 Family B - Copilot Studio + Power Platform (BA), 7 VBDs (B1-B7); 05 Family C - Foundry + Data + Apps (CAI), 19 VBDs (C1-C19); 06 Factory engine - 10 zero-cost plays (F1-F10); 07 Cross-CSU spine (D1-D3); 08 Synthesis and next steps.</a:t>
            </a:r>
          </a:p>
          <a:p>
            <a:r>
              <a:t>Signal pace: blocks 03-05 are the heaviest - expect 2-3 slides per family covering full menu plus a spotlight.</a:t>
            </a:r>
          </a:p>
          <a:p>
            <a:r>
              <a:t>Encourage interruptions on Family C - that is where most CSA pipeline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3 - Why this deck.</a:t>
            </a:r>
          </a:p>
          <a:p>
            <a:r>
              <a:t>Lead with the problem stats: McKinsey 2025 - 88% of enterprises use AI but only 1 in 3 has scaled it; BCG 2024 - 60% of AI programs report little or no measurable value, and only ~1/3 of employees are trained on the tools they have.</a:t>
            </a:r>
          </a:p>
          <a:p>
            <a:r>
              <a:t>Translate: VBD names alone (e.g. 'Innovate with AI', 'Agents to Action') do not articulate the customer outcome - CSAs end up reinventing the pitch.</a:t>
            </a:r>
          </a:p>
          <a:p>
            <a:r>
              <a:t>What this deck does: lists every VBD with its outcome and the CoE pillar(s) it contributes to; maps each VBD to the 5+1 x 3-tier model; sequences delivery against MCEM 1-5; and flags FY26 H2 VERIFY items so we do not over-commit.</a:t>
            </a:r>
          </a:p>
          <a:p>
            <a:r>
              <a:t>Punchline: turn a fragmented catalog into one menu that a CSA can use in front of a customer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4 - The framing.</a:t>
            </a:r>
          </a:p>
          <a:p>
            <a:r>
              <a:t>Six pillars (5+1): 1 Business Strategy; 2 Organisation and Culture; 3 AI Strategy and Experimentation; 4 Technology and Data; 5 Governance and Security; +1 Co-sell and Partner. Every VBD contributes to one or more of these - that is how CoE value gets credited.</a:t>
            </a:r>
          </a:p>
          <a:p>
            <a:r>
              <a:t>Three tiers of delivery: T1 Envisioning - workshops, assessments, ATO Checkpoint 1; T2 Build - Azure Accelerate engagements, ATO Checkpoints 2 and 3; T3 Managed Run - GenAIOps, MSP relay, partner-led operate.</a:t>
            </a:r>
          </a:p>
          <a:p>
            <a:r>
              <a:t>MCEM 1-5 strip: Listen / Inspire (1), Envision (2), Design (3), Empower (4), Realize (5). Each VBD has a sweet-spot MCEM stage - that is how we sequence them in a pursuit.</a:t>
            </a:r>
          </a:p>
          <a:p>
            <a:r>
              <a:t>Mental model: pick the pillar -&gt; pick the tier -&gt; sequence on MCEM. Everything else in the deck is a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5 - VBD landscape (one page).</a:t>
            </a:r>
          </a:p>
          <a:p>
            <a:r>
              <a:t>Five surfaces, 40+ plays: Family A - M365 Copilot (MW), 8 VBDs A1-A8; Family B - Copilot Studio and Power Platform (BA), 7 VBDs B1-B7; Family C - Foundry, Data, and Apps (CAI), 19 VBDs C1-C19; D-bis - Cloud Accelerate Factory, 10 zero-cost plays F1-F10; D - Cross-CSU spine, 3 motions D1-D3.</a:t>
            </a:r>
          </a:p>
          <a:p>
            <a:r>
              <a:t>Factory caveat: F1-F10 are zero-cost to the customer but require either active Unified Support OR a signed 2-page Factory agreement - do not promise without one of those in place.</a:t>
            </a:r>
          </a:p>
          <a:p>
            <a:r>
              <a:t>This single slide is the print-and-pin reference. Most customer conversations start by pointing at one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6 - How to read each VBD card.</a:t>
            </a:r>
          </a:p>
          <a:p>
            <a:r>
              <a:t>Every VBD entry has six columns: Outcomes (what the customer gets); CoE contribution (which pillar(s) it advances); MCEM (sweet-spot stage 1-5); Funding instrument (ECIF, AMM, MAICPP, ACO, SA, or customer-funded); Owner (CSA / partner / STU); and the VERIFY flag (*).</a:t>
            </a:r>
          </a:p>
          <a:p>
            <a:r>
              <a:t>Funding cheatsheet: ECIF = pre-sales Azure consumption credits; AMM = AI Migration and Modernization; MAICPP = Microsoft AI Cloud Partner Program; ACO = Azure Consumption Offer; SA = Software Assurance.</a:t>
            </a:r>
          </a:p>
          <a:p>
            <a:r>
              <a:t>Asterisk (*) = re-verify on MCAPS Catalog this quarter. Do not commit without re-checking.</a:t>
            </a:r>
          </a:p>
          <a:p>
            <a:r>
              <a:t>Reading rhythm: scan Outcomes column first; then check funding to see if it is fundable; then check MCEM to know when to introduce it in the pursuit.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7 - Family A menu: M365 Copilot (MW), 8 VBDs A1-A8.</a:t>
            </a:r>
          </a:p>
          <a:p>
            <a:r>
              <a:t>Owned by the Modern Work (MW) solution area. Outcomes orbit knowledge-worker productivity, content creation, meeting intelligence, and Copilot-in-the-flow-of-work.</a:t>
            </a:r>
          </a:p>
          <a:p>
            <a:r>
              <a:t>Use this menu when the customer's lead question is 'how do my employees use AI day to day?' rather than 'how do I build an AI product?'</a:t>
            </a:r>
          </a:p>
          <a:p>
            <a:r>
              <a:t>Funding pattern: most A-family plays pair with ECIF for envisioning and Software Assurance benefits for adoption activation.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8 - Family A spotlight.</a:t>
            </a:r>
          </a:p>
          <a:p>
            <a:r>
              <a:t>Deep-dive one or two A-family VBDs that the room cares about (typical picks: Copilot Chat envisioning, Copilot adoption / value realization).</a:t>
            </a:r>
          </a:p>
          <a:p>
            <a:r>
              <a:t>Highlight the CoE contribution: A-family plays disproportionately advance Pillar 2 (Org and Culture) and Pillar 1 (Business Strategy) - this is where change management meets AI.</a:t>
            </a:r>
          </a:p>
          <a:p>
            <a:r>
              <a:t>MCEM sweet spot: Envision (2) and Empower (4). Pair with the Skilling spine (D2) for stickiness.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9 - Family B menu: Copilot Studio + Power Platform (BA), 7 VBDs B1-B7.</a:t>
            </a:r>
          </a:p>
          <a:p>
            <a:r>
              <a:t>Owned by the Business Applications (BA) solution area. Outcomes orbit low-code agents, line-of-business process automation, and Copilot extensibility.</a:t>
            </a:r>
          </a:p>
          <a:p>
            <a:r>
              <a:t>Use this menu when the customer wants custom copilots or agents grounded on their data but does not yet want a full Foundry build.</a:t>
            </a:r>
          </a:p>
          <a:p>
            <a:r>
              <a:t>Funding pattern: BA plays often combine ECIF (envisioning) with MAICPP-funded partner build, especially for sector templates (FSI, retail, public sector).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10 - Family B spotlight.</a:t>
            </a:r>
          </a:p>
          <a:p>
            <a:r>
              <a:t>Spotlight VBDs typically: Agents-to-Action and Copilot Studio agent build.</a:t>
            </a:r>
          </a:p>
          <a:p>
            <a:r>
              <a:t>Position B-family as the bridge between MW (out-of-the-box Copilot) and CAI (full Foundry custom builds) - many customers land here first.</a:t>
            </a:r>
          </a:p>
          <a:p>
            <a:r>
              <a:t>CoE contribution: heavy on Pillar 3 (AI Strategy and Experimentation) and Pillar 4 (Technology and Data); MCEM sweet spot Design (3) to Realize (5).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11 - Family C menu: Foundry + Data + Apps (CAI), 19 VBDs C1-C19.</a:t>
            </a:r>
          </a:p>
          <a:p>
            <a:r>
              <a:t>Owned by Cloud and AI (CAI). The largest and most heterogeneous family - covers Innovate-with-AI, Build-and-Modernize-AI-Apps, AI-ready data platforms, app modernization, and the full Foundry stack.</a:t>
            </a:r>
          </a:p>
          <a:p>
            <a:r>
              <a:t>Use this menu when the customer wants a custom AI product, an agentic application, or a data foundation for AI.</a:t>
            </a:r>
          </a:p>
          <a:p>
            <a:r>
              <a:t>Funding pattern: ECIF -&gt; AMM -&gt; ACO chain is the standard path. Most C-family pursuits also draw on Azure Accelerate engagements in the build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12 - Family C spotlight: Innovate with AI.</a:t>
            </a:r>
          </a:p>
          <a:p>
            <a:r>
              <a:t>Innovate-with-AI is the flagship envisioning play for CAI - it produces a customer-specific AI use-case backlog ranked by value and feasibility.</a:t>
            </a:r>
          </a:p>
          <a:p>
            <a:r>
              <a:t>CoE contribution: advances Pillar 1 (Business Strategy) and Pillar 3 (AI Strategy and Experimentation) simultaneously - rare in the catalog.</a:t>
            </a:r>
          </a:p>
          <a:p>
            <a:r>
              <a:t>MCEM 2 (Envision). Funding: ECIF. Typical follow-on: an Azure Accelerate engagement to build the top-ranked use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13 - Family C spotlight: Build and Modernize AI Apps.</a:t>
            </a:r>
          </a:p>
          <a:p>
            <a:r>
              <a:t>The default build engagement for any customer with an envisioned use case ready to go to production.</a:t>
            </a:r>
          </a:p>
          <a:p>
            <a:r>
              <a:t>Couples Foundry (models, agents, eval) with Azure App Platform (Container Apps, App Service, AKS) and the AI-ready data platform (Fabric, Cosmos DB, AI Search).</a:t>
            </a:r>
          </a:p>
          <a:p>
            <a:r>
              <a:t>MCEM 3-5 (Design / Empower / Realize). Funding: AMM and ACO. Usually a partner-led delivery with CSA oversight.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14 - ATO HIGH-TRUST checkpoints.</a:t>
            </a:r>
          </a:p>
          <a:p>
            <a:r>
              <a:t>ATO = Architecture Tollgate / Adoption-To-Operate review. Three checkpoints: C1 (after envisioning), C2 (after architecture and security review), C3 (pre-go-live operational readiness).</a:t>
            </a:r>
          </a:p>
          <a:p>
            <a:r>
              <a:t>HIGH-TRUST means the CSA signs off that the design follows Well-Architected and Responsible AI standards.</a:t>
            </a:r>
          </a:p>
          <a:p>
            <a:r>
              <a:t>Use ATO to lock customer expectations and to qualify pursuits for AMM or ACO funding - many funding desks ask for ATO C2 sign-off as evidence of design maturity.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15 - Cloud Accelerate Factory: 10 zero-cost plays F1-F10.</a:t>
            </a:r>
          </a:p>
          <a:p>
            <a:r>
              <a:t>Factory = Microsoft-delivered, partner-supported, fixed-scope deployments at zero cost to the customer when entitlement is in place.</a:t>
            </a:r>
          </a:p>
          <a:p>
            <a:r>
              <a:t>Entitlement gate: customer must have active Unified Support OR sign a 2-page Factory agreement. Without one of those, do NOT promise Factory.</a:t>
            </a:r>
          </a:p>
          <a:p>
            <a:r>
              <a:t>Use Factory to remove friction on foundational deployments (landing zone, AKS, AI Search, Fabric, Foundry workspace) so the customer's spend goes to the value workload, not the plumbing.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16 - How Factory plugs into a pursuit.</a:t>
            </a:r>
          </a:p>
          <a:p>
            <a:r>
              <a:t>Pattern: T1 envisioning surfaces the use case -&gt; Factory deploys the foundational platform (F-play) at no cost -&gt; T2 build engagement delivers the value workload on top.</a:t>
            </a:r>
          </a:p>
          <a:p>
            <a:r>
              <a:t>This is how a CSA stretches limited ECIF dollars - Factory absorbs the platform setup so funding instruments cover only the differentiated build.</a:t>
            </a:r>
          </a:p>
          <a:p>
            <a:r>
              <a:t>Always sequence Factory BEFORE the paid build engagement, never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17 - Delivery stack.</a:t>
            </a:r>
          </a:p>
          <a:p>
            <a:r>
              <a:t>Three layers feed every pursuit: (1) the VBD catalog (what we sell); (2) the delivery instruments - workshops, Azure Accelerate, GenAIOps, MSP relay (how we deliver); (3) the funding instruments - ECIF, AMM, MAICPP, ACO, SA (how we fund).</a:t>
            </a:r>
          </a:p>
          <a:p>
            <a:r>
              <a:t>A pursuit is the product of one VBD x one delivery instrument x one (or more) funding instrument(s). Mismatches kill deals.</a:t>
            </a:r>
          </a:p>
          <a:p>
            <a:r>
              <a:t>Use this slide as a sanity check when reviewing a pursuit: name the VBD, name the delivery, name the funding. If any is missing, the pursuit is not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18 - Cross-CSU spine: D1 Frontier CoE, D2 Skilling, D3 Value Realization.</a:t>
            </a:r>
          </a:p>
          <a:p>
            <a:r>
              <a:t>These three motions sit across all three families and across the entire CSU - they are not owned by a single solution area.</a:t>
            </a:r>
          </a:p>
          <a:p>
            <a:r>
              <a:t>D1 Frontier CoE: pattern reuse, reference architectures, IP harvesting from customer engagements.</a:t>
            </a:r>
          </a:p>
          <a:p>
            <a:r>
              <a:t>D2 Skilling: customer and partner enablement (Cloud Skills Challenges, Hack Together, AI Tour) - critical for stickiness on A-family Copilot adoption.</a:t>
            </a:r>
          </a:p>
          <a:p>
            <a:r>
              <a:t>D3 Value Realization: instrumented outcome tracking post-go-live; this is what wins renewal and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19 - Tier x Pillar map.</a:t>
            </a:r>
          </a:p>
          <a:p>
            <a:r>
              <a:t>Matrix view: rows = the 3 delivery tiers (T1/T2/T3), columns = the 5+1 pillars. Each cell shows which VBDs land there.</a:t>
            </a:r>
          </a:p>
          <a:p>
            <a:r>
              <a:t>Look for gaps: pillars with few VBDs in T3 (Managed Run) often indicate where MSP partners or GenAIOps must fill in.</a:t>
            </a:r>
          </a:p>
          <a:p>
            <a:r>
              <a:t>Use this matrix in account planning to spot 'pillar overweight' - customers buying lots of T2 builds with no T1 envisioning or T3 run plan are at risk of stalled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20 - Family contribution synthesis.</a:t>
            </a:r>
          </a:p>
          <a:p>
            <a:r>
              <a:t>Synthesised view of how each family loads the six pillars: A-family carries Org and Culture; B-family carries Business Strategy through process automation; C-family carries AI Strategy, Tech and Data, and Governance.</a:t>
            </a:r>
          </a:p>
          <a:p>
            <a:r>
              <a:t>Co-sell and Partner (+1) is loaded primarily by D3 Value Realization and by Factory (D-bis).</a:t>
            </a:r>
          </a:p>
          <a:p>
            <a:r>
              <a:t>Use this view to explain to a customer why one family is not enough - real CoE maturity requires plays from at least two families plus the Cross-CSU spine.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21 - MCEM-stage shortlist.</a:t>
            </a:r>
          </a:p>
          <a:p>
            <a:r>
              <a:t>If you only remember one VBD per stage: MCEM 1 (Listen) - D3 Value Realization conversation; MCEM 2 (Envision) - C-family Innovate-with-AI or A-family Copilot envisioning; MCEM 3 (Design) - ATO C2 plus Azure Accelerate engagement; MCEM 4 (Empower) - Skilling (D2) plus Copilot adoption; MCEM 5 (Realize) - GenAIOps plus D3 instrumented outcomes.</a:t>
            </a:r>
          </a:p>
          <a:p>
            <a:r>
              <a:t>Use this list when a deal review asks 'what is the next best action for this customer?' - map them to MCEM stage, then pick from the shortlist.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22 - Pre-mortem: four risks that kill AI pursuits.</a:t>
            </a:r>
          </a:p>
          <a:p>
            <a:r>
              <a:t>Risk 1 - No envisioning: customer skips T1 and goes straight to build; outcome drifts, value cannot be measured.</a:t>
            </a:r>
          </a:p>
          <a:p>
            <a:r>
              <a:t>Risk 2 - No data foundation: build starts before AI-ready data is in place; pilots fail in production.</a:t>
            </a:r>
          </a:p>
          <a:p>
            <a:r>
              <a:t>Risk 3 - No governance: Responsible AI and security are bolted on at the end; ATO C2 fails, go-live slips.</a:t>
            </a:r>
          </a:p>
          <a:p>
            <a:r>
              <a:t>Risk 4 - No value tracking: D3 is skipped; customer cannot articulate ROI at renewal.</a:t>
            </a:r>
          </a:p>
          <a:p>
            <a:r>
              <a:t>Hand-rule: if a pursuit lacks an answer for any one of these four risks, pause and add the missing VBD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23 - Five next steps.</a:t>
            </a:r>
          </a:p>
          <a:p>
            <a:r>
              <a:t>1. Print and pin slide 5 (the VBD landscape) - it is your daily lookup.</a:t>
            </a:r>
          </a:p>
          <a:p>
            <a:r>
              <a:t>2. For every active opportunity, name the VBD, the delivery instrument, and the funding instrument before the next deal review.</a:t>
            </a:r>
          </a:p>
          <a:p>
            <a:r>
              <a:t>3. Re-verify all (*)-flagged items on MCAPS Catalog this quarter.</a:t>
            </a:r>
          </a:p>
          <a:p>
            <a:r>
              <a:t>4. Schedule a Family C deep-dive with your CAI specialist team - that is where most pipeline gain is available.</a:t>
            </a:r>
          </a:p>
          <a:p>
            <a:r>
              <a:t>5. Add D3 Value Realization to every pursuit at MCEM 1 - do not wait until Realize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24 - Sources and verification.</a:t>
            </a:r>
          </a:p>
          <a:p>
            <a:r>
              <a:t>Long-form companion: csu-ai-vbd-reference-report.md (in the repo root) - contains the full evidence base, with trust grades per claim.</a:t>
            </a:r>
          </a:p>
          <a:p>
            <a:r>
              <a:t>Trust grades used in the report: A (Microsoft official source or MCAPS Catalog); B (analyst report - McKinsey, BCG, Gartner); C (Microsoft blog or session); * VERIFY (must re-check on MCAPS Catalog).</a:t>
            </a:r>
          </a:p>
          <a:p>
            <a:r>
              <a:t>Cadence: re-verify VERIFY items quarterly. Re-pull McKinsey / BCG numbers annually.</a:t>
            </a:r>
          </a:p>
          <a:p>
            <a:r>
              <a:t>If you see a claim in this deck that contradicts MCAPS Catalog today, MCAPS Catalog wins - and please ping me so I can update the source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25 - Close.</a:t>
            </a:r>
          </a:p>
          <a:p>
            <a:r>
              <a:t>Anchor phrase: 'Outcomes over offerings.' VBDs are the means; pillar-aligned, MCEM-sequenced, funded delivery is the end.</a:t>
            </a:r>
          </a:p>
          <a:p>
            <a:r>
              <a:t>Numbers to remember walking out: 40+ VBDs across 5 surfaces; 5+1 pillars x 3 tiers; ATO at 3 checkpoints; D3 from MCEM 1.</a:t>
            </a:r>
          </a:p>
          <a:p>
            <a:r>
              <a:t>Call to action: pick one customer this week, name the VBD / delivery / funding triple, and book the next conversation. That is how this deck pays for itself.</a:t>
            </a:r>
          </a:p>
          <a:p>
            <a:r>
              <a:t>Thank the room. Offer to share the source report and to pair on one live pursuit.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67B8"/>
                </a:solidFill>
                <a:latin typeface="Segoe UI"/>
              </a:rPr>
              <a:t>AI CENTER OF EXCELLENCE · VBD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1A"/>
                </a:solidFill>
                <a:latin typeface="Segoe UI"/>
              </a:rPr>
              <a:t>The AI VBD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55555"/>
                </a:solidFill>
                <a:latin typeface="Segoe UI"/>
              </a:rPr>
              <a:t>Outcomes of every CSU-deliverable AI VBD and how each</a:t>
            </a:r>
          </a:p>
          <a:p>
            <a:pPr algn="l"/>
            <a:r>
              <a:rPr sz="2200" b="0" i="0">
                <a:solidFill>
                  <a:srgbClr val="555555"/>
                </a:solidFill>
                <a:latin typeface="Segoe UI"/>
              </a:rPr>
              <a:t>advances the AI Centre of Excellence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742A9B"/>
                </a:solidFill>
                <a:latin typeface="Segoe UI"/>
              </a:rPr>
              <a:t>5+1 pillars · 3-tier ladder · MCEM 1–5 · FY26 H2 RSA CSU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Yuri Baijnath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0E6FF"/>
                </a:solidFill>
                <a:latin typeface="Segoe UI"/>
              </a:rPr>
              <a:t>Sr CSA Manager, RSA CSU  ·  Yuri.Baijnath@microsoft.com  ·  Microsoft South Africa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D0D0D0"/>
                </a:solidFill>
                <a:latin typeface="Segoe UI"/>
              </a:rPr>
              <a:t>Source: csu-ai-vbd-reference-report.md  ·  Re-verify VERIFY-flagged items on MCAPS Catalog before customer commit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What you will leave with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A working menu of AI VBDs mapped to outcomes and to the AI CoE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67B8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202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Segoe UI"/>
              </a:rPr>
              <a:t>Why this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92024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Segoe UI"/>
              </a:rPr>
              <a:t>Articulating outcomes · mapping every VBD to the AI CoE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67B8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Segoe UI"/>
              </a:rPr>
              <a:t>The framing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42316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Segoe UI"/>
              </a:rPr>
              <a:t>5+1 pillars × 3-tier ladder × MCEM 1–5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67B8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260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Segoe UI"/>
              </a:rPr>
              <a:t>Family A — M365 Copilot (MW)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92608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Segoe UI"/>
              </a:rPr>
              <a:t>8 VBDs · envisioning, adoption, optimisation,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900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67B8"/>
                </a:solidFill>
                <a:latin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4290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Segoe UI"/>
              </a:rPr>
              <a:t>Family B — Copilot Studio (BA)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4290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Segoe UI"/>
              </a:rPr>
              <a:t>7 VBDs · agents, AI Builder, D365, CoE Starter Kit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67B8"/>
                </a:solidFill>
                <a:latin typeface="Segoe U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319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Segoe UI"/>
              </a:rPr>
              <a:t>Family C — Foundry &amp; Azure (CAI)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39319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Segoe UI"/>
              </a:rPr>
              <a:t>19 VBDs · Azure Accelerate, ATO, GenAIOps, RAI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67B8"/>
                </a:solidFill>
                <a:latin typeface="Segoe U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4348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Segoe UI"/>
              </a:rPr>
              <a:t>Factory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443484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Segoe UI"/>
              </a:rPr>
              <a:t>10 zero-cost Cloud Accelerate Factory plays (F1–F10)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67B8"/>
                </a:solidFill>
                <a:latin typeface="Segoe U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9377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Segoe UI"/>
              </a:rPr>
              <a:t>Cross-CSU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493776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Segoe UI"/>
              </a:rPr>
              <a:t>Frontier AI CoE stand-up, Skilling, Value Realization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4406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67B8"/>
                </a:solidFill>
                <a:latin typeface="Segoe U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4406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Segoe UI"/>
              </a:rPr>
              <a:t>Synthesis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544068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Segoe UI"/>
              </a:rPr>
              <a:t>Tier x Pillar coverage · MCEM sequencing · next steps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WHY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AI demand is loud. Delivery clarity is the bottleneck.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The CSU has 40+ AI VBDs. Customers do not need a catalogue — they need outcomes.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440680" cy="40233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6E00"/>
                </a:solidFill>
                <a:latin typeface="Segoe U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5120640" cy="3291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76E00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88% of organisations use AI; 2/3 have not scaled — McKinsey 2025.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76E00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60% reap little measurable value — BCG 2024.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76E00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Only 1/3 of workforce trained on AI — BCG 2024.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76E00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AI VBD names alone do not articulate outcomes or CoE fit.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76E00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CSAs need a single menu mapping VBD → outcome → pillar → tier → MCEM.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920240"/>
            <a:ext cx="5440680" cy="40233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2057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07C10"/>
                </a:solidFill>
                <a:latin typeface="Segoe UI"/>
              </a:rPr>
              <a:t>WHAT THIS DECK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423160"/>
            <a:ext cx="5120640" cy="3291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07C10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Lists every CSU-deliverable AI VBD in one place.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07C10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For each VBD: Key Outcomes + Contribution to the AI CoE.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07C10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Maps each VBD to the 5+1 pillars and the 3-tier ladder.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07C10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Sequences VBDs to MCEM 1–2, MCEM 3, MCEM 4–5.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07C10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Flags FY26 H2 VERIFY items for re-check before customer commit.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THE FRAMING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5+1 pillars × 3-tier ladder × MCEM 1–5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Every VBD in this deck slots into this grid — that is what makes it a CoE asset.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THE 5+1 PILLARS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847088" cy="1234440"/>
          </a:xfrm>
          <a:prstGeom prst="rect">
            <a:avLst/>
          </a:prstGeom>
          <a:solidFill>
            <a:srgbClr val="F3F6FA"/>
          </a:solidFill>
          <a:ln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67712"/>
            <a:ext cx="16642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42A9B"/>
                </a:solidFill>
                <a:latin typeface="Segoe UI"/>
              </a:rPr>
              <a:t>Pillar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60320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Segoe UI"/>
              </a:rPr>
              <a:t>Business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926080"/>
            <a:ext cx="1664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Value cases, P&amp;L, KPIs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04872" y="2194560"/>
            <a:ext cx="1847088" cy="1234440"/>
          </a:xfrm>
          <a:prstGeom prst="rect">
            <a:avLst/>
          </a:prstGeom>
          <a:solidFill>
            <a:srgbClr val="F3F6FA"/>
          </a:solidFill>
          <a:ln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2267712"/>
            <a:ext cx="16642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42A9B"/>
                </a:solidFill>
                <a:latin typeface="Segoe UI"/>
              </a:rPr>
              <a:t>Pillar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560320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Segoe UI"/>
              </a:rPr>
              <a:t>Org &amp; Culture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926080"/>
            <a:ext cx="1664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Skilling, change, comms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1104" y="2194560"/>
            <a:ext cx="1847088" cy="1234440"/>
          </a:xfrm>
          <a:prstGeom prst="rect">
            <a:avLst/>
          </a:prstGeom>
          <a:solidFill>
            <a:srgbClr val="F3F6FA"/>
          </a:solidFill>
          <a:ln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0832" y="2267712"/>
            <a:ext cx="16642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42A9B"/>
                </a:solidFill>
                <a:latin typeface="Segoe UI"/>
              </a:rPr>
              <a:t>Pillar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832" y="2560320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Segoe UI"/>
              </a:rPr>
              <a:t>AI Strategy &amp; XP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2926080"/>
            <a:ext cx="1664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Use-case design, scenarios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7336" y="2194560"/>
            <a:ext cx="1847088" cy="1234440"/>
          </a:xfrm>
          <a:prstGeom prst="rect">
            <a:avLst/>
          </a:prstGeom>
          <a:solidFill>
            <a:srgbClr val="F3F6FA"/>
          </a:solidFill>
          <a:ln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7064" y="2267712"/>
            <a:ext cx="16642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42A9B"/>
                </a:solidFill>
                <a:latin typeface="Segoe UI"/>
              </a:rPr>
              <a:t>Pillar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560320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Segoe UI"/>
              </a:rPr>
              <a:t>Tech &amp;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2926080"/>
            <a:ext cx="1664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Platform, data, 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2194560"/>
            <a:ext cx="1847088" cy="1234440"/>
          </a:xfrm>
          <a:prstGeom prst="rect">
            <a:avLst/>
          </a:prstGeom>
          <a:solidFill>
            <a:srgbClr val="F3F6FA"/>
          </a:solidFill>
          <a:ln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83296" y="2267712"/>
            <a:ext cx="16642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42A9B"/>
                </a:solidFill>
                <a:latin typeface="Segoe UI"/>
              </a:rPr>
              <a:t>Pillar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2560320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Segoe UI"/>
              </a:rPr>
              <a:t>Governance &amp; 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83296" y="2926080"/>
            <a:ext cx="1664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Responsible AI, posture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29800" y="2194560"/>
            <a:ext cx="1847088" cy="1234440"/>
          </a:xfrm>
          <a:prstGeom prst="rect">
            <a:avLst/>
          </a:prstGeom>
          <a:solidFill>
            <a:srgbClr val="F3F6FA"/>
          </a:solidFill>
          <a:ln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39528" y="2267712"/>
            <a:ext cx="16642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42A9B"/>
                </a:solidFill>
                <a:latin typeface="Segoe UI"/>
              </a:rPr>
              <a:t>Pillar +1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9528" y="2560320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Segoe UI"/>
              </a:rPr>
              <a:t>Co-sell &amp; Partner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39528" y="2926080"/>
            <a:ext cx="1664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MAICPP, ACO, archetypes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57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THE 3-TIER LADDER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977639"/>
            <a:ext cx="3703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3977639"/>
            <a:ext cx="3703320" cy="457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14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0E6FF"/>
                </a:solidFill>
                <a:latin typeface="Segoe UI"/>
              </a:rPr>
              <a:t>T1 Envisioning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4805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Segoe UI"/>
              </a:rPr>
              <a:t>Inspire, design, pilot. Workshops, assessments, ATO C1.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79" y="3977639"/>
            <a:ext cx="3703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97679" y="3977639"/>
            <a:ext cx="3703320" cy="457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39" y="4114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67B8"/>
                </a:solidFill>
                <a:latin typeface="Segoe UI"/>
              </a:rPr>
              <a:t>T2 Build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39" y="44805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Segoe UI"/>
              </a:rPr>
              <a:t>Foundation + first scaled workload. Azure Accelerate, ATO C2/C3.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18" y="3977639"/>
            <a:ext cx="3703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46718" y="3977639"/>
            <a:ext cx="3703320" cy="457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878" y="4114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42A9B"/>
                </a:solidFill>
                <a:latin typeface="Segoe UI"/>
              </a:rPr>
              <a:t>T3 Managed Run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78" y="44805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Segoe UI"/>
              </a:rPr>
              <a:t>Operate, optimise, scale. Value realisation, GenAIOps, MSP relay.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3949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MCEM STAGES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Segoe UI"/>
              </a:rPr>
              <a:t>1 Listen &amp; Consult   →   2 Inspire &amp; Design   →   3 Empower &amp; Achieve   →   4 Realize Value   →   5 Manage &amp; Optimize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THE VBD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Three AI surfaces · three CSU sub-teams · one engine + a cross-CSU spine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40+ VBDs aligned to the three AI surfaces customers actually buy.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70332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703320" cy="457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67B8"/>
                </a:solidFill>
                <a:latin typeface="Segoe UI"/>
              </a:rPr>
              <a:t>FAMILY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3429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Segoe UI"/>
              </a:rPr>
              <a:t>M365 Copilot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Segoe UI"/>
              </a:rPr>
              <a:t>Modern Work CSU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1752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67B8"/>
                </a:solidFill>
                <a:latin typeface="Segoe UI"/>
              </a:rPr>
              <a:t>A1–A8 · 8 VBDs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756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Segoe UI"/>
              </a:rPr>
              <a:t>Envisioning, adoption, optimisation, security — the seat-licensed Copilot surface.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920240"/>
            <a:ext cx="370332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920240"/>
            <a:ext cx="3703320" cy="457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0574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42A9B"/>
                </a:solidFill>
                <a:latin typeface="Segoe UI"/>
              </a:rPr>
              <a:t>FAMILY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331720"/>
            <a:ext cx="3429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Segoe UI"/>
              </a:rPr>
              <a:t>Copilot Studio + Power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27432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Segoe UI"/>
              </a:rPr>
              <a:t>Business Apps CSU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301752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42A9B"/>
                </a:solidFill>
                <a:latin typeface="Segoe UI"/>
              </a:rPr>
              <a:t>B1–B7 · 7 VBDs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333756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Segoe UI"/>
              </a:rPr>
              <a:t>Custom agents, AI Builder, D365 Copilot envisioning, Power Platform CoE.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01584" y="1920240"/>
            <a:ext cx="370332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920240"/>
            <a:ext cx="3703320" cy="457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574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B1F3A"/>
                </a:solidFill>
                <a:latin typeface="Segoe UI"/>
              </a:rPr>
              <a:t>FAMILY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2331720"/>
            <a:ext cx="3429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Segoe UI"/>
              </a:rPr>
              <a:t>Azure AI Foundry + Data + Apps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Segoe UI"/>
              </a:rPr>
              <a:t>Cloud &amp; AI CSU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301752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B1F3A"/>
                </a:solidFill>
                <a:latin typeface="Segoe UI"/>
              </a:rPr>
              <a:t>C1–C19 · 19 VBDs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8744" y="333756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Segoe UI"/>
              </a:rPr>
              <a:t>Azure Accelerate, AI Transformation Offer, GenAIOps, Responsible AI.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297680"/>
            <a:ext cx="7498079" cy="17373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43484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6E00"/>
                </a:solidFill>
                <a:latin typeface="Segoe UI"/>
              </a:rPr>
              <a:t>D-BIS · CLOUD ACCELERATE FACTORY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73659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Segoe UI"/>
              </a:rPr>
              <a:t>10 zero-cost plays (F1–F10)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20640"/>
            <a:ext cx="7132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Segoe UI"/>
              </a:rPr>
              <a:t>Microsoft remote workforce delivers ALZ, GenAI Assistant MVP, data, app and security migrations — the foundation under every Family-C AI workload. Unified Support OR 2-page Factory agreement required.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56448" y="4297680"/>
            <a:ext cx="3483864" cy="17373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93608" y="4434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0E6FF"/>
                </a:solidFill>
                <a:latin typeface="Segoe UI"/>
              </a:rPr>
              <a:t>FAMILY D · CROSS-CSU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3608" y="47365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D1–D3 · 3 VBDs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512064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Frontier AI CoE stand-up, Skilling Navigator, Value Realization — the operating-model spine.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HOW TO READ THE VBD SLIDES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Every VBD on the next slides is articulated the same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VBD name · Key Outcomes · Contribution to the AI CoE (pillar + tier + MCEM)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9728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Key Outcomes — what the customer walks away with (artefact, capability, or decision).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Contribution to AI CoE — which of the 5+1 pillars and which tier the VBD advances.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MCEM stage — where in the customer journey the VBD belongs (1–2 inspire, 3 build, 4–5 realise).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Funding instrument — ECIF, AMM, MAICPP, ACO, SA, customer-funded — stamped on every row.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Owner — which CSU team carries MCEM-stage accountability (delivery may be partner-led).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VERIFY flag (*) — catalogue churn risk; re-check on MCAPS Catalog before customer commit.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230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FUNDING KEY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32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Segoe UI"/>
              </a:rPr>
              <a:t>ECIF — End Customer Investment Funds  ·  AMM — Azure Migrate &amp; Modernize  ·  MAICPP — MS AI Cloud Partner Program  ·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Segoe UI"/>
              </a:rPr>
              <a:t>ACO — Azure Consumption Offset  ·  SA — Solution Assessment funding  ·  CF — Customer-funded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FAMILY A · M365 COPILOT · MODERN WORK CSU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Drive seat-Copilot value from envisioning to realisation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8 VBDs covering the full Copilot lifecycle plus the security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Centre of gravity: pillars 1 Business Strategy, 2 Org &amp; Culture, 3 AI Strategy &amp; XP — with 5 Governance &amp; Security as the safety overlay.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Tier coverage: T1 dominant (envisioning); A3 + A8 extend into T2 (build); A4 lands in T3 (managed run).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MCEM fit: A1/A2/A5/A6/A7 — Inspire &amp; Design; A3/A8 — Empower &amp; Achieve; A4 — Realize Value.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Funding: ECIF and MAICPP dominate; A6/A7 are SA-funded; A4 is post-deployment ACO/CF.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846320"/>
            <a:ext cx="11091672" cy="14630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LIFECYCLE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57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Segoe UI"/>
              </a:rPr>
              <a:t>Envision  →  Pilot &amp; Adopt  →  Scale  →  Realise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15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Segoe UI"/>
              </a:rPr>
              <a:t>A1 / A2 / A5  →  A3 · A6 · A7  →  A8 (CoE)  →  A4 Optimization &amp; Value Realization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FAMILY A · M365 COPILOT · VBD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Every A-family VBD — outcomes and CoE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Owner: Modern Work CSU  ·  Pillar shorthand: 1 BizStrat · 2 Org · 3 AIXP · 4 Tech · 5 GovSec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9167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303520"/>
                <a:gridCol w="2862072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VBD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Key Outcomes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Contribution to the AI CoE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A1 · Art of the Possible Workshop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Copilot use-case shortlist, executive buy-in, scenario backlog seeded.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1, 2, 3  ·  T1  ·  MCEM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A2 · Scenario Workshop "Day in the Life"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Persona-mapped scenarios, ROI hypothesis per role, pilot cohort.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1, 3  ·  T1  ·  MCEM 2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A3 · Copilot Adoption Accelerator (8–12 wk)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Champions network, comms plan, measured adoption uplift, repeatable playbook.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2, 3  ·  T1+T2  ·  MCEM 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A4 · Optimization &amp; Value Realization*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Telemetry-driven tuning, CFO-grade value report, next-wave roadmap.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1, 2, 3  ·  T3  ·  MCEM 4–5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A5 · Copilot Chat &amp; Agents Workshop*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Agentic use-case shortlist on the M365 surface, build-vs-buy decision.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2, 3  ·  T1  ·  MCEM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A6 · Data Security Assessment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Purview/M365 DS readiness report, oversharing remediation plan.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 5  ·  T1  ·  MCEM 2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A7 · Copilot for Security Workshop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SOC use cases for CfS, MDC/MDE integration plan.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3, 5  ·  T1  ·  MCEM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A8 · M365 Copilot CoE Engagement*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Customer-side CoE charter, governance model, scaled rollout cadence.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1, 2, 5  ·  T2+T3  ·  MCEM 3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19963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* VERIFY on MCAPS Catalog — FY26 H2 catalogue churn risk.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FAMILY A · SPOTLIGHT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A3 Copilot Adoption Accelerator — the value-realisation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Why most Copilot programs stall, and the VBD that fixes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4406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440680" cy="457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KEY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51206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Champions network stood up across the top 5 business functions.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Comms plan, training cadence, prompt library shipped.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Measured adoption uplift — Active Use, Sentiment, Habit.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Repeatable playbook the customer can run scope after scope.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Backlog of next-wave scenarios groomed and prioritised.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9632" y="1920240"/>
            <a:ext cx="54406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1920240"/>
            <a:ext cx="5440680" cy="457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42A9B"/>
                </a:solidFill>
                <a:latin typeface="Segoe UI"/>
              </a:rPr>
              <a:t>CONTRIBUTION TO AI CoE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423160"/>
            <a:ext cx="51206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Pillar 2 Org &amp; Culture — trains the workforce we measured at only 1/3 today.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Pillar 3 AI Strategy &amp; XP — turns workshop hypotheses into lived use-cases.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Tier T1→T2 bridge — the play that converts envisioning into build.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MCEM 3 — the Empower &amp; Achieve stage where most Copilot money is lost or won.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300">
                <a:solidFill>
                  <a:srgbClr val="1A1A1A"/>
                </a:solidFill>
                <a:latin typeface="Segoe UI"/>
              </a:rPr>
              <a:t>Feeds A4 Realization with the telemetry it needs to prove value.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199632"/>
            <a:ext cx="11091672" cy="228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9963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Why this VBD matters: BCG 2024 — 60% of orgs reap little value from AI; only 1/3 of workers are trained on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FAMILY B · COPILOT STUDIO + POWER PLATFORM · BUSINESS APPS CSU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Custom agents and AI inside D365 + Power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7 VBDs covering envisioning, co-build, governance and D365 Copilot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3108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Centre of gravity: pillars 3 AI Strategy &amp; XP and 4 Tech &amp; Data — with 2 Org &amp; 5 Governance as the wrap.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Tier coverage: T1 entry (B1, B3, B4, B7); T2 build (B2, B5, B6).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MCEM fit: B1/B3/B4/B7 — Inspire &amp; Design; B2/B5/B6 — Empower &amp; Achieve.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Funding: MAICPP is the dominant lever (B2 Co-build); B6 CoE Starter Kit is largely customer-funded.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400">
                <a:solidFill>
                  <a:srgbClr val="1A1A1A"/>
                </a:solidFill>
                <a:latin typeface="Segoe UI"/>
              </a:rPr>
              <a:t>Pairs with: A-family on the M365 surface and C-family when agents need Foundry-grade backends.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12801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AGENT SURFACE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Segoe UI"/>
              </a:rPr>
              <a:t>Inspire  →  Build first agent  →  Industrialise on Power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Segoe UI"/>
              </a:rPr>
              <a:t>B1 AiaD · B3 AI Builder · B4 D365  →  B2 Co-build · B5 D365+CS Agentic  →  B6 PP CoE · B7 CS 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FAMILY B · COPILOT STUDIO + POWER PLATFORM · VBD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Every B-family VBD — outcomes and CoE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Owner: Business Applications CSU  ·  Pairs frequently with MAICPP partners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9167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303520"/>
                <a:gridCol w="286207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VBD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Key Outcomes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Contribution to the AI CoE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B1 · Agent in a Day (AiaD)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First custom agent shipped in a day; backlog of next agents identified.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 3  ·  T1  ·  MCEM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B2 · Copilot Studio Co-build*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Production-grade agent built with MAICPP partner; handover plan.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3, 4  ·  T2  ·  MCEM 3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B3 · AI Builder Workshop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Low-code AI use-cases (forms, classification) costed and prioritised.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3, 4  ·  T1  ·  MCEM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B4 · D365 Copilot Envisioning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Persona-mapped Copilot scenarios across Sales/Service/Finance/Ops.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1, 3  ·  T1  ·  MCEM 2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B5 · D365 + Copilot Studio Agentic Workflow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Cross-process agent (e.g. CSR-assist, AR-collections) on D365 data.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3, 4  ·  T2  ·  MCEM 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B6 · Power Platform CoE Starter Kit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Customer CoE for citizen-dev with governance, telemetry, ALM.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2, 5  ·  T2  ·  MCEM 3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B7 · Copilot Studio Solution Assessment*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Governance posture, DLP, environment strategy for agents at scale.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3, 5  ·  T1  ·  MCEM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03504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* VERIFY on MCAPS Catalog — FY26 H2 catalogue churn risk.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FAMILY C · AZURE AI FOUNDRY + DATA + APPS · CLOUD &amp; AI CSU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The deepest catalogue — 19 VBDs across Azure Accelerate, ATO and RAI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From plan to managed run, with the AI Transformation Offer as the keystone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1091672" cy="1234440"/>
          </a:xfrm>
          <a:prstGeom prst="rect">
            <a:avLst/>
          </a:prstGeom>
          <a:solidFill>
            <a:srgbClr val="FFFFFF"/>
          </a:solidFill>
          <a:ln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73152" cy="12344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67B8"/>
                </a:solidFill>
                <a:latin typeface="Segoe UI"/>
              </a:rPr>
              <a:t>C.1 Azure Accelerate (C1–C5)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Plan → Implement (with ACR uplift) → Build/Modernize → AI App &amp; Agent Factory → Fabric Analytics &amp; AI.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1840"/>
            <a:ext cx="11091672" cy="1234440"/>
          </a:xfrm>
          <a:prstGeom prst="rect">
            <a:avLst/>
          </a:prstGeom>
          <a:solidFill>
            <a:srgbClr val="FFFFFF"/>
          </a:solidFill>
          <a:ln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291840"/>
            <a:ext cx="73152" cy="123444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42A9B"/>
                </a:solidFill>
                <a:latin typeface="Segoe UI"/>
              </a:rPr>
              <a:t>C.2 Solution Assessments (C6–C8)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862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AOAI/Foundry SA · Fabric SA · AI Migrate SA — SA-funded readiness with discoverable outputs.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663440"/>
            <a:ext cx="11091672" cy="1234440"/>
          </a:xfrm>
          <a:prstGeom prst="rect">
            <a:avLst/>
          </a:prstGeom>
          <a:solidFill>
            <a:srgbClr val="FFFFFF"/>
          </a:solidFill>
          <a:ln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663440"/>
            <a:ext cx="73152" cy="1234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00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1F3A"/>
                </a:solidFill>
                <a:latin typeface="Segoe UI"/>
              </a:rPr>
              <a:t>C.3 Workshops, Hackathons, CoE (C9–C19)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578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GenAI/Foundry workshop · AI Hackathon · Landing Zone · WAF-AI · GenAIOps · RAI · ATO C16–C18 · 5 AI Patterns.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Segoe UI"/>
              </a:rPr>
              <a:t>AI Transformation Offer (C16+C17+C18) = up to $1M envelope (pre-sales ECIF + post-sales ECIF + ACO) · HIGH-trust source.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FAMILY C · AZURE ACCELERATE · VBD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C1–C5 — the Azure Accelerate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Plan → Implement → Build/Modernize → Agent Factory → Fabric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91672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303520"/>
                <a:gridCol w="2862072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VBD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Key Outcomes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Contribution to the AI CoE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C1 · Azure Innovate Plan ($15K–$50K)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Architecture, roadmap, business case for first AI workload.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1, 3, 4  ·  T1  ·  MCEM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C2 · Azure Innovate Implement (XS–L tiers)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Production-grade AI workload delivered; +20% ACR uplift available.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3, 4, 5  ·  T2  ·  MCEM 3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C3 · Build &amp; Modernize AI Apps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.NET/Java app modernised on Azure with AI capabilities embedded.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3, 4  ·  T2  ·  MCEM 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C4 · AI App &amp; Agent Factory*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MVP agent factory pattern, repeatable Foundry-based pipeline.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3, 4  ·  T2+T3  ·  MCEM 3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C5 · Fabric Analytics &amp; AI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Fabric workload live; data substrate ready for AI grounding.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Pillars 3, 4  ·  T2  ·  MCEM 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66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42A9B"/>
                </a:solidFill>
                <a:latin typeface="Segoe UI"/>
              </a:rPr>
              <a:t>C.2 SOLUTION ASSESSMENTS (SA-funded — discoverable readiness reports)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5486400"/>
          <a:ext cx="11091672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303520"/>
                <a:gridCol w="2862072"/>
              </a:tblGrid>
              <a:tr h="19431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VBD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Key Outcomes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Contribution to the AI CoE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19431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C6 · AOAI / Foundry SA*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Foundry adoption readiness; first use-case shortlist.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Pillars 3, 4, 5  ·  T1  ·  MCEM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19431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C7 · Fabric SA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Lakehouse-readiness assessment for AI grounding.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4  ·  T1  ·  MCEM 2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19431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C8 · AI Migrate SA*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Plan to migrate 3rd-party LLM workloads onto Azure.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4  ·  T1  ·  MCEM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09360"/>
            <a:ext cx="10972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* VERIFY on MCAPS Catalog — FY26 H2 catalogue churn risk.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FAMILY C · WORKSHOPS, HACKATHONS, COE · VBD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C9–C19 — the envisioning and governance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Where Foundry, RAI, GenAIOps and the AI Transformation Offer live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109167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62072"/>
              </a:tblGrid>
              <a:tr h="3695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VBD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Key Outcomes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Contribution to the AI CoE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C9 · GenAI / Foundry Workshop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Foundry use-case shortlist, model selection guidance.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3  ·  T1  ·  MCEM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C10 · AI Hackathon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Hands-on Foundry prototypes from internal teams; backlog seeded.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3  ·  T1  ·  MCEM 2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C11 · AI Landing Zone Implementation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Hub-and-spoke ALZ for AI workloads, ready for Foundry/AOAI.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Pillars 4, 5  ·  T1+T2  ·  MCEM 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C12 · Well-Architected Framework for AI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WAF review covering reliability, security, cost, ops for AI workloads.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Pillars 4, 5  ·  T3  ·  MCEM 4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C13 · GenAIOps Maturity Assessment (ATO 3.1)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AIOps posture, monitoring/eval gaps, remediation roadmap.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5  ·  T3  ·  MCEM 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C14 · Azure Essentials AI Adoption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Azure Essentials AI workload pattern adopted by the customer.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4  ·  T1  ·  MCEM 2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C15 · Responsible AI Workshop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RAI v2 standard applied; Impact Assessment artefacts produced.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5  ·  T1  ·  MCEM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C16 · ATO C1 CoE &amp; Envisioning (HIGH trust)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AI CoE charter + first-wave use-case backlog; up to $50K pre-sales ECIF.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Pillars 1, 2, 3  ·  T1  ·  MCEM 2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C17 · ATO C2 Foundation Architecture (HIGH)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ALZ + Foundry foundation; up to $500K ECIF + $500K ACO.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Pillars 4, 5  ·  T2  ·  MCEM 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C18 · ATO C3 GenAI / Agent Factory (HIGH)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First production agent + factory pattern; ECIF + ACO + MAICPP stack.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Pillars 3, 4, 5  ·  T2+T3  ·  MCEM 3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C19 · AI Patterns Scorecard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5 patterns (IDP · Extraction/Summ · Workflow · Multimodal · NBA) scored.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Pillars 1, 3  ·  T1  ·  MCEM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FAMILY C · ATO SPOTLIGHT  ·  HIGH-TRUST FLAGSHIP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The AI Transformation Offer — C16 + C17 + C18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One bundle, three motions, up to $1M of envelope to remove customer-side friction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703320" cy="2926080"/>
          </a:xfrm>
          <a:prstGeom prst="rect">
            <a:avLst/>
          </a:prstGeom>
          <a:solidFill>
            <a:srgbClr val="FFFFFF"/>
          </a:solidFill>
          <a:ln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703320" cy="457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0E6FF"/>
                </a:solidFill>
                <a:latin typeface="Segoe UI"/>
              </a:rPr>
              <a:t>ATO C1 (C16)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Segoe UI"/>
              </a:rPr>
              <a:t>CoE &amp; Envisioning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34290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Up to $50K pre-sales ECIF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AI CoE charter + use-case backlog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Pillars 1, 2, 3  ·  T1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MCEM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1920240"/>
            <a:ext cx="3703320" cy="2926080"/>
          </a:xfrm>
          <a:prstGeom prst="rect">
            <a:avLst/>
          </a:prstGeom>
          <a:solidFill>
            <a:srgbClr val="FFFFFF"/>
          </a:solidFill>
          <a:ln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1920240"/>
            <a:ext cx="3703320" cy="457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20574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67B8"/>
                </a:solidFill>
                <a:latin typeface="Segoe UI"/>
              </a:rPr>
              <a:t>ATO C2 (C17)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237744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Segoe UI"/>
              </a:rPr>
              <a:t>Foundation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26080"/>
            <a:ext cx="34290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Up to $500K ECIF post-sales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+ up to $500K ACO uplift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ALZ + Foundry foundation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Pillars 4, 5  ·  T2  ·  MCEM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1584" y="1920240"/>
            <a:ext cx="3703320" cy="2926080"/>
          </a:xfrm>
          <a:prstGeom prst="rect">
            <a:avLst/>
          </a:prstGeom>
          <a:solidFill>
            <a:srgbClr val="FFFFFF"/>
          </a:solidFill>
          <a:ln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4" y="1920240"/>
            <a:ext cx="3703320" cy="457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20574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42A9B"/>
                </a:solidFill>
                <a:latin typeface="Segoe UI"/>
              </a:rPr>
              <a:t>ATO C3 (C18)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37744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Segoe UI"/>
              </a:rPr>
              <a:t>GenAI / Agent Factory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926080"/>
            <a:ext cx="34290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ECIF + ACO + MAICPP stack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First production agent + factory pattern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Pillars 3, 4, 5  ·  T2+T3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MCEM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11091672" cy="13258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0E6FF"/>
                </a:solidFill>
                <a:latin typeface="Segoe UI"/>
              </a:rPr>
              <a:t>WHY THIS IS THE KEYSTONE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394960"/>
            <a:ext cx="1097280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FFFFFF"/>
                </a:solidFill>
                <a:latin typeface="Segoe UI"/>
              </a:rPr>
              <a:t>Single bundle that traverses pillars 1–5 · tiers T1→T2+T3 · MCEM 2→3 in one motion.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FFFFFF"/>
                </a:solidFill>
                <a:latin typeface="Segoe UI"/>
              </a:rPr>
              <a:t>100+ ATO accounts running at 15% MoM ACR growth — the proof-point we lead with.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FFFFFF"/>
                </a:solidFill>
                <a:latin typeface="Segoe UI"/>
              </a:rPr>
              <a:t>Funding multiplier: $1 of ECIF unlocks $3–$5 of Azure consumption.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D-BIS · CLOUD ACCELERATE FACTORY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Ten zero-cost plays that put the foundation under every AI workload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Microsoft remote workforce  ·  Unified Support OR 2-page Factory agreement  ·  2-week nomination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1091672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486400"/>
                <a:gridCol w="2862072"/>
              </a:tblGrid>
              <a:tr h="386541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Factory offering</a:t>
                      </a:r>
                    </a:p>
                  </a:txBody>
                  <a:tcPr marL="73152" marR="73152" marT="36576" marB="36576">
                    <a:solidFill>
                      <a:srgbClr val="B76E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Scope summary</a:t>
                      </a:r>
                    </a:p>
                  </a:txBody>
                  <a:tcPr marL="73152" marR="73152" marT="36576" marB="36576">
                    <a:solidFill>
                      <a:srgbClr val="B76E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Contribution to the AI CoE</a:t>
                      </a:r>
                    </a:p>
                  </a:txBody>
                  <a:tcPr marL="73152" marR="73152" marT="36576" marB="36576">
                    <a:solidFill>
                      <a:srgbClr val="B76E00"/>
                    </a:solidFill>
                  </a:tcPr>
                </a:tc>
              </a:tr>
              <a:tr h="386541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F1 · AI — GenAI Assistant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AOAI MVP: LZ + data migration + first use-case build + tuning.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Pillars 3, 4  ·  T2  ·  pairs with ATO C18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6541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F2 · Azure Landing Zone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Enterprise-scale ALZ via Portal Accelerator; LZ validation.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Pillars 4, 5  ·  T2  ·  pairs with ATO C17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386541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F3 · Real-time intelligence MVP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Lakehouse LZ (Databricks/Fabric) + data migration + first use case.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4  ·  T2  ·  Foundry grounding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6541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F4 · Lakehouse + DW migration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Synapse → Fabric, Databricks LH, DW modernisation.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4  ·  T2  ·  enables C5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386541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F5 · Power BI → Fabric migration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SSRS/SSAS/Premium → Fabric SKU; Copilot-in-Fabric ready.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4  ·  T2  ·  pairs with MW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6541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F6 · Arc Enablement (Win + SQL)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Arc agent deployment for hybrid/edge AI workloads.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Pillars 4, 5  ·  T2  ·  sovereign-ready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386541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F7 · App Migration (App Svc/AKS/ACA)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.NET/Java/Spring on-prem → PaaS; AI embedding-ready.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4  ·  T2  ·  pairs with C3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6541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F8 · Defender for Cloud deployment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CSPM + CWP across servers, DBs, storage, containers, APIs.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5  ·  T2  ·  underpins RAI (C15)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386541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F9 · Sentinel greenfield / Splunk→Sentinel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SIEM for AI workload observability + prompt-injection monitoring.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5  ·  T2  ·  AI governance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655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Segoe UI"/>
                        </a:rPr>
                        <a:t>F10 · Infra &amp; DB migration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Win/Linux/AVS/SQL/OSS/NoSQL lift-and-shift.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Segoe UI"/>
                        </a:rPr>
                        <a:t>Pillar 4  ·  T2  ·  pairs with C8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19963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Out of Factory scope: M365 Copilot, Copilot Studio agent build, business-logic changes, custom rewrites, advisory/consulting, in-country cleared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DELIVERY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Three streams — envision, foundation, build &amp;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Where MCAPS leads, where Factory carries the load, where partners take the relay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1091672" cy="1325880"/>
          </a:xfrm>
          <a:prstGeom prst="rect">
            <a:avLst/>
          </a:prstGeom>
          <a:solidFill>
            <a:srgbClr val="FFFFFF"/>
          </a:solidFill>
          <a:ln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91440" cy="13258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67B8"/>
                </a:solidFill>
                <a:latin typeface="Segoe UI"/>
              </a:rPr>
              <a:t>STREAM 1 · MCAPS-led envisioning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1A1A1A"/>
                </a:solidFill>
                <a:latin typeface="Segoe UI"/>
              </a:rPr>
              <a:t>CSA + ATU + STU + 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148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MCEM 1–2  ·  ATO C1  ·  ECIF pre-sales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76148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Pillars 1–2  ·  Tier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11091672" cy="1325880"/>
          </a:xfrm>
          <a:prstGeom prst="rect">
            <a:avLst/>
          </a:prstGeom>
          <a:solidFill>
            <a:srgbClr val="FFFFFF"/>
          </a:solidFill>
          <a:ln>
            <a:solidFill>
              <a:srgbClr val="B7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91440" cy="1325880"/>
          </a:xfrm>
          <a:prstGeom prst="rect">
            <a:avLst/>
          </a:prstGeom>
          <a:solidFill>
            <a:srgbClr val="B7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76E00"/>
                </a:solidFill>
                <a:latin typeface="Segoe UI"/>
              </a:rPr>
              <a:t>STREAM 2 · Factory-delivered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1A1A1A"/>
                </a:solidFill>
                <a:latin typeface="Segoe UI"/>
              </a:rPr>
              <a:t>Cloud Accelerate Factory — zero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7880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MCEM 3  ·  ATO C2 + parts of C3 MVP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178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Pillars 4–5  ·  Tier 2  ·  F1–F10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754880"/>
            <a:ext cx="11091672" cy="1325880"/>
          </a:xfrm>
          <a:prstGeom prst="rect">
            <a:avLst/>
          </a:prstGeom>
          <a:solidFill>
            <a:srgbClr val="FFFFFF"/>
          </a:solidFill>
          <a:ln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754880"/>
            <a:ext cx="91440" cy="13258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463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42A9B"/>
                </a:solidFill>
                <a:latin typeface="Segoe UI"/>
              </a:rPr>
              <a:t>STREAM 3 · Partner-led build &amp; managed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1A1A1A"/>
                </a:solidFill>
                <a:latin typeface="Segoe UI"/>
              </a:rPr>
              <a:t>MAICPP partners + MSPs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9612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MCEM 3–5  ·  ATO C3 +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5961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Pillars 1–5 + co-sell  ·  Tiers 1–3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199632"/>
            <a:ext cx="11091672" cy="22860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19963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Decision rule: on Factory catalogue + Unified Support/2-page · standardised · 2-week lead OK → nominate. Else partner-deliver.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FAMILY D · CROSS-CSU · OPERATING-MODEL SPINE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Three VBDs that stand up and sustain the AI CoE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Owner: X (cross-CSU)  ·  These are the engagements that turn a project into a programme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9167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4572000"/>
                <a:gridCol w="28620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VBD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Key Outcomes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Contribution to the AI CoE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Segoe UI"/>
                        </a:rPr>
                        <a:t>D1 · Frontier AI CoE Stand-up (5+1 pillars)  —  HIGH trust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Segoe UI"/>
                        </a:rPr>
                        <a:t>Customer-side AI CoE stood up across all 5 pillars + co-sell archetype mapping.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Segoe UI"/>
                        </a:rPr>
                        <a:t>Pillars 1, 2, 3, 4, 5, +1  ·  T1+T2  ·  MCEM 1–3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Segoe UI"/>
                        </a:rPr>
                        <a:t>D2 · AI Skilling / Learn AI Skill Navigator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Segoe UI"/>
                        </a:rPr>
                        <a:t>Skilling plan against AI Engineer / Data Engineer / Copilot Champion paths.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Segoe UI"/>
                        </a:rPr>
                        <a:t>Pillar 2  ·  T1+T2  ·  MCEM 3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Segoe UI"/>
                        </a:rPr>
                        <a:t>D3 · AI Value Realization (Stage-4) Engagement  —  HIGH trust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Segoe UI"/>
                        </a:rPr>
                        <a:t>CFO-grade telemetry-driven value-tracking across Copilot, Foundry, Fabric usage.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Segoe UI"/>
                        </a:rPr>
                        <a:t>Pillar 1  ·  T3  ·  MCEM 4–5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4434840"/>
            <a:ext cx="11091672" cy="1874519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0E6FF"/>
                </a:solidFill>
                <a:latin typeface="Segoe UI"/>
              </a:rPr>
              <a:t>WHY D1 IS THE ANCHOR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It is the only VBD that explicitly delivers all 5+1 pillars.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349240"/>
            <a:ext cx="1051560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FFFFFF"/>
                </a:solidFill>
                <a:latin typeface="Segoe UI"/>
              </a:rPr>
              <a:t>Maps every other VBD in this deck onto the customer's own CoE pillars — turns the catalogue into a programme.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FFFFFF"/>
                </a:solidFill>
                <a:latin typeface="Segoe UI"/>
              </a:rPr>
              <a:t>Funding: ECIF + MAICPP · Duration: 6–12 weeks · Trust: HIGH (sourced from internal Frontier CoE pillar decks).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Tier × Pillar coverage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Dense at T1+T2 across pillars 3–5; T3 Managed Run is intentionally thin — partner-MSP relay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9167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  <a:gridCol w="3200400"/>
                <a:gridCol w="1947672"/>
              </a:tblGrid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Pillar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T1 · Envisioning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T2 · Build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T3 · Managed Run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1 · Business Strategy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A1, A2, B4, C16, C19, D1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A4, D3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2 · Org &amp; Culture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A3, A8, B6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A8, B6, D1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A4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3 · AI Strategy &amp; XP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A1–A7, B1, B3, B4, B7, C1, C9, C10, C16, C19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A3, B2, B5, C2–C5, C18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A4, C18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4 · Tech &amp; Data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C6–C8, C11, C14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B5, C2–C5, C11, C17, C18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C12, C18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5 · Governance &amp; Security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A6, B7, C6, C13, C15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A8, B6, C2, C17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A4, C12, C13, D3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Segoe UI"/>
                        </a:rPr>
                        <a:t>+1 · Co-sell &amp; Partner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D1 (archetype mapping)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All MAICPP items — B2, B5, C2–C5, D1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Segoe UI"/>
              </a:rPr>
              <a:t>Reading: column thickness shows where the AI CoE has menu depth today; T3 thinness is the right place for partner-MSP (Tier-3) handoff.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How every family contributes to the AI CoE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One sentence per family — the elevator answer to "what does this VBD do for the CoE?"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1091672" cy="822960"/>
          </a:xfrm>
          <a:prstGeom prst="rect">
            <a:avLst/>
          </a:prstGeom>
          <a:solidFill>
            <a:srgbClr val="FFFFFF"/>
          </a:solidFill>
          <a:ln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73152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67B8"/>
                </a:solidFill>
                <a:latin typeface="Segoe UI"/>
              </a:rPr>
              <a:t>Family A · 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Makes the workforce productive on Copilot — lifting pillars 2 (Org), 3 (AI XP) and 5 (Governance via A6/A7).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16352"/>
            <a:ext cx="11091672" cy="822960"/>
          </a:xfrm>
          <a:prstGeom prst="rect">
            <a:avLst/>
          </a:prstGeom>
          <a:solidFill>
            <a:srgbClr val="FFFFFF"/>
          </a:solidFill>
          <a:ln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816352"/>
            <a:ext cx="73152" cy="8229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42A9B"/>
                </a:solidFill>
                <a:latin typeface="Segoe UI"/>
              </a:rPr>
              <a:t>Family B · Copilot Studio + 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278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Operationalises agents inside business processes — lifting pillars 3 (XP), 4 (Tech) and 5 (Governance via B6/B7).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12464"/>
            <a:ext cx="11091672" cy="822960"/>
          </a:xfrm>
          <a:prstGeom prst="rect">
            <a:avLst/>
          </a:prstGeom>
          <a:solidFill>
            <a:srgbClr val="FFFFFF"/>
          </a:solidFill>
          <a:ln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712464"/>
            <a:ext cx="73152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03904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1F3A"/>
                </a:solidFill>
                <a:latin typeface="Segoe UI"/>
              </a:rPr>
              <a:t>Family C · Foundry + Azure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239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Builds the AI platform and the production agents — lifting pillars 3, 4, 5 and anchoring the keystone ATO bundle.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08576"/>
            <a:ext cx="11091672" cy="822960"/>
          </a:xfrm>
          <a:prstGeom prst="rect">
            <a:avLst/>
          </a:prstGeom>
          <a:solidFill>
            <a:srgbClr val="FFFFFF"/>
          </a:solidFill>
          <a:ln>
            <a:solidFill>
              <a:srgbClr val="B7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08576"/>
            <a:ext cx="73152" cy="822960"/>
          </a:xfrm>
          <a:prstGeom prst="rect">
            <a:avLst/>
          </a:prstGeom>
          <a:solidFill>
            <a:srgbClr val="B7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0001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76E00"/>
                </a:solidFill>
                <a:latin typeface="Segoe UI"/>
              </a:rPr>
              <a:t>D-bis · Factory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02005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Puts the foundation under everything for free — pillars 4 + 5, T2 build, MCEM 3, zero customer cost.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04688"/>
            <a:ext cx="11091672" cy="822960"/>
          </a:xfrm>
          <a:prstGeom prst="rect">
            <a:avLst/>
          </a:prstGeom>
          <a:solidFill>
            <a:srgbClr val="FFFFFF"/>
          </a:solidFill>
          <a:ln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04688"/>
            <a:ext cx="73152" cy="82296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  <a:latin typeface="Segoe UI"/>
              </a:rPr>
              <a:t>Family D · Cross-CSU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91616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Stands up the customer-side CoE itself — D1 spans all 5+1 pillars; D3 proves value at MCEM 4–5.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VBD shortlist by MCEM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The standard menu the CSA team should run inside the AI CoE artefact 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7033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703320" cy="457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0E6FF"/>
                </a:solidFill>
                <a:latin typeface="Segoe UI"/>
              </a:rPr>
              <a:t>INSPIRE &amp;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Segoe UI"/>
              </a:rPr>
              <a:t>MCEM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3429000" cy="3383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A1 · Art of the Possible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A2 · Day in the Life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A6 · Data Security Assessment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B1 · Agent in a Day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B4 · D365 Copilot Envisioning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C9 · GenAI / Foundry Workshop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50E6FF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C16 · ATO C1 — CoE &amp; Envisioning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1920240"/>
            <a:ext cx="37033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1920240"/>
            <a:ext cx="3703320" cy="457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20574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EMPOWER &amp; ACHIEVE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233172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Segoe UI"/>
              </a:rPr>
              <a:t>MCEM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697480"/>
            <a:ext cx="3429000" cy="3383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A3 · Adoption Accelerator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A8 · M365 Copilot CoE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B2 · Copilot Studio Co-build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C2 / C3 / C5 · Azure Accelerate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C11 · AI Landing Zone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C17 · ATO C2 — Foundation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C18 · ATO C3 — Agent Factory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1584" y="1920240"/>
            <a:ext cx="37033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4" y="1920240"/>
            <a:ext cx="3703320" cy="457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20574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42A9B"/>
                </a:solidFill>
                <a:latin typeface="Segoe UI"/>
              </a:rPr>
              <a:t>REALIZE &amp; OPTIMIZE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33172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Segoe UI"/>
              </a:rPr>
              <a:t>MCEM 4–5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697480"/>
            <a:ext cx="3429000" cy="3383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A4 · Optimization &amp; Value Realization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C12 · WAF for AI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C13 · GenAIOps Maturity (ATO 3.1)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742A9B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D3 · AI Value Realization (Stage-4)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PRE-MORTEM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What could be wrong with this list six months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The honest disclosure — re-verify before any customer commit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1091672" cy="9601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76E00"/>
                </a:solidFill>
                <a:latin typeface="Segoe UI"/>
              </a:rPr>
              <a:t>1 · Catalogue churn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FY26 H2 → FY27 will rename or retire 3–6 SKUs. VERIFY: A4, A5, A8, B2, B7, C4, C6, C8.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71800"/>
            <a:ext cx="11091672" cy="9601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1089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76E00"/>
                </a:solidFill>
                <a:latin typeface="Segoe UI"/>
              </a:rPr>
              <a:t>2 · Funding-instrument substitution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Azure Accelerate FY26 H2 rates and T-shirt sizes are the highest-volatility numbers — verify on aka.ms/AzureAccelerate.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11091672" cy="9601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76E00"/>
                </a:solidFill>
                <a:latin typeface="Segoe UI"/>
              </a:rPr>
              <a:t>3 · Owner vs delivery labour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805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C18, B2, B5, D1 listed as CSU-owned for MCEM-stage accountability; hands-on-keyboard is regularly MAICPP partner.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074920"/>
            <a:ext cx="11091672" cy="9601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76E00"/>
                </a:solidFill>
                <a:latin typeface="Segoe UI"/>
              </a:rPr>
              <a:t>4 · Sandbox limitation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3212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A1–A8, B1–B7, C6–C15, D2 reflect 2025-05 training-data knowledge. ATO (C16–C19) and D1 are HIGH trust from internal sources.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How RSA CSU should use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Run it as the AI CoE VBD menu — with verification gates at three 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1091672" cy="77724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299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67B8"/>
                </a:solidFill>
                <a:latin typeface="Segoe UI"/>
              </a:rPr>
              <a:t>① Adopt as the standard CSA menu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Embed this deck in the AI CoE artefact pack; CSAs lead with the 3-MCEM shortlist.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70632"/>
            <a:ext cx="11091672" cy="77724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67B8"/>
                </a:solidFill>
                <a:latin typeface="Segoe UI"/>
              </a:rPr>
              <a:t>② Lead every customer with the right 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8211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T1 → envision/SA; T2 → Factory + Accelerate + ATO; T3 → hand to MSP/partner via +1 pillar.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21024"/>
            <a:ext cx="11091672" cy="77724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3075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67B8"/>
                </a:solidFill>
                <a:latin typeface="Segoe UI"/>
              </a:rPr>
              <a:t>③ Stand up the customer's own CoE with D1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32504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Use D1 Frontier CoE as the contract that turns one engagement into a programme.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71416"/>
            <a:ext cx="11091672" cy="77724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581144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67B8"/>
                </a:solidFill>
                <a:latin typeface="Segoe UI"/>
              </a:rPr>
              <a:t>④ Pre-flight every commit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8289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Re-verify VERIFY-flagged items on MCAPS Catalog; re-check Accelerate $$ on aka.ms/AzureAccelerate.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321808"/>
            <a:ext cx="11091672" cy="777240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43153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67B8"/>
                </a:solidFill>
                <a:latin typeface="Segoe UI"/>
              </a:rPr>
              <a:t>⑤ Close the loop with D3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7332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Segoe UI"/>
              </a:rPr>
              <a:t>Stage-4 Value Realization quarterly cadence — the CFO-grade evidence that keeps the CoE funded.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67B8"/>
                </a:solidFill>
                <a:latin typeface="Segoe UI"/>
              </a:rPr>
              <a:t>SOURCES &amp;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Segoe UI"/>
              </a:rPr>
              <a:t>Where every VBD on this menu came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Segoe UI"/>
              </a:rPr>
              <a:t>Trust grades applied; methodology disclosed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HIGH trust — content-brief.md (Yuri Baijnath, author).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HIGH trust — ato-content.md (Microsoft internal ATO slide deck; ATO C1–C3 funding cross-checked between slides 11 and 12).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HIGH trust — Frontier CoE pillar decks (Business Strategy, Org &amp; Culture, AI Strategy, Tech &amp; Data, Governance &amp; Security — source for D1 and pillar definitions).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MODERATE trust (2025-05 cutoff, re-verify on MCAPS Catalog) — Azure Accelerate (aka.ms/AzureAccelerate), Microsoft Learn (CAF for AI, Foundry, Fabric, PP CoE), M365 Copilot Adoption Hub, Copilot Studio Workshop, RAI Standard v2, MAICPP program.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Cloud Accelerate Factory — aka.ms/CloudAccelerateFactory; OpenAI scripts at github.com/Azure/cloud-accelerate-factory.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67B8"/>
                </a:solidFill>
                <a:latin typeface="Segoe UI"/>
              </a:rPr>
              <a:t>•  </a:t>
            </a:r>
            <a:r>
              <a:rPr sz="1200">
                <a:solidFill>
                  <a:srgbClr val="1A1A1A"/>
                </a:solidFill>
                <a:latin typeface="Segoe UI"/>
              </a:rPr>
              <a:t>Methodology — SIFT on grounding files (recent date, internal authorship, cross-corroboration); Chain-of-Verification on ATO funding numbers; adversarial pass produced the 4 pre-mortem risks.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Limitations disclosure: compiled in a sandboxed environment without live partner-portal access. Re-verify FY26 H2 VERIFY entries before any customer commit.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6446520"/>
            <a:ext cx="11091672" cy="900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Microsoft · Confidential · © 2026 Microsoft Corporation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5105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Segoe UI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0E6FF"/>
                </a:solidFill>
                <a:latin typeface="Segoe UI"/>
              </a:rPr>
              <a:t>AI CENTER OF EXCELLENCE  · 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Outcomes over offerings.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0E6FF"/>
                </a:solidFill>
                <a:latin typeface="Segoe UI"/>
              </a:rPr>
              <a:t>Every VBD in this deck names what the customer walks away with —</a:t>
            </a:r>
          </a:p>
          <a:p>
            <a:pPr algn="l"/>
            <a:r>
              <a:rPr sz="2200" b="0" i="0">
                <a:solidFill>
                  <a:srgbClr val="50E6FF"/>
                </a:solidFill>
                <a:latin typeface="Segoe UI"/>
              </a:rPr>
              <a:t>and which AI CoE pillar and tier it advances.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742A9B"/>
                </a:solidFill>
                <a:latin typeface="Segoe UI"/>
              </a:rPr>
              <a:t>40+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0E6FF"/>
                </a:solidFill>
                <a:latin typeface="Segoe UI"/>
              </a:rPr>
              <a:t>VBDs articulated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40233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742A9B"/>
                </a:solidFill>
                <a:latin typeface="Segoe UI"/>
              </a:rPr>
              <a:t>5+1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0E6FF"/>
                </a:solidFill>
                <a:latin typeface="Segoe UI"/>
              </a:rPr>
              <a:t>Pillars covered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40233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742A9B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0E6FF"/>
                </a:solidFill>
                <a:latin typeface="Segoe UI"/>
              </a:rPr>
              <a:t>Tiers — envision, build,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0233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742A9B"/>
                </a:solidFill>
                <a:latin typeface="Segoe UI"/>
              </a:rPr>
              <a:t>$1M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0E6FF"/>
                </a:solidFill>
                <a:latin typeface="Segoe UI"/>
              </a:rPr>
              <a:t>ATO envelope per customer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532120"/>
            <a:ext cx="10881360" cy="9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Yuri Baijnath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0E6FF"/>
                </a:solidFill>
                <a:latin typeface="Segoe UI"/>
              </a:rPr>
              <a:t>Sr CSA Manager, RSA CSU  ·  Yuri.Baijnath@microsoft.com  ·  Microsoft South Africa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